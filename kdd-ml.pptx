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2" r:id="rId7"/>
    <p:sldId id="263" r:id="rId8"/>
    <p:sldId id="270" r:id="rId9"/>
    <p:sldId id="264" r:id="rId10"/>
    <p:sldId id="265" r:id="rId11"/>
    <p:sldId id="266" r:id="rId12"/>
    <p:sldId id="276" r:id="rId13"/>
    <p:sldId id="271" r:id="rId14"/>
    <p:sldId id="272" r:id="rId15"/>
    <p:sldId id="281" r:id="rId16"/>
    <p:sldId id="283" r:id="rId17"/>
    <p:sldId id="286" r:id="rId18"/>
    <p:sldId id="282" r:id="rId19"/>
    <p:sldId id="284" r:id="rId20"/>
    <p:sldId id="285" r:id="rId21"/>
    <p:sldId id="287" r:id="rId22"/>
    <p:sldId id="288" r:id="rId23"/>
    <p:sldId id="289" r:id="rId24"/>
    <p:sldId id="290" r:id="rId25"/>
    <p:sldId id="319" r:id="rId26"/>
    <p:sldId id="336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29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21407-5CA8-4D5B-B787-D92DA4299F70}" type="datetimeFigureOut">
              <a:rPr lang="en-GB" smtClean="0"/>
              <a:t>15/02/2022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1D07D-EBB0-4768-AE9A-7E7C42F0E7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12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2AB1-4FEF-4ABC-A3E9-E7841ED11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367" y="1122363"/>
            <a:ext cx="6857267" cy="2387600"/>
          </a:xfrm>
        </p:spPr>
        <p:txBody>
          <a:bodyPr anchor="b"/>
          <a:lstStyle>
            <a:lvl1pPr algn="ctr">
              <a:defRPr sz="554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6CBD6-8CA3-4056-8B5D-919DE545C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367" y="3602038"/>
            <a:ext cx="6857267" cy="1655762"/>
          </a:xfrm>
        </p:spPr>
        <p:txBody>
          <a:bodyPr/>
          <a:lstStyle>
            <a:lvl1pPr marL="0" indent="0" algn="ctr">
              <a:buNone/>
              <a:defRPr sz="2216"/>
            </a:lvl1pPr>
            <a:lvl2pPr marL="422178" indent="0" algn="ctr">
              <a:buNone/>
              <a:defRPr sz="1847"/>
            </a:lvl2pPr>
            <a:lvl3pPr marL="844357" indent="0" algn="ctr">
              <a:buNone/>
              <a:defRPr sz="1662"/>
            </a:lvl3pPr>
            <a:lvl4pPr marL="1266535" indent="0" algn="ctr">
              <a:buNone/>
              <a:defRPr sz="1477"/>
            </a:lvl4pPr>
            <a:lvl5pPr marL="1688714" indent="0" algn="ctr">
              <a:buNone/>
              <a:defRPr sz="1477"/>
            </a:lvl5pPr>
            <a:lvl6pPr marL="2110892" indent="0" algn="ctr">
              <a:buNone/>
              <a:defRPr sz="1477"/>
            </a:lvl6pPr>
            <a:lvl7pPr marL="2533071" indent="0" algn="ctr">
              <a:buNone/>
              <a:defRPr sz="1477"/>
            </a:lvl7pPr>
            <a:lvl8pPr marL="2955249" indent="0" algn="ctr">
              <a:buNone/>
              <a:defRPr sz="1477"/>
            </a:lvl8pPr>
            <a:lvl9pPr marL="3377428" indent="0" algn="ctr">
              <a:buNone/>
              <a:defRPr sz="1477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D1E5-0269-416E-9E2B-0E7BFC66B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0798CC8-73BC-4B80-BAD5-5E809350F7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187902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4B94-21BE-4130-8B1C-C858138C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5E0FA-59C8-4B04-84A4-D3AE06AE5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6DEE1-450C-461C-A5A2-B5455536A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3C6433-8AC7-40E3-A9B4-C4BE164086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026056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1FE8-A3D0-45A5-8F2B-A7E6E20D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54" y="1709739"/>
            <a:ext cx="7886297" cy="2852737"/>
          </a:xfrm>
        </p:spPr>
        <p:txBody>
          <a:bodyPr anchor="b"/>
          <a:lstStyle>
            <a:lvl1pPr>
              <a:defRPr sz="554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DECF8-B674-431F-95D3-7EC80B3D0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454" y="4589464"/>
            <a:ext cx="7886297" cy="1500187"/>
          </a:xfrm>
        </p:spPr>
        <p:txBody>
          <a:bodyPr/>
          <a:lstStyle>
            <a:lvl1pPr marL="0" indent="0">
              <a:buNone/>
              <a:defRPr sz="2216"/>
            </a:lvl1pPr>
            <a:lvl2pPr marL="422178" indent="0">
              <a:buNone/>
              <a:defRPr sz="1847"/>
            </a:lvl2pPr>
            <a:lvl3pPr marL="844357" indent="0">
              <a:buNone/>
              <a:defRPr sz="1662"/>
            </a:lvl3pPr>
            <a:lvl4pPr marL="1266535" indent="0">
              <a:buNone/>
              <a:defRPr sz="1477"/>
            </a:lvl4pPr>
            <a:lvl5pPr marL="1688714" indent="0">
              <a:buNone/>
              <a:defRPr sz="1477"/>
            </a:lvl5pPr>
            <a:lvl6pPr marL="2110892" indent="0">
              <a:buNone/>
              <a:defRPr sz="1477"/>
            </a:lvl6pPr>
            <a:lvl7pPr marL="2533071" indent="0">
              <a:buNone/>
              <a:defRPr sz="1477"/>
            </a:lvl7pPr>
            <a:lvl8pPr marL="2955249" indent="0">
              <a:buNone/>
              <a:defRPr sz="1477"/>
            </a:lvl8pPr>
            <a:lvl9pPr marL="3377428" indent="0">
              <a:buNone/>
              <a:defRPr sz="14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2C88D-40EE-4FAF-91C1-CF6457F31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475B69-66A1-4273-B271-088E21C0AD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8081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8C52-C876-4169-A02C-B5E16F61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D7F72-8F85-4B2E-8296-02745E1A2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6020" y="1981200"/>
            <a:ext cx="381562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D6111-11D3-402B-B603-D90A1B30D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2361" y="1981200"/>
            <a:ext cx="381561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5F4DD-C81A-4ABF-808A-EEEA14498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4589E5-05D6-4D10-8F66-3DFB9A0C81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750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27D2-78D8-40D2-9FEB-A0B5A58A5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17" y="365126"/>
            <a:ext cx="788629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35D68-AB63-4EDE-9BDB-7270EC556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318" y="1681163"/>
            <a:ext cx="3868390" cy="823912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178" indent="0">
              <a:buNone/>
              <a:defRPr sz="1847" b="1"/>
            </a:lvl2pPr>
            <a:lvl3pPr marL="844357" indent="0">
              <a:buNone/>
              <a:defRPr sz="1662" b="1"/>
            </a:lvl3pPr>
            <a:lvl4pPr marL="1266535" indent="0">
              <a:buNone/>
              <a:defRPr sz="1477" b="1"/>
            </a:lvl4pPr>
            <a:lvl5pPr marL="1688714" indent="0">
              <a:buNone/>
              <a:defRPr sz="1477" b="1"/>
            </a:lvl5pPr>
            <a:lvl6pPr marL="2110892" indent="0">
              <a:buNone/>
              <a:defRPr sz="1477" b="1"/>
            </a:lvl6pPr>
            <a:lvl7pPr marL="2533071" indent="0">
              <a:buNone/>
              <a:defRPr sz="1477" b="1"/>
            </a:lvl7pPr>
            <a:lvl8pPr marL="2955249" indent="0">
              <a:buNone/>
              <a:defRPr sz="1477" b="1"/>
            </a:lvl8pPr>
            <a:lvl9pPr marL="3377428" indent="0">
              <a:buNone/>
              <a:defRPr sz="14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D8F2B-E8C3-4F2C-AFC8-3CB37E636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318" y="2505075"/>
            <a:ext cx="386839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558B3-FA58-4063-BF7B-83381CE69A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68" y="1681163"/>
            <a:ext cx="3887446" cy="823912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178" indent="0">
              <a:buNone/>
              <a:defRPr sz="1847" b="1"/>
            </a:lvl2pPr>
            <a:lvl3pPr marL="844357" indent="0">
              <a:buNone/>
              <a:defRPr sz="1662" b="1"/>
            </a:lvl3pPr>
            <a:lvl4pPr marL="1266535" indent="0">
              <a:buNone/>
              <a:defRPr sz="1477" b="1"/>
            </a:lvl4pPr>
            <a:lvl5pPr marL="1688714" indent="0">
              <a:buNone/>
              <a:defRPr sz="1477" b="1"/>
            </a:lvl5pPr>
            <a:lvl6pPr marL="2110892" indent="0">
              <a:buNone/>
              <a:defRPr sz="1477" b="1"/>
            </a:lvl6pPr>
            <a:lvl7pPr marL="2533071" indent="0">
              <a:buNone/>
              <a:defRPr sz="1477" b="1"/>
            </a:lvl7pPr>
            <a:lvl8pPr marL="2955249" indent="0">
              <a:buNone/>
              <a:defRPr sz="1477" b="1"/>
            </a:lvl8pPr>
            <a:lvl9pPr marL="3377428" indent="0">
              <a:buNone/>
              <a:defRPr sz="14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2A7E5-94A4-4FB7-A34D-0FB4FDA18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68" y="2505075"/>
            <a:ext cx="388744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3F405-15F5-4CE8-86FE-787C679CA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6D38F3-FB03-49F6-A7B3-E4D6E6E93B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4458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A9CD-305C-4ECC-A451-90FC335E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0543-93CE-4FCA-9C5F-84FD44381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1DE3AE-BDE1-48AA-80AB-308C6BF1DF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67961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BF73A6-13CB-48A0-8F19-24E198624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DFFAD6-C338-411A-91E5-F8049E4F4C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06359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3A9D-EB71-4CCF-A4FD-F8C0A8BF0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17" y="457200"/>
            <a:ext cx="2949299" cy="1600200"/>
          </a:xfrm>
        </p:spPr>
        <p:txBody>
          <a:bodyPr anchor="b"/>
          <a:lstStyle>
            <a:lvl1pPr>
              <a:defRPr sz="295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D8963-1C7B-459B-A81B-AA07E2EA1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447" y="987426"/>
            <a:ext cx="4629168" cy="4873625"/>
          </a:xfrm>
        </p:spPr>
        <p:txBody>
          <a:bodyPr/>
          <a:lstStyle>
            <a:lvl1pPr>
              <a:defRPr sz="2955"/>
            </a:lvl1pPr>
            <a:lvl2pPr>
              <a:defRPr sz="2586"/>
            </a:lvl2pPr>
            <a:lvl3pPr>
              <a:defRPr sz="2216"/>
            </a:lvl3pPr>
            <a:lvl4pPr>
              <a:defRPr sz="1847"/>
            </a:lvl4pPr>
            <a:lvl5pPr>
              <a:defRPr sz="1847"/>
            </a:lvl5pPr>
            <a:lvl6pPr>
              <a:defRPr sz="1847"/>
            </a:lvl6pPr>
            <a:lvl7pPr>
              <a:defRPr sz="1847"/>
            </a:lvl7pPr>
            <a:lvl8pPr>
              <a:defRPr sz="1847"/>
            </a:lvl8pPr>
            <a:lvl9pPr>
              <a:defRPr sz="18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627B2-1D78-47A8-A34A-82EA8C73C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317" y="2057400"/>
            <a:ext cx="2949299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178" indent="0">
              <a:buNone/>
              <a:defRPr sz="1293"/>
            </a:lvl2pPr>
            <a:lvl3pPr marL="844357" indent="0">
              <a:buNone/>
              <a:defRPr sz="1108"/>
            </a:lvl3pPr>
            <a:lvl4pPr marL="1266535" indent="0">
              <a:buNone/>
              <a:defRPr sz="923"/>
            </a:lvl4pPr>
            <a:lvl5pPr marL="1688714" indent="0">
              <a:buNone/>
              <a:defRPr sz="923"/>
            </a:lvl5pPr>
            <a:lvl6pPr marL="2110892" indent="0">
              <a:buNone/>
              <a:defRPr sz="923"/>
            </a:lvl6pPr>
            <a:lvl7pPr marL="2533071" indent="0">
              <a:buNone/>
              <a:defRPr sz="923"/>
            </a:lvl7pPr>
            <a:lvl8pPr marL="2955249" indent="0">
              <a:buNone/>
              <a:defRPr sz="923"/>
            </a:lvl8pPr>
            <a:lvl9pPr marL="3377428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76B5D-C126-45DA-A758-9B295FB64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931B21-169E-4067-9196-7DE3518D11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774960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4DC8-E47C-4D8F-AEA2-CCCB2B71F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17" y="457200"/>
            <a:ext cx="2949299" cy="1600200"/>
          </a:xfrm>
        </p:spPr>
        <p:txBody>
          <a:bodyPr anchor="b"/>
          <a:lstStyle>
            <a:lvl1pPr>
              <a:defRPr sz="2955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18758B-A905-4A0A-B152-4631054B5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447" y="987426"/>
            <a:ext cx="4629168" cy="4873625"/>
          </a:xfrm>
        </p:spPr>
        <p:txBody>
          <a:bodyPr/>
          <a:lstStyle>
            <a:lvl1pPr marL="0" indent="0">
              <a:buNone/>
              <a:defRPr sz="2955"/>
            </a:lvl1pPr>
            <a:lvl2pPr marL="422178" indent="0">
              <a:buNone/>
              <a:defRPr sz="2586"/>
            </a:lvl2pPr>
            <a:lvl3pPr marL="844357" indent="0">
              <a:buNone/>
              <a:defRPr sz="2216"/>
            </a:lvl3pPr>
            <a:lvl4pPr marL="1266535" indent="0">
              <a:buNone/>
              <a:defRPr sz="1847"/>
            </a:lvl4pPr>
            <a:lvl5pPr marL="1688714" indent="0">
              <a:buNone/>
              <a:defRPr sz="1847"/>
            </a:lvl5pPr>
            <a:lvl6pPr marL="2110892" indent="0">
              <a:buNone/>
              <a:defRPr sz="1847"/>
            </a:lvl6pPr>
            <a:lvl7pPr marL="2533071" indent="0">
              <a:buNone/>
              <a:defRPr sz="1847"/>
            </a:lvl7pPr>
            <a:lvl8pPr marL="2955249" indent="0">
              <a:buNone/>
              <a:defRPr sz="1847"/>
            </a:lvl8pPr>
            <a:lvl9pPr marL="3377428" indent="0">
              <a:buNone/>
              <a:defRPr sz="1847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34369-21B6-472A-8239-75000BE39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317" y="2057400"/>
            <a:ext cx="2949299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178" indent="0">
              <a:buNone/>
              <a:defRPr sz="1293"/>
            </a:lvl2pPr>
            <a:lvl3pPr marL="844357" indent="0">
              <a:buNone/>
              <a:defRPr sz="1108"/>
            </a:lvl3pPr>
            <a:lvl4pPr marL="1266535" indent="0">
              <a:buNone/>
              <a:defRPr sz="923"/>
            </a:lvl4pPr>
            <a:lvl5pPr marL="1688714" indent="0">
              <a:buNone/>
              <a:defRPr sz="923"/>
            </a:lvl5pPr>
            <a:lvl6pPr marL="2110892" indent="0">
              <a:buNone/>
              <a:defRPr sz="923"/>
            </a:lvl6pPr>
            <a:lvl7pPr marL="2533071" indent="0">
              <a:buNone/>
              <a:defRPr sz="923"/>
            </a:lvl7pPr>
            <a:lvl8pPr marL="2955249" indent="0">
              <a:buNone/>
              <a:defRPr sz="923"/>
            </a:lvl8pPr>
            <a:lvl9pPr marL="3377428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7715A-77FF-4F43-B1C0-E51E1FD51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9D0A1F-9D6C-4248-A2C2-AE9408EBDD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566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35A3-6631-4303-94D8-AD3994F8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3C5F1-0004-432B-8AE1-CAA406E9C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DD6AA-08A2-49FA-8443-3C81446B44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E4F4AFD-ABBC-4FAB-99E9-E56DC4178C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18012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3066BA-5F24-41FB-8A63-B4635FC6D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724" y="381000"/>
            <a:ext cx="1942257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C751F-57E4-443D-91FF-954CE8AFB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6020" y="381000"/>
            <a:ext cx="5688982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FB303-B405-4F4F-9CAC-FA3112A97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A44358-F77C-4AA4-B169-B0B180EABE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8829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185420"/>
            <a:ext cx="117475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9450" y="2055812"/>
            <a:ext cx="8006080" cy="4041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49678" y="6539227"/>
            <a:ext cx="21780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F172B95D-3C8C-4961-82F1-2D6779FDB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6020" y="381000"/>
            <a:ext cx="777196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Comic Sans MS" panose="030F0702030302020204" pitchFamily="66" charset="0"/>
              </a:rPr>
              <a:t>Click to edit Master title style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6EE946EA-204C-4615-A42B-783DC85FD6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20" y="1981200"/>
            <a:ext cx="777196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Comic Sans MS" panose="030F0702030302020204" pitchFamily="66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Comic Sans MS" panose="030F0702030302020204" pitchFamily="66" charset="0"/>
              </a:rPr>
              <a:t>Second level</a:t>
            </a:r>
          </a:p>
          <a:p>
            <a:pPr lvl="2"/>
            <a:r>
              <a:rPr lang="en-US" altLang="en-US">
                <a:sym typeface="Comic Sans MS" panose="030F0702030302020204" pitchFamily="66" charset="0"/>
              </a:rPr>
              <a:t>Third level</a:t>
            </a:r>
          </a:p>
          <a:p>
            <a:pPr lvl="3"/>
            <a:r>
              <a:rPr lang="en-US" altLang="en-US">
                <a:sym typeface="Comic Sans MS" panose="030F0702030302020204" pitchFamily="66" charset="0"/>
              </a:rPr>
              <a:t>Fourth level</a:t>
            </a:r>
          </a:p>
          <a:p>
            <a:pPr lvl="4"/>
            <a:r>
              <a:rPr lang="en-US" altLang="en-US">
                <a:sym typeface="Comic Sans MS" panose="030F0702030302020204" pitchFamily="66" charset="0"/>
              </a:rPr>
              <a:t>Fifth level</a:t>
            </a:r>
          </a:p>
        </p:txBody>
      </p:sp>
      <p:sp>
        <p:nvSpPr>
          <p:cNvPr id="1027" name="Text Box 3">
            <a:extLst>
              <a:ext uri="{FF2B5EF4-FFF2-40B4-BE49-F238E27FC236}">
                <a16:creationId xmlns:a16="http://schemas.microsoft.com/office/drawing/2014/main" id="{BE7740FD-94C4-47A1-983B-6CA1E76627AD}"/>
              </a:ext>
            </a:extLst>
          </p:cNvPr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7732383" y="6400800"/>
            <a:ext cx="3063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93">
                <a:solidFill>
                  <a:srgbClr val="CC99FF"/>
                </a:solidFill>
                <a:latin typeface="Comic Sans MS Bold" panose="030F0902030302020204" pitchFamily="66" charset="0"/>
                <a:ea typeface="Comic Sans MS Bold" panose="030F0902030302020204" pitchFamily="66" charset="0"/>
                <a:cs typeface="Comic Sans MS Bold" panose="030F0902030302020204" pitchFamily="66" charset="0"/>
                <a:sym typeface="Comic Sans MS Bold" panose="030F0902030302020204" pitchFamily="66" charset="0"/>
              </a:defRPr>
            </a:lvl1pPr>
          </a:lstStyle>
          <a:p>
            <a:fld id="{D51AE2BC-5F5D-4FB6-B42C-558E9DBAAE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336347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ransition/>
  <p:hf hdr="0" ftr="0" dt="0"/>
  <p:txStyles>
    <p:titleStyle>
      <a:lvl1pPr marL="36648" algn="ctr" rtl="0" fontAlgn="base">
        <a:spcBef>
          <a:spcPct val="0"/>
        </a:spcBef>
        <a:spcAft>
          <a:spcPct val="0"/>
        </a:spcAft>
        <a:defRPr sz="4063" kern="1200">
          <a:solidFill>
            <a:srgbClr val="FF9900"/>
          </a:solidFill>
          <a:latin typeface="+mj-lt"/>
          <a:ea typeface="+mj-ea"/>
          <a:cs typeface="+mj-cs"/>
          <a:sym typeface="Comic Sans MS" panose="030F0702030302020204" pitchFamily="66" charset="0"/>
        </a:defRPr>
      </a:lvl1pPr>
      <a:lvl2pPr marL="36648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2pPr>
      <a:lvl3pPr marL="36648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3pPr>
      <a:lvl4pPr marL="36648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4pPr>
      <a:lvl5pPr marL="36648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5pPr>
      <a:lvl6pPr marL="458826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6pPr>
      <a:lvl7pPr marL="881005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7pPr>
      <a:lvl8pPr marL="1303183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8pPr>
      <a:lvl9pPr marL="1725362" algn="ctr" rtl="0" fontAlgn="base">
        <a:spcBef>
          <a:spcPct val="0"/>
        </a:spcBef>
        <a:spcAft>
          <a:spcPct val="0"/>
        </a:spcAft>
        <a:defRPr sz="4063">
          <a:solidFill>
            <a:srgbClr val="FF9900"/>
          </a:solidFill>
          <a:latin typeface="Comic Sans MS" panose="030F0702030302020204" pitchFamily="66" charset="0"/>
          <a:cs typeface="ヒラギノ明朝 ProN W3" charset="0"/>
          <a:sym typeface="Comic Sans MS" panose="030F0702030302020204" pitchFamily="66" charset="0"/>
        </a:defRPr>
      </a:lvl9pPr>
    </p:titleStyle>
    <p:bodyStyle>
      <a:lvl1pPr marL="353282" indent="-316634" algn="l" rtl="0" fontAlgn="base">
        <a:spcBef>
          <a:spcPts val="831"/>
        </a:spcBef>
        <a:spcAft>
          <a:spcPct val="0"/>
        </a:spcAft>
        <a:buSzPct val="150000"/>
        <a:buFont typeface="Comic Sans MS" panose="030F0702030302020204" pitchFamily="66" charset="0"/>
        <a:buChar char="•"/>
        <a:defRPr sz="2955" kern="1200">
          <a:solidFill>
            <a:schemeClr val="tx1"/>
          </a:solidFill>
          <a:latin typeface="+mn-lt"/>
          <a:ea typeface="+mn-ea"/>
          <a:cs typeface="+mn-cs"/>
          <a:sym typeface="Comic Sans MS" panose="030F0702030302020204" pitchFamily="66" charset="0"/>
        </a:defRPr>
      </a:lvl1pPr>
      <a:lvl2pPr marL="675779" indent="-263862" algn="l" rtl="0" fontAlgn="base">
        <a:spcBef>
          <a:spcPts val="739"/>
        </a:spcBef>
        <a:spcAft>
          <a:spcPct val="0"/>
        </a:spcAft>
        <a:buSzPct val="100000"/>
        <a:buFont typeface="Comic Sans MS" panose="030F0702030302020204" pitchFamily="66" charset="0"/>
        <a:buChar char="–"/>
        <a:defRPr sz="2586" kern="1200">
          <a:solidFill>
            <a:schemeClr val="tx1"/>
          </a:solidFill>
          <a:latin typeface="+mn-lt"/>
          <a:ea typeface="+mn-ea"/>
          <a:cs typeface="+mn-cs"/>
          <a:sym typeface="Comic Sans MS" panose="030F0702030302020204" pitchFamily="66" charset="0"/>
        </a:defRPr>
      </a:lvl2pPr>
      <a:lvl3pPr marL="1045185" indent="-211089" algn="l" rtl="0" fontAlgn="base">
        <a:spcBef>
          <a:spcPts val="646"/>
        </a:spcBef>
        <a:spcAft>
          <a:spcPct val="0"/>
        </a:spcAft>
        <a:buSzPct val="100000"/>
        <a:buFont typeface="Comic Sans MS" panose="030F0702030302020204" pitchFamily="66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  <a:sym typeface="Comic Sans MS" panose="030F0702030302020204" pitchFamily="66" charset="0"/>
        </a:defRPr>
      </a:lvl3pPr>
      <a:lvl4pPr marL="1467364" indent="-211089" algn="l" rtl="0" fontAlgn="base">
        <a:spcBef>
          <a:spcPts val="554"/>
        </a:spcBef>
        <a:spcAft>
          <a:spcPct val="0"/>
        </a:spcAft>
        <a:buSzPct val="100000"/>
        <a:buFont typeface="Comic Sans MS" panose="030F0702030302020204" pitchFamily="66" charset="0"/>
        <a:buChar char="–"/>
        <a:defRPr sz="1847" kern="1200">
          <a:solidFill>
            <a:schemeClr val="tx1"/>
          </a:solidFill>
          <a:latin typeface="+mn-lt"/>
          <a:ea typeface="+mn-ea"/>
          <a:cs typeface="+mn-cs"/>
          <a:sym typeface="Comic Sans MS" panose="030F0702030302020204" pitchFamily="66" charset="0"/>
        </a:defRPr>
      </a:lvl4pPr>
      <a:lvl5pPr marL="1889542" indent="-211089" algn="l" rtl="0" fontAlgn="base">
        <a:spcBef>
          <a:spcPts val="554"/>
        </a:spcBef>
        <a:spcAft>
          <a:spcPct val="0"/>
        </a:spcAft>
        <a:buSzPct val="100000"/>
        <a:buFont typeface="Comic Sans MS" panose="030F0702030302020204" pitchFamily="66" charset="0"/>
        <a:buChar char="»"/>
        <a:defRPr sz="1847" kern="1200">
          <a:solidFill>
            <a:schemeClr val="tx1"/>
          </a:solidFill>
          <a:latin typeface="+mn-lt"/>
          <a:ea typeface="+mn-ea"/>
          <a:cs typeface="+mn-cs"/>
          <a:sym typeface="Comic Sans MS" panose="030F0702030302020204" pitchFamily="66" charset="0"/>
        </a:defRPr>
      </a:lvl5pPr>
      <a:lvl6pPr marL="2321982" indent="-211089" algn="l" defTabSz="844357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4160" indent="-211089" algn="l" defTabSz="844357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6339" indent="-211089" algn="l" defTabSz="844357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8517" indent="-211089" algn="l" defTabSz="844357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178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357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535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714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892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3071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5249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7428" algn="l" defTabSz="844357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562" y="2750820"/>
            <a:ext cx="8016875" cy="13563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47370" marR="5080" indent="-535305">
              <a:lnSpc>
                <a:spcPts val="5200"/>
              </a:lnSpc>
              <a:spcBef>
                <a:spcPts val="340"/>
              </a:spcBef>
              <a:tabLst>
                <a:tab pos="2270125" algn="l"/>
                <a:tab pos="3216275" algn="l"/>
                <a:tab pos="5164455" algn="l"/>
                <a:tab pos="5738495" algn="l"/>
                <a:tab pos="6196330" algn="l"/>
              </a:tabLst>
            </a:pPr>
            <a:r>
              <a:rPr dirty="0"/>
              <a:t>Know</a:t>
            </a:r>
            <a:r>
              <a:rPr spc="-5" dirty="0"/>
              <a:t>le</a:t>
            </a:r>
            <a:r>
              <a:rPr dirty="0"/>
              <a:t>dge</a:t>
            </a:r>
            <a:r>
              <a:rPr spc="-5" dirty="0"/>
              <a:t> </a:t>
            </a:r>
            <a:r>
              <a:rPr dirty="0"/>
              <a:t>D</a:t>
            </a:r>
            <a:r>
              <a:rPr spc="-5" dirty="0"/>
              <a:t>i</a:t>
            </a:r>
            <a:r>
              <a:rPr dirty="0"/>
              <a:t>s</a:t>
            </a:r>
            <a:r>
              <a:rPr spc="-5" dirty="0"/>
              <a:t>c</a:t>
            </a:r>
            <a:r>
              <a:rPr dirty="0"/>
              <a:t>ov</a:t>
            </a:r>
            <a:r>
              <a:rPr spc="-5" dirty="0"/>
              <a:t>er</a:t>
            </a:r>
            <a:r>
              <a:rPr dirty="0"/>
              <a:t>y	</a:t>
            </a:r>
            <a:r>
              <a:rPr spc="-5" dirty="0"/>
              <a:t>i</a:t>
            </a:r>
            <a:r>
              <a:rPr dirty="0"/>
              <a:t>n	D</a:t>
            </a:r>
            <a:r>
              <a:rPr spc="-5" dirty="0"/>
              <a:t>ata</a:t>
            </a:r>
            <a:r>
              <a:rPr dirty="0"/>
              <a:t>b</a:t>
            </a:r>
            <a:r>
              <a:rPr spc="-5" dirty="0"/>
              <a:t>a</a:t>
            </a:r>
            <a:r>
              <a:rPr dirty="0"/>
              <a:t>s</a:t>
            </a:r>
            <a:r>
              <a:rPr spc="-5" dirty="0"/>
              <a:t>e</a:t>
            </a:r>
            <a:r>
              <a:rPr dirty="0"/>
              <a:t>s  (KDD)	</a:t>
            </a:r>
            <a:r>
              <a:rPr spc="-5" dirty="0"/>
              <a:t>and	Data</a:t>
            </a:r>
            <a:r>
              <a:rPr spc="5" dirty="0"/>
              <a:t> </a:t>
            </a:r>
            <a:r>
              <a:rPr spc="-5" dirty="0"/>
              <a:t>Mining	</a:t>
            </a:r>
            <a:r>
              <a:rPr dirty="0"/>
              <a:t>(DM)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225590"/>
            <a:ext cx="5984875" cy="13563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5200"/>
              </a:lnSpc>
              <a:spcBef>
                <a:spcPts val="340"/>
              </a:spcBef>
              <a:tabLst>
                <a:tab pos="1238250" algn="l"/>
                <a:tab pos="4217670" algn="l"/>
              </a:tabLst>
            </a:pPr>
            <a:r>
              <a:rPr spc="-5" dirty="0"/>
              <a:t>Why	Data</a:t>
            </a:r>
            <a:r>
              <a:rPr spc="5" dirty="0"/>
              <a:t> </a:t>
            </a:r>
            <a:r>
              <a:rPr spc="-5" dirty="0"/>
              <a:t>Mining	</a:t>
            </a:r>
            <a:r>
              <a:rPr dirty="0"/>
              <a:t>/</a:t>
            </a:r>
            <a:r>
              <a:rPr spc="-100" dirty="0"/>
              <a:t> </a:t>
            </a:r>
            <a:r>
              <a:rPr dirty="0"/>
              <a:t>KDD?  </a:t>
            </a:r>
            <a:r>
              <a:rPr spc="-5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732279"/>
            <a:ext cx="7063105" cy="420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Banking: loan/credit card approval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4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predict </a:t>
            </a:r>
            <a:r>
              <a:rPr sz="2000" dirty="0">
                <a:latin typeface="Times New Roman"/>
                <a:cs typeface="Times New Roman"/>
              </a:rPr>
              <a:t>good </a:t>
            </a:r>
            <a:r>
              <a:rPr sz="2000" spc="-5" dirty="0">
                <a:latin typeface="Times New Roman"/>
                <a:cs typeface="Times New Roman"/>
              </a:rPr>
              <a:t>customers based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old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customers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Customer relationship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management: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7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identify those </a:t>
            </a:r>
            <a:r>
              <a:rPr sz="2000" dirty="0">
                <a:latin typeface="Times New Roman"/>
                <a:cs typeface="Times New Roman"/>
              </a:rPr>
              <a:t>who </a:t>
            </a:r>
            <a:r>
              <a:rPr sz="2000" spc="-5" dirty="0">
                <a:latin typeface="Times New Roman"/>
                <a:cs typeface="Times New Roman"/>
              </a:rPr>
              <a:t>are likely to leave </a:t>
            </a:r>
            <a:r>
              <a:rPr sz="2000" dirty="0">
                <a:latin typeface="Times New Roman"/>
                <a:cs typeface="Times New Roman"/>
              </a:rPr>
              <a:t>for 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competitor.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Targeted marketing: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identify likely responders to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promotions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30"/>
              </a:lnSpc>
              <a:spcBef>
                <a:spcPts val="70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Fraud detection: telecommunications, financial  transactions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3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5" dirty="0">
                <a:latin typeface="Times New Roman"/>
                <a:cs typeface="Times New Roman"/>
              </a:rPr>
              <a:t>an online stream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event identify fraudulent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events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7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Manufacturing and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production: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7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automatically adjust </a:t>
            </a:r>
            <a:r>
              <a:rPr sz="2000" dirty="0">
                <a:latin typeface="Times New Roman"/>
                <a:cs typeface="Times New Roman"/>
              </a:rPr>
              <a:t>knobs </a:t>
            </a:r>
            <a:r>
              <a:rPr sz="2000" spc="-5" dirty="0">
                <a:latin typeface="Times New Roman"/>
                <a:cs typeface="Times New Roman"/>
              </a:rPr>
              <a:t>when process parameter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changes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85420"/>
            <a:ext cx="55962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Applications</a:t>
            </a:r>
            <a:r>
              <a:rPr spc="-35" dirty="0"/>
              <a:t> </a:t>
            </a:r>
            <a:r>
              <a:rPr spc="-5" dirty="0"/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557020"/>
            <a:ext cx="6973570" cy="40970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321310" indent="-342900">
              <a:lnSpc>
                <a:spcPts val="3300"/>
              </a:lnSpc>
              <a:spcBef>
                <a:spcPts val="2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Medicine: disease outcome, effectiveness </a:t>
            </a:r>
            <a:r>
              <a:rPr sz="2800" dirty="0">
                <a:latin typeface="Times New Roman"/>
                <a:cs typeface="Times New Roman"/>
              </a:rPr>
              <a:t>of  </a:t>
            </a:r>
            <a:r>
              <a:rPr sz="2800" spc="-5" dirty="0">
                <a:latin typeface="Times New Roman"/>
                <a:cs typeface="Times New Roman"/>
              </a:rPr>
              <a:t>treatments</a:t>
            </a:r>
            <a:endParaRPr sz="2800">
              <a:latin typeface="Times New Roman"/>
              <a:cs typeface="Times New Roman"/>
            </a:endParaRPr>
          </a:p>
          <a:p>
            <a:pPr marL="749300" marR="328295" lvl="1" indent="-279400">
              <a:lnSpc>
                <a:spcPts val="2820"/>
              </a:lnSpc>
              <a:spcBef>
                <a:spcPts val="66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analyze patient disease history: find relationship  between diseases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1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Molecular/Pharmaceutical: identify new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drugs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Scientific data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analysis: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identify new galaxies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searching </a:t>
            </a:r>
            <a:r>
              <a:rPr sz="2400" dirty="0">
                <a:latin typeface="Times New Roman"/>
                <a:cs typeface="Times New Roman"/>
              </a:rPr>
              <a:t>for sub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clusters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Web site/store design and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promotion: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find affinity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visitor to pages and modify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layout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699" y="404495"/>
            <a:ext cx="25863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8250" algn="l"/>
              </a:tabLst>
            </a:pPr>
            <a:r>
              <a:rPr spc="-5" dirty="0"/>
              <a:t>W</a:t>
            </a:r>
            <a:r>
              <a:rPr dirty="0"/>
              <a:t>hy	Now?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099" y="1496504"/>
            <a:ext cx="6349365" cy="33464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Data is being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produced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Data is being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warehoused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computing power is available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59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computing power 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affordable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competitive pressures are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strong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Commercial products 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available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17640"/>
            <a:ext cx="837501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40"/>
              </a:lnSpc>
              <a:spcBef>
                <a:spcPts val="100"/>
              </a:spcBef>
              <a:tabLst>
                <a:tab pos="1238250" algn="l"/>
              </a:tabLst>
            </a:pPr>
            <a:r>
              <a:rPr spc="-5" dirty="0"/>
              <a:t>Why	Data</a:t>
            </a:r>
            <a:r>
              <a:rPr spc="-10" dirty="0"/>
              <a:t> </a:t>
            </a:r>
            <a:r>
              <a:rPr spc="-5" dirty="0"/>
              <a:t>Mining?</a:t>
            </a:r>
          </a:p>
          <a:p>
            <a:pPr marL="12700">
              <a:lnSpc>
                <a:spcPts val="5240"/>
              </a:lnSpc>
              <a:tabLst>
                <a:tab pos="1052195" algn="l"/>
                <a:tab pos="7212965" algn="l"/>
              </a:tabLst>
            </a:pPr>
            <a:r>
              <a:rPr dirty="0"/>
              <a:t>C</a:t>
            </a:r>
            <a:r>
              <a:rPr spc="-5" dirty="0"/>
              <a:t>a</a:t>
            </a:r>
            <a:r>
              <a:rPr dirty="0"/>
              <a:t>n	we</a:t>
            </a:r>
            <a:r>
              <a:rPr spc="-5" dirty="0"/>
              <a:t> </a:t>
            </a:r>
            <a:r>
              <a:rPr dirty="0"/>
              <a:t>so</a:t>
            </a:r>
            <a:r>
              <a:rPr spc="-5" dirty="0"/>
              <a:t>l</a:t>
            </a:r>
            <a:r>
              <a:rPr dirty="0"/>
              <a:t>ve</a:t>
            </a:r>
            <a:r>
              <a:rPr spc="-5" dirty="0"/>
              <a:t> al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prob</a:t>
            </a:r>
            <a:r>
              <a:rPr spc="-5" dirty="0"/>
              <a:t>lem</a:t>
            </a:r>
            <a:r>
              <a:rPr dirty="0"/>
              <a:t>s w</a:t>
            </a:r>
            <a:r>
              <a:rPr spc="-5" dirty="0"/>
              <a:t>it</a:t>
            </a:r>
            <a:r>
              <a:rPr dirty="0"/>
              <a:t>h	DM?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490" y="1951037"/>
            <a:ext cx="7569834" cy="365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Four questions </a:t>
            </a:r>
            <a:r>
              <a:rPr sz="2800" b="1" dirty="0">
                <a:latin typeface="Times New Roman"/>
                <a:cs typeface="Times New Roman"/>
              </a:rPr>
              <a:t>to be</a:t>
            </a:r>
            <a:r>
              <a:rPr sz="2800" b="1" spc="-5" dirty="0">
                <a:latin typeface="Times New Roman"/>
                <a:cs typeface="Times New Roman"/>
              </a:rPr>
              <a:t> answered: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Can the problem clearly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defined?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Does potentially meaningful data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exists?</a:t>
            </a:r>
            <a:endParaRPr sz="2000">
              <a:latin typeface="Times New Roman"/>
              <a:cs typeface="Times New Roman"/>
            </a:endParaRPr>
          </a:p>
          <a:p>
            <a:pPr marL="355600" marR="251460" indent="-342900">
              <a:lnSpc>
                <a:spcPct val="121700"/>
              </a:lnSpc>
              <a:spcBef>
                <a:spcPts val="3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Does the data contain hidden knowledge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useful only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reporting  purposes?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19200"/>
              </a:lnSpc>
              <a:spcBef>
                <a:spcPts val="51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Will the cost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processing the data will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less then the likely increase  in profit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5" dirty="0">
                <a:latin typeface="Times New Roman"/>
                <a:cs typeface="Times New Roman"/>
              </a:rPr>
              <a:t>the knowledge gained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5" dirty="0">
                <a:latin typeface="Times New Roman"/>
                <a:cs typeface="Times New Roman"/>
              </a:rPr>
              <a:t>applying any data mining  project?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27" y="341795"/>
            <a:ext cx="55403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Definitions: </a:t>
            </a:r>
            <a:r>
              <a:rPr dirty="0"/>
              <a:t>DM =</a:t>
            </a:r>
            <a:r>
              <a:rPr spc="-65" dirty="0"/>
              <a:t> </a:t>
            </a:r>
            <a:r>
              <a:rPr dirty="0"/>
              <a:t>KDD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127" y="1085532"/>
            <a:ext cx="8289290" cy="5509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778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Knowledge Discovery in Databases </a:t>
            </a:r>
            <a:r>
              <a:rPr sz="2000" dirty="0">
                <a:latin typeface="Times New Roman"/>
                <a:cs typeface="Times New Roman"/>
              </a:rPr>
              <a:t>(KDD) </a:t>
            </a:r>
            <a:r>
              <a:rPr sz="2000" spc="-5" dirty="0">
                <a:latin typeface="Times New Roman"/>
                <a:cs typeface="Times New Roman"/>
              </a:rPr>
              <a:t>is the non-trivial extraction </a:t>
            </a:r>
            <a:r>
              <a:rPr sz="2000" dirty="0">
                <a:latin typeface="Times New Roman"/>
                <a:cs typeface="Times New Roman"/>
              </a:rPr>
              <a:t>of  </a:t>
            </a:r>
            <a:r>
              <a:rPr sz="2000" spc="-5" dirty="0">
                <a:latin typeface="Times New Roman"/>
                <a:cs typeface="Times New Roman"/>
              </a:rPr>
              <a:t>implicit, previously </a:t>
            </a:r>
            <a:r>
              <a:rPr sz="2000" dirty="0">
                <a:latin typeface="Times New Roman"/>
                <a:cs typeface="Times New Roman"/>
              </a:rPr>
              <a:t>unknown </a:t>
            </a:r>
            <a:r>
              <a:rPr sz="2000" spc="-5" dirty="0">
                <a:latin typeface="Times New Roman"/>
                <a:cs typeface="Times New Roman"/>
              </a:rPr>
              <a:t>and potentially useful knowledge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890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Data mining is the exploration and analysis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large quantities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data in order  to discover valid, novel, potentially useful, and ultimately understandable  patterns in data. Process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semi-automatically analyzing large databases to  find patterns that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are: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85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solidFill>
                  <a:srgbClr val="CC0000"/>
                </a:solidFill>
                <a:latin typeface="Times New Roman"/>
                <a:cs typeface="Times New Roman"/>
              </a:rPr>
              <a:t>Valid: </a:t>
            </a:r>
            <a:r>
              <a:rPr sz="1600" spc="-5" dirty="0">
                <a:latin typeface="Times New Roman"/>
                <a:cs typeface="Times New Roman"/>
              </a:rPr>
              <a:t>The patterns hold in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general.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8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solidFill>
                  <a:srgbClr val="CC0000"/>
                </a:solidFill>
                <a:latin typeface="Times New Roman"/>
                <a:cs typeface="Times New Roman"/>
              </a:rPr>
              <a:t>Novel: </a:t>
            </a:r>
            <a:r>
              <a:rPr sz="1600" spc="-5" dirty="0">
                <a:latin typeface="Times New Roman"/>
                <a:cs typeface="Times New Roman"/>
              </a:rPr>
              <a:t>We did </a:t>
            </a:r>
            <a:r>
              <a:rPr sz="1600" dirty="0">
                <a:latin typeface="Times New Roman"/>
                <a:cs typeface="Times New Roman"/>
              </a:rPr>
              <a:t>not know </a:t>
            </a:r>
            <a:r>
              <a:rPr sz="1600" spc="-5" dirty="0">
                <a:latin typeface="Times New Roman"/>
                <a:cs typeface="Times New Roman"/>
              </a:rPr>
              <a:t>the pattern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beforehand.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8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solidFill>
                  <a:srgbClr val="CC0000"/>
                </a:solidFill>
                <a:latin typeface="Times New Roman"/>
                <a:cs typeface="Times New Roman"/>
              </a:rPr>
              <a:t>Useful: </a:t>
            </a:r>
            <a:r>
              <a:rPr sz="1600" spc="-5" dirty="0">
                <a:latin typeface="Times New Roman"/>
                <a:cs typeface="Times New Roman"/>
              </a:rPr>
              <a:t>We can devise </a:t>
            </a:r>
            <a:r>
              <a:rPr sz="1600" spc="-5" dirty="0">
                <a:solidFill>
                  <a:srgbClr val="CC0000"/>
                </a:solidFill>
                <a:latin typeface="Times New Roman"/>
                <a:cs typeface="Times New Roman"/>
              </a:rPr>
              <a:t>actions </a:t>
            </a:r>
            <a:r>
              <a:rPr sz="1600" dirty="0">
                <a:latin typeface="Times New Roman"/>
                <a:cs typeface="Times New Roman"/>
              </a:rPr>
              <a:t>from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patterns.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8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solidFill>
                  <a:srgbClr val="CC0000"/>
                </a:solidFill>
                <a:latin typeface="Times New Roman"/>
                <a:cs typeface="Times New Roman"/>
              </a:rPr>
              <a:t>Understandable: </a:t>
            </a:r>
            <a:r>
              <a:rPr sz="1600" spc="-5" dirty="0">
                <a:latin typeface="Times New Roman"/>
                <a:cs typeface="Times New Roman"/>
              </a:rPr>
              <a:t>We can interpret and comprehend 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patterns.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CC0000"/>
              </a:buClr>
              <a:buFont typeface="Times New Roman"/>
              <a:buChar char="–"/>
            </a:pPr>
            <a:endParaRPr sz="2200">
              <a:latin typeface="Times New Roman"/>
              <a:cs typeface="Times New Roman"/>
            </a:endParaRPr>
          </a:p>
          <a:p>
            <a:pPr marL="355600" marR="11430" indent="-342900">
              <a:lnSpc>
                <a:spcPts val="2020"/>
              </a:lnSpc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Why? Find trends and correlations in existing databases, that help </a:t>
            </a:r>
            <a:r>
              <a:rPr sz="2000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change  structures and processes in human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organizations:</a:t>
            </a:r>
            <a:endParaRPr sz="20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75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more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effective</a:t>
            </a:r>
            <a:endParaRPr sz="20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to save time</a:t>
            </a:r>
            <a:endParaRPr sz="20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2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to make more money</a:t>
            </a:r>
            <a:endParaRPr sz="20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Times New Roman"/>
                <a:cs typeface="Times New Roman"/>
              </a:rPr>
              <a:t>to improve product quality</a:t>
            </a:r>
            <a:endParaRPr sz="2000">
              <a:latin typeface="Times New Roman"/>
              <a:cs typeface="Times New Roman"/>
            </a:endParaRPr>
          </a:p>
          <a:p>
            <a:pPr marL="11557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…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54130115-A76A-4B57-A786-6DD0C09EF1E4}"/>
              </a:ext>
            </a:extLst>
          </p:cNvPr>
          <p:cNvSpPr>
            <a:spLocks/>
          </p:cNvSpPr>
          <p:nvPr/>
        </p:nvSpPr>
        <p:spPr bwMode="auto">
          <a:xfrm>
            <a:off x="6927629" y="6173079"/>
            <a:ext cx="1923201" cy="31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algn="r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93">
                <a:solidFill>
                  <a:srgbClr val="CC99FF"/>
                </a:solidFill>
                <a:latin typeface="Comic Sans MS Bold" panose="030F0902030302020204" pitchFamily="66" charset="0"/>
                <a:ea typeface="Comic Sans MS Bold" panose="030F0902030302020204" pitchFamily="66" charset="0"/>
                <a:cs typeface="Comic Sans MS Bold" panose="030F0902030302020204" pitchFamily="66" charset="0"/>
                <a:sym typeface="Comic Sans MS Bold" panose="030F0902030302020204" pitchFamily="66" charset="0"/>
              </a:rPr>
              <a:t>15</a:t>
            </a: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AA4A4163-BCF8-4288-BB8C-1DFD4132CD66}"/>
              </a:ext>
            </a:extLst>
          </p:cNvPr>
          <p:cNvSpPr>
            <a:spLocks/>
          </p:cNvSpPr>
          <p:nvPr/>
        </p:nvSpPr>
        <p:spPr bwMode="auto">
          <a:xfrm>
            <a:off x="913228" y="547130"/>
            <a:ext cx="7786619" cy="8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8112" bIns="0" anchor="ctr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8113" algn="ctr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432">
                <a:solidFill>
                  <a:srgbClr val="FF9900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The KDD process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B8D9798-8583-4FEA-A187-D88D33EBE309}"/>
              </a:ext>
            </a:extLst>
          </p:cNvPr>
          <p:cNvSpPr>
            <a:spLocks/>
          </p:cNvSpPr>
          <p:nvPr/>
        </p:nvSpPr>
        <p:spPr bwMode="auto">
          <a:xfrm>
            <a:off x="533572" y="1379736"/>
            <a:ext cx="7669350" cy="125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 anchor="ctr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216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The </a:t>
            </a:r>
            <a:r>
              <a:rPr lang="en-US" altLang="en-US" sz="2216">
                <a:solidFill>
                  <a:srgbClr val="FFFF00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non-trivial process</a:t>
            </a:r>
            <a:r>
              <a:rPr lang="en-US" altLang="en-US" sz="2216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 of  identifying </a:t>
            </a:r>
            <a:r>
              <a:rPr lang="en-US" altLang="en-US" sz="2216">
                <a:solidFill>
                  <a:srgbClr val="FFFF00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valid, novel, potentially useful</a:t>
            </a:r>
            <a:r>
              <a:rPr lang="en-US" altLang="en-US" sz="2216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, and </a:t>
            </a:r>
            <a:r>
              <a:rPr lang="en-US" altLang="en-US" sz="2216">
                <a:solidFill>
                  <a:srgbClr val="FFFF00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ultimately understandable</a:t>
            </a:r>
            <a:r>
              <a:rPr lang="en-US" altLang="en-US" sz="2216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 </a:t>
            </a:r>
            <a:r>
              <a:rPr lang="en-US" altLang="en-US" sz="2216">
                <a:solidFill>
                  <a:srgbClr val="0099FF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patterns</a:t>
            </a:r>
            <a:r>
              <a:rPr lang="en-US" altLang="en-US" sz="2216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 in data - </a:t>
            </a: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Fayyad, Platetsky-Shapiro, Smyth (1996)</a:t>
            </a:r>
            <a:r>
              <a:rPr lang="en-US" altLang="en-US" sz="2216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 </a:t>
            </a:r>
          </a:p>
        </p:txBody>
      </p:sp>
      <p:grpSp>
        <p:nvGrpSpPr>
          <p:cNvPr id="17422" name="Group 14">
            <a:extLst>
              <a:ext uri="{FF2B5EF4-FFF2-40B4-BE49-F238E27FC236}">
                <a16:creationId xmlns:a16="http://schemas.microsoft.com/office/drawing/2014/main" id="{040CE7B9-2D33-41D1-849D-C8339BE32C9B}"/>
              </a:ext>
            </a:extLst>
          </p:cNvPr>
          <p:cNvGrpSpPr>
            <a:grpSpLocks/>
          </p:cNvGrpSpPr>
          <p:nvPr/>
        </p:nvGrpSpPr>
        <p:grpSpPr bwMode="auto">
          <a:xfrm>
            <a:off x="762245" y="2583203"/>
            <a:ext cx="7257446" cy="1045154"/>
            <a:chOff x="0" y="0"/>
            <a:chExt cx="4951" cy="712"/>
          </a:xfrm>
        </p:grpSpPr>
        <p:sp>
          <p:nvSpPr>
            <p:cNvPr id="17412" name="Rectangle 4">
              <a:extLst>
                <a:ext uri="{FF2B5EF4-FFF2-40B4-BE49-F238E27FC236}">
                  <a16:creationId xmlns:a16="http://schemas.microsoft.com/office/drawing/2014/main" id="{79152D0A-B734-4DC5-94E9-24228987A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36"/>
              <a:ext cx="2656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37525" bIns="0" anchor="ctr"/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86">
                  <a:solidFill>
                    <a:srgbClr val="FFFF66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non-trivial process</a:t>
              </a:r>
            </a:p>
          </p:txBody>
        </p:sp>
        <p:grpSp>
          <p:nvGrpSpPr>
            <p:cNvPr id="17421" name="Group 13">
              <a:extLst>
                <a:ext uri="{FF2B5EF4-FFF2-40B4-BE49-F238E27FC236}">
                  <a16:creationId xmlns:a16="http://schemas.microsoft.com/office/drawing/2014/main" id="{73B1560C-F156-47CE-8B92-6537F13ED9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9" y="0"/>
              <a:ext cx="2342" cy="560"/>
              <a:chOff x="0" y="0"/>
              <a:chExt cx="2341" cy="560"/>
            </a:xfrm>
          </p:grpSpPr>
          <p:grpSp>
            <p:nvGrpSpPr>
              <p:cNvPr id="17417" name="Group 9">
                <a:extLst>
                  <a:ext uri="{FF2B5EF4-FFF2-40B4-BE49-F238E27FC236}">
                    <a16:creationId xmlns:a16="http://schemas.microsoft.com/office/drawing/2014/main" id="{E3E2CFA3-B8FC-456C-B33B-DF0F7F80E9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341" cy="560"/>
                <a:chOff x="0" y="0"/>
                <a:chExt cx="2341" cy="560"/>
              </a:xfrm>
            </p:grpSpPr>
            <p:sp>
              <p:nvSpPr>
                <p:cNvPr id="17413" name="AutoShape 5">
                  <a:extLst>
                    <a:ext uri="{FF2B5EF4-FFF2-40B4-BE49-F238E27FC236}">
                      <a16:creationId xmlns:a16="http://schemas.microsoft.com/office/drawing/2014/main" id="{C990D0F0-EDA0-4042-B0DD-B97D4E2F7B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1" y="0"/>
                  <a:ext cx="1940" cy="39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264" h="20623">
                      <a:moveTo>
                        <a:pt x="1919" y="6857"/>
                      </a:moveTo>
                      <a:cubicBezTo>
                        <a:pt x="744" y="7018"/>
                        <a:pt x="-110" y="8412"/>
                        <a:pt x="11" y="9971"/>
                      </a:cubicBezTo>
                      <a:cubicBezTo>
                        <a:pt x="81" y="10871"/>
                        <a:pt x="470" y="11672"/>
                        <a:pt x="1058" y="12130"/>
                      </a:cubicBezTo>
                      <a:lnTo>
                        <a:pt x="1047" y="12097"/>
                      </a:lnTo>
                      <a:cubicBezTo>
                        <a:pt x="237" y="13237"/>
                        <a:pt x="282" y="15025"/>
                        <a:pt x="1147" y="16091"/>
                      </a:cubicBezTo>
                      <a:cubicBezTo>
                        <a:pt x="1608" y="16659"/>
                        <a:pt x="2236" y="16931"/>
                        <a:pt x="2864" y="16834"/>
                      </a:cubicBezTo>
                      <a:lnTo>
                        <a:pt x="2853" y="16853"/>
                      </a:lnTo>
                      <a:cubicBezTo>
                        <a:pt x="3897" y="19265"/>
                        <a:pt x="6219" y="20100"/>
                        <a:pt x="8040" y="18718"/>
                      </a:cubicBezTo>
                      <a:cubicBezTo>
                        <a:pt x="8063" y="18700"/>
                        <a:pt x="8086" y="18683"/>
                        <a:pt x="8108" y="18665"/>
                      </a:cubicBezTo>
                      <a:lnTo>
                        <a:pt x="8102" y="18668"/>
                      </a:lnTo>
                      <a:cubicBezTo>
                        <a:pt x="9122" y="20688"/>
                        <a:pt x="11186" y="21231"/>
                        <a:pt x="12712" y="19881"/>
                      </a:cubicBezTo>
                      <a:cubicBezTo>
                        <a:pt x="13352" y="19315"/>
                        <a:pt x="13823" y="18473"/>
                        <a:pt x="14046" y="17498"/>
                      </a:cubicBezTo>
                      <a:lnTo>
                        <a:pt x="14050" y="17522"/>
                      </a:lnTo>
                      <a:cubicBezTo>
                        <a:pt x="15384" y="18621"/>
                        <a:pt x="17141" y="18085"/>
                        <a:pt x="17974" y="16325"/>
                      </a:cubicBezTo>
                      <a:cubicBezTo>
                        <a:pt x="18252" y="15737"/>
                        <a:pt x="18401" y="15059"/>
                        <a:pt x="18406" y="14366"/>
                      </a:cubicBezTo>
                      <a:lnTo>
                        <a:pt x="18400" y="14357"/>
                      </a:lnTo>
                      <a:cubicBezTo>
                        <a:pt x="20223" y="14013"/>
                        <a:pt x="21490" y="11783"/>
                        <a:pt x="21229" y="9377"/>
                      </a:cubicBezTo>
                      <a:cubicBezTo>
                        <a:pt x="21148" y="8627"/>
                        <a:pt x="20922" y="7918"/>
                        <a:pt x="20573" y="7318"/>
                      </a:cubicBezTo>
                      <a:lnTo>
                        <a:pt x="20566" y="7316"/>
                      </a:lnTo>
                      <a:cubicBezTo>
                        <a:pt x="21137" y="5554"/>
                        <a:pt x="20520" y="3512"/>
                        <a:pt x="19188" y="2756"/>
                      </a:cubicBezTo>
                      <a:cubicBezTo>
                        <a:pt x="19076" y="2693"/>
                        <a:pt x="18961" y="2640"/>
                        <a:pt x="18843" y="2597"/>
                      </a:cubicBezTo>
                      <a:lnTo>
                        <a:pt x="18852" y="2591"/>
                      </a:lnTo>
                      <a:cubicBezTo>
                        <a:pt x="18618" y="879"/>
                        <a:pt x="17375" y="-258"/>
                        <a:pt x="16075" y="50"/>
                      </a:cubicBezTo>
                      <a:cubicBezTo>
                        <a:pt x="15529" y="180"/>
                        <a:pt x="15034" y="555"/>
                        <a:pt x="14675" y="1113"/>
                      </a:cubicBezTo>
                      <a:lnTo>
                        <a:pt x="14679" y="1117"/>
                      </a:lnTo>
                      <a:cubicBezTo>
                        <a:pt x="13960" y="-129"/>
                        <a:pt x="12611" y="-369"/>
                        <a:pt x="11668" y="582"/>
                      </a:cubicBezTo>
                      <a:cubicBezTo>
                        <a:pt x="11406" y="845"/>
                        <a:pt x="11194" y="1183"/>
                        <a:pt x="11048" y="1572"/>
                      </a:cubicBezTo>
                      <a:lnTo>
                        <a:pt x="11055" y="1618"/>
                      </a:lnTo>
                      <a:cubicBezTo>
                        <a:pt x="10022" y="274"/>
                        <a:pt x="8360" y="291"/>
                        <a:pt x="7343" y="1657"/>
                      </a:cubicBezTo>
                      <a:cubicBezTo>
                        <a:pt x="7165" y="1895"/>
                        <a:pt x="7014" y="2167"/>
                        <a:pt x="6895" y="2463"/>
                      </a:cubicBezTo>
                      <a:lnTo>
                        <a:pt x="6887" y="2485"/>
                      </a:lnTo>
                      <a:cubicBezTo>
                        <a:pt x="5303" y="1260"/>
                        <a:pt x="3266" y="1962"/>
                        <a:pt x="2338" y="4053"/>
                      </a:cubicBezTo>
                      <a:cubicBezTo>
                        <a:pt x="1962" y="4900"/>
                        <a:pt x="1812" y="5889"/>
                        <a:pt x="1913" y="6862"/>
                      </a:cubicBezTo>
                      <a:close/>
                      <a:moveTo>
                        <a:pt x="1919" y="6857"/>
                      </a:move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rgbClr val="000000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defTabSz="844357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662">
                    <a:solidFill>
                      <a:srgbClr val="FFFFFF"/>
                    </a:solidFill>
                    <a:latin typeface="Times New Roman" panose="02020603050405020304" pitchFamily="18" charset="0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7414" name="AutoShape 6">
                  <a:extLst>
                    <a:ext uri="{FF2B5EF4-FFF2-40B4-BE49-F238E27FC236}">
                      <a16:creationId xmlns:a16="http://schemas.microsoft.com/office/drawing/2014/main" id="{3D000F74-0707-4BF5-9DA8-B4DD9A2D89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7" y="381"/>
                  <a:ext cx="323" cy="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10800" y="0"/>
                      </a:move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0" y="16765"/>
                        <a:pt x="4835" y="21600"/>
                        <a:pt x="10800" y="21600"/>
                      </a:cubicBezTo>
                      <a:cubicBezTo>
                        <a:pt x="16765" y="21600"/>
                        <a:pt x="21600" y="16765"/>
                        <a:pt x="21600" y="10800"/>
                      </a:cubicBezTo>
                      <a:cubicBezTo>
                        <a:pt x="21600" y="4835"/>
                        <a:pt x="16765" y="0"/>
                        <a:pt x="10800" y="0"/>
                      </a:cubicBezTo>
                      <a:close/>
                      <a:moveTo>
                        <a:pt x="10800" y="0"/>
                      </a:move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rgbClr val="000000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defTabSz="844357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662">
                    <a:solidFill>
                      <a:srgbClr val="FFFFFF"/>
                    </a:solidFill>
                    <a:latin typeface="Times New Roman" panose="02020603050405020304" pitchFamily="18" charset="0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7415" name="AutoShape 7">
                  <a:extLst>
                    <a:ext uri="{FF2B5EF4-FFF2-40B4-BE49-F238E27FC236}">
                      <a16:creationId xmlns:a16="http://schemas.microsoft.com/office/drawing/2014/main" id="{73293838-D040-4B9A-BDF4-DA9E8DCC5A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5" y="468"/>
                  <a:ext cx="216" cy="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10800" y="0"/>
                      </a:move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0" y="16765"/>
                        <a:pt x="4835" y="21600"/>
                        <a:pt x="10800" y="21600"/>
                      </a:cubicBezTo>
                      <a:cubicBezTo>
                        <a:pt x="16765" y="21600"/>
                        <a:pt x="21600" y="16765"/>
                        <a:pt x="21600" y="10800"/>
                      </a:cubicBezTo>
                      <a:cubicBezTo>
                        <a:pt x="21600" y="4835"/>
                        <a:pt x="16765" y="0"/>
                        <a:pt x="10800" y="0"/>
                      </a:cubicBezTo>
                      <a:close/>
                      <a:moveTo>
                        <a:pt x="10800" y="0"/>
                      </a:move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rgbClr val="000000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defTabSz="844357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662">
                    <a:solidFill>
                      <a:srgbClr val="FFFFFF"/>
                    </a:solidFill>
                    <a:latin typeface="Times New Roman" panose="02020603050405020304" pitchFamily="18" charset="0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7416" name="AutoShape 8">
                  <a:extLst>
                    <a:ext uri="{FF2B5EF4-FFF2-40B4-BE49-F238E27FC236}">
                      <a16:creationId xmlns:a16="http://schemas.microsoft.com/office/drawing/2014/main" id="{AFA50B02-776F-4B95-B362-4E27C1B557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537"/>
                  <a:ext cx="107" cy="2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10800" y="0"/>
                      </a:move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0" y="16765"/>
                        <a:pt x="4835" y="21600"/>
                        <a:pt x="10800" y="21600"/>
                      </a:cubicBezTo>
                      <a:cubicBezTo>
                        <a:pt x="16765" y="21600"/>
                        <a:pt x="21600" y="16765"/>
                        <a:pt x="21600" y="10800"/>
                      </a:cubicBezTo>
                      <a:cubicBezTo>
                        <a:pt x="21600" y="4835"/>
                        <a:pt x="16765" y="0"/>
                        <a:pt x="10800" y="0"/>
                      </a:cubicBezTo>
                      <a:close/>
                      <a:moveTo>
                        <a:pt x="10800" y="0"/>
                      </a:moveTo>
                    </a:path>
                  </a:pathLst>
                </a:custGeom>
                <a:gradFill rotWithShape="0">
                  <a:gsLst>
                    <a:gs pos="0">
                      <a:srgbClr val="FFFF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rgbClr val="000000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defTabSz="844357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662">
                    <a:solidFill>
                      <a:srgbClr val="FFFFFF"/>
                    </a:solidFill>
                    <a:latin typeface="Times New Roman" panose="02020603050405020304" pitchFamily="18" charset="0"/>
                    <a:sym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420" name="Group 12">
                <a:extLst>
                  <a:ext uri="{FF2B5EF4-FFF2-40B4-BE49-F238E27FC236}">
                    <a16:creationId xmlns:a16="http://schemas.microsoft.com/office/drawing/2014/main" id="{EE5C318D-C80D-470D-B9B8-712453401E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2" y="52"/>
                <a:ext cx="1287" cy="288"/>
                <a:chOff x="19" y="0"/>
                <a:chExt cx="1286" cy="288"/>
              </a:xfrm>
            </p:grpSpPr>
            <p:sp>
              <p:nvSpPr>
                <p:cNvPr id="17418" name="Rectangle 10">
                  <a:extLst>
                    <a:ext uri="{FF2B5EF4-FFF2-40B4-BE49-F238E27FC236}">
                      <a16:creationId xmlns:a16="http://schemas.microsoft.com/office/drawing/2014/main" id="{99BEB192-94CA-4166-A606-3ECA67EAB7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" y="0"/>
                  <a:ext cx="1276" cy="288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flat">
                      <a:solidFill>
                        <a:srgbClr val="000000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pPr defTabSz="844357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662">
                    <a:solidFill>
                      <a:srgbClr val="FFFFFF"/>
                    </a:solidFill>
                    <a:latin typeface="Times New Roman" panose="02020603050405020304" pitchFamily="18" charset="0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7419" name="Rectangle 11">
                  <a:extLst>
                    <a:ext uri="{FF2B5EF4-FFF2-40B4-BE49-F238E27FC236}">
                      <a16:creationId xmlns:a16="http://schemas.microsoft.com/office/drawing/2014/main" id="{246CC79D-3A02-4B04-B6CE-23FD485097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" y="48"/>
                  <a:ext cx="1286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flat">
                      <a:solidFill>
                        <a:srgbClr val="000000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lIns="0" tIns="0" rIns="37525" bIns="0" anchor="ctr">
                  <a:spAutoFit/>
                </a:bodyPr>
                <a:lstStyle>
                  <a:lvl1pPr marL="39688"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36648" algn="ctr" defTabSz="844357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847">
                      <a:solidFill>
                        <a:srgbClr val="000000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Comic Sans MS" panose="030F0702030302020204" pitchFamily="66" charset="0"/>
                      <a:sym typeface="Comic Sans MS" panose="030F0702030302020204" pitchFamily="66" charset="0"/>
                    </a:rPr>
                    <a:t>Multiple process</a:t>
                  </a:r>
                </a:p>
              </p:txBody>
            </p:sp>
          </p:grpSp>
        </p:grpSp>
      </p:grpSp>
      <p:grpSp>
        <p:nvGrpSpPr>
          <p:cNvPr id="17430" name="Group 22">
            <a:extLst>
              <a:ext uri="{FF2B5EF4-FFF2-40B4-BE49-F238E27FC236}">
                <a16:creationId xmlns:a16="http://schemas.microsoft.com/office/drawing/2014/main" id="{DD10FA48-B9CC-45E0-9889-3306DDD53529}"/>
              </a:ext>
            </a:extLst>
          </p:cNvPr>
          <p:cNvGrpSpPr>
            <a:grpSpLocks/>
          </p:cNvGrpSpPr>
          <p:nvPr/>
        </p:nvGrpSpPr>
        <p:grpSpPr bwMode="auto">
          <a:xfrm>
            <a:off x="762245" y="3427535"/>
            <a:ext cx="7619511" cy="926420"/>
            <a:chOff x="0" y="0"/>
            <a:chExt cx="5198" cy="631"/>
          </a:xfrm>
        </p:grpSpPr>
        <p:grpSp>
          <p:nvGrpSpPr>
            <p:cNvPr id="17427" name="Group 19">
              <a:extLst>
                <a:ext uri="{FF2B5EF4-FFF2-40B4-BE49-F238E27FC236}">
                  <a16:creationId xmlns:a16="http://schemas.microsoft.com/office/drawing/2014/main" id="{D89F88BA-2701-4F55-B435-02851D18FF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4" y="0"/>
              <a:ext cx="3494" cy="631"/>
              <a:chOff x="0" y="0"/>
              <a:chExt cx="3493" cy="631"/>
            </a:xfrm>
          </p:grpSpPr>
          <p:sp>
            <p:nvSpPr>
              <p:cNvPr id="17423" name="AutoShape 15">
                <a:extLst>
                  <a:ext uri="{FF2B5EF4-FFF2-40B4-BE49-F238E27FC236}">
                    <a16:creationId xmlns:a16="http://schemas.microsoft.com/office/drawing/2014/main" id="{6494376C-1D43-49CF-9E07-7579E16D3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2" y="0"/>
                <a:ext cx="2641" cy="631"/>
              </a:xfrm>
              <a:custGeom>
                <a:avLst/>
                <a:gdLst/>
                <a:ahLst/>
                <a:cxnLst/>
                <a:rect l="0" t="0" r="r" b="b"/>
                <a:pathLst>
                  <a:path w="21264" h="20623">
                    <a:moveTo>
                      <a:pt x="1919" y="6857"/>
                    </a:moveTo>
                    <a:cubicBezTo>
                      <a:pt x="744" y="7018"/>
                      <a:pt x="-110" y="8412"/>
                      <a:pt x="11" y="9971"/>
                    </a:cubicBezTo>
                    <a:cubicBezTo>
                      <a:pt x="81" y="10871"/>
                      <a:pt x="470" y="11672"/>
                      <a:pt x="1058" y="12130"/>
                    </a:cubicBezTo>
                    <a:lnTo>
                      <a:pt x="1047" y="12097"/>
                    </a:lnTo>
                    <a:cubicBezTo>
                      <a:pt x="237" y="13237"/>
                      <a:pt x="282" y="15025"/>
                      <a:pt x="1147" y="16091"/>
                    </a:cubicBezTo>
                    <a:cubicBezTo>
                      <a:pt x="1608" y="16659"/>
                      <a:pt x="2236" y="16931"/>
                      <a:pt x="2864" y="16834"/>
                    </a:cubicBezTo>
                    <a:lnTo>
                      <a:pt x="2853" y="16853"/>
                    </a:lnTo>
                    <a:cubicBezTo>
                      <a:pt x="3897" y="19265"/>
                      <a:pt x="6219" y="20100"/>
                      <a:pt x="8040" y="18718"/>
                    </a:cubicBezTo>
                    <a:cubicBezTo>
                      <a:pt x="8063" y="18700"/>
                      <a:pt x="8086" y="18683"/>
                      <a:pt x="8108" y="18665"/>
                    </a:cubicBezTo>
                    <a:lnTo>
                      <a:pt x="8102" y="18668"/>
                    </a:lnTo>
                    <a:cubicBezTo>
                      <a:pt x="9122" y="20688"/>
                      <a:pt x="11186" y="21231"/>
                      <a:pt x="12712" y="19881"/>
                    </a:cubicBezTo>
                    <a:cubicBezTo>
                      <a:pt x="13352" y="19315"/>
                      <a:pt x="13823" y="18473"/>
                      <a:pt x="14046" y="17498"/>
                    </a:cubicBezTo>
                    <a:lnTo>
                      <a:pt x="14050" y="17522"/>
                    </a:lnTo>
                    <a:cubicBezTo>
                      <a:pt x="15384" y="18621"/>
                      <a:pt x="17141" y="18085"/>
                      <a:pt x="17974" y="16325"/>
                    </a:cubicBezTo>
                    <a:cubicBezTo>
                      <a:pt x="18252" y="15737"/>
                      <a:pt x="18401" y="15059"/>
                      <a:pt x="18406" y="14366"/>
                    </a:cubicBezTo>
                    <a:lnTo>
                      <a:pt x="18400" y="14357"/>
                    </a:lnTo>
                    <a:cubicBezTo>
                      <a:pt x="20223" y="14013"/>
                      <a:pt x="21490" y="11783"/>
                      <a:pt x="21229" y="9377"/>
                    </a:cubicBezTo>
                    <a:cubicBezTo>
                      <a:pt x="21148" y="8627"/>
                      <a:pt x="20922" y="7918"/>
                      <a:pt x="20573" y="7318"/>
                    </a:cubicBezTo>
                    <a:lnTo>
                      <a:pt x="20566" y="7316"/>
                    </a:lnTo>
                    <a:cubicBezTo>
                      <a:pt x="21137" y="5554"/>
                      <a:pt x="20520" y="3512"/>
                      <a:pt x="19188" y="2756"/>
                    </a:cubicBezTo>
                    <a:cubicBezTo>
                      <a:pt x="19076" y="2693"/>
                      <a:pt x="18961" y="2640"/>
                      <a:pt x="18843" y="2597"/>
                    </a:cubicBezTo>
                    <a:lnTo>
                      <a:pt x="18852" y="2591"/>
                    </a:lnTo>
                    <a:cubicBezTo>
                      <a:pt x="18618" y="879"/>
                      <a:pt x="17375" y="-258"/>
                      <a:pt x="16075" y="50"/>
                    </a:cubicBezTo>
                    <a:cubicBezTo>
                      <a:pt x="15529" y="180"/>
                      <a:pt x="15034" y="555"/>
                      <a:pt x="14675" y="1113"/>
                    </a:cubicBezTo>
                    <a:lnTo>
                      <a:pt x="14679" y="1117"/>
                    </a:lnTo>
                    <a:cubicBezTo>
                      <a:pt x="13960" y="-129"/>
                      <a:pt x="12611" y="-369"/>
                      <a:pt x="11668" y="582"/>
                    </a:cubicBezTo>
                    <a:cubicBezTo>
                      <a:pt x="11406" y="845"/>
                      <a:pt x="11194" y="1183"/>
                      <a:pt x="11048" y="1572"/>
                    </a:cubicBezTo>
                    <a:lnTo>
                      <a:pt x="11055" y="1618"/>
                    </a:lnTo>
                    <a:cubicBezTo>
                      <a:pt x="10022" y="274"/>
                      <a:pt x="8360" y="291"/>
                      <a:pt x="7343" y="1657"/>
                    </a:cubicBezTo>
                    <a:cubicBezTo>
                      <a:pt x="7165" y="1895"/>
                      <a:pt x="7014" y="2167"/>
                      <a:pt x="6895" y="2463"/>
                    </a:cubicBezTo>
                    <a:lnTo>
                      <a:pt x="6887" y="2485"/>
                    </a:lnTo>
                    <a:cubicBezTo>
                      <a:pt x="5303" y="1260"/>
                      <a:pt x="3266" y="1962"/>
                      <a:pt x="2338" y="4053"/>
                    </a:cubicBezTo>
                    <a:cubicBezTo>
                      <a:pt x="1962" y="4900"/>
                      <a:pt x="1812" y="5889"/>
                      <a:pt x="1913" y="6862"/>
                    </a:cubicBezTo>
                    <a:close/>
                    <a:moveTo>
                      <a:pt x="1919" y="6857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24" name="AutoShape 16">
                <a:extLst>
                  <a:ext uri="{FF2B5EF4-FFF2-40B4-BE49-F238E27FC236}">
                    <a16:creationId xmlns:a16="http://schemas.microsoft.com/office/drawing/2014/main" id="{1EC32B43-B8AE-4BFF-AB40-DCB47D0B6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" y="302"/>
                <a:ext cx="440" cy="105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25" name="AutoShape 17">
                <a:extLst>
                  <a:ext uri="{FF2B5EF4-FFF2-40B4-BE49-F238E27FC236}">
                    <a16:creationId xmlns:a16="http://schemas.microsoft.com/office/drawing/2014/main" id="{813B36B9-53C6-474F-AACE-099BB85BD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" y="329"/>
                <a:ext cx="293" cy="70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26" name="AutoShape 18">
                <a:extLst>
                  <a:ext uri="{FF2B5EF4-FFF2-40B4-BE49-F238E27FC236}">
                    <a16:creationId xmlns:a16="http://schemas.microsoft.com/office/drawing/2014/main" id="{B5D1D8F2-8DE2-42AB-9B54-2307A49AE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52"/>
                <a:ext cx="146" cy="35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7428" name="Rectangle 20">
              <a:extLst>
                <a:ext uri="{FF2B5EF4-FFF2-40B4-BE49-F238E27FC236}">
                  <a16:creationId xmlns:a16="http://schemas.microsoft.com/office/drawing/2014/main" id="{413CB156-3093-4378-A964-8412A23AC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95"/>
              <a:ext cx="2936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37525" bIns="0" anchor="ctr"/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86">
                  <a:solidFill>
                    <a:srgbClr val="FFFF66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valid</a:t>
              </a:r>
            </a:p>
          </p:txBody>
        </p:sp>
        <p:sp>
          <p:nvSpPr>
            <p:cNvPr id="17429" name="Rectangle 21">
              <a:extLst>
                <a:ext uri="{FF2B5EF4-FFF2-40B4-BE49-F238E27FC236}">
                  <a16:creationId xmlns:a16="http://schemas.microsoft.com/office/drawing/2014/main" id="{CC711B5F-FE42-4FCD-8BDC-CAADF2B32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202"/>
              <a:ext cx="205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47">
                  <a:solidFill>
                    <a:srgbClr val="000000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Justified patterns/models</a:t>
              </a:r>
            </a:p>
          </p:txBody>
        </p:sp>
      </p:grpSp>
      <p:grpSp>
        <p:nvGrpSpPr>
          <p:cNvPr id="17438" name="Group 30">
            <a:extLst>
              <a:ext uri="{FF2B5EF4-FFF2-40B4-BE49-F238E27FC236}">
                <a16:creationId xmlns:a16="http://schemas.microsoft.com/office/drawing/2014/main" id="{4E04B676-25C7-4099-8D46-B6EF4E5EB784}"/>
              </a:ext>
            </a:extLst>
          </p:cNvPr>
          <p:cNvGrpSpPr>
            <a:grpSpLocks/>
          </p:cNvGrpSpPr>
          <p:nvPr/>
        </p:nvGrpSpPr>
        <p:grpSpPr bwMode="auto">
          <a:xfrm>
            <a:off x="762245" y="4273332"/>
            <a:ext cx="7085940" cy="587808"/>
            <a:chOff x="0" y="0"/>
            <a:chExt cx="4834" cy="400"/>
          </a:xfrm>
        </p:grpSpPr>
        <p:sp>
          <p:nvSpPr>
            <p:cNvPr id="17431" name="Rectangle 23">
              <a:extLst>
                <a:ext uri="{FF2B5EF4-FFF2-40B4-BE49-F238E27FC236}">
                  <a16:creationId xmlns:a16="http://schemas.microsoft.com/office/drawing/2014/main" id="{DD78FB05-2C94-4CB4-B318-485F92666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5"/>
              <a:ext cx="1960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37525" bIns="0" anchor="ctr"/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86">
                  <a:solidFill>
                    <a:srgbClr val="FFFF66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novel</a:t>
              </a:r>
            </a:p>
          </p:txBody>
        </p:sp>
        <p:grpSp>
          <p:nvGrpSpPr>
            <p:cNvPr id="17436" name="Group 28">
              <a:extLst>
                <a:ext uri="{FF2B5EF4-FFF2-40B4-BE49-F238E27FC236}">
                  <a16:creationId xmlns:a16="http://schemas.microsoft.com/office/drawing/2014/main" id="{6B7F459E-E240-40EB-8AA9-9024CFE5AA3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997" y="0"/>
              <a:ext cx="2837" cy="400"/>
              <a:chOff x="0" y="0"/>
              <a:chExt cx="2836" cy="400"/>
            </a:xfrm>
          </p:grpSpPr>
          <p:sp>
            <p:nvSpPr>
              <p:cNvPr id="17432" name="AutoShape 24">
                <a:extLst>
                  <a:ext uri="{FF2B5EF4-FFF2-40B4-BE49-F238E27FC236}">
                    <a16:creationId xmlns:a16="http://schemas.microsoft.com/office/drawing/2014/main" id="{6EA0F58B-005E-4BEB-8942-41B23B554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1870" cy="400"/>
              </a:xfrm>
              <a:custGeom>
                <a:avLst/>
                <a:gdLst/>
                <a:ahLst/>
                <a:cxnLst/>
                <a:rect l="0" t="0" r="r" b="b"/>
                <a:pathLst>
                  <a:path w="21264" h="20623">
                    <a:moveTo>
                      <a:pt x="1919" y="6857"/>
                    </a:moveTo>
                    <a:cubicBezTo>
                      <a:pt x="744" y="7018"/>
                      <a:pt x="-110" y="8412"/>
                      <a:pt x="11" y="9971"/>
                    </a:cubicBezTo>
                    <a:cubicBezTo>
                      <a:pt x="81" y="10871"/>
                      <a:pt x="470" y="11672"/>
                      <a:pt x="1058" y="12130"/>
                    </a:cubicBezTo>
                    <a:lnTo>
                      <a:pt x="1047" y="12097"/>
                    </a:lnTo>
                    <a:cubicBezTo>
                      <a:pt x="237" y="13237"/>
                      <a:pt x="282" y="15025"/>
                      <a:pt x="1147" y="16091"/>
                    </a:cubicBezTo>
                    <a:cubicBezTo>
                      <a:pt x="1608" y="16659"/>
                      <a:pt x="2236" y="16931"/>
                      <a:pt x="2864" y="16834"/>
                    </a:cubicBezTo>
                    <a:lnTo>
                      <a:pt x="2853" y="16853"/>
                    </a:lnTo>
                    <a:cubicBezTo>
                      <a:pt x="3897" y="19265"/>
                      <a:pt x="6219" y="20100"/>
                      <a:pt x="8040" y="18718"/>
                    </a:cubicBezTo>
                    <a:cubicBezTo>
                      <a:pt x="8063" y="18700"/>
                      <a:pt x="8086" y="18683"/>
                      <a:pt x="8108" y="18665"/>
                    </a:cubicBezTo>
                    <a:lnTo>
                      <a:pt x="8102" y="18668"/>
                    </a:lnTo>
                    <a:cubicBezTo>
                      <a:pt x="9122" y="20688"/>
                      <a:pt x="11186" y="21231"/>
                      <a:pt x="12712" y="19881"/>
                    </a:cubicBezTo>
                    <a:cubicBezTo>
                      <a:pt x="13352" y="19315"/>
                      <a:pt x="13823" y="18473"/>
                      <a:pt x="14046" y="17498"/>
                    </a:cubicBezTo>
                    <a:lnTo>
                      <a:pt x="14050" y="17522"/>
                    </a:lnTo>
                    <a:cubicBezTo>
                      <a:pt x="15384" y="18621"/>
                      <a:pt x="17141" y="18085"/>
                      <a:pt x="17974" y="16325"/>
                    </a:cubicBezTo>
                    <a:cubicBezTo>
                      <a:pt x="18252" y="15737"/>
                      <a:pt x="18401" y="15059"/>
                      <a:pt x="18406" y="14366"/>
                    </a:cubicBezTo>
                    <a:lnTo>
                      <a:pt x="18400" y="14357"/>
                    </a:lnTo>
                    <a:cubicBezTo>
                      <a:pt x="20223" y="14013"/>
                      <a:pt x="21490" y="11783"/>
                      <a:pt x="21229" y="9377"/>
                    </a:cubicBezTo>
                    <a:cubicBezTo>
                      <a:pt x="21148" y="8627"/>
                      <a:pt x="20922" y="7918"/>
                      <a:pt x="20573" y="7318"/>
                    </a:cubicBezTo>
                    <a:lnTo>
                      <a:pt x="20566" y="7316"/>
                    </a:lnTo>
                    <a:cubicBezTo>
                      <a:pt x="21137" y="5554"/>
                      <a:pt x="20520" y="3512"/>
                      <a:pt x="19188" y="2756"/>
                    </a:cubicBezTo>
                    <a:cubicBezTo>
                      <a:pt x="19076" y="2693"/>
                      <a:pt x="18961" y="2640"/>
                      <a:pt x="18843" y="2597"/>
                    </a:cubicBezTo>
                    <a:lnTo>
                      <a:pt x="18852" y="2591"/>
                    </a:lnTo>
                    <a:cubicBezTo>
                      <a:pt x="18618" y="879"/>
                      <a:pt x="17375" y="-258"/>
                      <a:pt x="16075" y="50"/>
                    </a:cubicBezTo>
                    <a:cubicBezTo>
                      <a:pt x="15529" y="180"/>
                      <a:pt x="15034" y="555"/>
                      <a:pt x="14675" y="1113"/>
                    </a:cubicBezTo>
                    <a:lnTo>
                      <a:pt x="14679" y="1117"/>
                    </a:lnTo>
                    <a:cubicBezTo>
                      <a:pt x="13960" y="-129"/>
                      <a:pt x="12611" y="-369"/>
                      <a:pt x="11668" y="582"/>
                    </a:cubicBezTo>
                    <a:cubicBezTo>
                      <a:pt x="11406" y="845"/>
                      <a:pt x="11194" y="1183"/>
                      <a:pt x="11048" y="1572"/>
                    </a:cubicBezTo>
                    <a:lnTo>
                      <a:pt x="11055" y="1618"/>
                    </a:lnTo>
                    <a:cubicBezTo>
                      <a:pt x="10022" y="274"/>
                      <a:pt x="8360" y="291"/>
                      <a:pt x="7343" y="1657"/>
                    </a:cubicBezTo>
                    <a:cubicBezTo>
                      <a:pt x="7165" y="1895"/>
                      <a:pt x="7014" y="2167"/>
                      <a:pt x="6895" y="2463"/>
                    </a:cubicBezTo>
                    <a:lnTo>
                      <a:pt x="6887" y="2485"/>
                    </a:lnTo>
                    <a:cubicBezTo>
                      <a:pt x="5303" y="1260"/>
                      <a:pt x="3266" y="1962"/>
                      <a:pt x="2338" y="4053"/>
                    </a:cubicBezTo>
                    <a:cubicBezTo>
                      <a:pt x="1962" y="4900"/>
                      <a:pt x="1812" y="5889"/>
                      <a:pt x="1913" y="6862"/>
                    </a:cubicBezTo>
                    <a:close/>
                    <a:moveTo>
                      <a:pt x="1919" y="6857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33" name="AutoShape 25">
                <a:extLst>
                  <a:ext uri="{FF2B5EF4-FFF2-40B4-BE49-F238E27FC236}">
                    <a16:creationId xmlns:a16="http://schemas.microsoft.com/office/drawing/2014/main" id="{2B2E464A-D938-43CC-AA59-3317735BC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8" y="205"/>
                <a:ext cx="312" cy="67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34" name="AutoShape 26">
                <a:extLst>
                  <a:ext uri="{FF2B5EF4-FFF2-40B4-BE49-F238E27FC236}">
                    <a16:creationId xmlns:a16="http://schemas.microsoft.com/office/drawing/2014/main" id="{ACA89C56-8EF2-461B-A6C5-637E6620F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7" y="228"/>
                <a:ext cx="207" cy="45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35" name="AutoShape 27">
                <a:extLst>
                  <a:ext uri="{FF2B5EF4-FFF2-40B4-BE49-F238E27FC236}">
                    <a16:creationId xmlns:a16="http://schemas.microsoft.com/office/drawing/2014/main" id="{D51B9EFB-D301-4F20-A145-FA945793C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2" y="248"/>
                <a:ext cx="104" cy="23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7437" name="Rectangle 29">
              <a:extLst>
                <a:ext uri="{FF2B5EF4-FFF2-40B4-BE49-F238E27FC236}">
                  <a16:creationId xmlns:a16="http://schemas.microsoft.com/office/drawing/2014/main" id="{824187CE-3024-4351-9970-F918E0F27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129"/>
              <a:ext cx="147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47">
                  <a:solidFill>
                    <a:srgbClr val="000000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Previously unknown</a:t>
              </a:r>
            </a:p>
          </p:txBody>
        </p:sp>
      </p:grpSp>
      <p:grpSp>
        <p:nvGrpSpPr>
          <p:cNvPr id="17446" name="Group 38">
            <a:extLst>
              <a:ext uri="{FF2B5EF4-FFF2-40B4-BE49-F238E27FC236}">
                <a16:creationId xmlns:a16="http://schemas.microsoft.com/office/drawing/2014/main" id="{86783D80-69E0-4597-A763-E53C74C25DF0}"/>
              </a:ext>
            </a:extLst>
          </p:cNvPr>
          <p:cNvGrpSpPr>
            <a:grpSpLocks/>
          </p:cNvGrpSpPr>
          <p:nvPr/>
        </p:nvGrpSpPr>
        <p:grpSpPr bwMode="auto">
          <a:xfrm>
            <a:off x="762245" y="4799575"/>
            <a:ext cx="6301709" cy="681622"/>
            <a:chOff x="0" y="0"/>
            <a:chExt cx="4299" cy="464"/>
          </a:xfrm>
        </p:grpSpPr>
        <p:sp>
          <p:nvSpPr>
            <p:cNvPr id="17439" name="Rectangle 31">
              <a:extLst>
                <a:ext uri="{FF2B5EF4-FFF2-40B4-BE49-F238E27FC236}">
                  <a16:creationId xmlns:a16="http://schemas.microsoft.com/office/drawing/2014/main" id="{C88F7398-57A5-4F2B-A13F-26BEA6B14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656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37525" bIns="0" anchor="ctr"/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86">
                  <a:solidFill>
                    <a:srgbClr val="FFFF66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useful</a:t>
              </a:r>
            </a:p>
          </p:txBody>
        </p:sp>
        <p:grpSp>
          <p:nvGrpSpPr>
            <p:cNvPr id="17444" name="Group 36">
              <a:extLst>
                <a:ext uri="{FF2B5EF4-FFF2-40B4-BE49-F238E27FC236}">
                  <a16:creationId xmlns:a16="http://schemas.microsoft.com/office/drawing/2014/main" id="{0E00F6C0-AF2A-451A-B85D-E3E0523A482B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1561" y="34"/>
              <a:ext cx="2738" cy="430"/>
              <a:chOff x="0" y="0"/>
              <a:chExt cx="2738" cy="429"/>
            </a:xfrm>
          </p:grpSpPr>
          <p:sp>
            <p:nvSpPr>
              <p:cNvPr id="17440" name="AutoShape 32">
                <a:extLst>
                  <a:ext uri="{FF2B5EF4-FFF2-40B4-BE49-F238E27FC236}">
                    <a16:creationId xmlns:a16="http://schemas.microsoft.com/office/drawing/2014/main" id="{CA70A93A-22BD-4FDE-8608-D48B9D2DA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" y="0"/>
                <a:ext cx="2039" cy="429"/>
              </a:xfrm>
              <a:custGeom>
                <a:avLst/>
                <a:gdLst/>
                <a:ahLst/>
                <a:cxnLst/>
                <a:rect l="0" t="0" r="r" b="b"/>
                <a:pathLst>
                  <a:path w="21264" h="20623">
                    <a:moveTo>
                      <a:pt x="1919" y="6857"/>
                    </a:moveTo>
                    <a:cubicBezTo>
                      <a:pt x="744" y="7018"/>
                      <a:pt x="-110" y="8412"/>
                      <a:pt x="11" y="9971"/>
                    </a:cubicBezTo>
                    <a:cubicBezTo>
                      <a:pt x="81" y="10871"/>
                      <a:pt x="470" y="11672"/>
                      <a:pt x="1058" y="12130"/>
                    </a:cubicBezTo>
                    <a:lnTo>
                      <a:pt x="1047" y="12097"/>
                    </a:lnTo>
                    <a:cubicBezTo>
                      <a:pt x="237" y="13237"/>
                      <a:pt x="282" y="15025"/>
                      <a:pt x="1147" y="16091"/>
                    </a:cubicBezTo>
                    <a:cubicBezTo>
                      <a:pt x="1608" y="16659"/>
                      <a:pt x="2236" y="16931"/>
                      <a:pt x="2864" y="16834"/>
                    </a:cubicBezTo>
                    <a:lnTo>
                      <a:pt x="2853" y="16853"/>
                    </a:lnTo>
                    <a:cubicBezTo>
                      <a:pt x="3897" y="19265"/>
                      <a:pt x="6219" y="20100"/>
                      <a:pt x="8040" y="18718"/>
                    </a:cubicBezTo>
                    <a:cubicBezTo>
                      <a:pt x="8063" y="18700"/>
                      <a:pt x="8086" y="18683"/>
                      <a:pt x="8108" y="18665"/>
                    </a:cubicBezTo>
                    <a:lnTo>
                      <a:pt x="8102" y="18668"/>
                    </a:lnTo>
                    <a:cubicBezTo>
                      <a:pt x="9122" y="20688"/>
                      <a:pt x="11186" y="21231"/>
                      <a:pt x="12712" y="19881"/>
                    </a:cubicBezTo>
                    <a:cubicBezTo>
                      <a:pt x="13352" y="19315"/>
                      <a:pt x="13823" y="18473"/>
                      <a:pt x="14046" y="17498"/>
                    </a:cubicBezTo>
                    <a:lnTo>
                      <a:pt x="14050" y="17522"/>
                    </a:lnTo>
                    <a:cubicBezTo>
                      <a:pt x="15384" y="18621"/>
                      <a:pt x="17141" y="18085"/>
                      <a:pt x="17974" y="16325"/>
                    </a:cubicBezTo>
                    <a:cubicBezTo>
                      <a:pt x="18252" y="15737"/>
                      <a:pt x="18401" y="15059"/>
                      <a:pt x="18406" y="14366"/>
                    </a:cubicBezTo>
                    <a:lnTo>
                      <a:pt x="18400" y="14357"/>
                    </a:lnTo>
                    <a:cubicBezTo>
                      <a:pt x="20223" y="14013"/>
                      <a:pt x="21490" y="11783"/>
                      <a:pt x="21229" y="9377"/>
                    </a:cubicBezTo>
                    <a:cubicBezTo>
                      <a:pt x="21148" y="8627"/>
                      <a:pt x="20922" y="7918"/>
                      <a:pt x="20573" y="7318"/>
                    </a:cubicBezTo>
                    <a:lnTo>
                      <a:pt x="20566" y="7316"/>
                    </a:lnTo>
                    <a:cubicBezTo>
                      <a:pt x="21137" y="5554"/>
                      <a:pt x="20520" y="3512"/>
                      <a:pt x="19188" y="2756"/>
                    </a:cubicBezTo>
                    <a:cubicBezTo>
                      <a:pt x="19076" y="2693"/>
                      <a:pt x="18961" y="2640"/>
                      <a:pt x="18843" y="2597"/>
                    </a:cubicBezTo>
                    <a:lnTo>
                      <a:pt x="18852" y="2591"/>
                    </a:lnTo>
                    <a:cubicBezTo>
                      <a:pt x="18618" y="879"/>
                      <a:pt x="17375" y="-258"/>
                      <a:pt x="16075" y="50"/>
                    </a:cubicBezTo>
                    <a:cubicBezTo>
                      <a:pt x="15529" y="180"/>
                      <a:pt x="15034" y="555"/>
                      <a:pt x="14675" y="1113"/>
                    </a:cubicBezTo>
                    <a:lnTo>
                      <a:pt x="14679" y="1117"/>
                    </a:lnTo>
                    <a:cubicBezTo>
                      <a:pt x="13960" y="-129"/>
                      <a:pt x="12611" y="-369"/>
                      <a:pt x="11668" y="582"/>
                    </a:cubicBezTo>
                    <a:cubicBezTo>
                      <a:pt x="11406" y="845"/>
                      <a:pt x="11194" y="1183"/>
                      <a:pt x="11048" y="1572"/>
                    </a:cubicBezTo>
                    <a:lnTo>
                      <a:pt x="11055" y="1618"/>
                    </a:lnTo>
                    <a:cubicBezTo>
                      <a:pt x="10022" y="274"/>
                      <a:pt x="8360" y="291"/>
                      <a:pt x="7343" y="1657"/>
                    </a:cubicBezTo>
                    <a:cubicBezTo>
                      <a:pt x="7165" y="1895"/>
                      <a:pt x="7014" y="2167"/>
                      <a:pt x="6895" y="2463"/>
                    </a:cubicBezTo>
                    <a:lnTo>
                      <a:pt x="6887" y="2485"/>
                    </a:lnTo>
                    <a:cubicBezTo>
                      <a:pt x="5303" y="1260"/>
                      <a:pt x="3266" y="1962"/>
                      <a:pt x="2338" y="4053"/>
                    </a:cubicBezTo>
                    <a:cubicBezTo>
                      <a:pt x="1962" y="4900"/>
                      <a:pt x="1812" y="5889"/>
                      <a:pt x="1913" y="6862"/>
                    </a:cubicBezTo>
                    <a:close/>
                    <a:moveTo>
                      <a:pt x="1919" y="6857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41" name="AutoShape 33">
                <a:extLst>
                  <a:ext uri="{FF2B5EF4-FFF2-40B4-BE49-F238E27FC236}">
                    <a16:creationId xmlns:a16="http://schemas.microsoft.com/office/drawing/2014/main" id="{50D9224E-F812-4D9A-A71E-374F0CEA6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" y="230"/>
                <a:ext cx="340" cy="72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42" name="AutoShape 34">
                <a:extLst>
                  <a:ext uri="{FF2B5EF4-FFF2-40B4-BE49-F238E27FC236}">
                    <a16:creationId xmlns:a16="http://schemas.microsoft.com/office/drawing/2014/main" id="{25FF541E-75A9-49EE-8B66-6E65EBFE5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" y="255"/>
                <a:ext cx="227" cy="47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43" name="AutoShape 35">
                <a:extLst>
                  <a:ext uri="{FF2B5EF4-FFF2-40B4-BE49-F238E27FC236}">
                    <a16:creationId xmlns:a16="http://schemas.microsoft.com/office/drawing/2014/main" id="{6C0D7FB0-82C0-4D28-A733-89D6890AE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75"/>
                <a:ext cx="113" cy="23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7445" name="Rectangle 37">
              <a:extLst>
                <a:ext uri="{FF2B5EF4-FFF2-40B4-BE49-F238E27FC236}">
                  <a16:creationId xmlns:a16="http://schemas.microsoft.com/office/drawing/2014/main" id="{B365E66C-0FD9-4D51-83AB-89DE4CEDD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49"/>
              <a:ext cx="99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47">
                  <a:solidFill>
                    <a:srgbClr val="000000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Can be used</a:t>
              </a:r>
              <a:r>
                <a:rPr lang="en-US" altLang="en-US" sz="2216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 </a:t>
              </a:r>
            </a:p>
          </p:txBody>
        </p:sp>
      </p:grpSp>
      <p:grpSp>
        <p:nvGrpSpPr>
          <p:cNvPr id="17454" name="Group 46">
            <a:extLst>
              <a:ext uri="{FF2B5EF4-FFF2-40B4-BE49-F238E27FC236}">
                <a16:creationId xmlns:a16="http://schemas.microsoft.com/office/drawing/2014/main" id="{D5B07705-0C28-433E-94D7-0BB03BD7AD2A}"/>
              </a:ext>
            </a:extLst>
          </p:cNvPr>
          <p:cNvGrpSpPr>
            <a:grpSpLocks/>
          </p:cNvGrpSpPr>
          <p:nvPr/>
        </p:nvGrpSpPr>
        <p:grpSpPr bwMode="auto">
          <a:xfrm>
            <a:off x="762245" y="5404972"/>
            <a:ext cx="7788085" cy="817947"/>
            <a:chOff x="0" y="0"/>
            <a:chExt cx="5313" cy="557"/>
          </a:xfrm>
        </p:grpSpPr>
        <p:sp>
          <p:nvSpPr>
            <p:cNvPr id="17447" name="Rectangle 39">
              <a:extLst>
                <a:ext uri="{FF2B5EF4-FFF2-40B4-BE49-F238E27FC236}">
                  <a16:creationId xmlns:a16="http://schemas.microsoft.com/office/drawing/2014/main" id="{38A7728F-AC70-4530-B309-CBE21CA36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2656" cy="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37525" bIns="0" anchor="ctr"/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586">
                  <a:solidFill>
                    <a:srgbClr val="FFFF66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understandable</a:t>
              </a:r>
            </a:p>
          </p:txBody>
        </p:sp>
        <p:grpSp>
          <p:nvGrpSpPr>
            <p:cNvPr id="17452" name="Group 44">
              <a:extLst>
                <a:ext uri="{FF2B5EF4-FFF2-40B4-BE49-F238E27FC236}">
                  <a16:creationId xmlns:a16="http://schemas.microsoft.com/office/drawing/2014/main" id="{F1B403C3-DEF0-419C-AC11-3767D6D7E6FC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2177" y="63"/>
              <a:ext cx="3136" cy="494"/>
              <a:chOff x="0" y="0"/>
              <a:chExt cx="3136" cy="493"/>
            </a:xfrm>
          </p:grpSpPr>
          <p:sp>
            <p:nvSpPr>
              <p:cNvPr id="17448" name="AutoShape 40">
                <a:extLst>
                  <a:ext uri="{FF2B5EF4-FFF2-40B4-BE49-F238E27FC236}">
                    <a16:creationId xmlns:a16="http://schemas.microsoft.com/office/drawing/2014/main" id="{B1AD61EA-202A-403C-943F-7A3F9B3AC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" y="0"/>
                <a:ext cx="2629" cy="493"/>
              </a:xfrm>
              <a:custGeom>
                <a:avLst/>
                <a:gdLst/>
                <a:ahLst/>
                <a:cxnLst/>
                <a:rect l="0" t="0" r="r" b="b"/>
                <a:pathLst>
                  <a:path w="21264" h="20623">
                    <a:moveTo>
                      <a:pt x="1919" y="6857"/>
                    </a:moveTo>
                    <a:cubicBezTo>
                      <a:pt x="744" y="7018"/>
                      <a:pt x="-110" y="8412"/>
                      <a:pt x="11" y="9971"/>
                    </a:cubicBezTo>
                    <a:cubicBezTo>
                      <a:pt x="81" y="10871"/>
                      <a:pt x="470" y="11672"/>
                      <a:pt x="1058" y="12130"/>
                    </a:cubicBezTo>
                    <a:lnTo>
                      <a:pt x="1047" y="12097"/>
                    </a:lnTo>
                    <a:cubicBezTo>
                      <a:pt x="237" y="13237"/>
                      <a:pt x="282" y="15025"/>
                      <a:pt x="1147" y="16091"/>
                    </a:cubicBezTo>
                    <a:cubicBezTo>
                      <a:pt x="1608" y="16659"/>
                      <a:pt x="2236" y="16931"/>
                      <a:pt x="2864" y="16834"/>
                    </a:cubicBezTo>
                    <a:lnTo>
                      <a:pt x="2853" y="16853"/>
                    </a:lnTo>
                    <a:cubicBezTo>
                      <a:pt x="3897" y="19265"/>
                      <a:pt x="6219" y="20100"/>
                      <a:pt x="8040" y="18718"/>
                    </a:cubicBezTo>
                    <a:cubicBezTo>
                      <a:pt x="8063" y="18700"/>
                      <a:pt x="8086" y="18683"/>
                      <a:pt x="8108" y="18665"/>
                    </a:cubicBezTo>
                    <a:lnTo>
                      <a:pt x="8102" y="18668"/>
                    </a:lnTo>
                    <a:cubicBezTo>
                      <a:pt x="9122" y="20688"/>
                      <a:pt x="11186" y="21231"/>
                      <a:pt x="12712" y="19881"/>
                    </a:cubicBezTo>
                    <a:cubicBezTo>
                      <a:pt x="13352" y="19315"/>
                      <a:pt x="13823" y="18473"/>
                      <a:pt x="14046" y="17498"/>
                    </a:cubicBezTo>
                    <a:lnTo>
                      <a:pt x="14050" y="17522"/>
                    </a:lnTo>
                    <a:cubicBezTo>
                      <a:pt x="15384" y="18621"/>
                      <a:pt x="17141" y="18085"/>
                      <a:pt x="17974" y="16325"/>
                    </a:cubicBezTo>
                    <a:cubicBezTo>
                      <a:pt x="18252" y="15737"/>
                      <a:pt x="18401" y="15059"/>
                      <a:pt x="18406" y="14366"/>
                    </a:cubicBezTo>
                    <a:lnTo>
                      <a:pt x="18400" y="14357"/>
                    </a:lnTo>
                    <a:cubicBezTo>
                      <a:pt x="20223" y="14013"/>
                      <a:pt x="21490" y="11783"/>
                      <a:pt x="21229" y="9377"/>
                    </a:cubicBezTo>
                    <a:cubicBezTo>
                      <a:pt x="21148" y="8627"/>
                      <a:pt x="20922" y="7918"/>
                      <a:pt x="20573" y="7318"/>
                    </a:cubicBezTo>
                    <a:lnTo>
                      <a:pt x="20566" y="7316"/>
                    </a:lnTo>
                    <a:cubicBezTo>
                      <a:pt x="21137" y="5554"/>
                      <a:pt x="20520" y="3512"/>
                      <a:pt x="19188" y="2756"/>
                    </a:cubicBezTo>
                    <a:cubicBezTo>
                      <a:pt x="19076" y="2693"/>
                      <a:pt x="18961" y="2640"/>
                      <a:pt x="18843" y="2597"/>
                    </a:cubicBezTo>
                    <a:lnTo>
                      <a:pt x="18852" y="2591"/>
                    </a:lnTo>
                    <a:cubicBezTo>
                      <a:pt x="18618" y="879"/>
                      <a:pt x="17375" y="-258"/>
                      <a:pt x="16075" y="50"/>
                    </a:cubicBezTo>
                    <a:cubicBezTo>
                      <a:pt x="15529" y="180"/>
                      <a:pt x="15034" y="555"/>
                      <a:pt x="14675" y="1113"/>
                    </a:cubicBezTo>
                    <a:lnTo>
                      <a:pt x="14679" y="1117"/>
                    </a:lnTo>
                    <a:cubicBezTo>
                      <a:pt x="13960" y="-129"/>
                      <a:pt x="12611" y="-369"/>
                      <a:pt x="11668" y="582"/>
                    </a:cubicBezTo>
                    <a:cubicBezTo>
                      <a:pt x="11406" y="845"/>
                      <a:pt x="11194" y="1183"/>
                      <a:pt x="11048" y="1572"/>
                    </a:cubicBezTo>
                    <a:lnTo>
                      <a:pt x="11055" y="1618"/>
                    </a:lnTo>
                    <a:cubicBezTo>
                      <a:pt x="10022" y="274"/>
                      <a:pt x="8360" y="291"/>
                      <a:pt x="7343" y="1657"/>
                    </a:cubicBezTo>
                    <a:cubicBezTo>
                      <a:pt x="7165" y="1895"/>
                      <a:pt x="7014" y="2167"/>
                      <a:pt x="6895" y="2463"/>
                    </a:cubicBezTo>
                    <a:lnTo>
                      <a:pt x="6887" y="2485"/>
                    </a:lnTo>
                    <a:cubicBezTo>
                      <a:pt x="5303" y="1260"/>
                      <a:pt x="3266" y="1962"/>
                      <a:pt x="2338" y="4053"/>
                    </a:cubicBezTo>
                    <a:cubicBezTo>
                      <a:pt x="1962" y="4900"/>
                      <a:pt x="1812" y="5889"/>
                      <a:pt x="1913" y="6862"/>
                    </a:cubicBezTo>
                    <a:close/>
                    <a:moveTo>
                      <a:pt x="1919" y="6857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49" name="AutoShape 41">
                <a:extLst>
                  <a:ext uri="{FF2B5EF4-FFF2-40B4-BE49-F238E27FC236}">
                    <a16:creationId xmlns:a16="http://schemas.microsoft.com/office/drawing/2014/main" id="{C923D9F3-20BD-42CA-AA42-078398F31B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" y="273"/>
                <a:ext cx="438" cy="83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50" name="AutoShape 42">
                <a:extLst>
                  <a:ext uri="{FF2B5EF4-FFF2-40B4-BE49-F238E27FC236}">
                    <a16:creationId xmlns:a16="http://schemas.microsoft.com/office/drawing/2014/main" id="{8DD37704-967D-4297-AD52-16FDB2EB1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" y="300"/>
                <a:ext cx="293" cy="54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7451" name="AutoShape 43">
                <a:extLst>
                  <a:ext uri="{FF2B5EF4-FFF2-40B4-BE49-F238E27FC236}">
                    <a16:creationId xmlns:a16="http://schemas.microsoft.com/office/drawing/2014/main" id="{FB5F794E-C7D9-4EAB-BAEC-044389394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19"/>
                <a:ext cx="146" cy="27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FF339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pPr defTabSz="84435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662">
                  <a:solidFill>
                    <a:srgbClr val="FFFFFF"/>
                  </a:solidFill>
                  <a:latin typeface="Times New Roman" panose="02020603050405020304" pitchFamily="18" charset="0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7453" name="Rectangle 45">
              <a:extLst>
                <a:ext uri="{FF2B5EF4-FFF2-40B4-BE49-F238E27FC236}">
                  <a16:creationId xmlns:a16="http://schemas.microsoft.com/office/drawing/2014/main" id="{A95D2702-9351-40D7-8ADC-EF38B144F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221"/>
              <a:ext cx="171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defTabSz="844357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47">
                  <a:solidFill>
                    <a:srgbClr val="000000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Comic Sans MS" panose="030F0702030302020204" pitchFamily="66" charset="0"/>
                  <a:sym typeface="Comic Sans MS" panose="030F0702030302020204" pitchFamily="66" charset="0"/>
                </a:rPr>
                <a:t>by human and machine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6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331470"/>
            <a:ext cx="30829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KDD</a:t>
            </a:r>
            <a:r>
              <a:rPr spc="-70" dirty="0"/>
              <a:t> </a:t>
            </a:r>
            <a:r>
              <a:rPr spc="-5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27" y="1235900"/>
            <a:ext cx="7841615" cy="408940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Problem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formulation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collection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4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subset data: sampling might </a:t>
            </a:r>
            <a:r>
              <a:rPr sz="2000" dirty="0">
                <a:latin typeface="Times New Roman"/>
                <a:cs typeface="Times New Roman"/>
              </a:rPr>
              <a:t>hurt </a:t>
            </a:r>
            <a:r>
              <a:rPr sz="2000" spc="-5" dirty="0">
                <a:latin typeface="Times New Roman"/>
                <a:cs typeface="Times New Roman"/>
              </a:rPr>
              <a:t>if highly skewed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4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feature selection: principal component analysis, heuristic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search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Pre-processing: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cleaning</a:t>
            </a:r>
            <a:endParaRPr sz="2400">
              <a:latin typeface="Times New Roman"/>
              <a:cs typeface="Times New Roman"/>
            </a:endParaRPr>
          </a:p>
          <a:p>
            <a:pPr marL="749300" marR="5080" lvl="1" indent="-279400">
              <a:lnSpc>
                <a:spcPts val="2320"/>
              </a:lnSpc>
              <a:spcBef>
                <a:spcPts val="49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name/address cleaning, different meanings (annual, yearly), duplicate  removal, supplying missing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Transformation: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4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map complex objects e.g. time series data to features e.g.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frequency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Choosing mining task and mining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Result evaluation and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visualization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6012" y="5805488"/>
            <a:ext cx="5562600" cy="3810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0"/>
              </a:spcBef>
            </a:pPr>
            <a:r>
              <a:rPr sz="2400" spc="-5" dirty="0">
                <a:latin typeface="Times New Roman"/>
                <a:cs typeface="Times New Roman"/>
              </a:rPr>
              <a:t>Knowledge discovery is an iterative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62" y="253047"/>
            <a:ext cx="48901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KDD </a:t>
            </a:r>
            <a:r>
              <a:rPr sz="3200" spc="-5" dirty="0"/>
              <a:t>Process Steps</a:t>
            </a:r>
            <a:r>
              <a:rPr sz="3200" spc="-35" dirty="0"/>
              <a:t> </a:t>
            </a:r>
            <a:r>
              <a:rPr sz="3200" spc="-5" dirty="0"/>
              <a:t>(detailed)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58762" y="824229"/>
            <a:ext cx="7245984" cy="574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14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1. </a:t>
            </a:r>
            <a:r>
              <a:rPr sz="1800" b="1" spc="-5" dirty="0">
                <a:latin typeface="Times New Roman"/>
                <a:cs typeface="Times New Roman"/>
              </a:rPr>
              <a:t>Goal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identification: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1889"/>
              </a:lnSpc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Define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problem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1905"/>
              </a:lnSpc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relevant prior knowledge and goals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application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ts val="2155"/>
              </a:lnSpc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2. </a:t>
            </a:r>
            <a:r>
              <a:rPr sz="1800" b="1" spc="-5" dirty="0">
                <a:latin typeface="Times New Roman"/>
                <a:cs typeface="Times New Roman"/>
              </a:rPr>
              <a:t>Creating </a:t>
            </a:r>
            <a:r>
              <a:rPr sz="1800" b="1" dirty="0">
                <a:latin typeface="Times New Roman"/>
                <a:cs typeface="Times New Roman"/>
              </a:rPr>
              <a:t>a </a:t>
            </a:r>
            <a:r>
              <a:rPr sz="1800" b="1" spc="-5" dirty="0">
                <a:latin typeface="Times New Roman"/>
                <a:cs typeface="Times New Roman"/>
              </a:rPr>
              <a:t>target </a:t>
            </a:r>
            <a:r>
              <a:rPr sz="1800" b="1" dirty="0">
                <a:latin typeface="Times New Roman"/>
                <a:cs typeface="Times New Roman"/>
              </a:rPr>
              <a:t>data </a:t>
            </a:r>
            <a:r>
              <a:rPr sz="1800" b="1" spc="-5" dirty="0">
                <a:latin typeface="Times New Roman"/>
                <a:cs typeface="Times New Roman"/>
              </a:rPr>
              <a:t>set: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selection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ts val="2125"/>
              </a:lnSpc>
              <a:spcBef>
                <a:spcPts val="4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3. Data </a:t>
            </a:r>
            <a:r>
              <a:rPr sz="1800" b="1" spc="-5" dirty="0">
                <a:latin typeface="Times New Roman"/>
                <a:cs typeface="Times New Roman"/>
              </a:rPr>
              <a:t>preprocessing: </a:t>
            </a:r>
            <a:r>
              <a:rPr sz="1800" spc="-5" dirty="0">
                <a:latin typeface="Times New Roman"/>
                <a:cs typeface="Times New Roman"/>
              </a:rPr>
              <a:t>(may take </a:t>
            </a:r>
            <a:r>
              <a:rPr sz="1800" dirty="0">
                <a:latin typeface="Times New Roman"/>
                <a:cs typeface="Times New Roman"/>
              </a:rPr>
              <a:t>60%-80% 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effort!)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1885"/>
              </a:lnSpc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removal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noise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outliers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1910"/>
              </a:lnSpc>
              <a:spcBef>
                <a:spcPts val="8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strategies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handling missing data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fields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1905"/>
              </a:lnSpc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accounting </a:t>
            </a:r>
            <a:r>
              <a:rPr sz="1600" dirty="0">
                <a:latin typeface="Times New Roman"/>
                <a:cs typeface="Times New Roman"/>
              </a:rPr>
              <a:t>for </a:t>
            </a:r>
            <a:r>
              <a:rPr sz="1600" spc="-5" dirty="0">
                <a:latin typeface="Times New Roman"/>
                <a:cs typeface="Times New Roman"/>
              </a:rPr>
              <a:t>time sequence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information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ts val="2155"/>
              </a:lnSpc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4. Data </a:t>
            </a:r>
            <a:r>
              <a:rPr sz="1800" b="1" spc="-5" dirty="0">
                <a:latin typeface="Times New Roman"/>
                <a:cs typeface="Times New Roman"/>
              </a:rPr>
              <a:t>reduction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transformation: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Find useful features, dimensionality/variable reduction, invariant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representation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5. Data</a:t>
            </a:r>
            <a:r>
              <a:rPr sz="1800" b="1" spc="-5" dirty="0">
                <a:latin typeface="Times New Roman"/>
                <a:cs typeface="Times New Roman"/>
              </a:rPr>
              <a:t> Mining: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Font typeface="Times New Roman"/>
              <a:buChar char="–"/>
              <a:tabLst>
                <a:tab pos="755015" algn="l"/>
                <a:tab pos="75565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Choosing functions </a:t>
            </a:r>
            <a:r>
              <a:rPr sz="1600" b="1" dirty="0">
                <a:latin typeface="Times New Roman"/>
                <a:cs typeface="Times New Roman"/>
              </a:rPr>
              <a:t>of data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mining:</a:t>
            </a:r>
            <a:endParaRPr sz="1600">
              <a:latin typeface="Times New Roman"/>
              <a:cs typeface="Times New Roman"/>
            </a:endParaRPr>
          </a:p>
          <a:p>
            <a:pPr marL="1206500" lvl="2" indent="-279400">
              <a:lnSpc>
                <a:spcPct val="100000"/>
              </a:lnSpc>
              <a:spcBef>
                <a:spcPts val="180"/>
              </a:spcBef>
              <a:buChar char="•"/>
              <a:tabLst>
                <a:tab pos="1205865" algn="l"/>
                <a:tab pos="1206500" algn="l"/>
              </a:tabLst>
            </a:pPr>
            <a:r>
              <a:rPr sz="1600" spc="-5" dirty="0">
                <a:latin typeface="Times New Roman"/>
                <a:cs typeface="Times New Roman"/>
              </a:rPr>
              <a:t>summarization, classification, regression, association,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clustering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80"/>
              </a:spcBef>
              <a:buFont typeface="Times New Roman"/>
              <a:buChar char="–"/>
              <a:tabLst>
                <a:tab pos="755015" algn="l"/>
                <a:tab pos="75565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Choosing </a:t>
            </a:r>
            <a:r>
              <a:rPr sz="1600" b="1" dirty="0">
                <a:latin typeface="Times New Roman"/>
                <a:cs typeface="Times New Roman"/>
              </a:rPr>
              <a:t>the </a:t>
            </a:r>
            <a:r>
              <a:rPr sz="1600" b="1" spc="-5" dirty="0">
                <a:latin typeface="Times New Roman"/>
                <a:cs typeface="Times New Roman"/>
              </a:rPr>
              <a:t>mining</a:t>
            </a:r>
            <a:r>
              <a:rPr sz="1600" b="1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algorithm(s):</a:t>
            </a:r>
            <a:endParaRPr sz="16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80"/>
              </a:spcBef>
              <a:buChar char="•"/>
              <a:tabLst>
                <a:tab pos="1155065" algn="l"/>
                <a:tab pos="1155700" algn="l"/>
              </a:tabLst>
            </a:pPr>
            <a:r>
              <a:rPr sz="1600" spc="-5" dirty="0">
                <a:latin typeface="Times New Roman"/>
                <a:cs typeface="Times New Roman"/>
              </a:rPr>
              <a:t>which models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parameters</a:t>
            </a:r>
            <a:endParaRPr sz="1600">
              <a:latin typeface="Times New Roman"/>
              <a:cs typeface="Times New Roman"/>
            </a:endParaRPr>
          </a:p>
          <a:p>
            <a:pPr marL="285115" marR="3875404" lvl="1" indent="-285115" algn="r">
              <a:lnSpc>
                <a:spcPct val="100000"/>
              </a:lnSpc>
              <a:spcBef>
                <a:spcPts val="80"/>
              </a:spcBef>
              <a:buFont typeface="Times New Roman"/>
              <a:buChar char="–"/>
              <a:tabLst>
                <a:tab pos="285115" algn="l"/>
                <a:tab pos="75565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Search </a:t>
            </a:r>
            <a:r>
              <a:rPr sz="1600" b="1" dirty="0">
                <a:latin typeface="Times New Roman"/>
                <a:cs typeface="Times New Roman"/>
              </a:rPr>
              <a:t>for </a:t>
            </a:r>
            <a:r>
              <a:rPr sz="1600" b="1" spc="-5" dirty="0">
                <a:latin typeface="Times New Roman"/>
                <a:cs typeface="Times New Roman"/>
              </a:rPr>
              <a:t>patterns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interest</a:t>
            </a:r>
            <a:endParaRPr sz="1600">
              <a:latin typeface="Times New Roman"/>
              <a:cs typeface="Times New Roman"/>
            </a:endParaRPr>
          </a:p>
          <a:p>
            <a:pPr marL="342265" marR="3846829" indent="-342265" algn="r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42265" algn="l"/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6. </a:t>
            </a:r>
            <a:r>
              <a:rPr sz="1800" b="1" spc="-5" dirty="0">
                <a:latin typeface="Times New Roman"/>
                <a:cs typeface="Times New Roman"/>
              </a:rPr>
              <a:t>Presentation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evaluation: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visualization, transformation, removing redundant patterns,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etc.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7. </a:t>
            </a:r>
            <a:r>
              <a:rPr sz="1800" b="1" spc="-5" dirty="0">
                <a:latin typeface="Times New Roman"/>
                <a:cs typeface="Times New Roman"/>
              </a:rPr>
              <a:t>Taking action: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incorporating into the performance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system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8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documenting</a:t>
            </a:r>
            <a:endParaRPr sz="1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80"/>
              </a:spcBef>
              <a:buChar char="–"/>
              <a:tabLst>
                <a:tab pos="755015" algn="l"/>
                <a:tab pos="755650" algn="l"/>
              </a:tabLst>
            </a:pPr>
            <a:r>
              <a:rPr sz="1600" spc="-5" dirty="0">
                <a:latin typeface="Times New Roman"/>
                <a:cs typeface="Times New Roman"/>
              </a:rPr>
              <a:t>reporting to interested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parties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38595"/>
            <a:ext cx="61226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77110" algn="l"/>
              </a:tabLst>
            </a:pPr>
            <a:r>
              <a:rPr spc="-5" dirty="0"/>
              <a:t>What</a:t>
            </a:r>
            <a:r>
              <a:rPr dirty="0"/>
              <a:t> </a:t>
            </a:r>
            <a:r>
              <a:rPr spc="-5" dirty="0"/>
              <a:t>can	computers</a:t>
            </a:r>
            <a:r>
              <a:rPr spc="-55" dirty="0"/>
              <a:t> </a:t>
            </a:r>
            <a:r>
              <a:rPr spc="-5" dirty="0"/>
              <a:t>learn?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798995"/>
            <a:ext cx="8599805" cy="576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3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4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levels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learning [Merril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&amp;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Tennyson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1977]</a:t>
            </a:r>
            <a:endParaRPr sz="2000">
              <a:latin typeface="Times New Roman"/>
              <a:cs typeface="Times New Roman"/>
            </a:endParaRPr>
          </a:p>
          <a:p>
            <a:pPr marL="382270" indent="-343535">
              <a:lnSpc>
                <a:spcPts val="3770"/>
              </a:lnSpc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Facts</a:t>
            </a:r>
            <a:r>
              <a:rPr sz="3200" spc="-5" dirty="0">
                <a:latin typeface="Times New Roman"/>
                <a:cs typeface="Times New Roman"/>
              </a:rPr>
              <a:t>: simple statement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truth</a:t>
            </a:r>
            <a:endParaRPr sz="3200">
              <a:latin typeface="Times New Roman"/>
              <a:cs typeface="Times New Roman"/>
            </a:endParaRPr>
          </a:p>
          <a:p>
            <a:pPr marL="382270" marR="1085850" indent="-342900">
              <a:lnSpc>
                <a:spcPct val="100000"/>
              </a:lnSpc>
              <a:spcBef>
                <a:spcPts val="725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Concepts</a:t>
            </a:r>
            <a:r>
              <a:rPr sz="3200" spc="-5" dirty="0">
                <a:latin typeface="Times New Roman"/>
                <a:cs typeface="Times New Roman"/>
              </a:rPr>
              <a:t>: set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objects, symbols, </a:t>
            </a:r>
            <a:r>
              <a:rPr sz="3200" dirty="0">
                <a:latin typeface="Times New Roman"/>
                <a:cs typeface="Times New Roman"/>
              </a:rPr>
              <a:t>or </a:t>
            </a:r>
            <a:r>
              <a:rPr sz="3200" spc="-5" dirty="0">
                <a:latin typeface="Times New Roman"/>
                <a:cs typeface="Times New Roman"/>
              </a:rPr>
              <a:t>events  grouped together -&gt; share certain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properties</a:t>
            </a:r>
            <a:endParaRPr sz="3200">
              <a:latin typeface="Times New Roman"/>
              <a:cs typeface="Times New Roman"/>
            </a:endParaRPr>
          </a:p>
          <a:p>
            <a:pPr marL="382270" marR="1087755" indent="-342900">
              <a:lnSpc>
                <a:spcPct val="100000"/>
              </a:lnSpc>
              <a:spcBef>
                <a:spcPts val="720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Procedures</a:t>
            </a:r>
            <a:r>
              <a:rPr sz="3200" spc="-5" dirty="0">
                <a:latin typeface="Times New Roman"/>
                <a:cs typeface="Times New Roman"/>
              </a:rPr>
              <a:t>: step-by-step course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action to  achieve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goal</a:t>
            </a:r>
            <a:endParaRPr sz="3200">
              <a:latin typeface="Times New Roman"/>
              <a:cs typeface="Times New Roman"/>
            </a:endParaRPr>
          </a:p>
          <a:p>
            <a:pPr marL="382270" marR="5080" indent="-342900">
              <a:lnSpc>
                <a:spcPct val="100000"/>
              </a:lnSpc>
              <a:spcBef>
                <a:spcPts val="819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Principles</a:t>
            </a:r>
            <a:r>
              <a:rPr sz="3200" spc="-5" dirty="0">
                <a:latin typeface="Times New Roman"/>
                <a:cs typeface="Times New Roman"/>
              </a:rPr>
              <a:t>: highest level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learning, general truths  </a:t>
            </a:r>
            <a:r>
              <a:rPr sz="3200" dirty="0">
                <a:latin typeface="Times New Roman"/>
                <a:cs typeface="Times New Roman"/>
              </a:rPr>
              <a:t>or </a:t>
            </a:r>
            <a:r>
              <a:rPr sz="3200" spc="-5" dirty="0">
                <a:latin typeface="Times New Roman"/>
                <a:cs typeface="Times New Roman"/>
              </a:rPr>
              <a:t>laws that are basic to other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truths</a:t>
            </a:r>
            <a:endParaRPr sz="320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  <a:spcBef>
                <a:spcPts val="720"/>
              </a:spcBef>
            </a:pPr>
            <a:r>
              <a:rPr sz="3200" dirty="0">
                <a:latin typeface="Times New Roman"/>
                <a:cs typeface="Times New Roman"/>
              </a:rPr>
              <a:t>DM </a:t>
            </a:r>
            <a:r>
              <a:rPr sz="3200" spc="-5" dirty="0">
                <a:latin typeface="Times New Roman"/>
                <a:cs typeface="Times New Roman"/>
              </a:rPr>
              <a:t>tool dictates </a:t>
            </a:r>
            <a:r>
              <a:rPr sz="3200" dirty="0">
                <a:latin typeface="Times New Roman"/>
                <a:cs typeface="Times New Roman"/>
              </a:rPr>
              <a:t>form of </a:t>
            </a:r>
            <a:r>
              <a:rPr sz="3200" spc="-5" dirty="0">
                <a:latin typeface="Times New Roman"/>
                <a:cs typeface="Times New Roman"/>
              </a:rPr>
              <a:t>learning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concepts:</a:t>
            </a:r>
            <a:endParaRPr sz="3200">
              <a:latin typeface="Times New Roman"/>
              <a:cs typeface="Times New Roman"/>
            </a:endParaRPr>
          </a:p>
          <a:p>
            <a:pPr marL="382270" indent="-343535">
              <a:lnSpc>
                <a:spcPct val="100000"/>
              </a:lnSpc>
              <a:spcBef>
                <a:spcPts val="760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latin typeface="Times New Roman"/>
                <a:cs typeface="Times New Roman"/>
              </a:rPr>
              <a:t>Human understandable: trees,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rules,</a:t>
            </a:r>
            <a:endParaRPr sz="3200">
              <a:latin typeface="Times New Roman"/>
              <a:cs typeface="Times New Roman"/>
            </a:endParaRPr>
          </a:p>
          <a:p>
            <a:pPr marL="382270" indent="-343535">
              <a:lnSpc>
                <a:spcPct val="100000"/>
              </a:lnSpc>
              <a:spcBef>
                <a:spcPts val="760"/>
              </a:spcBef>
              <a:buChar char="•"/>
              <a:tabLst>
                <a:tab pos="382270" algn="l"/>
                <a:tab pos="382905" algn="l"/>
              </a:tabLst>
            </a:pPr>
            <a:r>
              <a:rPr sz="3200" spc="-5" dirty="0">
                <a:latin typeface="Times New Roman"/>
                <a:cs typeface="Times New Roman"/>
              </a:rPr>
              <a:t>Black-box: networks, mathematical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equations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85420"/>
            <a:ext cx="37496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KDD </a:t>
            </a:r>
            <a:r>
              <a:rPr spc="-5" dirty="0"/>
              <a:t>Life</a:t>
            </a:r>
            <a:r>
              <a:rPr spc="-80" dirty="0"/>
              <a:t> </a:t>
            </a:r>
            <a:r>
              <a:rPr spc="-5" dirty="0"/>
              <a:t>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82687" y="1408112"/>
            <a:ext cx="2905125" cy="314325"/>
            <a:chOff x="1182687" y="1408112"/>
            <a:chExt cx="2905125" cy="314325"/>
          </a:xfrm>
        </p:grpSpPr>
        <p:sp>
          <p:nvSpPr>
            <p:cNvPr id="4" name="object 4"/>
            <p:cNvSpPr/>
            <p:nvPr/>
          </p:nvSpPr>
          <p:spPr>
            <a:xfrm>
              <a:off x="1187450" y="14128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2895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95600" y="3048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7450" y="14128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0" y="0"/>
                  </a:moveTo>
                  <a:lnTo>
                    <a:pt x="2895597" y="0"/>
                  </a:lnTo>
                  <a:lnTo>
                    <a:pt x="2895597" y="304799"/>
                  </a:lnTo>
                  <a:lnTo>
                    <a:pt x="0" y="304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53489" y="1415415"/>
            <a:ext cx="276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Data Selection 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Extraction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82687" y="2017712"/>
            <a:ext cx="2905125" cy="314325"/>
            <a:chOff x="1182687" y="2017712"/>
            <a:chExt cx="2905125" cy="314325"/>
          </a:xfrm>
        </p:grpSpPr>
        <p:sp>
          <p:nvSpPr>
            <p:cNvPr id="8" name="object 8"/>
            <p:cNvSpPr/>
            <p:nvPr/>
          </p:nvSpPr>
          <p:spPr>
            <a:xfrm>
              <a:off x="1187450" y="20224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2895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95600" y="3048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7450" y="20224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0" y="0"/>
                  </a:moveTo>
                  <a:lnTo>
                    <a:pt x="2895597" y="0"/>
                  </a:lnTo>
                  <a:lnTo>
                    <a:pt x="2895597" y="304799"/>
                  </a:lnTo>
                  <a:lnTo>
                    <a:pt x="0" y="304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64689" y="2025015"/>
            <a:ext cx="1339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Cleaning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82687" y="1708150"/>
            <a:ext cx="2905125" cy="1233805"/>
            <a:chOff x="1182687" y="1708150"/>
            <a:chExt cx="2905125" cy="1233805"/>
          </a:xfrm>
        </p:grpSpPr>
        <p:sp>
          <p:nvSpPr>
            <p:cNvPr id="12" name="object 12"/>
            <p:cNvSpPr/>
            <p:nvPr/>
          </p:nvSpPr>
          <p:spPr>
            <a:xfrm>
              <a:off x="2635250" y="1717675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3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97150" y="19462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87450" y="26320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2895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95600" y="3048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87450" y="26320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0" y="0"/>
                  </a:moveTo>
                  <a:lnTo>
                    <a:pt x="2895597" y="0"/>
                  </a:lnTo>
                  <a:lnTo>
                    <a:pt x="2895597" y="304799"/>
                  </a:lnTo>
                  <a:lnTo>
                    <a:pt x="0" y="304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850389" y="2634615"/>
            <a:ext cx="158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Enrichment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82687" y="2317750"/>
            <a:ext cx="2905125" cy="1233805"/>
            <a:chOff x="1182687" y="2317750"/>
            <a:chExt cx="2905125" cy="1233805"/>
          </a:xfrm>
        </p:grpSpPr>
        <p:sp>
          <p:nvSpPr>
            <p:cNvPr id="18" name="object 18"/>
            <p:cNvSpPr/>
            <p:nvPr/>
          </p:nvSpPr>
          <p:spPr>
            <a:xfrm>
              <a:off x="2635250" y="2327275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3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7150" y="25558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87450" y="32416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2895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95600" y="3048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87450" y="3241675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0" y="0"/>
                  </a:moveTo>
                  <a:lnTo>
                    <a:pt x="2895597" y="0"/>
                  </a:lnTo>
                  <a:lnTo>
                    <a:pt x="2895597" y="304799"/>
                  </a:lnTo>
                  <a:lnTo>
                    <a:pt x="0" y="304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40889" y="3244215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Coding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68400" y="2927350"/>
            <a:ext cx="2905125" cy="1852930"/>
            <a:chOff x="1168400" y="2927350"/>
            <a:chExt cx="2905125" cy="1852930"/>
          </a:xfrm>
        </p:grpSpPr>
        <p:sp>
          <p:nvSpPr>
            <p:cNvPr id="24" name="object 24"/>
            <p:cNvSpPr/>
            <p:nvPr/>
          </p:nvSpPr>
          <p:spPr>
            <a:xfrm>
              <a:off x="2635250" y="2936875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3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97150" y="316547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73162" y="3860800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2895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95600" y="3048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FFFC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73162" y="3860799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0" y="0"/>
                  </a:moveTo>
                  <a:lnTo>
                    <a:pt x="2895597" y="0"/>
                  </a:lnTo>
                  <a:lnTo>
                    <a:pt x="2895597" y="304799"/>
                  </a:lnTo>
                  <a:lnTo>
                    <a:pt x="0" y="304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20962" y="3556000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3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82862" y="37846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73162" y="4470400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28956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895600" y="3048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73162" y="4470400"/>
              <a:ext cx="2895600" cy="304800"/>
            </a:xfrm>
            <a:custGeom>
              <a:avLst/>
              <a:gdLst/>
              <a:ahLst/>
              <a:cxnLst/>
              <a:rect l="l" t="t" r="r" b="b"/>
              <a:pathLst>
                <a:path w="2895600" h="304800">
                  <a:moveTo>
                    <a:pt x="0" y="0"/>
                  </a:moveTo>
                  <a:lnTo>
                    <a:pt x="2895597" y="0"/>
                  </a:lnTo>
                  <a:lnTo>
                    <a:pt x="2895597" y="304799"/>
                  </a:lnTo>
                  <a:lnTo>
                    <a:pt x="0" y="304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836102" y="4472940"/>
            <a:ext cx="158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Result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Reporting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62025" y="1187449"/>
            <a:ext cx="6859905" cy="3282950"/>
            <a:chOff x="962025" y="1187449"/>
            <a:chExt cx="6859905" cy="3282950"/>
          </a:xfrm>
        </p:grpSpPr>
        <p:sp>
          <p:nvSpPr>
            <p:cNvPr id="34" name="object 34"/>
            <p:cNvSpPr/>
            <p:nvPr/>
          </p:nvSpPr>
          <p:spPr>
            <a:xfrm>
              <a:off x="2620962" y="4165600"/>
              <a:ext cx="0" cy="279400"/>
            </a:xfrm>
            <a:custGeom>
              <a:avLst/>
              <a:gdLst/>
              <a:ahLst/>
              <a:cxnLst/>
              <a:rect l="l" t="t" r="r" b="b"/>
              <a:pathLst>
                <a:path h="279400">
                  <a:moveTo>
                    <a:pt x="0" y="0"/>
                  </a:moveTo>
                  <a:lnTo>
                    <a:pt x="0" y="2793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82862" y="439419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71550" y="1196974"/>
              <a:ext cx="6840855" cy="2519680"/>
            </a:xfrm>
            <a:custGeom>
              <a:avLst/>
              <a:gdLst/>
              <a:ahLst/>
              <a:cxnLst/>
              <a:rect l="l" t="t" r="r" b="b"/>
              <a:pathLst>
                <a:path w="6840855" h="2519679">
                  <a:moveTo>
                    <a:pt x="0" y="0"/>
                  </a:moveTo>
                  <a:lnTo>
                    <a:pt x="6840535" y="0"/>
                  </a:lnTo>
                  <a:lnTo>
                    <a:pt x="6840535" y="2519358"/>
                  </a:lnTo>
                  <a:lnTo>
                    <a:pt x="0" y="251935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231890" y="2453957"/>
            <a:ext cx="12579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23900" algn="r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Da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a  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000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para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  <a:p>
            <a:pPr marR="9525" algn="r">
              <a:lnSpc>
                <a:spcPct val="100000"/>
              </a:lnSpc>
            </a:pP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has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44575" y="1268412"/>
            <a:ext cx="5327650" cy="1152525"/>
          </a:xfrm>
          <a:custGeom>
            <a:avLst/>
            <a:gdLst/>
            <a:ahLst/>
            <a:cxnLst/>
            <a:rect l="l" t="t" r="r" b="b"/>
            <a:pathLst>
              <a:path w="5327650" h="1152525">
                <a:moveTo>
                  <a:pt x="0" y="0"/>
                </a:moveTo>
                <a:lnTo>
                  <a:pt x="5327646" y="0"/>
                </a:lnTo>
                <a:lnTo>
                  <a:pt x="5327646" y="1152528"/>
                </a:lnTo>
                <a:lnTo>
                  <a:pt x="0" y="11525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257040" y="1374457"/>
            <a:ext cx="18745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5080" indent="-2413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Commonly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part</a:t>
            </a:r>
            <a:r>
              <a:rPr sz="2000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of  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000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warehouse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79340" y="1984057"/>
            <a:ext cx="1229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000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para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062037" y="2492375"/>
            <a:ext cx="4733925" cy="1152525"/>
          </a:xfrm>
          <a:custGeom>
            <a:avLst/>
            <a:gdLst/>
            <a:ahLst/>
            <a:cxnLst/>
            <a:rect l="l" t="t" r="r" b="b"/>
            <a:pathLst>
              <a:path w="4733925" h="1152525">
                <a:moveTo>
                  <a:pt x="0" y="0"/>
                </a:moveTo>
                <a:lnTo>
                  <a:pt x="4733916" y="0"/>
                </a:lnTo>
                <a:lnTo>
                  <a:pt x="4733916" y="1152528"/>
                </a:lnTo>
                <a:lnTo>
                  <a:pt x="0" y="115252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414202" y="2598420"/>
            <a:ext cx="1097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Additional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61802" y="2903220"/>
            <a:ext cx="1229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000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para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ti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79302" y="3208020"/>
            <a:ext cx="9220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000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KDD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65918" y="1550987"/>
            <a:ext cx="2280920" cy="3646804"/>
            <a:chOff x="365918" y="1550987"/>
            <a:chExt cx="2280920" cy="3646804"/>
          </a:xfrm>
        </p:grpSpPr>
        <p:sp>
          <p:nvSpPr>
            <p:cNvPr id="46" name="object 46"/>
            <p:cNvSpPr/>
            <p:nvPr/>
          </p:nvSpPr>
          <p:spPr>
            <a:xfrm>
              <a:off x="375443" y="1560512"/>
              <a:ext cx="2261870" cy="3627754"/>
            </a:xfrm>
            <a:custGeom>
              <a:avLst/>
              <a:gdLst/>
              <a:ahLst/>
              <a:cxnLst/>
              <a:rect l="l" t="t" r="r" b="b"/>
              <a:pathLst>
                <a:path w="2261870" h="3627754">
                  <a:moveTo>
                    <a:pt x="2261389" y="3224207"/>
                  </a:moveTo>
                  <a:lnTo>
                    <a:pt x="2232819" y="3240087"/>
                  </a:lnTo>
                  <a:lnTo>
                    <a:pt x="2200269" y="3260727"/>
                  </a:lnTo>
                  <a:lnTo>
                    <a:pt x="2122489" y="3315487"/>
                  </a:lnTo>
                  <a:lnTo>
                    <a:pt x="2030409" y="3380577"/>
                  </a:lnTo>
                  <a:lnTo>
                    <a:pt x="1925639" y="3450427"/>
                  </a:lnTo>
                  <a:lnTo>
                    <a:pt x="1810539" y="3515517"/>
                  </a:lnTo>
                  <a:lnTo>
                    <a:pt x="1688309" y="3571077"/>
                  </a:lnTo>
                  <a:lnTo>
                    <a:pt x="1624800" y="3592507"/>
                  </a:lnTo>
                  <a:lnTo>
                    <a:pt x="1559720" y="3608387"/>
                  </a:lnTo>
                  <a:lnTo>
                    <a:pt x="1493840" y="3618707"/>
                  </a:lnTo>
                  <a:lnTo>
                    <a:pt x="1427950" y="3621087"/>
                  </a:lnTo>
                  <a:lnTo>
                    <a:pt x="1357310" y="3621087"/>
                  </a:lnTo>
                  <a:lnTo>
                    <a:pt x="1280320" y="3622677"/>
                  </a:lnTo>
                  <a:lnTo>
                    <a:pt x="1196970" y="3625847"/>
                  </a:lnTo>
                  <a:lnTo>
                    <a:pt x="1108870" y="3627437"/>
                  </a:lnTo>
                  <a:lnTo>
                    <a:pt x="923130" y="3625057"/>
                  </a:lnTo>
                  <a:lnTo>
                    <a:pt x="828674" y="3617907"/>
                  </a:lnTo>
                  <a:lnTo>
                    <a:pt x="734218" y="3606797"/>
                  </a:lnTo>
                  <a:lnTo>
                    <a:pt x="641349" y="3587747"/>
                  </a:lnTo>
                  <a:lnTo>
                    <a:pt x="551655" y="3562347"/>
                  </a:lnTo>
                  <a:lnTo>
                    <a:pt x="465930" y="3528217"/>
                  </a:lnTo>
                  <a:lnTo>
                    <a:pt x="384968" y="3483767"/>
                  </a:lnTo>
                  <a:lnTo>
                    <a:pt x="311149" y="3428207"/>
                  </a:lnTo>
                  <a:lnTo>
                    <a:pt x="244475" y="3360737"/>
                  </a:lnTo>
                  <a:lnTo>
                    <a:pt x="187325" y="3279777"/>
                  </a:lnTo>
                  <a:lnTo>
                    <a:pt x="140493" y="3184527"/>
                  </a:lnTo>
                  <a:lnTo>
                    <a:pt x="120650" y="3129757"/>
                  </a:lnTo>
                  <a:lnTo>
                    <a:pt x="102394" y="3067837"/>
                  </a:lnTo>
                  <a:lnTo>
                    <a:pt x="85725" y="2999577"/>
                  </a:lnTo>
                  <a:lnTo>
                    <a:pt x="71437" y="2925757"/>
                  </a:lnTo>
                  <a:lnTo>
                    <a:pt x="57943" y="2846387"/>
                  </a:lnTo>
                  <a:lnTo>
                    <a:pt x="46037" y="2761457"/>
                  </a:lnTo>
                  <a:lnTo>
                    <a:pt x="26987" y="2579688"/>
                  </a:lnTo>
                  <a:lnTo>
                    <a:pt x="12699" y="2383628"/>
                  </a:lnTo>
                  <a:lnTo>
                    <a:pt x="3968" y="2177258"/>
                  </a:lnTo>
                  <a:lnTo>
                    <a:pt x="0" y="1962938"/>
                  </a:lnTo>
                  <a:lnTo>
                    <a:pt x="0" y="1745458"/>
                  </a:lnTo>
                  <a:lnTo>
                    <a:pt x="3968" y="1528758"/>
                  </a:lnTo>
                  <a:lnTo>
                    <a:pt x="11906" y="1316039"/>
                  </a:lnTo>
                  <a:lnTo>
                    <a:pt x="22225" y="1110459"/>
                  </a:lnTo>
                  <a:lnTo>
                    <a:pt x="35719" y="915989"/>
                  </a:lnTo>
                  <a:lnTo>
                    <a:pt x="51594" y="736599"/>
                  </a:lnTo>
                  <a:lnTo>
                    <a:pt x="60325" y="653256"/>
                  </a:lnTo>
                  <a:lnTo>
                    <a:pt x="69056" y="575468"/>
                  </a:lnTo>
                  <a:lnTo>
                    <a:pt x="78581" y="503237"/>
                  </a:lnTo>
                  <a:lnTo>
                    <a:pt x="88106" y="436562"/>
                  </a:lnTo>
                  <a:lnTo>
                    <a:pt x="98425" y="377031"/>
                  </a:lnTo>
                  <a:lnTo>
                    <a:pt x="108743" y="323849"/>
                  </a:lnTo>
                  <a:lnTo>
                    <a:pt x="119856" y="277018"/>
                  </a:lnTo>
                  <a:lnTo>
                    <a:pt x="133350" y="234156"/>
                  </a:lnTo>
                  <a:lnTo>
                    <a:pt x="165100" y="161924"/>
                  </a:lnTo>
                  <a:lnTo>
                    <a:pt x="202406" y="105568"/>
                  </a:lnTo>
                  <a:lnTo>
                    <a:pt x="244475" y="63499"/>
                  </a:lnTo>
                  <a:lnTo>
                    <a:pt x="291305" y="33337"/>
                  </a:lnTo>
                  <a:lnTo>
                    <a:pt x="341311" y="14287"/>
                  </a:lnTo>
                  <a:lnTo>
                    <a:pt x="392905" y="3968"/>
                  </a:lnTo>
                  <a:lnTo>
                    <a:pt x="446086" y="0"/>
                  </a:lnTo>
                  <a:lnTo>
                    <a:pt x="500061" y="2381"/>
                  </a:lnTo>
                  <a:lnTo>
                    <a:pt x="553243" y="7937"/>
                  </a:lnTo>
                  <a:lnTo>
                    <a:pt x="654843" y="23812"/>
                  </a:lnTo>
                  <a:lnTo>
                    <a:pt x="700880" y="30956"/>
                  </a:lnTo>
                  <a:lnTo>
                    <a:pt x="742949" y="34131"/>
                  </a:lnTo>
                  <a:lnTo>
                    <a:pt x="779461" y="33337"/>
                  </a:lnTo>
                  <a:lnTo>
                    <a:pt x="785814" y="3170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02587" y="1567929"/>
              <a:ext cx="83820" cy="74295"/>
            </a:xfrm>
            <a:custGeom>
              <a:avLst/>
              <a:gdLst/>
              <a:ahLst/>
              <a:cxnLst/>
              <a:rect l="l" t="t" r="r" b="b"/>
              <a:pathLst>
                <a:path w="83819" h="74294">
                  <a:moveTo>
                    <a:pt x="0" y="0"/>
                  </a:moveTo>
                  <a:lnTo>
                    <a:pt x="18925" y="73812"/>
                  </a:lnTo>
                  <a:lnTo>
                    <a:pt x="83275" y="17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1181" y="2827894"/>
              <a:ext cx="2052320" cy="2251075"/>
            </a:xfrm>
            <a:custGeom>
              <a:avLst/>
              <a:gdLst/>
              <a:ahLst/>
              <a:cxnLst/>
              <a:rect l="l" t="t" r="r" b="b"/>
              <a:pathLst>
                <a:path w="2052320" h="2251075">
                  <a:moveTo>
                    <a:pt x="2051839" y="1952069"/>
                  </a:moveTo>
                  <a:lnTo>
                    <a:pt x="1997869" y="1977469"/>
                  </a:lnTo>
                  <a:lnTo>
                    <a:pt x="1929609" y="2016359"/>
                  </a:lnTo>
                  <a:lnTo>
                    <a:pt x="1847849" y="2062399"/>
                  </a:lnTo>
                  <a:lnTo>
                    <a:pt x="1755769" y="2111609"/>
                  </a:lnTo>
                  <a:lnTo>
                    <a:pt x="1654970" y="2158439"/>
                  </a:lnTo>
                  <a:lnTo>
                    <a:pt x="1547020" y="2198919"/>
                  </a:lnTo>
                  <a:lnTo>
                    <a:pt x="1434310" y="2227499"/>
                  </a:lnTo>
                  <a:lnTo>
                    <a:pt x="1376360" y="2235439"/>
                  </a:lnTo>
                  <a:lnTo>
                    <a:pt x="1318420" y="2239399"/>
                  </a:lnTo>
                  <a:lnTo>
                    <a:pt x="1256510" y="2240989"/>
                  </a:lnTo>
                  <a:lnTo>
                    <a:pt x="1189040" y="2244169"/>
                  </a:lnTo>
                  <a:lnTo>
                    <a:pt x="1116800" y="2247339"/>
                  </a:lnTo>
                  <a:lnTo>
                    <a:pt x="1040600" y="2249719"/>
                  </a:lnTo>
                  <a:lnTo>
                    <a:pt x="880268" y="2250519"/>
                  </a:lnTo>
                  <a:lnTo>
                    <a:pt x="716755" y="2241789"/>
                  </a:lnTo>
                  <a:lnTo>
                    <a:pt x="635793" y="2231469"/>
                  </a:lnTo>
                  <a:lnTo>
                    <a:pt x="557211" y="2217179"/>
                  </a:lnTo>
                  <a:lnTo>
                    <a:pt x="481805" y="2196539"/>
                  </a:lnTo>
                  <a:lnTo>
                    <a:pt x="410368" y="2170349"/>
                  </a:lnTo>
                  <a:lnTo>
                    <a:pt x="344486" y="2137799"/>
                  </a:lnTo>
                  <a:lnTo>
                    <a:pt x="284955" y="2097319"/>
                  </a:lnTo>
                  <a:lnTo>
                    <a:pt x="232569" y="2048899"/>
                  </a:lnTo>
                  <a:lnTo>
                    <a:pt x="188118" y="1991749"/>
                  </a:lnTo>
                  <a:lnTo>
                    <a:pt x="150812" y="1921909"/>
                  </a:lnTo>
                  <a:lnTo>
                    <a:pt x="117475" y="1836179"/>
                  </a:lnTo>
                  <a:lnTo>
                    <a:pt x="89694" y="1737749"/>
                  </a:lnTo>
                  <a:lnTo>
                    <a:pt x="65087" y="1628219"/>
                  </a:lnTo>
                  <a:lnTo>
                    <a:pt x="45243" y="1510739"/>
                  </a:lnTo>
                  <a:lnTo>
                    <a:pt x="29368" y="1386119"/>
                  </a:lnTo>
                  <a:lnTo>
                    <a:pt x="7937" y="1126570"/>
                  </a:lnTo>
                  <a:lnTo>
                    <a:pt x="0" y="866218"/>
                  </a:lnTo>
                  <a:lnTo>
                    <a:pt x="793" y="741599"/>
                  </a:lnTo>
                  <a:lnTo>
                    <a:pt x="3174" y="623330"/>
                  </a:lnTo>
                  <a:lnTo>
                    <a:pt x="8731" y="513793"/>
                  </a:lnTo>
                  <a:lnTo>
                    <a:pt x="16668" y="414574"/>
                  </a:lnTo>
                  <a:lnTo>
                    <a:pt x="26987" y="328849"/>
                  </a:lnTo>
                  <a:lnTo>
                    <a:pt x="38893" y="258205"/>
                  </a:lnTo>
                  <a:lnTo>
                    <a:pt x="55562" y="201055"/>
                  </a:lnTo>
                  <a:lnTo>
                    <a:pt x="77787" y="153430"/>
                  </a:lnTo>
                  <a:lnTo>
                    <a:pt x="106362" y="114536"/>
                  </a:lnTo>
                  <a:lnTo>
                    <a:pt x="138906" y="83580"/>
                  </a:lnTo>
                  <a:lnTo>
                    <a:pt x="176212" y="59768"/>
                  </a:lnTo>
                  <a:lnTo>
                    <a:pt x="215900" y="42305"/>
                  </a:lnTo>
                  <a:lnTo>
                    <a:pt x="258762" y="29605"/>
                  </a:lnTo>
                  <a:lnTo>
                    <a:pt x="302418" y="20874"/>
                  </a:lnTo>
                  <a:lnTo>
                    <a:pt x="390524" y="12143"/>
                  </a:lnTo>
                  <a:lnTo>
                    <a:pt x="474661" y="9762"/>
                  </a:lnTo>
                  <a:lnTo>
                    <a:pt x="547686" y="4999"/>
                  </a:lnTo>
                  <a:lnTo>
                    <a:pt x="577849" y="237"/>
                  </a:lnTo>
                  <a:lnTo>
                    <a:pt x="578517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79083" y="2808973"/>
              <a:ext cx="85090" cy="72390"/>
            </a:xfrm>
            <a:custGeom>
              <a:avLst/>
              <a:gdLst/>
              <a:ahLst/>
              <a:cxnLst/>
              <a:rect l="l" t="t" r="r" b="b"/>
              <a:pathLst>
                <a:path w="85090" h="72389">
                  <a:moveTo>
                    <a:pt x="0" y="0"/>
                  </a:moveTo>
                  <a:lnTo>
                    <a:pt x="25482" y="71818"/>
                  </a:lnTo>
                  <a:lnTo>
                    <a:pt x="84554" y="10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18343" y="3398176"/>
              <a:ext cx="1894839" cy="1542415"/>
            </a:xfrm>
            <a:custGeom>
              <a:avLst/>
              <a:gdLst/>
              <a:ahLst/>
              <a:cxnLst/>
              <a:rect l="l" t="t" r="r" b="b"/>
              <a:pathLst>
                <a:path w="1894839" h="1542414">
                  <a:moveTo>
                    <a:pt x="1894682" y="1381787"/>
                  </a:moveTo>
                  <a:lnTo>
                    <a:pt x="1841502" y="1395277"/>
                  </a:lnTo>
                  <a:lnTo>
                    <a:pt x="1773232" y="1414327"/>
                  </a:lnTo>
                  <a:lnTo>
                    <a:pt x="1691482" y="1438137"/>
                  </a:lnTo>
                  <a:lnTo>
                    <a:pt x="1600202" y="1463537"/>
                  </a:lnTo>
                  <a:lnTo>
                    <a:pt x="1500182" y="1488147"/>
                  </a:lnTo>
                  <a:lnTo>
                    <a:pt x="1395412" y="1507987"/>
                  </a:lnTo>
                  <a:lnTo>
                    <a:pt x="1287462" y="1522277"/>
                  </a:lnTo>
                  <a:lnTo>
                    <a:pt x="1178722" y="1527837"/>
                  </a:lnTo>
                  <a:lnTo>
                    <a:pt x="1122362" y="1528627"/>
                  </a:lnTo>
                  <a:lnTo>
                    <a:pt x="1060453" y="1531007"/>
                  </a:lnTo>
                  <a:lnTo>
                    <a:pt x="926306" y="1537357"/>
                  </a:lnTo>
                  <a:lnTo>
                    <a:pt x="781843" y="1542127"/>
                  </a:lnTo>
                  <a:lnTo>
                    <a:pt x="635793" y="1540537"/>
                  </a:lnTo>
                  <a:lnTo>
                    <a:pt x="494506" y="1528627"/>
                  </a:lnTo>
                  <a:lnTo>
                    <a:pt x="427037" y="1516727"/>
                  </a:lnTo>
                  <a:lnTo>
                    <a:pt x="364331" y="1500847"/>
                  </a:lnTo>
                  <a:lnTo>
                    <a:pt x="305593" y="1480207"/>
                  </a:lnTo>
                  <a:lnTo>
                    <a:pt x="252412" y="1454017"/>
                  </a:lnTo>
                  <a:lnTo>
                    <a:pt x="205580" y="1421467"/>
                  </a:lnTo>
                  <a:lnTo>
                    <a:pt x="165893" y="1381787"/>
                  </a:lnTo>
                  <a:lnTo>
                    <a:pt x="132556" y="1332577"/>
                  </a:lnTo>
                  <a:lnTo>
                    <a:pt x="103187" y="1273037"/>
                  </a:lnTo>
                  <a:lnTo>
                    <a:pt x="78581" y="1203187"/>
                  </a:lnTo>
                  <a:lnTo>
                    <a:pt x="57150" y="1126197"/>
                  </a:lnTo>
                  <a:lnTo>
                    <a:pt x="39687" y="1042857"/>
                  </a:lnTo>
                  <a:lnTo>
                    <a:pt x="25400" y="953957"/>
                  </a:lnTo>
                  <a:lnTo>
                    <a:pt x="7143" y="769803"/>
                  </a:lnTo>
                  <a:lnTo>
                    <a:pt x="0" y="584860"/>
                  </a:lnTo>
                  <a:lnTo>
                    <a:pt x="793" y="496753"/>
                  </a:lnTo>
                  <a:lnTo>
                    <a:pt x="3174" y="412616"/>
                  </a:lnTo>
                  <a:lnTo>
                    <a:pt x="7937" y="334828"/>
                  </a:lnTo>
                  <a:lnTo>
                    <a:pt x="14287" y="265773"/>
                  </a:lnTo>
                  <a:lnTo>
                    <a:pt x="21431" y="205448"/>
                  </a:lnTo>
                  <a:lnTo>
                    <a:pt x="30956" y="156236"/>
                  </a:lnTo>
                  <a:lnTo>
                    <a:pt x="43656" y="116548"/>
                  </a:lnTo>
                  <a:lnTo>
                    <a:pt x="83343" y="58604"/>
                  </a:lnTo>
                  <a:lnTo>
                    <a:pt x="138906" y="23679"/>
                  </a:lnTo>
                  <a:lnTo>
                    <a:pt x="238918" y="2248"/>
                  </a:lnTo>
                  <a:lnTo>
                    <a:pt x="309562" y="660"/>
                  </a:lnTo>
                  <a:lnTo>
                    <a:pt x="376237" y="3042"/>
                  </a:lnTo>
                  <a:lnTo>
                    <a:pt x="433387" y="3042"/>
                  </a:lnTo>
                  <a:lnTo>
                    <a:pt x="45197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14035" y="3368776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5" h="75564">
                  <a:moveTo>
                    <a:pt x="0" y="0"/>
                  </a:moveTo>
                  <a:lnTo>
                    <a:pt x="12305" y="75209"/>
                  </a:lnTo>
                  <a:lnTo>
                    <a:pt x="81352" y="25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026602" y="3834193"/>
            <a:ext cx="6528434" cy="66611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latin typeface="Times New Roman"/>
                <a:cs typeface="Times New Roman"/>
              </a:rPr>
              <a:t>Data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Mining</a:t>
            </a:r>
            <a:endParaRPr sz="1800">
              <a:latin typeface="Times New Roman"/>
              <a:cs typeface="Times New Roman"/>
            </a:endParaRPr>
          </a:p>
          <a:p>
            <a:pPr marL="2763520" indent="-343535">
              <a:lnSpc>
                <a:spcPct val="100000"/>
              </a:lnSpc>
              <a:spcBef>
                <a:spcPts val="254"/>
              </a:spcBef>
              <a:buChar char="•"/>
              <a:tabLst>
                <a:tab pos="2763520" algn="l"/>
                <a:tab pos="2764155" algn="l"/>
              </a:tabLst>
            </a:pPr>
            <a:r>
              <a:rPr sz="2000" spc="-5" dirty="0">
                <a:latin typeface="Times New Roman"/>
                <a:cs typeface="Times New Roman"/>
              </a:rPr>
              <a:t>Data preparation and result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reporting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53" name="object 53"/>
          <p:cNvSpPr txBox="1"/>
          <p:nvPr/>
        </p:nvSpPr>
        <p:spPr>
          <a:xfrm>
            <a:off x="4777740" y="4449445"/>
            <a:ext cx="21837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are </a:t>
            </a:r>
            <a:r>
              <a:rPr sz="2000" dirty="0">
                <a:latin typeface="Times New Roman"/>
                <a:cs typeface="Times New Roman"/>
              </a:rPr>
              <a:t>80% of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work!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434840" y="4751422"/>
            <a:ext cx="4545330" cy="13239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Times New Roman"/>
                <a:cs typeface="Times New Roman"/>
              </a:rPr>
              <a:t>Based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results </a:t>
            </a:r>
            <a:r>
              <a:rPr sz="2000" dirty="0">
                <a:latin typeface="Times New Roman"/>
                <a:cs typeface="Times New Roman"/>
              </a:rPr>
              <a:t>you </a:t>
            </a:r>
            <a:r>
              <a:rPr sz="2000" spc="-5" dirty="0">
                <a:latin typeface="Times New Roman"/>
                <a:cs typeface="Times New Roman"/>
              </a:rPr>
              <a:t>may decide to: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Times New Roman"/>
                <a:cs typeface="Times New Roman"/>
              </a:rPr>
              <a:t>Get more data </a:t>
            </a:r>
            <a:r>
              <a:rPr sz="1800" dirty="0">
                <a:latin typeface="Times New Roman"/>
                <a:cs typeface="Times New Roman"/>
              </a:rPr>
              <a:t>from </a:t>
            </a:r>
            <a:r>
              <a:rPr sz="1800" spc="-5" dirty="0">
                <a:latin typeface="Times New Roman"/>
                <a:cs typeface="Times New Roman"/>
              </a:rPr>
              <a:t>internal data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sources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Times New Roman"/>
                <a:cs typeface="Times New Roman"/>
              </a:rPr>
              <a:t>Get additional data </a:t>
            </a:r>
            <a:r>
              <a:rPr sz="1800" dirty="0">
                <a:latin typeface="Times New Roman"/>
                <a:cs typeface="Times New Roman"/>
              </a:rPr>
              <a:t>from </a:t>
            </a:r>
            <a:r>
              <a:rPr sz="1800" spc="-5" dirty="0">
                <a:latin typeface="Times New Roman"/>
                <a:cs typeface="Times New Roman"/>
              </a:rPr>
              <a:t>external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sources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har char="–"/>
              <a:tabLst>
                <a:tab pos="755015" algn="l"/>
                <a:tab pos="755650" algn="l"/>
              </a:tabLst>
            </a:pPr>
            <a:r>
              <a:rPr sz="1800" spc="-5" dirty="0">
                <a:latin typeface="Times New Roman"/>
                <a:cs typeface="Times New Roman"/>
              </a:rPr>
              <a:t>Recode 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3F9C1D2C-6590-4465-8EE0-F4461E6FD46D}"/>
              </a:ext>
            </a:extLst>
          </p:cNvPr>
          <p:cNvSpPr>
            <a:spLocks/>
          </p:cNvSpPr>
          <p:nvPr/>
        </p:nvSpPr>
        <p:spPr bwMode="auto">
          <a:xfrm>
            <a:off x="6927629" y="6173079"/>
            <a:ext cx="1923201" cy="31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algn="r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93">
                <a:solidFill>
                  <a:srgbClr val="CC99FF"/>
                </a:solidFill>
                <a:latin typeface="Comic Sans MS Bold" panose="030F0902030302020204" pitchFamily="66" charset="0"/>
                <a:ea typeface="Comic Sans MS Bold" panose="030F0902030302020204" pitchFamily="66" charset="0"/>
                <a:cs typeface="Comic Sans MS Bold" panose="030F0902030302020204" pitchFamily="66" charset="0"/>
                <a:sym typeface="Comic Sans MS Bold" panose="030F0902030302020204" pitchFamily="66" charset="0"/>
              </a:rPr>
              <a:t>16</a:t>
            </a:r>
          </a:p>
        </p:txBody>
      </p:sp>
      <p:sp>
        <p:nvSpPr>
          <p:cNvPr id="18434" name="AutoShape 2">
            <a:extLst>
              <a:ext uri="{FF2B5EF4-FFF2-40B4-BE49-F238E27FC236}">
                <a16:creationId xmlns:a16="http://schemas.microsoft.com/office/drawing/2014/main" id="{6CA8D98D-165E-4B2D-B599-D7D50CF1E6BC}"/>
              </a:ext>
            </a:extLst>
          </p:cNvPr>
          <p:cNvSpPr>
            <a:spLocks/>
          </p:cNvSpPr>
          <p:nvPr/>
        </p:nvSpPr>
        <p:spPr bwMode="auto">
          <a:xfrm rot="-2280000">
            <a:off x="1902680" y="1672906"/>
            <a:ext cx="6857267" cy="3306968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4400" y="0"/>
                </a:moveTo>
                <a:lnTo>
                  <a:pt x="0" y="0"/>
                </a:lnTo>
                <a:lnTo>
                  <a:pt x="0" y="21600"/>
                </a:lnTo>
                <a:lnTo>
                  <a:pt x="14400" y="21600"/>
                </a:lnTo>
                <a:lnTo>
                  <a:pt x="21600" y="10800"/>
                </a:lnTo>
                <a:close/>
                <a:moveTo>
                  <a:pt x="14400" y="0"/>
                </a:move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18437" name="Group 5">
            <a:extLst>
              <a:ext uri="{FF2B5EF4-FFF2-40B4-BE49-F238E27FC236}">
                <a16:creationId xmlns:a16="http://schemas.microsoft.com/office/drawing/2014/main" id="{B44AA0AF-8B91-4864-86FC-A15F45E202E3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7314615" y="2163969"/>
            <a:ext cx="1216659" cy="992383"/>
            <a:chOff x="0" y="0"/>
            <a:chExt cx="830" cy="676"/>
          </a:xfrm>
        </p:grpSpPr>
        <p:sp>
          <p:nvSpPr>
            <p:cNvPr id="18435" name="Freeform 3">
              <a:extLst>
                <a:ext uri="{FF2B5EF4-FFF2-40B4-BE49-F238E27FC236}">
                  <a16:creationId xmlns:a16="http://schemas.microsoft.com/office/drawing/2014/main" id="{81A67223-F92C-44D8-87D1-B6BA7EECB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6"/>
              <a:ext cx="830" cy="670"/>
            </a:xfrm>
            <a:custGeom>
              <a:avLst/>
              <a:gdLst>
                <a:gd name="T0" fmla="*/ 21600 w 21600"/>
                <a:gd name="T1" fmla="*/ 20209 h 21600"/>
                <a:gd name="T2" fmla="*/ 20929 w 21600"/>
                <a:gd name="T3" fmla="*/ 18327 h 21600"/>
                <a:gd name="T4" fmla="*/ 19923 w 21600"/>
                <a:gd name="T5" fmla="*/ 16200 h 21600"/>
                <a:gd name="T6" fmla="*/ 18750 w 21600"/>
                <a:gd name="T7" fmla="*/ 14236 h 21600"/>
                <a:gd name="T8" fmla="*/ 17409 w 21600"/>
                <a:gd name="T9" fmla="*/ 12150 h 21600"/>
                <a:gd name="T10" fmla="*/ 15844 w 21600"/>
                <a:gd name="T11" fmla="*/ 10105 h 21600"/>
                <a:gd name="T12" fmla="*/ 13832 w 21600"/>
                <a:gd name="T13" fmla="*/ 7977 h 21600"/>
                <a:gd name="T14" fmla="*/ 11988 w 21600"/>
                <a:gd name="T15" fmla="*/ 6259 h 21600"/>
                <a:gd name="T16" fmla="*/ 9864 w 21600"/>
                <a:gd name="T17" fmla="*/ 5073 h 21600"/>
                <a:gd name="T18" fmla="*/ 7768 w 21600"/>
                <a:gd name="T19" fmla="*/ 4377 h 21600"/>
                <a:gd name="T20" fmla="*/ 6371 w 21600"/>
                <a:gd name="T21" fmla="*/ 4377 h 21600"/>
                <a:gd name="T22" fmla="*/ 5225 w 21600"/>
                <a:gd name="T23" fmla="*/ 4582 h 21600"/>
                <a:gd name="T24" fmla="*/ 4778 w 21600"/>
                <a:gd name="T25" fmla="*/ 0 h 21600"/>
                <a:gd name="T26" fmla="*/ 3493 w 21600"/>
                <a:gd name="T27" fmla="*/ 2577 h 21600"/>
                <a:gd name="T28" fmla="*/ 1872 w 21600"/>
                <a:gd name="T29" fmla="*/ 5277 h 21600"/>
                <a:gd name="T30" fmla="*/ 0 w 21600"/>
                <a:gd name="T31" fmla="*/ 6750 h 21600"/>
                <a:gd name="T32" fmla="*/ 978 w 21600"/>
                <a:gd name="T33" fmla="*/ 8468 h 21600"/>
                <a:gd name="T34" fmla="*/ 3018 w 21600"/>
                <a:gd name="T35" fmla="*/ 10432 h 21600"/>
                <a:gd name="T36" fmla="*/ 4303 w 21600"/>
                <a:gd name="T37" fmla="*/ 12232 h 21600"/>
                <a:gd name="T38" fmla="*/ 4806 w 21600"/>
                <a:gd name="T39" fmla="*/ 9327 h 21600"/>
                <a:gd name="T40" fmla="*/ 6678 w 21600"/>
                <a:gd name="T41" fmla="*/ 9000 h 21600"/>
                <a:gd name="T42" fmla="*/ 8718 w 21600"/>
                <a:gd name="T43" fmla="*/ 9286 h 21600"/>
                <a:gd name="T44" fmla="*/ 10898 w 21600"/>
                <a:gd name="T45" fmla="*/ 10105 h 21600"/>
                <a:gd name="T46" fmla="*/ 13524 w 21600"/>
                <a:gd name="T47" fmla="*/ 11618 h 21600"/>
                <a:gd name="T48" fmla="*/ 15704 w 21600"/>
                <a:gd name="T49" fmla="*/ 13459 h 21600"/>
                <a:gd name="T50" fmla="*/ 16710 w 21600"/>
                <a:gd name="T51" fmla="*/ 14359 h 21600"/>
                <a:gd name="T52" fmla="*/ 17548 w 21600"/>
                <a:gd name="T53" fmla="*/ 15259 h 21600"/>
                <a:gd name="T54" fmla="*/ 18778 w 21600"/>
                <a:gd name="T55" fmla="*/ 16732 h 21600"/>
                <a:gd name="T56" fmla="*/ 19560 w 21600"/>
                <a:gd name="T57" fmla="*/ 17795 h 21600"/>
                <a:gd name="T58" fmla="*/ 20231 w 21600"/>
                <a:gd name="T59" fmla="*/ 18900 h 21600"/>
                <a:gd name="T60" fmla="*/ 20957 w 21600"/>
                <a:gd name="T61" fmla="*/ 20209 h 21600"/>
                <a:gd name="T62" fmla="*/ 21600 w 21600"/>
                <a:gd name="T63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600" y="20209"/>
                  </a:lnTo>
                  <a:lnTo>
                    <a:pt x="21237" y="19186"/>
                  </a:lnTo>
                  <a:lnTo>
                    <a:pt x="20929" y="18327"/>
                  </a:lnTo>
                  <a:lnTo>
                    <a:pt x="20482" y="17305"/>
                  </a:lnTo>
                  <a:lnTo>
                    <a:pt x="19923" y="16200"/>
                  </a:lnTo>
                  <a:lnTo>
                    <a:pt x="19420" y="15423"/>
                  </a:lnTo>
                  <a:lnTo>
                    <a:pt x="18750" y="14236"/>
                  </a:lnTo>
                  <a:lnTo>
                    <a:pt x="18079" y="13132"/>
                  </a:lnTo>
                  <a:lnTo>
                    <a:pt x="17409" y="12150"/>
                  </a:lnTo>
                  <a:lnTo>
                    <a:pt x="16514" y="10923"/>
                  </a:lnTo>
                  <a:lnTo>
                    <a:pt x="15844" y="10105"/>
                  </a:lnTo>
                  <a:lnTo>
                    <a:pt x="14894" y="9082"/>
                  </a:lnTo>
                  <a:lnTo>
                    <a:pt x="13832" y="7977"/>
                  </a:lnTo>
                  <a:lnTo>
                    <a:pt x="12770" y="6995"/>
                  </a:lnTo>
                  <a:lnTo>
                    <a:pt x="11988" y="6259"/>
                  </a:lnTo>
                  <a:lnTo>
                    <a:pt x="10814" y="5564"/>
                  </a:lnTo>
                  <a:lnTo>
                    <a:pt x="9864" y="5073"/>
                  </a:lnTo>
                  <a:lnTo>
                    <a:pt x="8830" y="4664"/>
                  </a:lnTo>
                  <a:lnTo>
                    <a:pt x="7768" y="4377"/>
                  </a:lnTo>
                  <a:lnTo>
                    <a:pt x="7125" y="4336"/>
                  </a:lnTo>
                  <a:lnTo>
                    <a:pt x="6371" y="4377"/>
                  </a:lnTo>
                  <a:lnTo>
                    <a:pt x="5784" y="4459"/>
                  </a:lnTo>
                  <a:lnTo>
                    <a:pt x="5225" y="4582"/>
                  </a:lnTo>
                  <a:lnTo>
                    <a:pt x="4778" y="4745"/>
                  </a:lnTo>
                  <a:lnTo>
                    <a:pt x="4778" y="0"/>
                  </a:lnTo>
                  <a:lnTo>
                    <a:pt x="4219" y="1227"/>
                  </a:lnTo>
                  <a:lnTo>
                    <a:pt x="3493" y="2577"/>
                  </a:lnTo>
                  <a:lnTo>
                    <a:pt x="2738" y="3968"/>
                  </a:lnTo>
                  <a:lnTo>
                    <a:pt x="1872" y="5277"/>
                  </a:lnTo>
                  <a:lnTo>
                    <a:pt x="1202" y="5973"/>
                  </a:lnTo>
                  <a:lnTo>
                    <a:pt x="0" y="6750"/>
                  </a:lnTo>
                  <a:lnTo>
                    <a:pt x="0" y="7773"/>
                  </a:lnTo>
                  <a:lnTo>
                    <a:pt x="978" y="8468"/>
                  </a:lnTo>
                  <a:lnTo>
                    <a:pt x="1984" y="9286"/>
                  </a:lnTo>
                  <a:lnTo>
                    <a:pt x="3018" y="10432"/>
                  </a:lnTo>
                  <a:lnTo>
                    <a:pt x="3828" y="11536"/>
                  </a:lnTo>
                  <a:lnTo>
                    <a:pt x="4303" y="12232"/>
                  </a:lnTo>
                  <a:lnTo>
                    <a:pt x="4806" y="13377"/>
                  </a:lnTo>
                  <a:lnTo>
                    <a:pt x="4806" y="9327"/>
                  </a:lnTo>
                  <a:lnTo>
                    <a:pt x="5784" y="9082"/>
                  </a:lnTo>
                  <a:lnTo>
                    <a:pt x="6678" y="9000"/>
                  </a:lnTo>
                  <a:lnTo>
                    <a:pt x="7684" y="9082"/>
                  </a:lnTo>
                  <a:lnTo>
                    <a:pt x="8718" y="9286"/>
                  </a:lnTo>
                  <a:lnTo>
                    <a:pt x="9864" y="9695"/>
                  </a:lnTo>
                  <a:lnTo>
                    <a:pt x="10898" y="10105"/>
                  </a:lnTo>
                  <a:lnTo>
                    <a:pt x="12351" y="10882"/>
                  </a:lnTo>
                  <a:lnTo>
                    <a:pt x="13524" y="11618"/>
                  </a:lnTo>
                  <a:lnTo>
                    <a:pt x="14586" y="12436"/>
                  </a:lnTo>
                  <a:lnTo>
                    <a:pt x="15704" y="13459"/>
                  </a:lnTo>
                  <a:lnTo>
                    <a:pt x="16235" y="13909"/>
                  </a:lnTo>
                  <a:lnTo>
                    <a:pt x="16710" y="14359"/>
                  </a:lnTo>
                  <a:lnTo>
                    <a:pt x="17129" y="14809"/>
                  </a:lnTo>
                  <a:lnTo>
                    <a:pt x="17548" y="15259"/>
                  </a:lnTo>
                  <a:lnTo>
                    <a:pt x="18275" y="16077"/>
                  </a:lnTo>
                  <a:lnTo>
                    <a:pt x="18778" y="16732"/>
                  </a:lnTo>
                  <a:lnTo>
                    <a:pt x="19169" y="17264"/>
                  </a:lnTo>
                  <a:lnTo>
                    <a:pt x="19560" y="17795"/>
                  </a:lnTo>
                  <a:lnTo>
                    <a:pt x="19923" y="18409"/>
                  </a:lnTo>
                  <a:lnTo>
                    <a:pt x="20231" y="18900"/>
                  </a:lnTo>
                  <a:lnTo>
                    <a:pt x="20594" y="19473"/>
                  </a:lnTo>
                  <a:lnTo>
                    <a:pt x="20957" y="20209"/>
                  </a:lnTo>
                  <a:lnTo>
                    <a:pt x="21293" y="20905"/>
                  </a:lnTo>
                  <a:lnTo>
                    <a:pt x="21600" y="21600"/>
                  </a:lnTo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8436" name="Freeform 4">
              <a:extLst>
                <a:ext uri="{FF2B5EF4-FFF2-40B4-BE49-F238E27FC236}">
                  <a16:creationId xmlns:a16="http://schemas.microsoft.com/office/drawing/2014/main" id="{C2432937-06C4-4C3D-944A-B975749CC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30" cy="636"/>
            </a:xfrm>
            <a:custGeom>
              <a:avLst/>
              <a:gdLst>
                <a:gd name="T0" fmla="*/ 21600 w 21600"/>
                <a:gd name="T1" fmla="*/ 21600 h 21600"/>
                <a:gd name="T2" fmla="*/ 21321 w 21600"/>
                <a:gd name="T3" fmla="*/ 20393 h 21600"/>
                <a:gd name="T4" fmla="*/ 21041 w 21600"/>
                <a:gd name="T5" fmla="*/ 19401 h 21600"/>
                <a:gd name="T6" fmla="*/ 20790 w 21600"/>
                <a:gd name="T7" fmla="*/ 18582 h 21600"/>
                <a:gd name="T8" fmla="*/ 20454 w 21600"/>
                <a:gd name="T9" fmla="*/ 17634 h 21600"/>
                <a:gd name="T10" fmla="*/ 19951 w 21600"/>
                <a:gd name="T11" fmla="*/ 16340 h 21600"/>
                <a:gd name="T12" fmla="*/ 19420 w 21600"/>
                <a:gd name="T13" fmla="*/ 15176 h 21600"/>
                <a:gd name="T14" fmla="*/ 18750 w 21600"/>
                <a:gd name="T15" fmla="*/ 14012 h 21600"/>
                <a:gd name="T16" fmla="*/ 18079 w 21600"/>
                <a:gd name="T17" fmla="*/ 12848 h 21600"/>
                <a:gd name="T18" fmla="*/ 17381 w 21600"/>
                <a:gd name="T19" fmla="*/ 11813 h 21600"/>
                <a:gd name="T20" fmla="*/ 16514 w 21600"/>
                <a:gd name="T21" fmla="*/ 10520 h 21600"/>
                <a:gd name="T22" fmla="*/ 15844 w 21600"/>
                <a:gd name="T23" fmla="*/ 9701 h 21600"/>
                <a:gd name="T24" fmla="*/ 14866 w 21600"/>
                <a:gd name="T25" fmla="*/ 8666 h 21600"/>
                <a:gd name="T26" fmla="*/ 13832 w 21600"/>
                <a:gd name="T27" fmla="*/ 7502 h 21600"/>
                <a:gd name="T28" fmla="*/ 12770 w 21600"/>
                <a:gd name="T29" fmla="*/ 6467 h 21600"/>
                <a:gd name="T30" fmla="*/ 11960 w 21600"/>
                <a:gd name="T31" fmla="*/ 5734 h 21600"/>
                <a:gd name="T32" fmla="*/ 10814 w 21600"/>
                <a:gd name="T33" fmla="*/ 5001 h 21600"/>
                <a:gd name="T34" fmla="*/ 9836 w 21600"/>
                <a:gd name="T35" fmla="*/ 4484 h 21600"/>
                <a:gd name="T36" fmla="*/ 8830 w 21600"/>
                <a:gd name="T37" fmla="*/ 4053 h 21600"/>
                <a:gd name="T38" fmla="*/ 7740 w 21600"/>
                <a:gd name="T39" fmla="*/ 3751 h 21600"/>
                <a:gd name="T40" fmla="*/ 7098 w 21600"/>
                <a:gd name="T41" fmla="*/ 3708 h 21600"/>
                <a:gd name="T42" fmla="*/ 6343 w 21600"/>
                <a:gd name="T43" fmla="*/ 3751 h 21600"/>
                <a:gd name="T44" fmla="*/ 5756 w 21600"/>
                <a:gd name="T45" fmla="*/ 3837 h 21600"/>
                <a:gd name="T46" fmla="*/ 5225 w 21600"/>
                <a:gd name="T47" fmla="*/ 3966 h 21600"/>
                <a:gd name="T48" fmla="*/ 4750 w 21600"/>
                <a:gd name="T49" fmla="*/ 4182 h 21600"/>
                <a:gd name="T50" fmla="*/ 4750 w 21600"/>
                <a:gd name="T51" fmla="*/ 0 h 21600"/>
                <a:gd name="T52" fmla="*/ 4136 w 21600"/>
                <a:gd name="T53" fmla="*/ 1293 h 21600"/>
                <a:gd name="T54" fmla="*/ 3521 w 21600"/>
                <a:gd name="T55" fmla="*/ 2501 h 21600"/>
                <a:gd name="T56" fmla="*/ 2710 w 21600"/>
                <a:gd name="T57" fmla="*/ 4053 h 21600"/>
                <a:gd name="T58" fmla="*/ 1816 w 21600"/>
                <a:gd name="T59" fmla="*/ 5303 h 21600"/>
                <a:gd name="T60" fmla="*/ 1034 w 21600"/>
                <a:gd name="T61" fmla="*/ 6338 h 21600"/>
                <a:gd name="T62" fmla="*/ 0 w 21600"/>
                <a:gd name="T63" fmla="*/ 7286 h 21600"/>
                <a:gd name="T64" fmla="*/ 950 w 21600"/>
                <a:gd name="T65" fmla="*/ 8019 h 21600"/>
                <a:gd name="T66" fmla="*/ 1956 w 21600"/>
                <a:gd name="T67" fmla="*/ 8881 h 21600"/>
                <a:gd name="T68" fmla="*/ 2990 w 21600"/>
                <a:gd name="T69" fmla="*/ 10002 h 21600"/>
                <a:gd name="T70" fmla="*/ 3800 w 21600"/>
                <a:gd name="T71" fmla="*/ 11166 h 21600"/>
                <a:gd name="T72" fmla="*/ 4275 w 21600"/>
                <a:gd name="T73" fmla="*/ 11899 h 21600"/>
                <a:gd name="T74" fmla="*/ 4806 w 21600"/>
                <a:gd name="T75" fmla="*/ 13107 h 21600"/>
                <a:gd name="T76" fmla="*/ 4806 w 21600"/>
                <a:gd name="T77" fmla="*/ 8925 h 21600"/>
                <a:gd name="T78" fmla="*/ 5756 w 21600"/>
                <a:gd name="T79" fmla="*/ 8666 h 21600"/>
                <a:gd name="T80" fmla="*/ 6650 w 21600"/>
                <a:gd name="T81" fmla="*/ 8537 h 21600"/>
                <a:gd name="T82" fmla="*/ 7684 w 21600"/>
                <a:gd name="T83" fmla="*/ 8666 h 21600"/>
                <a:gd name="T84" fmla="*/ 8690 w 21600"/>
                <a:gd name="T85" fmla="*/ 8881 h 21600"/>
                <a:gd name="T86" fmla="*/ 9836 w 21600"/>
                <a:gd name="T87" fmla="*/ 9269 h 21600"/>
                <a:gd name="T88" fmla="*/ 10870 w 21600"/>
                <a:gd name="T89" fmla="*/ 9701 h 21600"/>
                <a:gd name="T90" fmla="*/ 12323 w 21600"/>
                <a:gd name="T91" fmla="*/ 10477 h 21600"/>
                <a:gd name="T92" fmla="*/ 13524 w 21600"/>
                <a:gd name="T93" fmla="*/ 11253 h 21600"/>
                <a:gd name="T94" fmla="*/ 14558 w 21600"/>
                <a:gd name="T95" fmla="*/ 12115 h 21600"/>
                <a:gd name="T96" fmla="*/ 15704 w 21600"/>
                <a:gd name="T97" fmla="*/ 13150 h 21600"/>
                <a:gd name="T98" fmla="*/ 16207 w 21600"/>
                <a:gd name="T99" fmla="*/ 13624 h 21600"/>
                <a:gd name="T100" fmla="*/ 16710 w 21600"/>
                <a:gd name="T101" fmla="*/ 14098 h 21600"/>
                <a:gd name="T102" fmla="*/ 17129 w 21600"/>
                <a:gd name="T103" fmla="*/ 14572 h 21600"/>
                <a:gd name="T104" fmla="*/ 17520 w 21600"/>
                <a:gd name="T105" fmla="*/ 15047 h 21600"/>
                <a:gd name="T106" fmla="*/ 18275 w 21600"/>
                <a:gd name="T107" fmla="*/ 15866 h 21600"/>
                <a:gd name="T108" fmla="*/ 18778 w 21600"/>
                <a:gd name="T109" fmla="*/ 16556 h 21600"/>
                <a:gd name="T110" fmla="*/ 19169 w 21600"/>
                <a:gd name="T111" fmla="*/ 17116 h 21600"/>
                <a:gd name="T112" fmla="*/ 19532 w 21600"/>
                <a:gd name="T113" fmla="*/ 17677 h 21600"/>
                <a:gd name="T114" fmla="*/ 19895 w 21600"/>
                <a:gd name="T115" fmla="*/ 18280 h 21600"/>
                <a:gd name="T116" fmla="*/ 20203 w 21600"/>
                <a:gd name="T117" fmla="*/ 18798 h 21600"/>
                <a:gd name="T118" fmla="*/ 20566 w 21600"/>
                <a:gd name="T119" fmla="*/ 19401 h 21600"/>
                <a:gd name="T120" fmla="*/ 20929 w 21600"/>
                <a:gd name="T121" fmla="*/ 20134 h 21600"/>
                <a:gd name="T122" fmla="*/ 21293 w 21600"/>
                <a:gd name="T123" fmla="*/ 20867 h 21600"/>
                <a:gd name="T124" fmla="*/ 21600 w 21600"/>
                <a:gd name="T12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321" y="20393"/>
                  </a:lnTo>
                  <a:lnTo>
                    <a:pt x="21041" y="19401"/>
                  </a:lnTo>
                  <a:lnTo>
                    <a:pt x="20790" y="18582"/>
                  </a:lnTo>
                  <a:lnTo>
                    <a:pt x="20454" y="17634"/>
                  </a:lnTo>
                  <a:lnTo>
                    <a:pt x="19951" y="16340"/>
                  </a:lnTo>
                  <a:lnTo>
                    <a:pt x="19420" y="15176"/>
                  </a:lnTo>
                  <a:lnTo>
                    <a:pt x="18750" y="14012"/>
                  </a:lnTo>
                  <a:lnTo>
                    <a:pt x="18079" y="12848"/>
                  </a:lnTo>
                  <a:lnTo>
                    <a:pt x="17381" y="11813"/>
                  </a:lnTo>
                  <a:lnTo>
                    <a:pt x="16514" y="10520"/>
                  </a:lnTo>
                  <a:lnTo>
                    <a:pt x="15844" y="9701"/>
                  </a:lnTo>
                  <a:lnTo>
                    <a:pt x="14866" y="8666"/>
                  </a:lnTo>
                  <a:lnTo>
                    <a:pt x="13832" y="7502"/>
                  </a:lnTo>
                  <a:lnTo>
                    <a:pt x="12770" y="6467"/>
                  </a:lnTo>
                  <a:lnTo>
                    <a:pt x="11960" y="5734"/>
                  </a:lnTo>
                  <a:lnTo>
                    <a:pt x="10814" y="5001"/>
                  </a:lnTo>
                  <a:lnTo>
                    <a:pt x="9836" y="4484"/>
                  </a:lnTo>
                  <a:lnTo>
                    <a:pt x="8830" y="4053"/>
                  </a:lnTo>
                  <a:lnTo>
                    <a:pt x="7740" y="3751"/>
                  </a:lnTo>
                  <a:lnTo>
                    <a:pt x="7098" y="3708"/>
                  </a:lnTo>
                  <a:lnTo>
                    <a:pt x="6343" y="3751"/>
                  </a:lnTo>
                  <a:lnTo>
                    <a:pt x="5756" y="3837"/>
                  </a:lnTo>
                  <a:lnTo>
                    <a:pt x="5225" y="3966"/>
                  </a:lnTo>
                  <a:lnTo>
                    <a:pt x="4750" y="4182"/>
                  </a:lnTo>
                  <a:lnTo>
                    <a:pt x="4750" y="0"/>
                  </a:lnTo>
                  <a:lnTo>
                    <a:pt x="4136" y="1293"/>
                  </a:lnTo>
                  <a:lnTo>
                    <a:pt x="3521" y="2501"/>
                  </a:lnTo>
                  <a:lnTo>
                    <a:pt x="2710" y="4053"/>
                  </a:lnTo>
                  <a:lnTo>
                    <a:pt x="1816" y="5303"/>
                  </a:lnTo>
                  <a:lnTo>
                    <a:pt x="1034" y="6338"/>
                  </a:lnTo>
                  <a:lnTo>
                    <a:pt x="0" y="7286"/>
                  </a:lnTo>
                  <a:lnTo>
                    <a:pt x="950" y="8019"/>
                  </a:lnTo>
                  <a:lnTo>
                    <a:pt x="1956" y="8881"/>
                  </a:lnTo>
                  <a:lnTo>
                    <a:pt x="2990" y="10002"/>
                  </a:lnTo>
                  <a:lnTo>
                    <a:pt x="3800" y="11166"/>
                  </a:lnTo>
                  <a:lnTo>
                    <a:pt x="4275" y="11899"/>
                  </a:lnTo>
                  <a:lnTo>
                    <a:pt x="4806" y="13107"/>
                  </a:lnTo>
                  <a:lnTo>
                    <a:pt x="4806" y="8925"/>
                  </a:lnTo>
                  <a:lnTo>
                    <a:pt x="5756" y="8666"/>
                  </a:lnTo>
                  <a:lnTo>
                    <a:pt x="6650" y="8537"/>
                  </a:lnTo>
                  <a:lnTo>
                    <a:pt x="7684" y="8666"/>
                  </a:lnTo>
                  <a:lnTo>
                    <a:pt x="8690" y="8881"/>
                  </a:lnTo>
                  <a:lnTo>
                    <a:pt x="9836" y="9269"/>
                  </a:lnTo>
                  <a:lnTo>
                    <a:pt x="10870" y="9701"/>
                  </a:lnTo>
                  <a:lnTo>
                    <a:pt x="12323" y="10477"/>
                  </a:lnTo>
                  <a:lnTo>
                    <a:pt x="13524" y="11253"/>
                  </a:lnTo>
                  <a:lnTo>
                    <a:pt x="14558" y="12115"/>
                  </a:lnTo>
                  <a:lnTo>
                    <a:pt x="15704" y="13150"/>
                  </a:lnTo>
                  <a:lnTo>
                    <a:pt x="16207" y="13624"/>
                  </a:lnTo>
                  <a:lnTo>
                    <a:pt x="16710" y="14098"/>
                  </a:lnTo>
                  <a:lnTo>
                    <a:pt x="17129" y="14572"/>
                  </a:lnTo>
                  <a:lnTo>
                    <a:pt x="17520" y="15047"/>
                  </a:lnTo>
                  <a:lnTo>
                    <a:pt x="18275" y="15866"/>
                  </a:lnTo>
                  <a:lnTo>
                    <a:pt x="18778" y="16556"/>
                  </a:lnTo>
                  <a:lnTo>
                    <a:pt x="19169" y="17116"/>
                  </a:lnTo>
                  <a:lnTo>
                    <a:pt x="19532" y="17677"/>
                  </a:lnTo>
                  <a:lnTo>
                    <a:pt x="19895" y="18280"/>
                  </a:lnTo>
                  <a:lnTo>
                    <a:pt x="20203" y="18798"/>
                  </a:lnTo>
                  <a:lnTo>
                    <a:pt x="20566" y="19401"/>
                  </a:lnTo>
                  <a:lnTo>
                    <a:pt x="20929" y="20134"/>
                  </a:lnTo>
                  <a:lnTo>
                    <a:pt x="21293" y="20867"/>
                  </a:lnTo>
                  <a:lnTo>
                    <a:pt x="21600" y="2160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</p:grpSp>
      <p:sp>
        <p:nvSpPr>
          <p:cNvPr id="18438" name="Rectangle 6">
            <a:extLst>
              <a:ext uri="{FF2B5EF4-FFF2-40B4-BE49-F238E27FC236}">
                <a16:creationId xmlns:a16="http://schemas.microsoft.com/office/drawing/2014/main" id="{8CB89AA7-1CCF-4739-81AA-11AEEB7D8056}"/>
              </a:ext>
            </a:extLst>
          </p:cNvPr>
          <p:cNvSpPr>
            <a:spLocks/>
          </p:cNvSpPr>
          <p:nvPr/>
        </p:nvSpPr>
        <p:spPr bwMode="auto">
          <a:xfrm>
            <a:off x="762245" y="472372"/>
            <a:ext cx="8091517" cy="656703"/>
          </a:xfrm>
          <a:prstGeom prst="rect">
            <a:avLst/>
          </a:prstGeom>
          <a:noFill/>
          <a:ln>
            <a:noFill/>
          </a:ln>
          <a:effectLst>
            <a:outerShdw blurRad="63500" dist="12700" dir="2700000" algn="ctr" rotWithShape="0">
              <a:schemeClr val="bg2"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35181" tIns="35181" rIns="74758" bIns="35181" anchor="ctr"/>
          <a:lstStyle>
            <a:lvl1pPr marL="31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932" defTabSz="84435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86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Grande" charset="0"/>
                <a:cs typeface="Lucida Grande" charset="0"/>
                <a:sym typeface="Lucida Grande" charset="0"/>
              </a:rPr>
              <a:t> </a:t>
            </a:r>
            <a:r>
              <a:rPr lang="en-US" altLang="en-US" sz="3324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The Knowledge Discovery Process</a:t>
            </a:r>
          </a:p>
        </p:txBody>
      </p:sp>
      <p:grpSp>
        <p:nvGrpSpPr>
          <p:cNvPr id="18441" name="Group 9">
            <a:extLst>
              <a:ext uri="{FF2B5EF4-FFF2-40B4-BE49-F238E27FC236}">
                <a16:creationId xmlns:a16="http://schemas.microsoft.com/office/drawing/2014/main" id="{0F147936-AF74-46B2-A168-C844A1FDBE82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6172714" y="3008301"/>
            <a:ext cx="1215193" cy="992383"/>
            <a:chOff x="0" y="0"/>
            <a:chExt cx="829" cy="676"/>
          </a:xfrm>
        </p:grpSpPr>
        <p:sp>
          <p:nvSpPr>
            <p:cNvPr id="18439" name="Freeform 7">
              <a:extLst>
                <a:ext uri="{FF2B5EF4-FFF2-40B4-BE49-F238E27FC236}">
                  <a16:creationId xmlns:a16="http://schemas.microsoft.com/office/drawing/2014/main" id="{9D5F281A-F09E-4F80-B649-516A11FBC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6"/>
              <a:ext cx="829" cy="670"/>
            </a:xfrm>
            <a:custGeom>
              <a:avLst/>
              <a:gdLst>
                <a:gd name="T0" fmla="*/ 21600 w 21600"/>
                <a:gd name="T1" fmla="*/ 20209 h 21600"/>
                <a:gd name="T2" fmla="*/ 20929 w 21600"/>
                <a:gd name="T3" fmla="*/ 18327 h 21600"/>
                <a:gd name="T4" fmla="*/ 19923 w 21600"/>
                <a:gd name="T5" fmla="*/ 16200 h 21600"/>
                <a:gd name="T6" fmla="*/ 18750 w 21600"/>
                <a:gd name="T7" fmla="*/ 14236 h 21600"/>
                <a:gd name="T8" fmla="*/ 17409 w 21600"/>
                <a:gd name="T9" fmla="*/ 12150 h 21600"/>
                <a:gd name="T10" fmla="*/ 15844 w 21600"/>
                <a:gd name="T11" fmla="*/ 10105 h 21600"/>
                <a:gd name="T12" fmla="*/ 13832 w 21600"/>
                <a:gd name="T13" fmla="*/ 7977 h 21600"/>
                <a:gd name="T14" fmla="*/ 11988 w 21600"/>
                <a:gd name="T15" fmla="*/ 6259 h 21600"/>
                <a:gd name="T16" fmla="*/ 9864 w 21600"/>
                <a:gd name="T17" fmla="*/ 5073 h 21600"/>
                <a:gd name="T18" fmla="*/ 7768 w 21600"/>
                <a:gd name="T19" fmla="*/ 4377 h 21600"/>
                <a:gd name="T20" fmla="*/ 6371 w 21600"/>
                <a:gd name="T21" fmla="*/ 4377 h 21600"/>
                <a:gd name="T22" fmla="*/ 5225 w 21600"/>
                <a:gd name="T23" fmla="*/ 4582 h 21600"/>
                <a:gd name="T24" fmla="*/ 4778 w 21600"/>
                <a:gd name="T25" fmla="*/ 0 h 21600"/>
                <a:gd name="T26" fmla="*/ 3493 w 21600"/>
                <a:gd name="T27" fmla="*/ 2577 h 21600"/>
                <a:gd name="T28" fmla="*/ 1872 w 21600"/>
                <a:gd name="T29" fmla="*/ 5277 h 21600"/>
                <a:gd name="T30" fmla="*/ 0 w 21600"/>
                <a:gd name="T31" fmla="*/ 6750 h 21600"/>
                <a:gd name="T32" fmla="*/ 978 w 21600"/>
                <a:gd name="T33" fmla="*/ 8468 h 21600"/>
                <a:gd name="T34" fmla="*/ 3018 w 21600"/>
                <a:gd name="T35" fmla="*/ 10432 h 21600"/>
                <a:gd name="T36" fmla="*/ 4303 w 21600"/>
                <a:gd name="T37" fmla="*/ 12232 h 21600"/>
                <a:gd name="T38" fmla="*/ 4806 w 21600"/>
                <a:gd name="T39" fmla="*/ 9327 h 21600"/>
                <a:gd name="T40" fmla="*/ 6678 w 21600"/>
                <a:gd name="T41" fmla="*/ 9000 h 21600"/>
                <a:gd name="T42" fmla="*/ 8718 w 21600"/>
                <a:gd name="T43" fmla="*/ 9286 h 21600"/>
                <a:gd name="T44" fmla="*/ 10898 w 21600"/>
                <a:gd name="T45" fmla="*/ 10105 h 21600"/>
                <a:gd name="T46" fmla="*/ 13524 w 21600"/>
                <a:gd name="T47" fmla="*/ 11618 h 21600"/>
                <a:gd name="T48" fmla="*/ 15704 w 21600"/>
                <a:gd name="T49" fmla="*/ 13459 h 21600"/>
                <a:gd name="T50" fmla="*/ 16710 w 21600"/>
                <a:gd name="T51" fmla="*/ 14359 h 21600"/>
                <a:gd name="T52" fmla="*/ 17548 w 21600"/>
                <a:gd name="T53" fmla="*/ 15259 h 21600"/>
                <a:gd name="T54" fmla="*/ 18778 w 21600"/>
                <a:gd name="T55" fmla="*/ 16732 h 21600"/>
                <a:gd name="T56" fmla="*/ 19560 w 21600"/>
                <a:gd name="T57" fmla="*/ 17795 h 21600"/>
                <a:gd name="T58" fmla="*/ 20231 w 21600"/>
                <a:gd name="T59" fmla="*/ 18900 h 21600"/>
                <a:gd name="T60" fmla="*/ 20957 w 21600"/>
                <a:gd name="T61" fmla="*/ 20209 h 21600"/>
                <a:gd name="T62" fmla="*/ 21600 w 21600"/>
                <a:gd name="T63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600" y="20209"/>
                  </a:lnTo>
                  <a:lnTo>
                    <a:pt x="21237" y="19186"/>
                  </a:lnTo>
                  <a:lnTo>
                    <a:pt x="20929" y="18327"/>
                  </a:lnTo>
                  <a:lnTo>
                    <a:pt x="20482" y="17305"/>
                  </a:lnTo>
                  <a:lnTo>
                    <a:pt x="19923" y="16200"/>
                  </a:lnTo>
                  <a:lnTo>
                    <a:pt x="19420" y="15423"/>
                  </a:lnTo>
                  <a:lnTo>
                    <a:pt x="18750" y="14236"/>
                  </a:lnTo>
                  <a:lnTo>
                    <a:pt x="18079" y="13132"/>
                  </a:lnTo>
                  <a:lnTo>
                    <a:pt x="17409" y="12150"/>
                  </a:lnTo>
                  <a:lnTo>
                    <a:pt x="16514" y="10923"/>
                  </a:lnTo>
                  <a:lnTo>
                    <a:pt x="15844" y="10105"/>
                  </a:lnTo>
                  <a:lnTo>
                    <a:pt x="14894" y="9082"/>
                  </a:lnTo>
                  <a:lnTo>
                    <a:pt x="13832" y="7977"/>
                  </a:lnTo>
                  <a:lnTo>
                    <a:pt x="12770" y="6995"/>
                  </a:lnTo>
                  <a:lnTo>
                    <a:pt x="11988" y="6259"/>
                  </a:lnTo>
                  <a:lnTo>
                    <a:pt x="10814" y="5564"/>
                  </a:lnTo>
                  <a:lnTo>
                    <a:pt x="9864" y="5073"/>
                  </a:lnTo>
                  <a:lnTo>
                    <a:pt x="8830" y="4664"/>
                  </a:lnTo>
                  <a:lnTo>
                    <a:pt x="7768" y="4377"/>
                  </a:lnTo>
                  <a:lnTo>
                    <a:pt x="7125" y="4336"/>
                  </a:lnTo>
                  <a:lnTo>
                    <a:pt x="6371" y="4377"/>
                  </a:lnTo>
                  <a:lnTo>
                    <a:pt x="5784" y="4459"/>
                  </a:lnTo>
                  <a:lnTo>
                    <a:pt x="5225" y="4582"/>
                  </a:lnTo>
                  <a:lnTo>
                    <a:pt x="4778" y="4745"/>
                  </a:lnTo>
                  <a:lnTo>
                    <a:pt x="4778" y="0"/>
                  </a:lnTo>
                  <a:lnTo>
                    <a:pt x="4219" y="1227"/>
                  </a:lnTo>
                  <a:lnTo>
                    <a:pt x="3493" y="2577"/>
                  </a:lnTo>
                  <a:lnTo>
                    <a:pt x="2738" y="3968"/>
                  </a:lnTo>
                  <a:lnTo>
                    <a:pt x="1872" y="5277"/>
                  </a:lnTo>
                  <a:lnTo>
                    <a:pt x="1202" y="5973"/>
                  </a:lnTo>
                  <a:lnTo>
                    <a:pt x="0" y="6750"/>
                  </a:lnTo>
                  <a:lnTo>
                    <a:pt x="0" y="7773"/>
                  </a:lnTo>
                  <a:lnTo>
                    <a:pt x="978" y="8468"/>
                  </a:lnTo>
                  <a:lnTo>
                    <a:pt x="1984" y="9286"/>
                  </a:lnTo>
                  <a:lnTo>
                    <a:pt x="3018" y="10432"/>
                  </a:lnTo>
                  <a:lnTo>
                    <a:pt x="3828" y="11536"/>
                  </a:lnTo>
                  <a:lnTo>
                    <a:pt x="4303" y="12232"/>
                  </a:lnTo>
                  <a:lnTo>
                    <a:pt x="4806" y="13377"/>
                  </a:lnTo>
                  <a:lnTo>
                    <a:pt x="4806" y="9327"/>
                  </a:lnTo>
                  <a:lnTo>
                    <a:pt x="5784" y="9082"/>
                  </a:lnTo>
                  <a:lnTo>
                    <a:pt x="6678" y="9000"/>
                  </a:lnTo>
                  <a:lnTo>
                    <a:pt x="7684" y="9082"/>
                  </a:lnTo>
                  <a:lnTo>
                    <a:pt x="8718" y="9286"/>
                  </a:lnTo>
                  <a:lnTo>
                    <a:pt x="9864" y="9695"/>
                  </a:lnTo>
                  <a:lnTo>
                    <a:pt x="10898" y="10105"/>
                  </a:lnTo>
                  <a:lnTo>
                    <a:pt x="12351" y="10882"/>
                  </a:lnTo>
                  <a:lnTo>
                    <a:pt x="13524" y="11618"/>
                  </a:lnTo>
                  <a:lnTo>
                    <a:pt x="14586" y="12436"/>
                  </a:lnTo>
                  <a:lnTo>
                    <a:pt x="15704" y="13459"/>
                  </a:lnTo>
                  <a:lnTo>
                    <a:pt x="16235" y="13909"/>
                  </a:lnTo>
                  <a:lnTo>
                    <a:pt x="16710" y="14359"/>
                  </a:lnTo>
                  <a:lnTo>
                    <a:pt x="17129" y="14809"/>
                  </a:lnTo>
                  <a:lnTo>
                    <a:pt x="17548" y="15259"/>
                  </a:lnTo>
                  <a:lnTo>
                    <a:pt x="18275" y="16077"/>
                  </a:lnTo>
                  <a:lnTo>
                    <a:pt x="18778" y="16732"/>
                  </a:lnTo>
                  <a:lnTo>
                    <a:pt x="19169" y="17264"/>
                  </a:lnTo>
                  <a:lnTo>
                    <a:pt x="19560" y="17795"/>
                  </a:lnTo>
                  <a:lnTo>
                    <a:pt x="19923" y="18409"/>
                  </a:lnTo>
                  <a:lnTo>
                    <a:pt x="20231" y="18900"/>
                  </a:lnTo>
                  <a:lnTo>
                    <a:pt x="20594" y="19473"/>
                  </a:lnTo>
                  <a:lnTo>
                    <a:pt x="20957" y="20209"/>
                  </a:lnTo>
                  <a:lnTo>
                    <a:pt x="21293" y="20905"/>
                  </a:lnTo>
                  <a:lnTo>
                    <a:pt x="21600" y="21600"/>
                  </a:lnTo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8440" name="Freeform 8">
              <a:extLst>
                <a:ext uri="{FF2B5EF4-FFF2-40B4-BE49-F238E27FC236}">
                  <a16:creationId xmlns:a16="http://schemas.microsoft.com/office/drawing/2014/main" id="{6FF98A9D-B49D-40C8-95A5-F65E2DDDD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29" cy="636"/>
            </a:xfrm>
            <a:custGeom>
              <a:avLst/>
              <a:gdLst>
                <a:gd name="T0" fmla="*/ 21600 w 21600"/>
                <a:gd name="T1" fmla="*/ 21600 h 21600"/>
                <a:gd name="T2" fmla="*/ 21321 w 21600"/>
                <a:gd name="T3" fmla="*/ 20393 h 21600"/>
                <a:gd name="T4" fmla="*/ 21041 w 21600"/>
                <a:gd name="T5" fmla="*/ 19401 h 21600"/>
                <a:gd name="T6" fmla="*/ 20790 w 21600"/>
                <a:gd name="T7" fmla="*/ 18582 h 21600"/>
                <a:gd name="T8" fmla="*/ 20454 w 21600"/>
                <a:gd name="T9" fmla="*/ 17634 h 21600"/>
                <a:gd name="T10" fmla="*/ 19951 w 21600"/>
                <a:gd name="T11" fmla="*/ 16340 h 21600"/>
                <a:gd name="T12" fmla="*/ 19420 w 21600"/>
                <a:gd name="T13" fmla="*/ 15176 h 21600"/>
                <a:gd name="T14" fmla="*/ 18750 w 21600"/>
                <a:gd name="T15" fmla="*/ 14012 h 21600"/>
                <a:gd name="T16" fmla="*/ 18079 w 21600"/>
                <a:gd name="T17" fmla="*/ 12848 h 21600"/>
                <a:gd name="T18" fmla="*/ 17381 w 21600"/>
                <a:gd name="T19" fmla="*/ 11813 h 21600"/>
                <a:gd name="T20" fmla="*/ 16514 w 21600"/>
                <a:gd name="T21" fmla="*/ 10520 h 21600"/>
                <a:gd name="T22" fmla="*/ 15844 w 21600"/>
                <a:gd name="T23" fmla="*/ 9701 h 21600"/>
                <a:gd name="T24" fmla="*/ 14866 w 21600"/>
                <a:gd name="T25" fmla="*/ 8666 h 21600"/>
                <a:gd name="T26" fmla="*/ 13832 w 21600"/>
                <a:gd name="T27" fmla="*/ 7502 h 21600"/>
                <a:gd name="T28" fmla="*/ 12770 w 21600"/>
                <a:gd name="T29" fmla="*/ 6467 h 21600"/>
                <a:gd name="T30" fmla="*/ 11960 w 21600"/>
                <a:gd name="T31" fmla="*/ 5734 h 21600"/>
                <a:gd name="T32" fmla="*/ 10814 w 21600"/>
                <a:gd name="T33" fmla="*/ 5001 h 21600"/>
                <a:gd name="T34" fmla="*/ 9836 w 21600"/>
                <a:gd name="T35" fmla="*/ 4484 h 21600"/>
                <a:gd name="T36" fmla="*/ 8830 w 21600"/>
                <a:gd name="T37" fmla="*/ 4053 h 21600"/>
                <a:gd name="T38" fmla="*/ 7740 w 21600"/>
                <a:gd name="T39" fmla="*/ 3751 h 21600"/>
                <a:gd name="T40" fmla="*/ 7098 w 21600"/>
                <a:gd name="T41" fmla="*/ 3708 h 21600"/>
                <a:gd name="T42" fmla="*/ 6343 w 21600"/>
                <a:gd name="T43" fmla="*/ 3751 h 21600"/>
                <a:gd name="T44" fmla="*/ 5756 w 21600"/>
                <a:gd name="T45" fmla="*/ 3837 h 21600"/>
                <a:gd name="T46" fmla="*/ 5225 w 21600"/>
                <a:gd name="T47" fmla="*/ 3966 h 21600"/>
                <a:gd name="T48" fmla="*/ 4750 w 21600"/>
                <a:gd name="T49" fmla="*/ 4182 h 21600"/>
                <a:gd name="T50" fmla="*/ 4750 w 21600"/>
                <a:gd name="T51" fmla="*/ 0 h 21600"/>
                <a:gd name="T52" fmla="*/ 4136 w 21600"/>
                <a:gd name="T53" fmla="*/ 1293 h 21600"/>
                <a:gd name="T54" fmla="*/ 3521 w 21600"/>
                <a:gd name="T55" fmla="*/ 2501 h 21600"/>
                <a:gd name="T56" fmla="*/ 2710 w 21600"/>
                <a:gd name="T57" fmla="*/ 4053 h 21600"/>
                <a:gd name="T58" fmla="*/ 1816 w 21600"/>
                <a:gd name="T59" fmla="*/ 5303 h 21600"/>
                <a:gd name="T60" fmla="*/ 1034 w 21600"/>
                <a:gd name="T61" fmla="*/ 6338 h 21600"/>
                <a:gd name="T62" fmla="*/ 0 w 21600"/>
                <a:gd name="T63" fmla="*/ 7286 h 21600"/>
                <a:gd name="T64" fmla="*/ 950 w 21600"/>
                <a:gd name="T65" fmla="*/ 8019 h 21600"/>
                <a:gd name="T66" fmla="*/ 1956 w 21600"/>
                <a:gd name="T67" fmla="*/ 8881 h 21600"/>
                <a:gd name="T68" fmla="*/ 2990 w 21600"/>
                <a:gd name="T69" fmla="*/ 10002 h 21600"/>
                <a:gd name="T70" fmla="*/ 3800 w 21600"/>
                <a:gd name="T71" fmla="*/ 11166 h 21600"/>
                <a:gd name="T72" fmla="*/ 4275 w 21600"/>
                <a:gd name="T73" fmla="*/ 11899 h 21600"/>
                <a:gd name="T74" fmla="*/ 4806 w 21600"/>
                <a:gd name="T75" fmla="*/ 13107 h 21600"/>
                <a:gd name="T76" fmla="*/ 4806 w 21600"/>
                <a:gd name="T77" fmla="*/ 8925 h 21600"/>
                <a:gd name="T78" fmla="*/ 5756 w 21600"/>
                <a:gd name="T79" fmla="*/ 8666 h 21600"/>
                <a:gd name="T80" fmla="*/ 6650 w 21600"/>
                <a:gd name="T81" fmla="*/ 8537 h 21600"/>
                <a:gd name="T82" fmla="*/ 7684 w 21600"/>
                <a:gd name="T83" fmla="*/ 8666 h 21600"/>
                <a:gd name="T84" fmla="*/ 8690 w 21600"/>
                <a:gd name="T85" fmla="*/ 8881 h 21600"/>
                <a:gd name="T86" fmla="*/ 9836 w 21600"/>
                <a:gd name="T87" fmla="*/ 9269 h 21600"/>
                <a:gd name="T88" fmla="*/ 10870 w 21600"/>
                <a:gd name="T89" fmla="*/ 9701 h 21600"/>
                <a:gd name="T90" fmla="*/ 12323 w 21600"/>
                <a:gd name="T91" fmla="*/ 10477 h 21600"/>
                <a:gd name="T92" fmla="*/ 13524 w 21600"/>
                <a:gd name="T93" fmla="*/ 11253 h 21600"/>
                <a:gd name="T94" fmla="*/ 14558 w 21600"/>
                <a:gd name="T95" fmla="*/ 12115 h 21600"/>
                <a:gd name="T96" fmla="*/ 15704 w 21600"/>
                <a:gd name="T97" fmla="*/ 13150 h 21600"/>
                <a:gd name="T98" fmla="*/ 16207 w 21600"/>
                <a:gd name="T99" fmla="*/ 13624 h 21600"/>
                <a:gd name="T100" fmla="*/ 16710 w 21600"/>
                <a:gd name="T101" fmla="*/ 14098 h 21600"/>
                <a:gd name="T102" fmla="*/ 17129 w 21600"/>
                <a:gd name="T103" fmla="*/ 14572 h 21600"/>
                <a:gd name="T104" fmla="*/ 17520 w 21600"/>
                <a:gd name="T105" fmla="*/ 15047 h 21600"/>
                <a:gd name="T106" fmla="*/ 18275 w 21600"/>
                <a:gd name="T107" fmla="*/ 15866 h 21600"/>
                <a:gd name="T108" fmla="*/ 18778 w 21600"/>
                <a:gd name="T109" fmla="*/ 16556 h 21600"/>
                <a:gd name="T110" fmla="*/ 19169 w 21600"/>
                <a:gd name="T111" fmla="*/ 17116 h 21600"/>
                <a:gd name="T112" fmla="*/ 19532 w 21600"/>
                <a:gd name="T113" fmla="*/ 17677 h 21600"/>
                <a:gd name="T114" fmla="*/ 19895 w 21600"/>
                <a:gd name="T115" fmla="*/ 18280 h 21600"/>
                <a:gd name="T116" fmla="*/ 20203 w 21600"/>
                <a:gd name="T117" fmla="*/ 18798 h 21600"/>
                <a:gd name="T118" fmla="*/ 20566 w 21600"/>
                <a:gd name="T119" fmla="*/ 19401 h 21600"/>
                <a:gd name="T120" fmla="*/ 20929 w 21600"/>
                <a:gd name="T121" fmla="*/ 20134 h 21600"/>
                <a:gd name="T122" fmla="*/ 21293 w 21600"/>
                <a:gd name="T123" fmla="*/ 20867 h 21600"/>
                <a:gd name="T124" fmla="*/ 21600 w 21600"/>
                <a:gd name="T12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321" y="20393"/>
                  </a:lnTo>
                  <a:lnTo>
                    <a:pt x="21041" y="19401"/>
                  </a:lnTo>
                  <a:lnTo>
                    <a:pt x="20790" y="18582"/>
                  </a:lnTo>
                  <a:lnTo>
                    <a:pt x="20454" y="17634"/>
                  </a:lnTo>
                  <a:lnTo>
                    <a:pt x="19951" y="16340"/>
                  </a:lnTo>
                  <a:lnTo>
                    <a:pt x="19420" y="15176"/>
                  </a:lnTo>
                  <a:lnTo>
                    <a:pt x="18750" y="14012"/>
                  </a:lnTo>
                  <a:lnTo>
                    <a:pt x="18079" y="12848"/>
                  </a:lnTo>
                  <a:lnTo>
                    <a:pt x="17381" y="11813"/>
                  </a:lnTo>
                  <a:lnTo>
                    <a:pt x="16514" y="10520"/>
                  </a:lnTo>
                  <a:lnTo>
                    <a:pt x="15844" y="9701"/>
                  </a:lnTo>
                  <a:lnTo>
                    <a:pt x="14866" y="8666"/>
                  </a:lnTo>
                  <a:lnTo>
                    <a:pt x="13832" y="7502"/>
                  </a:lnTo>
                  <a:lnTo>
                    <a:pt x="12770" y="6467"/>
                  </a:lnTo>
                  <a:lnTo>
                    <a:pt x="11960" y="5734"/>
                  </a:lnTo>
                  <a:lnTo>
                    <a:pt x="10814" y="5001"/>
                  </a:lnTo>
                  <a:lnTo>
                    <a:pt x="9836" y="4484"/>
                  </a:lnTo>
                  <a:lnTo>
                    <a:pt x="8830" y="4053"/>
                  </a:lnTo>
                  <a:lnTo>
                    <a:pt x="7740" y="3751"/>
                  </a:lnTo>
                  <a:lnTo>
                    <a:pt x="7098" y="3708"/>
                  </a:lnTo>
                  <a:lnTo>
                    <a:pt x="6343" y="3751"/>
                  </a:lnTo>
                  <a:lnTo>
                    <a:pt x="5756" y="3837"/>
                  </a:lnTo>
                  <a:lnTo>
                    <a:pt x="5225" y="3966"/>
                  </a:lnTo>
                  <a:lnTo>
                    <a:pt x="4750" y="4182"/>
                  </a:lnTo>
                  <a:lnTo>
                    <a:pt x="4750" y="0"/>
                  </a:lnTo>
                  <a:lnTo>
                    <a:pt x="4136" y="1293"/>
                  </a:lnTo>
                  <a:lnTo>
                    <a:pt x="3521" y="2501"/>
                  </a:lnTo>
                  <a:lnTo>
                    <a:pt x="2710" y="4053"/>
                  </a:lnTo>
                  <a:lnTo>
                    <a:pt x="1816" y="5303"/>
                  </a:lnTo>
                  <a:lnTo>
                    <a:pt x="1034" y="6338"/>
                  </a:lnTo>
                  <a:lnTo>
                    <a:pt x="0" y="7286"/>
                  </a:lnTo>
                  <a:lnTo>
                    <a:pt x="950" y="8019"/>
                  </a:lnTo>
                  <a:lnTo>
                    <a:pt x="1956" y="8881"/>
                  </a:lnTo>
                  <a:lnTo>
                    <a:pt x="2990" y="10002"/>
                  </a:lnTo>
                  <a:lnTo>
                    <a:pt x="3800" y="11166"/>
                  </a:lnTo>
                  <a:lnTo>
                    <a:pt x="4275" y="11899"/>
                  </a:lnTo>
                  <a:lnTo>
                    <a:pt x="4806" y="13107"/>
                  </a:lnTo>
                  <a:lnTo>
                    <a:pt x="4806" y="8925"/>
                  </a:lnTo>
                  <a:lnTo>
                    <a:pt x="5756" y="8666"/>
                  </a:lnTo>
                  <a:lnTo>
                    <a:pt x="6650" y="8537"/>
                  </a:lnTo>
                  <a:lnTo>
                    <a:pt x="7684" y="8666"/>
                  </a:lnTo>
                  <a:lnTo>
                    <a:pt x="8690" y="8881"/>
                  </a:lnTo>
                  <a:lnTo>
                    <a:pt x="9836" y="9269"/>
                  </a:lnTo>
                  <a:lnTo>
                    <a:pt x="10870" y="9701"/>
                  </a:lnTo>
                  <a:lnTo>
                    <a:pt x="12323" y="10477"/>
                  </a:lnTo>
                  <a:lnTo>
                    <a:pt x="13524" y="11253"/>
                  </a:lnTo>
                  <a:lnTo>
                    <a:pt x="14558" y="12115"/>
                  </a:lnTo>
                  <a:lnTo>
                    <a:pt x="15704" y="13150"/>
                  </a:lnTo>
                  <a:lnTo>
                    <a:pt x="16207" y="13624"/>
                  </a:lnTo>
                  <a:lnTo>
                    <a:pt x="16710" y="14098"/>
                  </a:lnTo>
                  <a:lnTo>
                    <a:pt x="17129" y="14572"/>
                  </a:lnTo>
                  <a:lnTo>
                    <a:pt x="17520" y="15047"/>
                  </a:lnTo>
                  <a:lnTo>
                    <a:pt x="18275" y="15866"/>
                  </a:lnTo>
                  <a:lnTo>
                    <a:pt x="18778" y="16556"/>
                  </a:lnTo>
                  <a:lnTo>
                    <a:pt x="19169" y="17116"/>
                  </a:lnTo>
                  <a:lnTo>
                    <a:pt x="19532" y="17677"/>
                  </a:lnTo>
                  <a:lnTo>
                    <a:pt x="19895" y="18280"/>
                  </a:lnTo>
                  <a:lnTo>
                    <a:pt x="20203" y="18798"/>
                  </a:lnTo>
                  <a:lnTo>
                    <a:pt x="20566" y="19401"/>
                  </a:lnTo>
                  <a:lnTo>
                    <a:pt x="20929" y="20134"/>
                  </a:lnTo>
                  <a:lnTo>
                    <a:pt x="21293" y="20867"/>
                  </a:lnTo>
                  <a:lnTo>
                    <a:pt x="21600" y="2160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8444" name="Group 12">
            <a:extLst>
              <a:ext uri="{FF2B5EF4-FFF2-40B4-BE49-F238E27FC236}">
                <a16:creationId xmlns:a16="http://schemas.microsoft.com/office/drawing/2014/main" id="{5A15AD65-928C-44C7-B245-BC996C440F01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4875433" y="4063716"/>
            <a:ext cx="1218126" cy="992383"/>
            <a:chOff x="0" y="0"/>
            <a:chExt cx="830" cy="676"/>
          </a:xfrm>
        </p:grpSpPr>
        <p:sp>
          <p:nvSpPr>
            <p:cNvPr id="18442" name="Freeform 10">
              <a:extLst>
                <a:ext uri="{FF2B5EF4-FFF2-40B4-BE49-F238E27FC236}">
                  <a16:creationId xmlns:a16="http://schemas.microsoft.com/office/drawing/2014/main" id="{AAE25AD0-1237-4C43-9018-37C633741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6"/>
              <a:ext cx="830" cy="670"/>
            </a:xfrm>
            <a:custGeom>
              <a:avLst/>
              <a:gdLst>
                <a:gd name="T0" fmla="*/ 21600 w 21600"/>
                <a:gd name="T1" fmla="*/ 20209 h 21600"/>
                <a:gd name="T2" fmla="*/ 20929 w 21600"/>
                <a:gd name="T3" fmla="*/ 18327 h 21600"/>
                <a:gd name="T4" fmla="*/ 19923 w 21600"/>
                <a:gd name="T5" fmla="*/ 16200 h 21600"/>
                <a:gd name="T6" fmla="*/ 18750 w 21600"/>
                <a:gd name="T7" fmla="*/ 14236 h 21600"/>
                <a:gd name="T8" fmla="*/ 17409 w 21600"/>
                <a:gd name="T9" fmla="*/ 12150 h 21600"/>
                <a:gd name="T10" fmla="*/ 15844 w 21600"/>
                <a:gd name="T11" fmla="*/ 10105 h 21600"/>
                <a:gd name="T12" fmla="*/ 13832 w 21600"/>
                <a:gd name="T13" fmla="*/ 7977 h 21600"/>
                <a:gd name="T14" fmla="*/ 11988 w 21600"/>
                <a:gd name="T15" fmla="*/ 6259 h 21600"/>
                <a:gd name="T16" fmla="*/ 9864 w 21600"/>
                <a:gd name="T17" fmla="*/ 5073 h 21600"/>
                <a:gd name="T18" fmla="*/ 7768 w 21600"/>
                <a:gd name="T19" fmla="*/ 4377 h 21600"/>
                <a:gd name="T20" fmla="*/ 6371 w 21600"/>
                <a:gd name="T21" fmla="*/ 4377 h 21600"/>
                <a:gd name="T22" fmla="*/ 5225 w 21600"/>
                <a:gd name="T23" fmla="*/ 4582 h 21600"/>
                <a:gd name="T24" fmla="*/ 4778 w 21600"/>
                <a:gd name="T25" fmla="*/ 0 h 21600"/>
                <a:gd name="T26" fmla="*/ 3493 w 21600"/>
                <a:gd name="T27" fmla="*/ 2577 h 21600"/>
                <a:gd name="T28" fmla="*/ 1872 w 21600"/>
                <a:gd name="T29" fmla="*/ 5277 h 21600"/>
                <a:gd name="T30" fmla="*/ 0 w 21600"/>
                <a:gd name="T31" fmla="*/ 6750 h 21600"/>
                <a:gd name="T32" fmla="*/ 978 w 21600"/>
                <a:gd name="T33" fmla="*/ 8468 h 21600"/>
                <a:gd name="T34" fmla="*/ 3018 w 21600"/>
                <a:gd name="T35" fmla="*/ 10432 h 21600"/>
                <a:gd name="T36" fmla="*/ 4303 w 21600"/>
                <a:gd name="T37" fmla="*/ 12232 h 21600"/>
                <a:gd name="T38" fmla="*/ 4806 w 21600"/>
                <a:gd name="T39" fmla="*/ 9327 h 21600"/>
                <a:gd name="T40" fmla="*/ 6678 w 21600"/>
                <a:gd name="T41" fmla="*/ 9000 h 21600"/>
                <a:gd name="T42" fmla="*/ 8718 w 21600"/>
                <a:gd name="T43" fmla="*/ 9286 h 21600"/>
                <a:gd name="T44" fmla="*/ 10898 w 21600"/>
                <a:gd name="T45" fmla="*/ 10105 h 21600"/>
                <a:gd name="T46" fmla="*/ 13524 w 21600"/>
                <a:gd name="T47" fmla="*/ 11618 h 21600"/>
                <a:gd name="T48" fmla="*/ 15704 w 21600"/>
                <a:gd name="T49" fmla="*/ 13459 h 21600"/>
                <a:gd name="T50" fmla="*/ 16710 w 21600"/>
                <a:gd name="T51" fmla="*/ 14359 h 21600"/>
                <a:gd name="T52" fmla="*/ 17548 w 21600"/>
                <a:gd name="T53" fmla="*/ 15259 h 21600"/>
                <a:gd name="T54" fmla="*/ 18778 w 21600"/>
                <a:gd name="T55" fmla="*/ 16732 h 21600"/>
                <a:gd name="T56" fmla="*/ 19560 w 21600"/>
                <a:gd name="T57" fmla="*/ 17795 h 21600"/>
                <a:gd name="T58" fmla="*/ 20231 w 21600"/>
                <a:gd name="T59" fmla="*/ 18900 h 21600"/>
                <a:gd name="T60" fmla="*/ 20957 w 21600"/>
                <a:gd name="T61" fmla="*/ 20209 h 21600"/>
                <a:gd name="T62" fmla="*/ 21600 w 21600"/>
                <a:gd name="T63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600" y="20209"/>
                  </a:lnTo>
                  <a:lnTo>
                    <a:pt x="21237" y="19186"/>
                  </a:lnTo>
                  <a:lnTo>
                    <a:pt x="20929" y="18327"/>
                  </a:lnTo>
                  <a:lnTo>
                    <a:pt x="20482" y="17305"/>
                  </a:lnTo>
                  <a:lnTo>
                    <a:pt x="19923" y="16200"/>
                  </a:lnTo>
                  <a:lnTo>
                    <a:pt x="19420" y="15423"/>
                  </a:lnTo>
                  <a:lnTo>
                    <a:pt x="18750" y="14236"/>
                  </a:lnTo>
                  <a:lnTo>
                    <a:pt x="18079" y="13132"/>
                  </a:lnTo>
                  <a:lnTo>
                    <a:pt x="17409" y="12150"/>
                  </a:lnTo>
                  <a:lnTo>
                    <a:pt x="16514" y="10923"/>
                  </a:lnTo>
                  <a:lnTo>
                    <a:pt x="15844" y="10105"/>
                  </a:lnTo>
                  <a:lnTo>
                    <a:pt x="14894" y="9082"/>
                  </a:lnTo>
                  <a:lnTo>
                    <a:pt x="13832" y="7977"/>
                  </a:lnTo>
                  <a:lnTo>
                    <a:pt x="12770" y="6995"/>
                  </a:lnTo>
                  <a:lnTo>
                    <a:pt x="11988" y="6259"/>
                  </a:lnTo>
                  <a:lnTo>
                    <a:pt x="10814" y="5564"/>
                  </a:lnTo>
                  <a:lnTo>
                    <a:pt x="9864" y="5073"/>
                  </a:lnTo>
                  <a:lnTo>
                    <a:pt x="8830" y="4664"/>
                  </a:lnTo>
                  <a:lnTo>
                    <a:pt x="7768" y="4377"/>
                  </a:lnTo>
                  <a:lnTo>
                    <a:pt x="7125" y="4336"/>
                  </a:lnTo>
                  <a:lnTo>
                    <a:pt x="6371" y="4377"/>
                  </a:lnTo>
                  <a:lnTo>
                    <a:pt x="5784" y="4459"/>
                  </a:lnTo>
                  <a:lnTo>
                    <a:pt x="5225" y="4582"/>
                  </a:lnTo>
                  <a:lnTo>
                    <a:pt x="4778" y="4745"/>
                  </a:lnTo>
                  <a:lnTo>
                    <a:pt x="4778" y="0"/>
                  </a:lnTo>
                  <a:lnTo>
                    <a:pt x="4219" y="1227"/>
                  </a:lnTo>
                  <a:lnTo>
                    <a:pt x="3493" y="2577"/>
                  </a:lnTo>
                  <a:lnTo>
                    <a:pt x="2738" y="3968"/>
                  </a:lnTo>
                  <a:lnTo>
                    <a:pt x="1872" y="5277"/>
                  </a:lnTo>
                  <a:lnTo>
                    <a:pt x="1202" y="5973"/>
                  </a:lnTo>
                  <a:lnTo>
                    <a:pt x="0" y="6750"/>
                  </a:lnTo>
                  <a:lnTo>
                    <a:pt x="0" y="7773"/>
                  </a:lnTo>
                  <a:lnTo>
                    <a:pt x="978" y="8468"/>
                  </a:lnTo>
                  <a:lnTo>
                    <a:pt x="1984" y="9286"/>
                  </a:lnTo>
                  <a:lnTo>
                    <a:pt x="3018" y="10432"/>
                  </a:lnTo>
                  <a:lnTo>
                    <a:pt x="3828" y="11536"/>
                  </a:lnTo>
                  <a:lnTo>
                    <a:pt x="4303" y="12232"/>
                  </a:lnTo>
                  <a:lnTo>
                    <a:pt x="4806" y="13377"/>
                  </a:lnTo>
                  <a:lnTo>
                    <a:pt x="4806" y="9327"/>
                  </a:lnTo>
                  <a:lnTo>
                    <a:pt x="5784" y="9082"/>
                  </a:lnTo>
                  <a:lnTo>
                    <a:pt x="6678" y="9000"/>
                  </a:lnTo>
                  <a:lnTo>
                    <a:pt x="7684" y="9082"/>
                  </a:lnTo>
                  <a:lnTo>
                    <a:pt x="8718" y="9286"/>
                  </a:lnTo>
                  <a:lnTo>
                    <a:pt x="9864" y="9695"/>
                  </a:lnTo>
                  <a:lnTo>
                    <a:pt x="10898" y="10105"/>
                  </a:lnTo>
                  <a:lnTo>
                    <a:pt x="12351" y="10882"/>
                  </a:lnTo>
                  <a:lnTo>
                    <a:pt x="13524" y="11618"/>
                  </a:lnTo>
                  <a:lnTo>
                    <a:pt x="14586" y="12436"/>
                  </a:lnTo>
                  <a:lnTo>
                    <a:pt x="15704" y="13459"/>
                  </a:lnTo>
                  <a:lnTo>
                    <a:pt x="16235" y="13909"/>
                  </a:lnTo>
                  <a:lnTo>
                    <a:pt x="16710" y="14359"/>
                  </a:lnTo>
                  <a:lnTo>
                    <a:pt x="17129" y="14809"/>
                  </a:lnTo>
                  <a:lnTo>
                    <a:pt x="17548" y="15259"/>
                  </a:lnTo>
                  <a:lnTo>
                    <a:pt x="18275" y="16077"/>
                  </a:lnTo>
                  <a:lnTo>
                    <a:pt x="18778" y="16732"/>
                  </a:lnTo>
                  <a:lnTo>
                    <a:pt x="19169" y="17264"/>
                  </a:lnTo>
                  <a:lnTo>
                    <a:pt x="19560" y="17795"/>
                  </a:lnTo>
                  <a:lnTo>
                    <a:pt x="19923" y="18409"/>
                  </a:lnTo>
                  <a:lnTo>
                    <a:pt x="20231" y="18900"/>
                  </a:lnTo>
                  <a:lnTo>
                    <a:pt x="20594" y="19473"/>
                  </a:lnTo>
                  <a:lnTo>
                    <a:pt x="20957" y="20209"/>
                  </a:lnTo>
                  <a:lnTo>
                    <a:pt x="21293" y="20905"/>
                  </a:lnTo>
                  <a:lnTo>
                    <a:pt x="21600" y="21600"/>
                  </a:lnTo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8443" name="Freeform 11">
              <a:extLst>
                <a:ext uri="{FF2B5EF4-FFF2-40B4-BE49-F238E27FC236}">
                  <a16:creationId xmlns:a16="http://schemas.microsoft.com/office/drawing/2014/main" id="{C7C1B7A7-5B8E-4CF5-ABDC-2279F3B8B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30" cy="636"/>
            </a:xfrm>
            <a:custGeom>
              <a:avLst/>
              <a:gdLst>
                <a:gd name="T0" fmla="*/ 21600 w 21600"/>
                <a:gd name="T1" fmla="*/ 21600 h 21600"/>
                <a:gd name="T2" fmla="*/ 21321 w 21600"/>
                <a:gd name="T3" fmla="*/ 20393 h 21600"/>
                <a:gd name="T4" fmla="*/ 21041 w 21600"/>
                <a:gd name="T5" fmla="*/ 19401 h 21600"/>
                <a:gd name="T6" fmla="*/ 20790 w 21600"/>
                <a:gd name="T7" fmla="*/ 18582 h 21600"/>
                <a:gd name="T8" fmla="*/ 20454 w 21600"/>
                <a:gd name="T9" fmla="*/ 17634 h 21600"/>
                <a:gd name="T10" fmla="*/ 19951 w 21600"/>
                <a:gd name="T11" fmla="*/ 16340 h 21600"/>
                <a:gd name="T12" fmla="*/ 19420 w 21600"/>
                <a:gd name="T13" fmla="*/ 15176 h 21600"/>
                <a:gd name="T14" fmla="*/ 18750 w 21600"/>
                <a:gd name="T15" fmla="*/ 14012 h 21600"/>
                <a:gd name="T16" fmla="*/ 18079 w 21600"/>
                <a:gd name="T17" fmla="*/ 12848 h 21600"/>
                <a:gd name="T18" fmla="*/ 17381 w 21600"/>
                <a:gd name="T19" fmla="*/ 11813 h 21600"/>
                <a:gd name="T20" fmla="*/ 16514 w 21600"/>
                <a:gd name="T21" fmla="*/ 10520 h 21600"/>
                <a:gd name="T22" fmla="*/ 15844 w 21600"/>
                <a:gd name="T23" fmla="*/ 9701 h 21600"/>
                <a:gd name="T24" fmla="*/ 14866 w 21600"/>
                <a:gd name="T25" fmla="*/ 8666 h 21600"/>
                <a:gd name="T26" fmla="*/ 13832 w 21600"/>
                <a:gd name="T27" fmla="*/ 7502 h 21600"/>
                <a:gd name="T28" fmla="*/ 12770 w 21600"/>
                <a:gd name="T29" fmla="*/ 6467 h 21600"/>
                <a:gd name="T30" fmla="*/ 11960 w 21600"/>
                <a:gd name="T31" fmla="*/ 5734 h 21600"/>
                <a:gd name="T32" fmla="*/ 10814 w 21600"/>
                <a:gd name="T33" fmla="*/ 5001 h 21600"/>
                <a:gd name="T34" fmla="*/ 9836 w 21600"/>
                <a:gd name="T35" fmla="*/ 4484 h 21600"/>
                <a:gd name="T36" fmla="*/ 8830 w 21600"/>
                <a:gd name="T37" fmla="*/ 4053 h 21600"/>
                <a:gd name="T38" fmla="*/ 7740 w 21600"/>
                <a:gd name="T39" fmla="*/ 3751 h 21600"/>
                <a:gd name="T40" fmla="*/ 7098 w 21600"/>
                <a:gd name="T41" fmla="*/ 3708 h 21600"/>
                <a:gd name="T42" fmla="*/ 6343 w 21600"/>
                <a:gd name="T43" fmla="*/ 3751 h 21600"/>
                <a:gd name="T44" fmla="*/ 5756 w 21600"/>
                <a:gd name="T45" fmla="*/ 3837 h 21600"/>
                <a:gd name="T46" fmla="*/ 5225 w 21600"/>
                <a:gd name="T47" fmla="*/ 3966 h 21600"/>
                <a:gd name="T48" fmla="*/ 4750 w 21600"/>
                <a:gd name="T49" fmla="*/ 4182 h 21600"/>
                <a:gd name="T50" fmla="*/ 4750 w 21600"/>
                <a:gd name="T51" fmla="*/ 0 h 21600"/>
                <a:gd name="T52" fmla="*/ 4136 w 21600"/>
                <a:gd name="T53" fmla="*/ 1293 h 21600"/>
                <a:gd name="T54" fmla="*/ 3521 w 21600"/>
                <a:gd name="T55" fmla="*/ 2501 h 21600"/>
                <a:gd name="T56" fmla="*/ 2710 w 21600"/>
                <a:gd name="T57" fmla="*/ 4053 h 21600"/>
                <a:gd name="T58" fmla="*/ 1816 w 21600"/>
                <a:gd name="T59" fmla="*/ 5303 h 21600"/>
                <a:gd name="T60" fmla="*/ 1034 w 21600"/>
                <a:gd name="T61" fmla="*/ 6338 h 21600"/>
                <a:gd name="T62" fmla="*/ 0 w 21600"/>
                <a:gd name="T63" fmla="*/ 7286 h 21600"/>
                <a:gd name="T64" fmla="*/ 950 w 21600"/>
                <a:gd name="T65" fmla="*/ 8019 h 21600"/>
                <a:gd name="T66" fmla="*/ 1956 w 21600"/>
                <a:gd name="T67" fmla="*/ 8881 h 21600"/>
                <a:gd name="T68" fmla="*/ 2990 w 21600"/>
                <a:gd name="T69" fmla="*/ 10002 h 21600"/>
                <a:gd name="T70" fmla="*/ 3800 w 21600"/>
                <a:gd name="T71" fmla="*/ 11166 h 21600"/>
                <a:gd name="T72" fmla="*/ 4275 w 21600"/>
                <a:gd name="T73" fmla="*/ 11899 h 21600"/>
                <a:gd name="T74" fmla="*/ 4806 w 21600"/>
                <a:gd name="T75" fmla="*/ 13107 h 21600"/>
                <a:gd name="T76" fmla="*/ 4806 w 21600"/>
                <a:gd name="T77" fmla="*/ 8925 h 21600"/>
                <a:gd name="T78" fmla="*/ 5756 w 21600"/>
                <a:gd name="T79" fmla="*/ 8666 h 21600"/>
                <a:gd name="T80" fmla="*/ 6650 w 21600"/>
                <a:gd name="T81" fmla="*/ 8537 h 21600"/>
                <a:gd name="T82" fmla="*/ 7684 w 21600"/>
                <a:gd name="T83" fmla="*/ 8666 h 21600"/>
                <a:gd name="T84" fmla="*/ 8690 w 21600"/>
                <a:gd name="T85" fmla="*/ 8881 h 21600"/>
                <a:gd name="T86" fmla="*/ 9836 w 21600"/>
                <a:gd name="T87" fmla="*/ 9269 h 21600"/>
                <a:gd name="T88" fmla="*/ 10870 w 21600"/>
                <a:gd name="T89" fmla="*/ 9701 h 21600"/>
                <a:gd name="T90" fmla="*/ 12323 w 21600"/>
                <a:gd name="T91" fmla="*/ 10477 h 21600"/>
                <a:gd name="T92" fmla="*/ 13524 w 21600"/>
                <a:gd name="T93" fmla="*/ 11253 h 21600"/>
                <a:gd name="T94" fmla="*/ 14558 w 21600"/>
                <a:gd name="T95" fmla="*/ 12115 h 21600"/>
                <a:gd name="T96" fmla="*/ 15704 w 21600"/>
                <a:gd name="T97" fmla="*/ 13150 h 21600"/>
                <a:gd name="T98" fmla="*/ 16207 w 21600"/>
                <a:gd name="T99" fmla="*/ 13624 h 21600"/>
                <a:gd name="T100" fmla="*/ 16710 w 21600"/>
                <a:gd name="T101" fmla="*/ 14098 h 21600"/>
                <a:gd name="T102" fmla="*/ 17129 w 21600"/>
                <a:gd name="T103" fmla="*/ 14572 h 21600"/>
                <a:gd name="T104" fmla="*/ 17520 w 21600"/>
                <a:gd name="T105" fmla="*/ 15047 h 21600"/>
                <a:gd name="T106" fmla="*/ 18275 w 21600"/>
                <a:gd name="T107" fmla="*/ 15866 h 21600"/>
                <a:gd name="T108" fmla="*/ 18778 w 21600"/>
                <a:gd name="T109" fmla="*/ 16556 h 21600"/>
                <a:gd name="T110" fmla="*/ 19169 w 21600"/>
                <a:gd name="T111" fmla="*/ 17116 h 21600"/>
                <a:gd name="T112" fmla="*/ 19532 w 21600"/>
                <a:gd name="T113" fmla="*/ 17677 h 21600"/>
                <a:gd name="T114" fmla="*/ 19895 w 21600"/>
                <a:gd name="T115" fmla="*/ 18280 h 21600"/>
                <a:gd name="T116" fmla="*/ 20203 w 21600"/>
                <a:gd name="T117" fmla="*/ 18798 h 21600"/>
                <a:gd name="T118" fmla="*/ 20566 w 21600"/>
                <a:gd name="T119" fmla="*/ 19401 h 21600"/>
                <a:gd name="T120" fmla="*/ 20929 w 21600"/>
                <a:gd name="T121" fmla="*/ 20134 h 21600"/>
                <a:gd name="T122" fmla="*/ 21293 w 21600"/>
                <a:gd name="T123" fmla="*/ 20867 h 21600"/>
                <a:gd name="T124" fmla="*/ 21600 w 21600"/>
                <a:gd name="T12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321" y="20393"/>
                  </a:lnTo>
                  <a:lnTo>
                    <a:pt x="21041" y="19401"/>
                  </a:lnTo>
                  <a:lnTo>
                    <a:pt x="20790" y="18582"/>
                  </a:lnTo>
                  <a:lnTo>
                    <a:pt x="20454" y="17634"/>
                  </a:lnTo>
                  <a:lnTo>
                    <a:pt x="19951" y="16340"/>
                  </a:lnTo>
                  <a:lnTo>
                    <a:pt x="19420" y="15176"/>
                  </a:lnTo>
                  <a:lnTo>
                    <a:pt x="18750" y="14012"/>
                  </a:lnTo>
                  <a:lnTo>
                    <a:pt x="18079" y="12848"/>
                  </a:lnTo>
                  <a:lnTo>
                    <a:pt x="17381" y="11813"/>
                  </a:lnTo>
                  <a:lnTo>
                    <a:pt x="16514" y="10520"/>
                  </a:lnTo>
                  <a:lnTo>
                    <a:pt x="15844" y="9701"/>
                  </a:lnTo>
                  <a:lnTo>
                    <a:pt x="14866" y="8666"/>
                  </a:lnTo>
                  <a:lnTo>
                    <a:pt x="13832" y="7502"/>
                  </a:lnTo>
                  <a:lnTo>
                    <a:pt x="12770" y="6467"/>
                  </a:lnTo>
                  <a:lnTo>
                    <a:pt x="11960" y="5734"/>
                  </a:lnTo>
                  <a:lnTo>
                    <a:pt x="10814" y="5001"/>
                  </a:lnTo>
                  <a:lnTo>
                    <a:pt x="9836" y="4484"/>
                  </a:lnTo>
                  <a:lnTo>
                    <a:pt x="8830" y="4053"/>
                  </a:lnTo>
                  <a:lnTo>
                    <a:pt x="7740" y="3751"/>
                  </a:lnTo>
                  <a:lnTo>
                    <a:pt x="7098" y="3708"/>
                  </a:lnTo>
                  <a:lnTo>
                    <a:pt x="6343" y="3751"/>
                  </a:lnTo>
                  <a:lnTo>
                    <a:pt x="5756" y="3837"/>
                  </a:lnTo>
                  <a:lnTo>
                    <a:pt x="5225" y="3966"/>
                  </a:lnTo>
                  <a:lnTo>
                    <a:pt x="4750" y="4182"/>
                  </a:lnTo>
                  <a:lnTo>
                    <a:pt x="4750" y="0"/>
                  </a:lnTo>
                  <a:lnTo>
                    <a:pt x="4136" y="1293"/>
                  </a:lnTo>
                  <a:lnTo>
                    <a:pt x="3521" y="2501"/>
                  </a:lnTo>
                  <a:lnTo>
                    <a:pt x="2710" y="4053"/>
                  </a:lnTo>
                  <a:lnTo>
                    <a:pt x="1816" y="5303"/>
                  </a:lnTo>
                  <a:lnTo>
                    <a:pt x="1034" y="6338"/>
                  </a:lnTo>
                  <a:lnTo>
                    <a:pt x="0" y="7286"/>
                  </a:lnTo>
                  <a:lnTo>
                    <a:pt x="950" y="8019"/>
                  </a:lnTo>
                  <a:lnTo>
                    <a:pt x="1956" y="8881"/>
                  </a:lnTo>
                  <a:lnTo>
                    <a:pt x="2990" y="10002"/>
                  </a:lnTo>
                  <a:lnTo>
                    <a:pt x="3800" y="11166"/>
                  </a:lnTo>
                  <a:lnTo>
                    <a:pt x="4275" y="11899"/>
                  </a:lnTo>
                  <a:lnTo>
                    <a:pt x="4806" y="13107"/>
                  </a:lnTo>
                  <a:lnTo>
                    <a:pt x="4806" y="8925"/>
                  </a:lnTo>
                  <a:lnTo>
                    <a:pt x="5756" y="8666"/>
                  </a:lnTo>
                  <a:lnTo>
                    <a:pt x="6650" y="8537"/>
                  </a:lnTo>
                  <a:lnTo>
                    <a:pt x="7684" y="8666"/>
                  </a:lnTo>
                  <a:lnTo>
                    <a:pt x="8690" y="8881"/>
                  </a:lnTo>
                  <a:lnTo>
                    <a:pt x="9836" y="9269"/>
                  </a:lnTo>
                  <a:lnTo>
                    <a:pt x="10870" y="9701"/>
                  </a:lnTo>
                  <a:lnTo>
                    <a:pt x="12323" y="10477"/>
                  </a:lnTo>
                  <a:lnTo>
                    <a:pt x="13524" y="11253"/>
                  </a:lnTo>
                  <a:lnTo>
                    <a:pt x="14558" y="12115"/>
                  </a:lnTo>
                  <a:lnTo>
                    <a:pt x="15704" y="13150"/>
                  </a:lnTo>
                  <a:lnTo>
                    <a:pt x="16207" y="13624"/>
                  </a:lnTo>
                  <a:lnTo>
                    <a:pt x="16710" y="14098"/>
                  </a:lnTo>
                  <a:lnTo>
                    <a:pt x="17129" y="14572"/>
                  </a:lnTo>
                  <a:lnTo>
                    <a:pt x="17520" y="15047"/>
                  </a:lnTo>
                  <a:lnTo>
                    <a:pt x="18275" y="15866"/>
                  </a:lnTo>
                  <a:lnTo>
                    <a:pt x="18778" y="16556"/>
                  </a:lnTo>
                  <a:lnTo>
                    <a:pt x="19169" y="17116"/>
                  </a:lnTo>
                  <a:lnTo>
                    <a:pt x="19532" y="17677"/>
                  </a:lnTo>
                  <a:lnTo>
                    <a:pt x="19895" y="18280"/>
                  </a:lnTo>
                  <a:lnTo>
                    <a:pt x="20203" y="18798"/>
                  </a:lnTo>
                  <a:lnTo>
                    <a:pt x="20566" y="19401"/>
                  </a:lnTo>
                  <a:lnTo>
                    <a:pt x="20929" y="20134"/>
                  </a:lnTo>
                  <a:lnTo>
                    <a:pt x="21293" y="20867"/>
                  </a:lnTo>
                  <a:lnTo>
                    <a:pt x="21600" y="2160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</p:grp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653E4364-9331-4411-BA5A-86DC75328449}"/>
              </a:ext>
            </a:extLst>
          </p:cNvPr>
          <p:cNvSpPr>
            <a:spLocks/>
          </p:cNvSpPr>
          <p:nvPr/>
        </p:nvSpPr>
        <p:spPr bwMode="auto">
          <a:xfrm>
            <a:off x="4881296" y="5258386"/>
            <a:ext cx="3740861" cy="86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algn="r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216">
                <a:solidFill>
                  <a:srgbClr val="CCFFFF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KDD is inherently</a:t>
            </a:r>
          </a:p>
          <a:p>
            <a:pPr marL="36648" algn="r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216">
                <a:solidFill>
                  <a:srgbClr val="CCFFFF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interactive and iterative</a:t>
            </a:r>
          </a:p>
        </p:txBody>
      </p:sp>
      <p:sp>
        <p:nvSpPr>
          <p:cNvPr id="18446" name="AutoShape 14">
            <a:extLst>
              <a:ext uri="{FF2B5EF4-FFF2-40B4-BE49-F238E27FC236}">
                <a16:creationId xmlns:a16="http://schemas.microsoft.com/office/drawing/2014/main" id="{28A4739B-8F91-45BB-847D-F338DE5EBB42}"/>
              </a:ext>
            </a:extLst>
          </p:cNvPr>
          <p:cNvSpPr>
            <a:spLocks/>
          </p:cNvSpPr>
          <p:nvPr/>
        </p:nvSpPr>
        <p:spPr bwMode="auto">
          <a:xfrm>
            <a:off x="228674" y="1388531"/>
            <a:ext cx="2742614" cy="2481692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3600" y="0"/>
                </a:moveTo>
                <a:cubicBezTo>
                  <a:pt x="1612" y="0"/>
                  <a:pt x="0" y="1416"/>
                  <a:pt x="0" y="3162"/>
                </a:cubicBezTo>
                <a:lnTo>
                  <a:pt x="0" y="11068"/>
                </a:lnTo>
                <a:lnTo>
                  <a:pt x="0" y="15811"/>
                </a:lnTo>
                <a:cubicBezTo>
                  <a:pt x="0" y="17558"/>
                  <a:pt x="1612" y="18974"/>
                  <a:pt x="3600" y="18974"/>
                </a:cubicBezTo>
                <a:lnTo>
                  <a:pt x="12600" y="18974"/>
                </a:lnTo>
                <a:lnTo>
                  <a:pt x="20788" y="21600"/>
                </a:lnTo>
                <a:lnTo>
                  <a:pt x="18000" y="18974"/>
                </a:lnTo>
                <a:cubicBezTo>
                  <a:pt x="19988" y="18974"/>
                  <a:pt x="21600" y="17558"/>
                  <a:pt x="21600" y="15811"/>
                </a:cubicBezTo>
                <a:lnTo>
                  <a:pt x="21600" y="11068"/>
                </a:lnTo>
                <a:lnTo>
                  <a:pt x="21600" y="3162"/>
                </a:lnTo>
                <a:cubicBezTo>
                  <a:pt x="21600" y="1416"/>
                  <a:pt x="19988" y="0"/>
                  <a:pt x="18000" y="0"/>
                </a:cubicBezTo>
                <a:lnTo>
                  <a:pt x="12600" y="0"/>
                </a:lnTo>
                <a:close/>
                <a:moveTo>
                  <a:pt x="3600" y="0"/>
                </a:moveTo>
              </a:path>
            </a:pathLst>
          </a:cu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8744944C-CE5C-4B6A-BD13-0D2DFAE792DA}"/>
              </a:ext>
            </a:extLst>
          </p:cNvPr>
          <p:cNvSpPr>
            <a:spLocks/>
          </p:cNvSpPr>
          <p:nvPr/>
        </p:nvSpPr>
        <p:spPr bwMode="auto">
          <a:xfrm>
            <a:off x="304898" y="1388531"/>
            <a:ext cx="2826167" cy="214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a step in the KDD process consisting of methods that produce useful patterns or models from the data, under some acceptable computational  efficiency limitations</a:t>
            </a:r>
          </a:p>
        </p:txBody>
      </p:sp>
      <p:sp>
        <p:nvSpPr>
          <p:cNvPr id="18448" name="Oval 16">
            <a:extLst>
              <a:ext uri="{FF2B5EF4-FFF2-40B4-BE49-F238E27FC236}">
                <a16:creationId xmlns:a16="http://schemas.microsoft.com/office/drawing/2014/main" id="{688E0202-13BC-492E-AC1B-61C0FEDEB8BD}"/>
              </a:ext>
            </a:extLst>
          </p:cNvPr>
          <p:cNvSpPr>
            <a:spLocks/>
          </p:cNvSpPr>
          <p:nvPr/>
        </p:nvSpPr>
        <p:spPr bwMode="auto">
          <a:xfrm>
            <a:off x="381123" y="4906582"/>
            <a:ext cx="379657" cy="35034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72867374-D9AE-4036-8F67-D1623EC9EBEF}"/>
              </a:ext>
            </a:extLst>
          </p:cNvPr>
          <p:cNvSpPr>
            <a:spLocks/>
          </p:cNvSpPr>
          <p:nvPr/>
        </p:nvSpPr>
        <p:spPr bwMode="auto">
          <a:xfrm>
            <a:off x="457347" y="4906581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1</a:t>
            </a:r>
          </a:p>
        </p:txBody>
      </p:sp>
      <p:sp>
        <p:nvSpPr>
          <p:cNvPr id="18450" name="Oval 18">
            <a:extLst>
              <a:ext uri="{FF2B5EF4-FFF2-40B4-BE49-F238E27FC236}">
                <a16:creationId xmlns:a16="http://schemas.microsoft.com/office/drawing/2014/main" id="{782DB371-4908-42A5-8509-051979855B54}"/>
              </a:ext>
            </a:extLst>
          </p:cNvPr>
          <p:cNvSpPr>
            <a:spLocks/>
          </p:cNvSpPr>
          <p:nvPr/>
        </p:nvSpPr>
        <p:spPr bwMode="auto">
          <a:xfrm>
            <a:off x="1524489" y="3991888"/>
            <a:ext cx="379657" cy="35034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51" name="Rectangle 19">
            <a:extLst>
              <a:ext uri="{FF2B5EF4-FFF2-40B4-BE49-F238E27FC236}">
                <a16:creationId xmlns:a16="http://schemas.microsoft.com/office/drawing/2014/main" id="{EA4F9B3B-A823-417A-8E85-DDD1F548717F}"/>
              </a:ext>
            </a:extLst>
          </p:cNvPr>
          <p:cNvSpPr>
            <a:spLocks/>
          </p:cNvSpPr>
          <p:nvPr/>
        </p:nvSpPr>
        <p:spPr bwMode="auto">
          <a:xfrm>
            <a:off x="1600713" y="3991888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2</a:t>
            </a:r>
          </a:p>
        </p:txBody>
      </p:sp>
      <p:sp>
        <p:nvSpPr>
          <p:cNvPr id="18452" name="Oval 20">
            <a:extLst>
              <a:ext uri="{FF2B5EF4-FFF2-40B4-BE49-F238E27FC236}">
                <a16:creationId xmlns:a16="http://schemas.microsoft.com/office/drawing/2014/main" id="{7CB9DF45-CE5A-41BD-B32E-C229ADF8263B}"/>
              </a:ext>
            </a:extLst>
          </p:cNvPr>
          <p:cNvSpPr>
            <a:spLocks/>
          </p:cNvSpPr>
          <p:nvPr/>
        </p:nvSpPr>
        <p:spPr bwMode="auto">
          <a:xfrm>
            <a:off x="2971288" y="3077195"/>
            <a:ext cx="379656" cy="35034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82E4D9F5-6E64-4724-B577-5F03F2CCAA96}"/>
              </a:ext>
            </a:extLst>
          </p:cNvPr>
          <p:cNvSpPr>
            <a:spLocks/>
          </p:cNvSpPr>
          <p:nvPr/>
        </p:nvSpPr>
        <p:spPr bwMode="auto">
          <a:xfrm>
            <a:off x="3047512" y="3077195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3</a:t>
            </a:r>
          </a:p>
        </p:txBody>
      </p:sp>
      <p:sp>
        <p:nvSpPr>
          <p:cNvPr id="18454" name="Oval 22">
            <a:extLst>
              <a:ext uri="{FF2B5EF4-FFF2-40B4-BE49-F238E27FC236}">
                <a16:creationId xmlns:a16="http://schemas.microsoft.com/office/drawing/2014/main" id="{44200845-A4F0-49B3-A5A1-816ACE13AD1A}"/>
              </a:ext>
            </a:extLst>
          </p:cNvPr>
          <p:cNvSpPr>
            <a:spLocks/>
          </p:cNvSpPr>
          <p:nvPr/>
        </p:nvSpPr>
        <p:spPr bwMode="auto">
          <a:xfrm>
            <a:off x="4267103" y="2162502"/>
            <a:ext cx="379656" cy="35034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55" name="Rectangle 23">
            <a:extLst>
              <a:ext uri="{FF2B5EF4-FFF2-40B4-BE49-F238E27FC236}">
                <a16:creationId xmlns:a16="http://schemas.microsoft.com/office/drawing/2014/main" id="{EEFB7D70-1EAB-4717-8917-BBADDCA7E283}"/>
              </a:ext>
            </a:extLst>
          </p:cNvPr>
          <p:cNvSpPr>
            <a:spLocks/>
          </p:cNvSpPr>
          <p:nvPr/>
        </p:nvSpPr>
        <p:spPr bwMode="auto">
          <a:xfrm>
            <a:off x="4343328" y="2162502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4</a:t>
            </a:r>
          </a:p>
        </p:txBody>
      </p:sp>
      <p:sp>
        <p:nvSpPr>
          <p:cNvPr id="18456" name="Oval 24">
            <a:extLst>
              <a:ext uri="{FF2B5EF4-FFF2-40B4-BE49-F238E27FC236}">
                <a16:creationId xmlns:a16="http://schemas.microsoft.com/office/drawing/2014/main" id="{567C26E1-8859-4446-B994-CED553B3A5E8}"/>
              </a:ext>
            </a:extLst>
          </p:cNvPr>
          <p:cNvSpPr>
            <a:spLocks/>
          </p:cNvSpPr>
          <p:nvPr/>
        </p:nvSpPr>
        <p:spPr bwMode="auto">
          <a:xfrm>
            <a:off x="5562918" y="1247809"/>
            <a:ext cx="379656" cy="35034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C20479BB-A525-4C9A-8C52-9101124BE56F}"/>
              </a:ext>
            </a:extLst>
          </p:cNvPr>
          <p:cNvSpPr>
            <a:spLocks/>
          </p:cNvSpPr>
          <p:nvPr/>
        </p:nvSpPr>
        <p:spPr bwMode="auto">
          <a:xfrm>
            <a:off x="5639143" y="1247808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5</a:t>
            </a:r>
          </a:p>
        </p:txBody>
      </p:sp>
      <p:sp>
        <p:nvSpPr>
          <p:cNvPr id="18458" name="AutoShape 26">
            <a:extLst>
              <a:ext uri="{FF2B5EF4-FFF2-40B4-BE49-F238E27FC236}">
                <a16:creationId xmlns:a16="http://schemas.microsoft.com/office/drawing/2014/main" id="{2F74555B-8ED5-42D5-899E-0CCE405BBF0C}"/>
              </a:ext>
            </a:extLst>
          </p:cNvPr>
          <p:cNvSpPr>
            <a:spLocks/>
          </p:cNvSpPr>
          <p:nvPr/>
        </p:nvSpPr>
        <p:spPr bwMode="auto">
          <a:xfrm>
            <a:off x="381123" y="5258386"/>
            <a:ext cx="3352410" cy="773971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59" name="Rectangle 27">
            <a:extLst>
              <a:ext uri="{FF2B5EF4-FFF2-40B4-BE49-F238E27FC236}">
                <a16:creationId xmlns:a16="http://schemas.microsoft.com/office/drawing/2014/main" id="{77415910-3566-4B13-9701-73BBB58D6073}"/>
              </a:ext>
            </a:extLst>
          </p:cNvPr>
          <p:cNvSpPr>
            <a:spLocks/>
          </p:cNvSpPr>
          <p:nvPr/>
        </p:nvSpPr>
        <p:spPr bwMode="auto">
          <a:xfrm>
            <a:off x="457347" y="5314089"/>
            <a:ext cx="3424236" cy="7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8112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Understand the domain and Define problems</a:t>
            </a:r>
          </a:p>
        </p:txBody>
      </p:sp>
      <p:sp>
        <p:nvSpPr>
          <p:cNvPr id="18460" name="AutoShape 28">
            <a:extLst>
              <a:ext uri="{FF2B5EF4-FFF2-40B4-BE49-F238E27FC236}">
                <a16:creationId xmlns:a16="http://schemas.microsoft.com/office/drawing/2014/main" id="{9AEBAA90-946E-4BA6-A1DB-287F1BF628F5}"/>
              </a:ext>
            </a:extLst>
          </p:cNvPr>
          <p:cNvSpPr>
            <a:spLocks/>
          </p:cNvSpPr>
          <p:nvPr/>
        </p:nvSpPr>
        <p:spPr bwMode="auto">
          <a:xfrm>
            <a:off x="1448265" y="4343693"/>
            <a:ext cx="3352410" cy="773971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61" name="AutoShape 29">
            <a:extLst>
              <a:ext uri="{FF2B5EF4-FFF2-40B4-BE49-F238E27FC236}">
                <a16:creationId xmlns:a16="http://schemas.microsoft.com/office/drawing/2014/main" id="{B9886332-5B93-4C9B-8688-A4B77E7D40E4}"/>
              </a:ext>
            </a:extLst>
          </p:cNvPr>
          <p:cNvSpPr>
            <a:spLocks/>
          </p:cNvSpPr>
          <p:nvPr/>
        </p:nvSpPr>
        <p:spPr bwMode="auto">
          <a:xfrm>
            <a:off x="2818839" y="3429000"/>
            <a:ext cx="3353875" cy="773971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62" name="AutoShape 30">
            <a:extLst>
              <a:ext uri="{FF2B5EF4-FFF2-40B4-BE49-F238E27FC236}">
                <a16:creationId xmlns:a16="http://schemas.microsoft.com/office/drawing/2014/main" id="{2B26F3B2-DBBB-4C21-ABF9-5353D27C8030}"/>
              </a:ext>
            </a:extLst>
          </p:cNvPr>
          <p:cNvSpPr>
            <a:spLocks/>
          </p:cNvSpPr>
          <p:nvPr/>
        </p:nvSpPr>
        <p:spPr bwMode="auto">
          <a:xfrm>
            <a:off x="3962205" y="2514307"/>
            <a:ext cx="3352409" cy="773971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63" name="AutoShape 31">
            <a:extLst>
              <a:ext uri="{FF2B5EF4-FFF2-40B4-BE49-F238E27FC236}">
                <a16:creationId xmlns:a16="http://schemas.microsoft.com/office/drawing/2014/main" id="{073D64CB-DADE-4A1B-AD2A-94B03BAAD938}"/>
              </a:ext>
            </a:extLst>
          </p:cNvPr>
          <p:cNvSpPr>
            <a:spLocks/>
          </p:cNvSpPr>
          <p:nvPr/>
        </p:nvSpPr>
        <p:spPr bwMode="auto">
          <a:xfrm>
            <a:off x="5181796" y="1599614"/>
            <a:ext cx="3352409" cy="773971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8464" name="Rectangle 32">
            <a:extLst>
              <a:ext uri="{FF2B5EF4-FFF2-40B4-BE49-F238E27FC236}">
                <a16:creationId xmlns:a16="http://schemas.microsoft.com/office/drawing/2014/main" id="{97CECADD-9D26-49AE-BAAF-4E9E481F9EBD}"/>
              </a:ext>
            </a:extLst>
          </p:cNvPr>
          <p:cNvSpPr>
            <a:spLocks/>
          </p:cNvSpPr>
          <p:nvPr/>
        </p:nvSpPr>
        <p:spPr bwMode="auto">
          <a:xfrm>
            <a:off x="1524489" y="4399396"/>
            <a:ext cx="3424236" cy="7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8112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Collect and </a:t>
            </a:r>
          </a:p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Preprocess Data</a:t>
            </a:r>
          </a:p>
        </p:txBody>
      </p:sp>
      <p:sp>
        <p:nvSpPr>
          <p:cNvPr id="18465" name="Rectangle 33">
            <a:extLst>
              <a:ext uri="{FF2B5EF4-FFF2-40B4-BE49-F238E27FC236}">
                <a16:creationId xmlns:a16="http://schemas.microsoft.com/office/drawing/2014/main" id="{9534E525-B6DB-4C7B-895A-A53ED0366895}"/>
              </a:ext>
            </a:extLst>
          </p:cNvPr>
          <p:cNvSpPr>
            <a:spLocks/>
          </p:cNvSpPr>
          <p:nvPr/>
        </p:nvSpPr>
        <p:spPr bwMode="auto">
          <a:xfrm>
            <a:off x="2895063" y="3484702"/>
            <a:ext cx="3424236" cy="8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8112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586">
                <a:solidFill>
                  <a:srgbClr val="FFFF00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Data Mining</a:t>
            </a:r>
          </a:p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Extract Patterns/Models</a:t>
            </a:r>
          </a:p>
        </p:txBody>
      </p:sp>
      <p:sp>
        <p:nvSpPr>
          <p:cNvPr id="18466" name="Rectangle 34">
            <a:extLst>
              <a:ext uri="{FF2B5EF4-FFF2-40B4-BE49-F238E27FC236}">
                <a16:creationId xmlns:a16="http://schemas.microsoft.com/office/drawing/2014/main" id="{F6574A48-C3F1-4596-BE1D-56C4C79B21B9}"/>
              </a:ext>
            </a:extLst>
          </p:cNvPr>
          <p:cNvSpPr>
            <a:spLocks/>
          </p:cNvSpPr>
          <p:nvPr/>
        </p:nvSpPr>
        <p:spPr bwMode="auto">
          <a:xfrm>
            <a:off x="4190879" y="2570010"/>
            <a:ext cx="3424236" cy="7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8112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Interpret and Evaluate discovered knowledge</a:t>
            </a:r>
          </a:p>
        </p:txBody>
      </p:sp>
      <p:sp>
        <p:nvSpPr>
          <p:cNvPr id="18467" name="Rectangle 35">
            <a:extLst>
              <a:ext uri="{FF2B5EF4-FFF2-40B4-BE49-F238E27FC236}">
                <a16:creationId xmlns:a16="http://schemas.microsoft.com/office/drawing/2014/main" id="{AB81222B-6899-4D4B-8C37-BFE740FAFB5A}"/>
              </a:ext>
            </a:extLst>
          </p:cNvPr>
          <p:cNvSpPr>
            <a:spLocks/>
          </p:cNvSpPr>
          <p:nvPr/>
        </p:nvSpPr>
        <p:spPr bwMode="auto">
          <a:xfrm>
            <a:off x="5410470" y="1655316"/>
            <a:ext cx="3424236" cy="7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8112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Putting the results </a:t>
            </a:r>
          </a:p>
          <a:p>
            <a:pPr marL="38113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47">
                <a:solidFill>
                  <a:srgbClr val="FFFFCC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in practical use</a:t>
            </a:r>
          </a:p>
        </p:txBody>
      </p:sp>
      <p:grpSp>
        <p:nvGrpSpPr>
          <p:cNvPr id="18470" name="Group 38">
            <a:extLst>
              <a:ext uri="{FF2B5EF4-FFF2-40B4-BE49-F238E27FC236}">
                <a16:creationId xmlns:a16="http://schemas.microsoft.com/office/drawing/2014/main" id="{FAB0C9D9-C3D8-4215-B342-C9C2779F4B2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655842" y="4978409"/>
            <a:ext cx="1218126" cy="992383"/>
            <a:chOff x="0" y="0"/>
            <a:chExt cx="830" cy="676"/>
          </a:xfrm>
        </p:grpSpPr>
        <p:sp>
          <p:nvSpPr>
            <p:cNvPr id="18468" name="Freeform 36">
              <a:extLst>
                <a:ext uri="{FF2B5EF4-FFF2-40B4-BE49-F238E27FC236}">
                  <a16:creationId xmlns:a16="http://schemas.microsoft.com/office/drawing/2014/main" id="{F6B5F699-DD71-4201-8BEB-EB6112B18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6"/>
              <a:ext cx="830" cy="670"/>
            </a:xfrm>
            <a:custGeom>
              <a:avLst/>
              <a:gdLst>
                <a:gd name="T0" fmla="*/ 21600 w 21600"/>
                <a:gd name="T1" fmla="*/ 20209 h 21600"/>
                <a:gd name="T2" fmla="*/ 20929 w 21600"/>
                <a:gd name="T3" fmla="*/ 18327 h 21600"/>
                <a:gd name="T4" fmla="*/ 19923 w 21600"/>
                <a:gd name="T5" fmla="*/ 16200 h 21600"/>
                <a:gd name="T6" fmla="*/ 18750 w 21600"/>
                <a:gd name="T7" fmla="*/ 14236 h 21600"/>
                <a:gd name="T8" fmla="*/ 17409 w 21600"/>
                <a:gd name="T9" fmla="*/ 12150 h 21600"/>
                <a:gd name="T10" fmla="*/ 15844 w 21600"/>
                <a:gd name="T11" fmla="*/ 10105 h 21600"/>
                <a:gd name="T12" fmla="*/ 13832 w 21600"/>
                <a:gd name="T13" fmla="*/ 7977 h 21600"/>
                <a:gd name="T14" fmla="*/ 11988 w 21600"/>
                <a:gd name="T15" fmla="*/ 6259 h 21600"/>
                <a:gd name="T16" fmla="*/ 9864 w 21600"/>
                <a:gd name="T17" fmla="*/ 5073 h 21600"/>
                <a:gd name="T18" fmla="*/ 7768 w 21600"/>
                <a:gd name="T19" fmla="*/ 4377 h 21600"/>
                <a:gd name="T20" fmla="*/ 6371 w 21600"/>
                <a:gd name="T21" fmla="*/ 4377 h 21600"/>
                <a:gd name="T22" fmla="*/ 5225 w 21600"/>
                <a:gd name="T23" fmla="*/ 4582 h 21600"/>
                <a:gd name="T24" fmla="*/ 4778 w 21600"/>
                <a:gd name="T25" fmla="*/ 0 h 21600"/>
                <a:gd name="T26" fmla="*/ 3493 w 21600"/>
                <a:gd name="T27" fmla="*/ 2577 h 21600"/>
                <a:gd name="T28" fmla="*/ 1872 w 21600"/>
                <a:gd name="T29" fmla="*/ 5277 h 21600"/>
                <a:gd name="T30" fmla="*/ 0 w 21600"/>
                <a:gd name="T31" fmla="*/ 6750 h 21600"/>
                <a:gd name="T32" fmla="*/ 978 w 21600"/>
                <a:gd name="T33" fmla="*/ 8468 h 21600"/>
                <a:gd name="T34" fmla="*/ 3018 w 21600"/>
                <a:gd name="T35" fmla="*/ 10432 h 21600"/>
                <a:gd name="T36" fmla="*/ 4303 w 21600"/>
                <a:gd name="T37" fmla="*/ 12232 h 21600"/>
                <a:gd name="T38" fmla="*/ 4806 w 21600"/>
                <a:gd name="T39" fmla="*/ 9327 h 21600"/>
                <a:gd name="T40" fmla="*/ 6678 w 21600"/>
                <a:gd name="T41" fmla="*/ 9000 h 21600"/>
                <a:gd name="T42" fmla="*/ 8718 w 21600"/>
                <a:gd name="T43" fmla="*/ 9286 h 21600"/>
                <a:gd name="T44" fmla="*/ 10898 w 21600"/>
                <a:gd name="T45" fmla="*/ 10105 h 21600"/>
                <a:gd name="T46" fmla="*/ 13524 w 21600"/>
                <a:gd name="T47" fmla="*/ 11618 h 21600"/>
                <a:gd name="T48" fmla="*/ 15704 w 21600"/>
                <a:gd name="T49" fmla="*/ 13459 h 21600"/>
                <a:gd name="T50" fmla="*/ 16710 w 21600"/>
                <a:gd name="T51" fmla="*/ 14359 h 21600"/>
                <a:gd name="T52" fmla="*/ 17548 w 21600"/>
                <a:gd name="T53" fmla="*/ 15259 h 21600"/>
                <a:gd name="T54" fmla="*/ 18778 w 21600"/>
                <a:gd name="T55" fmla="*/ 16732 h 21600"/>
                <a:gd name="T56" fmla="*/ 19560 w 21600"/>
                <a:gd name="T57" fmla="*/ 17795 h 21600"/>
                <a:gd name="T58" fmla="*/ 20231 w 21600"/>
                <a:gd name="T59" fmla="*/ 18900 h 21600"/>
                <a:gd name="T60" fmla="*/ 20957 w 21600"/>
                <a:gd name="T61" fmla="*/ 20209 h 21600"/>
                <a:gd name="T62" fmla="*/ 21600 w 21600"/>
                <a:gd name="T63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600" y="20209"/>
                  </a:lnTo>
                  <a:lnTo>
                    <a:pt x="21237" y="19186"/>
                  </a:lnTo>
                  <a:lnTo>
                    <a:pt x="20929" y="18327"/>
                  </a:lnTo>
                  <a:lnTo>
                    <a:pt x="20482" y="17305"/>
                  </a:lnTo>
                  <a:lnTo>
                    <a:pt x="19923" y="16200"/>
                  </a:lnTo>
                  <a:lnTo>
                    <a:pt x="19420" y="15423"/>
                  </a:lnTo>
                  <a:lnTo>
                    <a:pt x="18750" y="14236"/>
                  </a:lnTo>
                  <a:lnTo>
                    <a:pt x="18079" y="13132"/>
                  </a:lnTo>
                  <a:lnTo>
                    <a:pt x="17409" y="12150"/>
                  </a:lnTo>
                  <a:lnTo>
                    <a:pt x="16514" y="10923"/>
                  </a:lnTo>
                  <a:lnTo>
                    <a:pt x="15844" y="10105"/>
                  </a:lnTo>
                  <a:lnTo>
                    <a:pt x="14894" y="9082"/>
                  </a:lnTo>
                  <a:lnTo>
                    <a:pt x="13832" y="7977"/>
                  </a:lnTo>
                  <a:lnTo>
                    <a:pt x="12770" y="6995"/>
                  </a:lnTo>
                  <a:lnTo>
                    <a:pt x="11988" y="6259"/>
                  </a:lnTo>
                  <a:lnTo>
                    <a:pt x="10814" y="5564"/>
                  </a:lnTo>
                  <a:lnTo>
                    <a:pt x="9864" y="5073"/>
                  </a:lnTo>
                  <a:lnTo>
                    <a:pt x="8830" y="4664"/>
                  </a:lnTo>
                  <a:lnTo>
                    <a:pt x="7768" y="4377"/>
                  </a:lnTo>
                  <a:lnTo>
                    <a:pt x="7125" y="4336"/>
                  </a:lnTo>
                  <a:lnTo>
                    <a:pt x="6371" y="4377"/>
                  </a:lnTo>
                  <a:lnTo>
                    <a:pt x="5784" y="4459"/>
                  </a:lnTo>
                  <a:lnTo>
                    <a:pt x="5225" y="4582"/>
                  </a:lnTo>
                  <a:lnTo>
                    <a:pt x="4778" y="4745"/>
                  </a:lnTo>
                  <a:lnTo>
                    <a:pt x="4778" y="0"/>
                  </a:lnTo>
                  <a:lnTo>
                    <a:pt x="4219" y="1227"/>
                  </a:lnTo>
                  <a:lnTo>
                    <a:pt x="3493" y="2577"/>
                  </a:lnTo>
                  <a:lnTo>
                    <a:pt x="2738" y="3968"/>
                  </a:lnTo>
                  <a:lnTo>
                    <a:pt x="1872" y="5277"/>
                  </a:lnTo>
                  <a:lnTo>
                    <a:pt x="1202" y="5973"/>
                  </a:lnTo>
                  <a:lnTo>
                    <a:pt x="0" y="6750"/>
                  </a:lnTo>
                  <a:lnTo>
                    <a:pt x="0" y="7773"/>
                  </a:lnTo>
                  <a:lnTo>
                    <a:pt x="978" y="8468"/>
                  </a:lnTo>
                  <a:lnTo>
                    <a:pt x="1984" y="9286"/>
                  </a:lnTo>
                  <a:lnTo>
                    <a:pt x="3018" y="10432"/>
                  </a:lnTo>
                  <a:lnTo>
                    <a:pt x="3828" y="11536"/>
                  </a:lnTo>
                  <a:lnTo>
                    <a:pt x="4303" y="12232"/>
                  </a:lnTo>
                  <a:lnTo>
                    <a:pt x="4806" y="13377"/>
                  </a:lnTo>
                  <a:lnTo>
                    <a:pt x="4806" y="9327"/>
                  </a:lnTo>
                  <a:lnTo>
                    <a:pt x="5784" y="9082"/>
                  </a:lnTo>
                  <a:lnTo>
                    <a:pt x="6678" y="9000"/>
                  </a:lnTo>
                  <a:lnTo>
                    <a:pt x="7684" y="9082"/>
                  </a:lnTo>
                  <a:lnTo>
                    <a:pt x="8718" y="9286"/>
                  </a:lnTo>
                  <a:lnTo>
                    <a:pt x="9864" y="9695"/>
                  </a:lnTo>
                  <a:lnTo>
                    <a:pt x="10898" y="10105"/>
                  </a:lnTo>
                  <a:lnTo>
                    <a:pt x="12351" y="10882"/>
                  </a:lnTo>
                  <a:lnTo>
                    <a:pt x="13524" y="11618"/>
                  </a:lnTo>
                  <a:lnTo>
                    <a:pt x="14586" y="12436"/>
                  </a:lnTo>
                  <a:lnTo>
                    <a:pt x="15704" y="13459"/>
                  </a:lnTo>
                  <a:lnTo>
                    <a:pt x="16235" y="13909"/>
                  </a:lnTo>
                  <a:lnTo>
                    <a:pt x="16710" y="14359"/>
                  </a:lnTo>
                  <a:lnTo>
                    <a:pt x="17129" y="14809"/>
                  </a:lnTo>
                  <a:lnTo>
                    <a:pt x="17548" y="15259"/>
                  </a:lnTo>
                  <a:lnTo>
                    <a:pt x="18275" y="16077"/>
                  </a:lnTo>
                  <a:lnTo>
                    <a:pt x="18778" y="16732"/>
                  </a:lnTo>
                  <a:lnTo>
                    <a:pt x="19169" y="17264"/>
                  </a:lnTo>
                  <a:lnTo>
                    <a:pt x="19560" y="17795"/>
                  </a:lnTo>
                  <a:lnTo>
                    <a:pt x="19923" y="18409"/>
                  </a:lnTo>
                  <a:lnTo>
                    <a:pt x="20231" y="18900"/>
                  </a:lnTo>
                  <a:lnTo>
                    <a:pt x="20594" y="19473"/>
                  </a:lnTo>
                  <a:lnTo>
                    <a:pt x="20957" y="20209"/>
                  </a:lnTo>
                  <a:lnTo>
                    <a:pt x="21293" y="20905"/>
                  </a:lnTo>
                  <a:lnTo>
                    <a:pt x="21600" y="21600"/>
                  </a:lnTo>
                </a:path>
              </a:pathLst>
            </a:cu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8469" name="Freeform 37">
              <a:extLst>
                <a:ext uri="{FF2B5EF4-FFF2-40B4-BE49-F238E27FC236}">
                  <a16:creationId xmlns:a16="http://schemas.microsoft.com/office/drawing/2014/main" id="{5914B146-A9FE-4545-8ED1-112E1FCFE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30" cy="636"/>
            </a:xfrm>
            <a:custGeom>
              <a:avLst/>
              <a:gdLst>
                <a:gd name="T0" fmla="*/ 21600 w 21600"/>
                <a:gd name="T1" fmla="*/ 21600 h 21600"/>
                <a:gd name="T2" fmla="*/ 21321 w 21600"/>
                <a:gd name="T3" fmla="*/ 20393 h 21600"/>
                <a:gd name="T4" fmla="*/ 21041 w 21600"/>
                <a:gd name="T5" fmla="*/ 19401 h 21600"/>
                <a:gd name="T6" fmla="*/ 20790 w 21600"/>
                <a:gd name="T7" fmla="*/ 18582 h 21600"/>
                <a:gd name="T8" fmla="*/ 20454 w 21600"/>
                <a:gd name="T9" fmla="*/ 17634 h 21600"/>
                <a:gd name="T10" fmla="*/ 19951 w 21600"/>
                <a:gd name="T11" fmla="*/ 16340 h 21600"/>
                <a:gd name="T12" fmla="*/ 19420 w 21600"/>
                <a:gd name="T13" fmla="*/ 15176 h 21600"/>
                <a:gd name="T14" fmla="*/ 18750 w 21600"/>
                <a:gd name="T15" fmla="*/ 14012 h 21600"/>
                <a:gd name="T16" fmla="*/ 18079 w 21600"/>
                <a:gd name="T17" fmla="*/ 12848 h 21600"/>
                <a:gd name="T18" fmla="*/ 17381 w 21600"/>
                <a:gd name="T19" fmla="*/ 11813 h 21600"/>
                <a:gd name="T20" fmla="*/ 16514 w 21600"/>
                <a:gd name="T21" fmla="*/ 10520 h 21600"/>
                <a:gd name="T22" fmla="*/ 15844 w 21600"/>
                <a:gd name="T23" fmla="*/ 9701 h 21600"/>
                <a:gd name="T24" fmla="*/ 14866 w 21600"/>
                <a:gd name="T25" fmla="*/ 8666 h 21600"/>
                <a:gd name="T26" fmla="*/ 13832 w 21600"/>
                <a:gd name="T27" fmla="*/ 7502 h 21600"/>
                <a:gd name="T28" fmla="*/ 12770 w 21600"/>
                <a:gd name="T29" fmla="*/ 6467 h 21600"/>
                <a:gd name="T30" fmla="*/ 11960 w 21600"/>
                <a:gd name="T31" fmla="*/ 5734 h 21600"/>
                <a:gd name="T32" fmla="*/ 10814 w 21600"/>
                <a:gd name="T33" fmla="*/ 5001 h 21600"/>
                <a:gd name="T34" fmla="*/ 9836 w 21600"/>
                <a:gd name="T35" fmla="*/ 4484 h 21600"/>
                <a:gd name="T36" fmla="*/ 8830 w 21600"/>
                <a:gd name="T37" fmla="*/ 4053 h 21600"/>
                <a:gd name="T38" fmla="*/ 7740 w 21600"/>
                <a:gd name="T39" fmla="*/ 3751 h 21600"/>
                <a:gd name="T40" fmla="*/ 7098 w 21600"/>
                <a:gd name="T41" fmla="*/ 3708 h 21600"/>
                <a:gd name="T42" fmla="*/ 6343 w 21600"/>
                <a:gd name="T43" fmla="*/ 3751 h 21600"/>
                <a:gd name="T44" fmla="*/ 5756 w 21600"/>
                <a:gd name="T45" fmla="*/ 3837 h 21600"/>
                <a:gd name="T46" fmla="*/ 5225 w 21600"/>
                <a:gd name="T47" fmla="*/ 3966 h 21600"/>
                <a:gd name="T48" fmla="*/ 4750 w 21600"/>
                <a:gd name="T49" fmla="*/ 4182 h 21600"/>
                <a:gd name="T50" fmla="*/ 4750 w 21600"/>
                <a:gd name="T51" fmla="*/ 0 h 21600"/>
                <a:gd name="T52" fmla="*/ 4136 w 21600"/>
                <a:gd name="T53" fmla="*/ 1293 h 21600"/>
                <a:gd name="T54" fmla="*/ 3521 w 21600"/>
                <a:gd name="T55" fmla="*/ 2501 h 21600"/>
                <a:gd name="T56" fmla="*/ 2710 w 21600"/>
                <a:gd name="T57" fmla="*/ 4053 h 21600"/>
                <a:gd name="T58" fmla="*/ 1816 w 21600"/>
                <a:gd name="T59" fmla="*/ 5303 h 21600"/>
                <a:gd name="T60" fmla="*/ 1034 w 21600"/>
                <a:gd name="T61" fmla="*/ 6338 h 21600"/>
                <a:gd name="T62" fmla="*/ 0 w 21600"/>
                <a:gd name="T63" fmla="*/ 7286 h 21600"/>
                <a:gd name="T64" fmla="*/ 950 w 21600"/>
                <a:gd name="T65" fmla="*/ 8019 h 21600"/>
                <a:gd name="T66" fmla="*/ 1956 w 21600"/>
                <a:gd name="T67" fmla="*/ 8881 h 21600"/>
                <a:gd name="T68" fmla="*/ 2990 w 21600"/>
                <a:gd name="T69" fmla="*/ 10002 h 21600"/>
                <a:gd name="T70" fmla="*/ 3800 w 21600"/>
                <a:gd name="T71" fmla="*/ 11166 h 21600"/>
                <a:gd name="T72" fmla="*/ 4275 w 21600"/>
                <a:gd name="T73" fmla="*/ 11899 h 21600"/>
                <a:gd name="T74" fmla="*/ 4806 w 21600"/>
                <a:gd name="T75" fmla="*/ 13107 h 21600"/>
                <a:gd name="T76" fmla="*/ 4806 w 21600"/>
                <a:gd name="T77" fmla="*/ 8925 h 21600"/>
                <a:gd name="T78" fmla="*/ 5756 w 21600"/>
                <a:gd name="T79" fmla="*/ 8666 h 21600"/>
                <a:gd name="T80" fmla="*/ 6650 w 21600"/>
                <a:gd name="T81" fmla="*/ 8537 h 21600"/>
                <a:gd name="T82" fmla="*/ 7684 w 21600"/>
                <a:gd name="T83" fmla="*/ 8666 h 21600"/>
                <a:gd name="T84" fmla="*/ 8690 w 21600"/>
                <a:gd name="T85" fmla="*/ 8881 h 21600"/>
                <a:gd name="T86" fmla="*/ 9836 w 21600"/>
                <a:gd name="T87" fmla="*/ 9269 h 21600"/>
                <a:gd name="T88" fmla="*/ 10870 w 21600"/>
                <a:gd name="T89" fmla="*/ 9701 h 21600"/>
                <a:gd name="T90" fmla="*/ 12323 w 21600"/>
                <a:gd name="T91" fmla="*/ 10477 h 21600"/>
                <a:gd name="T92" fmla="*/ 13524 w 21600"/>
                <a:gd name="T93" fmla="*/ 11253 h 21600"/>
                <a:gd name="T94" fmla="*/ 14558 w 21600"/>
                <a:gd name="T95" fmla="*/ 12115 h 21600"/>
                <a:gd name="T96" fmla="*/ 15704 w 21600"/>
                <a:gd name="T97" fmla="*/ 13150 h 21600"/>
                <a:gd name="T98" fmla="*/ 16207 w 21600"/>
                <a:gd name="T99" fmla="*/ 13624 h 21600"/>
                <a:gd name="T100" fmla="*/ 16710 w 21600"/>
                <a:gd name="T101" fmla="*/ 14098 h 21600"/>
                <a:gd name="T102" fmla="*/ 17129 w 21600"/>
                <a:gd name="T103" fmla="*/ 14572 h 21600"/>
                <a:gd name="T104" fmla="*/ 17520 w 21600"/>
                <a:gd name="T105" fmla="*/ 15047 h 21600"/>
                <a:gd name="T106" fmla="*/ 18275 w 21600"/>
                <a:gd name="T107" fmla="*/ 15866 h 21600"/>
                <a:gd name="T108" fmla="*/ 18778 w 21600"/>
                <a:gd name="T109" fmla="*/ 16556 h 21600"/>
                <a:gd name="T110" fmla="*/ 19169 w 21600"/>
                <a:gd name="T111" fmla="*/ 17116 h 21600"/>
                <a:gd name="T112" fmla="*/ 19532 w 21600"/>
                <a:gd name="T113" fmla="*/ 17677 h 21600"/>
                <a:gd name="T114" fmla="*/ 19895 w 21600"/>
                <a:gd name="T115" fmla="*/ 18280 h 21600"/>
                <a:gd name="T116" fmla="*/ 20203 w 21600"/>
                <a:gd name="T117" fmla="*/ 18798 h 21600"/>
                <a:gd name="T118" fmla="*/ 20566 w 21600"/>
                <a:gd name="T119" fmla="*/ 19401 h 21600"/>
                <a:gd name="T120" fmla="*/ 20929 w 21600"/>
                <a:gd name="T121" fmla="*/ 20134 h 21600"/>
                <a:gd name="T122" fmla="*/ 21293 w 21600"/>
                <a:gd name="T123" fmla="*/ 20867 h 21600"/>
                <a:gd name="T124" fmla="*/ 21600 w 21600"/>
                <a:gd name="T12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600" h="21600">
                  <a:moveTo>
                    <a:pt x="21600" y="21600"/>
                  </a:moveTo>
                  <a:lnTo>
                    <a:pt x="21321" y="20393"/>
                  </a:lnTo>
                  <a:lnTo>
                    <a:pt x="21041" y="19401"/>
                  </a:lnTo>
                  <a:lnTo>
                    <a:pt x="20790" y="18582"/>
                  </a:lnTo>
                  <a:lnTo>
                    <a:pt x="20454" y="17634"/>
                  </a:lnTo>
                  <a:lnTo>
                    <a:pt x="19951" y="16340"/>
                  </a:lnTo>
                  <a:lnTo>
                    <a:pt x="19420" y="15176"/>
                  </a:lnTo>
                  <a:lnTo>
                    <a:pt x="18750" y="14012"/>
                  </a:lnTo>
                  <a:lnTo>
                    <a:pt x="18079" y="12848"/>
                  </a:lnTo>
                  <a:lnTo>
                    <a:pt x="17381" y="11813"/>
                  </a:lnTo>
                  <a:lnTo>
                    <a:pt x="16514" y="10520"/>
                  </a:lnTo>
                  <a:lnTo>
                    <a:pt x="15844" y="9701"/>
                  </a:lnTo>
                  <a:lnTo>
                    <a:pt x="14866" y="8666"/>
                  </a:lnTo>
                  <a:lnTo>
                    <a:pt x="13832" y="7502"/>
                  </a:lnTo>
                  <a:lnTo>
                    <a:pt x="12770" y="6467"/>
                  </a:lnTo>
                  <a:lnTo>
                    <a:pt x="11960" y="5734"/>
                  </a:lnTo>
                  <a:lnTo>
                    <a:pt x="10814" y="5001"/>
                  </a:lnTo>
                  <a:lnTo>
                    <a:pt x="9836" y="4484"/>
                  </a:lnTo>
                  <a:lnTo>
                    <a:pt x="8830" y="4053"/>
                  </a:lnTo>
                  <a:lnTo>
                    <a:pt x="7740" y="3751"/>
                  </a:lnTo>
                  <a:lnTo>
                    <a:pt x="7098" y="3708"/>
                  </a:lnTo>
                  <a:lnTo>
                    <a:pt x="6343" y="3751"/>
                  </a:lnTo>
                  <a:lnTo>
                    <a:pt x="5756" y="3837"/>
                  </a:lnTo>
                  <a:lnTo>
                    <a:pt x="5225" y="3966"/>
                  </a:lnTo>
                  <a:lnTo>
                    <a:pt x="4750" y="4182"/>
                  </a:lnTo>
                  <a:lnTo>
                    <a:pt x="4750" y="0"/>
                  </a:lnTo>
                  <a:lnTo>
                    <a:pt x="4136" y="1293"/>
                  </a:lnTo>
                  <a:lnTo>
                    <a:pt x="3521" y="2501"/>
                  </a:lnTo>
                  <a:lnTo>
                    <a:pt x="2710" y="4053"/>
                  </a:lnTo>
                  <a:lnTo>
                    <a:pt x="1816" y="5303"/>
                  </a:lnTo>
                  <a:lnTo>
                    <a:pt x="1034" y="6338"/>
                  </a:lnTo>
                  <a:lnTo>
                    <a:pt x="0" y="7286"/>
                  </a:lnTo>
                  <a:lnTo>
                    <a:pt x="950" y="8019"/>
                  </a:lnTo>
                  <a:lnTo>
                    <a:pt x="1956" y="8881"/>
                  </a:lnTo>
                  <a:lnTo>
                    <a:pt x="2990" y="10002"/>
                  </a:lnTo>
                  <a:lnTo>
                    <a:pt x="3800" y="11166"/>
                  </a:lnTo>
                  <a:lnTo>
                    <a:pt x="4275" y="11899"/>
                  </a:lnTo>
                  <a:lnTo>
                    <a:pt x="4806" y="13107"/>
                  </a:lnTo>
                  <a:lnTo>
                    <a:pt x="4806" y="8925"/>
                  </a:lnTo>
                  <a:lnTo>
                    <a:pt x="5756" y="8666"/>
                  </a:lnTo>
                  <a:lnTo>
                    <a:pt x="6650" y="8537"/>
                  </a:lnTo>
                  <a:lnTo>
                    <a:pt x="7684" y="8666"/>
                  </a:lnTo>
                  <a:lnTo>
                    <a:pt x="8690" y="8881"/>
                  </a:lnTo>
                  <a:lnTo>
                    <a:pt x="9836" y="9269"/>
                  </a:lnTo>
                  <a:lnTo>
                    <a:pt x="10870" y="9701"/>
                  </a:lnTo>
                  <a:lnTo>
                    <a:pt x="12323" y="10477"/>
                  </a:lnTo>
                  <a:lnTo>
                    <a:pt x="13524" y="11253"/>
                  </a:lnTo>
                  <a:lnTo>
                    <a:pt x="14558" y="12115"/>
                  </a:lnTo>
                  <a:lnTo>
                    <a:pt x="15704" y="13150"/>
                  </a:lnTo>
                  <a:lnTo>
                    <a:pt x="16207" y="13624"/>
                  </a:lnTo>
                  <a:lnTo>
                    <a:pt x="16710" y="14098"/>
                  </a:lnTo>
                  <a:lnTo>
                    <a:pt x="17129" y="14572"/>
                  </a:lnTo>
                  <a:lnTo>
                    <a:pt x="17520" y="15047"/>
                  </a:lnTo>
                  <a:lnTo>
                    <a:pt x="18275" y="15866"/>
                  </a:lnTo>
                  <a:lnTo>
                    <a:pt x="18778" y="16556"/>
                  </a:lnTo>
                  <a:lnTo>
                    <a:pt x="19169" y="17116"/>
                  </a:lnTo>
                  <a:lnTo>
                    <a:pt x="19532" y="17677"/>
                  </a:lnTo>
                  <a:lnTo>
                    <a:pt x="19895" y="18280"/>
                  </a:lnTo>
                  <a:lnTo>
                    <a:pt x="20203" y="18798"/>
                  </a:lnTo>
                  <a:lnTo>
                    <a:pt x="20566" y="19401"/>
                  </a:lnTo>
                  <a:lnTo>
                    <a:pt x="20929" y="20134"/>
                  </a:lnTo>
                  <a:lnTo>
                    <a:pt x="21293" y="20867"/>
                  </a:lnTo>
                  <a:lnTo>
                    <a:pt x="21600" y="21600"/>
                  </a:lnTo>
                </a:path>
              </a:pathLst>
            </a:cu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2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3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4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504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5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505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6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506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07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1508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2009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251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3011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3512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4013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4514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5015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516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6017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6518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7019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752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8021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5" grpId="0" autoUpdateAnimBg="0"/>
      <p:bldP spid="18447" grpId="0" autoUpdateAnimBg="0"/>
      <p:bldP spid="18449" grpId="0" autoUpdateAnimBg="0"/>
      <p:bldP spid="18451" grpId="0" autoUpdateAnimBg="0"/>
      <p:bldP spid="18453" grpId="0" autoUpdateAnimBg="0"/>
      <p:bldP spid="18455" grpId="0" autoUpdateAnimBg="0"/>
      <p:bldP spid="18457" grpId="0" autoUpdateAnimBg="0"/>
      <p:bldP spid="18459" grpId="0" autoUpdateAnimBg="0"/>
      <p:bldP spid="18464" grpId="0" autoUpdateAnimBg="0"/>
      <p:bldP spid="18465" grpId="0" autoUpdateAnimBg="0"/>
      <p:bldP spid="18466" grpId="0" autoUpdateAnimBg="0"/>
      <p:bldP spid="1846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5F6C83C9-318C-4BC1-9FF4-55B91D84CA4F}"/>
              </a:ext>
            </a:extLst>
          </p:cNvPr>
          <p:cNvSpPr>
            <a:spLocks/>
          </p:cNvSpPr>
          <p:nvPr/>
        </p:nvSpPr>
        <p:spPr bwMode="auto">
          <a:xfrm>
            <a:off x="6927629" y="6173079"/>
            <a:ext cx="1923201" cy="31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algn="r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93">
                <a:solidFill>
                  <a:srgbClr val="CC99FF"/>
                </a:solidFill>
                <a:latin typeface="Comic Sans MS Bold" panose="030F0902030302020204" pitchFamily="66" charset="0"/>
                <a:ea typeface="Comic Sans MS Bold" panose="030F0902030302020204" pitchFamily="66" charset="0"/>
                <a:cs typeface="Comic Sans MS Bold" panose="030F0902030302020204" pitchFamily="66" charset="0"/>
                <a:sym typeface="Comic Sans MS Bold" panose="030F0902030302020204" pitchFamily="66" charset="0"/>
              </a:rPr>
              <a:t>17</a:t>
            </a: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AC89023-C515-4E84-BF63-1D2FF708D79E}"/>
              </a:ext>
            </a:extLst>
          </p:cNvPr>
          <p:cNvSpPr>
            <a:spLocks/>
          </p:cNvSpPr>
          <p:nvPr/>
        </p:nvSpPr>
        <p:spPr bwMode="auto">
          <a:xfrm>
            <a:off x="3280583" y="385886"/>
            <a:ext cx="5417798" cy="809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 anchor="ctr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algn="r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063">
                <a:solidFill>
                  <a:srgbClr val="FF9900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Comic Sans MS" panose="030F0702030302020204" pitchFamily="66" charset="0"/>
                <a:sym typeface="Comic Sans MS" panose="030F0702030302020204" pitchFamily="66" charset="0"/>
              </a:rPr>
              <a:t>   The KDD Process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FF33CB6-8AAD-4832-8D29-55419A023264}"/>
              </a:ext>
            </a:extLst>
          </p:cNvPr>
          <p:cNvSpPr>
            <a:spLocks/>
          </p:cNvSpPr>
          <p:nvPr/>
        </p:nvSpPr>
        <p:spPr bwMode="auto">
          <a:xfrm>
            <a:off x="455882" y="473837"/>
            <a:ext cx="2679582" cy="288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37525" bIns="0"/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77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Data organized by function </a:t>
            </a:r>
          </a:p>
        </p:txBody>
      </p:sp>
      <p:grpSp>
        <p:nvGrpSpPr>
          <p:cNvPr id="19462" name="Group 6">
            <a:extLst>
              <a:ext uri="{FF2B5EF4-FFF2-40B4-BE49-F238E27FC236}">
                <a16:creationId xmlns:a16="http://schemas.microsoft.com/office/drawing/2014/main" id="{539AAA9A-EA54-4376-A607-4DAE1134C7B9}"/>
              </a:ext>
            </a:extLst>
          </p:cNvPr>
          <p:cNvGrpSpPr>
            <a:grpSpLocks/>
          </p:cNvGrpSpPr>
          <p:nvPr/>
        </p:nvGrpSpPr>
        <p:grpSpPr bwMode="auto">
          <a:xfrm>
            <a:off x="686021" y="966365"/>
            <a:ext cx="1433606" cy="562888"/>
            <a:chOff x="0" y="0"/>
            <a:chExt cx="978" cy="384"/>
          </a:xfrm>
        </p:grpSpPr>
        <p:sp>
          <p:nvSpPr>
            <p:cNvPr id="19460" name="Rectangle 4">
              <a:extLst>
                <a:ext uri="{FF2B5EF4-FFF2-40B4-BE49-F238E27FC236}">
                  <a16:creationId xmlns:a16="http://schemas.microsoft.com/office/drawing/2014/main" id="{D029F0EB-305A-40E4-AAC1-CFDDE1A45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78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61" name="Rectangle 5">
              <a:extLst>
                <a:ext uri="{FF2B5EF4-FFF2-40B4-BE49-F238E27FC236}">
                  <a16:creationId xmlns:a16="http://schemas.microsoft.com/office/drawing/2014/main" id="{F107B937-5B37-4415-ACCB-7E52CAC7F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" y="81"/>
              <a:ext cx="90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Create/select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target database</a:t>
              </a:r>
            </a:p>
          </p:txBody>
        </p:sp>
      </p:grpSp>
      <p:grpSp>
        <p:nvGrpSpPr>
          <p:cNvPr id="19465" name="Group 9">
            <a:extLst>
              <a:ext uri="{FF2B5EF4-FFF2-40B4-BE49-F238E27FC236}">
                <a16:creationId xmlns:a16="http://schemas.microsoft.com/office/drawing/2014/main" id="{4EF6660D-2497-4956-8B90-63623E31F422}"/>
              </a:ext>
            </a:extLst>
          </p:cNvPr>
          <p:cNvGrpSpPr>
            <a:grpSpLocks/>
          </p:cNvGrpSpPr>
          <p:nvPr/>
        </p:nvGrpSpPr>
        <p:grpSpPr bwMode="auto">
          <a:xfrm>
            <a:off x="686021" y="1810697"/>
            <a:ext cx="1433606" cy="633249"/>
            <a:chOff x="0" y="0"/>
            <a:chExt cx="978" cy="432"/>
          </a:xfrm>
        </p:grpSpPr>
        <p:sp>
          <p:nvSpPr>
            <p:cNvPr id="19463" name="Rectangle 7">
              <a:extLst>
                <a:ext uri="{FF2B5EF4-FFF2-40B4-BE49-F238E27FC236}">
                  <a16:creationId xmlns:a16="http://schemas.microsoft.com/office/drawing/2014/main" id="{0256E58C-BBB4-4A00-AEDE-8ECCC8EAC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78" cy="43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64" name="Rectangle 8">
              <a:extLst>
                <a:ext uri="{FF2B5EF4-FFF2-40B4-BE49-F238E27FC236}">
                  <a16:creationId xmlns:a16="http://schemas.microsoft.com/office/drawing/2014/main" id="{F682B08F-7C5E-4690-A448-571165474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" y="52"/>
              <a:ext cx="909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Select sampling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technique and 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sample data</a:t>
              </a:r>
            </a:p>
          </p:txBody>
        </p:sp>
      </p:grpSp>
      <p:grpSp>
        <p:nvGrpSpPr>
          <p:cNvPr id="19468" name="Group 12">
            <a:extLst>
              <a:ext uri="{FF2B5EF4-FFF2-40B4-BE49-F238E27FC236}">
                <a16:creationId xmlns:a16="http://schemas.microsoft.com/office/drawing/2014/main" id="{1BC2250F-4CF2-4390-8B30-F5A65E1214B4}"/>
              </a:ext>
            </a:extLst>
          </p:cNvPr>
          <p:cNvGrpSpPr>
            <a:grpSpLocks/>
          </p:cNvGrpSpPr>
          <p:nvPr/>
        </p:nvGrpSpPr>
        <p:grpSpPr bwMode="auto">
          <a:xfrm>
            <a:off x="686021" y="2725390"/>
            <a:ext cx="1433606" cy="562888"/>
            <a:chOff x="0" y="0"/>
            <a:chExt cx="978" cy="384"/>
          </a:xfrm>
        </p:grpSpPr>
        <p:sp>
          <p:nvSpPr>
            <p:cNvPr id="19466" name="Rectangle 10">
              <a:extLst>
                <a:ext uri="{FF2B5EF4-FFF2-40B4-BE49-F238E27FC236}">
                  <a16:creationId xmlns:a16="http://schemas.microsoft.com/office/drawing/2014/main" id="{BBED713E-56EF-4A3E-87F5-D5D8F0D5D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78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67" name="Rectangle 11">
              <a:extLst>
                <a:ext uri="{FF2B5EF4-FFF2-40B4-BE49-F238E27FC236}">
                  <a16:creationId xmlns:a16="http://schemas.microsoft.com/office/drawing/2014/main" id="{B6D28263-340D-41E9-897A-DB0813413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" y="81"/>
              <a:ext cx="923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Supply missing 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values</a:t>
              </a:r>
            </a:p>
          </p:txBody>
        </p:sp>
      </p:grpSp>
      <p:grpSp>
        <p:nvGrpSpPr>
          <p:cNvPr id="19471" name="Group 15">
            <a:extLst>
              <a:ext uri="{FF2B5EF4-FFF2-40B4-BE49-F238E27FC236}">
                <a16:creationId xmlns:a16="http://schemas.microsoft.com/office/drawing/2014/main" id="{3E99CAC7-3667-444D-B86E-922BBE6A3FEF}"/>
              </a:ext>
            </a:extLst>
          </p:cNvPr>
          <p:cNvGrpSpPr>
            <a:grpSpLocks/>
          </p:cNvGrpSpPr>
          <p:nvPr/>
        </p:nvGrpSpPr>
        <p:grpSpPr bwMode="auto">
          <a:xfrm>
            <a:off x="686021" y="3640083"/>
            <a:ext cx="1433606" cy="562888"/>
            <a:chOff x="0" y="0"/>
            <a:chExt cx="978" cy="384"/>
          </a:xfrm>
        </p:grpSpPr>
        <p:sp>
          <p:nvSpPr>
            <p:cNvPr id="19469" name="Rectangle 13">
              <a:extLst>
                <a:ext uri="{FF2B5EF4-FFF2-40B4-BE49-F238E27FC236}">
                  <a16:creationId xmlns:a16="http://schemas.microsoft.com/office/drawing/2014/main" id="{32EC1CFC-8ABB-40BB-8907-24C6EF48B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78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70" name="Rectangle 14">
              <a:extLst>
                <a:ext uri="{FF2B5EF4-FFF2-40B4-BE49-F238E27FC236}">
                  <a16:creationId xmlns:a16="http://schemas.microsoft.com/office/drawing/2014/main" id="{DC87B54E-E2E4-4227-89D0-8CDE76B3B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" y="81"/>
              <a:ext cx="623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Normalize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values</a:t>
              </a:r>
            </a:p>
          </p:txBody>
        </p:sp>
      </p:grpSp>
      <p:grpSp>
        <p:nvGrpSpPr>
          <p:cNvPr id="19474" name="Group 18">
            <a:extLst>
              <a:ext uri="{FF2B5EF4-FFF2-40B4-BE49-F238E27FC236}">
                <a16:creationId xmlns:a16="http://schemas.microsoft.com/office/drawing/2014/main" id="{8156C8F0-E82A-433D-9F95-CB6663F2B1BC}"/>
              </a:ext>
            </a:extLst>
          </p:cNvPr>
          <p:cNvGrpSpPr>
            <a:grpSpLocks/>
          </p:cNvGrpSpPr>
          <p:nvPr/>
        </p:nvGrpSpPr>
        <p:grpSpPr bwMode="auto">
          <a:xfrm>
            <a:off x="686021" y="4554776"/>
            <a:ext cx="1433606" cy="562888"/>
            <a:chOff x="0" y="0"/>
            <a:chExt cx="978" cy="384"/>
          </a:xfrm>
        </p:grpSpPr>
        <p:sp>
          <p:nvSpPr>
            <p:cNvPr id="19472" name="Rectangle 16">
              <a:extLst>
                <a:ext uri="{FF2B5EF4-FFF2-40B4-BE49-F238E27FC236}">
                  <a16:creationId xmlns:a16="http://schemas.microsoft.com/office/drawing/2014/main" id="{FD2218E5-D7E3-482C-AB7A-40B4BFA0C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78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73" name="Rectangle 17">
              <a:extLst>
                <a:ext uri="{FF2B5EF4-FFF2-40B4-BE49-F238E27FC236}">
                  <a16:creationId xmlns:a16="http://schemas.microsoft.com/office/drawing/2014/main" id="{A21415CE-1D54-4310-991D-938021B74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" y="81"/>
              <a:ext cx="65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Select DM 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task (s)</a:t>
              </a:r>
            </a:p>
          </p:txBody>
        </p:sp>
      </p:grpSp>
      <p:grpSp>
        <p:nvGrpSpPr>
          <p:cNvPr id="19477" name="Group 21">
            <a:extLst>
              <a:ext uri="{FF2B5EF4-FFF2-40B4-BE49-F238E27FC236}">
                <a16:creationId xmlns:a16="http://schemas.microsoft.com/office/drawing/2014/main" id="{899887D2-A1A9-4B3E-8A5C-10C0EA25C9E2}"/>
              </a:ext>
            </a:extLst>
          </p:cNvPr>
          <p:cNvGrpSpPr>
            <a:grpSpLocks/>
          </p:cNvGrpSpPr>
          <p:nvPr/>
        </p:nvGrpSpPr>
        <p:grpSpPr bwMode="auto">
          <a:xfrm>
            <a:off x="686021" y="5469469"/>
            <a:ext cx="1433606" cy="633249"/>
            <a:chOff x="0" y="0"/>
            <a:chExt cx="978" cy="432"/>
          </a:xfrm>
        </p:grpSpPr>
        <p:sp>
          <p:nvSpPr>
            <p:cNvPr id="19475" name="Rectangle 19">
              <a:extLst>
                <a:ext uri="{FF2B5EF4-FFF2-40B4-BE49-F238E27FC236}">
                  <a16:creationId xmlns:a16="http://schemas.microsoft.com/office/drawing/2014/main" id="{6EC75A61-8E85-499A-9669-3F29F890E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78" cy="43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76" name="Rectangle 20">
              <a:extLst>
                <a:ext uri="{FF2B5EF4-FFF2-40B4-BE49-F238E27FC236}">
                  <a16:creationId xmlns:a16="http://schemas.microsoft.com/office/drawing/2014/main" id="{79180477-908C-460F-B7AE-50F4E1E6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" y="52"/>
              <a:ext cx="84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Transform to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different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representation</a:t>
              </a:r>
            </a:p>
          </p:txBody>
        </p:sp>
      </p:grpSp>
      <p:sp>
        <p:nvSpPr>
          <p:cNvPr id="19478" name="Line 22">
            <a:extLst>
              <a:ext uri="{FF2B5EF4-FFF2-40B4-BE49-F238E27FC236}">
                <a16:creationId xmlns:a16="http://schemas.microsoft.com/office/drawing/2014/main" id="{AC1A16CC-270E-4BF8-BE01-6881744327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8265" y="1529253"/>
            <a:ext cx="1466" cy="281444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479" name="Line 23">
            <a:extLst>
              <a:ext uri="{FF2B5EF4-FFF2-40B4-BE49-F238E27FC236}">
                <a16:creationId xmlns:a16="http://schemas.microsoft.com/office/drawing/2014/main" id="{3715113A-B534-474C-AEB3-585A0859B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8265" y="2443946"/>
            <a:ext cx="1466" cy="281444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480" name="Line 24">
            <a:extLst>
              <a:ext uri="{FF2B5EF4-FFF2-40B4-BE49-F238E27FC236}">
                <a16:creationId xmlns:a16="http://schemas.microsoft.com/office/drawing/2014/main" id="{962AF510-EB26-4D13-97E7-E017A34937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8265" y="3288278"/>
            <a:ext cx="1466" cy="351805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19483" name="Group 27">
            <a:extLst>
              <a:ext uri="{FF2B5EF4-FFF2-40B4-BE49-F238E27FC236}">
                <a16:creationId xmlns:a16="http://schemas.microsoft.com/office/drawing/2014/main" id="{EBD4AF9F-5EC4-409F-853D-B21C3B0FC9A3}"/>
              </a:ext>
            </a:extLst>
          </p:cNvPr>
          <p:cNvGrpSpPr>
            <a:grpSpLocks/>
          </p:cNvGrpSpPr>
          <p:nvPr/>
        </p:nvGrpSpPr>
        <p:grpSpPr bwMode="auto">
          <a:xfrm>
            <a:off x="2513941" y="2725390"/>
            <a:ext cx="1448264" cy="562888"/>
            <a:chOff x="0" y="0"/>
            <a:chExt cx="988" cy="384"/>
          </a:xfrm>
        </p:grpSpPr>
        <p:sp>
          <p:nvSpPr>
            <p:cNvPr id="19481" name="Rectangle 25">
              <a:extLst>
                <a:ext uri="{FF2B5EF4-FFF2-40B4-BE49-F238E27FC236}">
                  <a16:creationId xmlns:a16="http://schemas.microsoft.com/office/drawing/2014/main" id="{33E397B4-CDF2-4347-BA93-83B162682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88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82" name="Rectangle 26">
              <a:extLst>
                <a:ext uri="{FF2B5EF4-FFF2-40B4-BE49-F238E27FC236}">
                  <a16:creationId xmlns:a16="http://schemas.microsoft.com/office/drawing/2014/main" id="{AC9FAC7B-FDDB-40D6-8F97-6795ED069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" y="81"/>
              <a:ext cx="61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Eliminate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noisy data</a:t>
              </a:r>
            </a:p>
          </p:txBody>
        </p:sp>
      </p:grpSp>
      <p:grpSp>
        <p:nvGrpSpPr>
          <p:cNvPr id="19486" name="Group 30">
            <a:extLst>
              <a:ext uri="{FF2B5EF4-FFF2-40B4-BE49-F238E27FC236}">
                <a16:creationId xmlns:a16="http://schemas.microsoft.com/office/drawing/2014/main" id="{2C7F947B-10C6-4877-9448-81EC44E760E8}"/>
              </a:ext>
            </a:extLst>
          </p:cNvPr>
          <p:cNvGrpSpPr>
            <a:grpSpLocks/>
          </p:cNvGrpSpPr>
          <p:nvPr/>
        </p:nvGrpSpPr>
        <p:grpSpPr bwMode="auto">
          <a:xfrm>
            <a:off x="2513941" y="3640083"/>
            <a:ext cx="1448264" cy="562888"/>
            <a:chOff x="0" y="0"/>
            <a:chExt cx="988" cy="384"/>
          </a:xfrm>
        </p:grpSpPr>
        <p:sp>
          <p:nvSpPr>
            <p:cNvPr id="19484" name="Rectangle 28">
              <a:extLst>
                <a:ext uri="{FF2B5EF4-FFF2-40B4-BE49-F238E27FC236}">
                  <a16:creationId xmlns:a16="http://schemas.microsoft.com/office/drawing/2014/main" id="{6E3C07C4-E25C-4B08-94AD-AE74E5B00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88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85" name="Rectangle 29">
              <a:extLst>
                <a:ext uri="{FF2B5EF4-FFF2-40B4-BE49-F238E27FC236}">
                  <a16:creationId xmlns:a16="http://schemas.microsoft.com/office/drawing/2014/main" id="{CCED967C-0315-40FE-8592-EF2E62887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81"/>
              <a:ext cx="643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Transform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values</a:t>
              </a:r>
            </a:p>
          </p:txBody>
        </p:sp>
      </p:grpSp>
      <p:grpSp>
        <p:nvGrpSpPr>
          <p:cNvPr id="19489" name="Group 33">
            <a:extLst>
              <a:ext uri="{FF2B5EF4-FFF2-40B4-BE49-F238E27FC236}">
                <a16:creationId xmlns:a16="http://schemas.microsoft.com/office/drawing/2014/main" id="{1E9860C9-5F8B-4B28-BD90-90CB80A36B94}"/>
              </a:ext>
            </a:extLst>
          </p:cNvPr>
          <p:cNvGrpSpPr>
            <a:grpSpLocks/>
          </p:cNvGrpSpPr>
          <p:nvPr/>
        </p:nvGrpSpPr>
        <p:grpSpPr bwMode="auto">
          <a:xfrm>
            <a:off x="2513941" y="4554776"/>
            <a:ext cx="1448264" cy="562888"/>
            <a:chOff x="0" y="0"/>
            <a:chExt cx="988" cy="384"/>
          </a:xfrm>
        </p:grpSpPr>
        <p:sp>
          <p:nvSpPr>
            <p:cNvPr id="19487" name="Rectangle 31">
              <a:extLst>
                <a:ext uri="{FF2B5EF4-FFF2-40B4-BE49-F238E27FC236}">
                  <a16:creationId xmlns:a16="http://schemas.microsoft.com/office/drawing/2014/main" id="{4F130C9D-7940-4815-8E62-0F8695167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88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88" name="Rectangle 32">
              <a:extLst>
                <a:ext uri="{FF2B5EF4-FFF2-40B4-BE49-F238E27FC236}">
                  <a16:creationId xmlns:a16="http://schemas.microsoft.com/office/drawing/2014/main" id="{9DAE4FCF-3603-4B00-9B1D-B84BB2D85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" y="81"/>
              <a:ext cx="65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Select DM 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method (s)</a:t>
              </a:r>
            </a:p>
          </p:txBody>
        </p:sp>
      </p:grpSp>
      <p:sp>
        <p:nvSpPr>
          <p:cNvPr id="19490" name="Line 34">
            <a:extLst>
              <a:ext uri="{FF2B5EF4-FFF2-40B4-BE49-F238E27FC236}">
                <a16:creationId xmlns:a16="http://schemas.microsoft.com/office/drawing/2014/main" id="{BA8DD41F-887E-44A8-BBAC-0ACFC2CC4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8265" y="2443946"/>
            <a:ext cx="1751697" cy="281444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19493" name="Group 37">
            <a:extLst>
              <a:ext uri="{FF2B5EF4-FFF2-40B4-BE49-F238E27FC236}">
                <a16:creationId xmlns:a16="http://schemas.microsoft.com/office/drawing/2014/main" id="{C683D475-F4C2-42B5-A0B4-9D9ACD26E775}"/>
              </a:ext>
            </a:extLst>
          </p:cNvPr>
          <p:cNvGrpSpPr>
            <a:grpSpLocks/>
          </p:cNvGrpSpPr>
          <p:nvPr/>
        </p:nvGrpSpPr>
        <p:grpSpPr bwMode="auto">
          <a:xfrm>
            <a:off x="4419552" y="3640083"/>
            <a:ext cx="1372040" cy="562888"/>
            <a:chOff x="0" y="0"/>
            <a:chExt cx="936" cy="384"/>
          </a:xfrm>
        </p:grpSpPr>
        <p:sp>
          <p:nvSpPr>
            <p:cNvPr id="19491" name="Rectangle 35">
              <a:extLst>
                <a:ext uri="{FF2B5EF4-FFF2-40B4-BE49-F238E27FC236}">
                  <a16:creationId xmlns:a16="http://schemas.microsoft.com/office/drawing/2014/main" id="{484FBBAD-19AE-41D7-8A4B-559A25E4A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36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92" name="Rectangle 36">
              <a:extLst>
                <a:ext uri="{FF2B5EF4-FFF2-40B4-BE49-F238E27FC236}">
                  <a16:creationId xmlns:a16="http://schemas.microsoft.com/office/drawing/2014/main" id="{BFF029F8-3498-4DE0-BC58-9FA47DB5A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" y="81"/>
              <a:ext cx="86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Create derived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attributes</a:t>
              </a:r>
            </a:p>
          </p:txBody>
        </p:sp>
      </p:grpSp>
      <p:grpSp>
        <p:nvGrpSpPr>
          <p:cNvPr id="19496" name="Group 40">
            <a:extLst>
              <a:ext uri="{FF2B5EF4-FFF2-40B4-BE49-F238E27FC236}">
                <a16:creationId xmlns:a16="http://schemas.microsoft.com/office/drawing/2014/main" id="{0798DD88-0ED6-4101-B9FB-9BEF09535006}"/>
              </a:ext>
            </a:extLst>
          </p:cNvPr>
          <p:cNvGrpSpPr>
            <a:grpSpLocks/>
          </p:cNvGrpSpPr>
          <p:nvPr/>
        </p:nvGrpSpPr>
        <p:grpSpPr bwMode="auto">
          <a:xfrm>
            <a:off x="4419552" y="4554776"/>
            <a:ext cx="1372040" cy="562888"/>
            <a:chOff x="0" y="0"/>
            <a:chExt cx="936" cy="384"/>
          </a:xfrm>
        </p:grpSpPr>
        <p:sp>
          <p:nvSpPr>
            <p:cNvPr id="19494" name="Rectangle 38">
              <a:extLst>
                <a:ext uri="{FF2B5EF4-FFF2-40B4-BE49-F238E27FC236}">
                  <a16:creationId xmlns:a16="http://schemas.microsoft.com/office/drawing/2014/main" id="{CE5065A1-4137-42A0-A2E9-5BFB00EC9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36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95" name="Rectangle 39">
              <a:extLst>
                <a:ext uri="{FF2B5EF4-FFF2-40B4-BE49-F238E27FC236}">
                  <a16:creationId xmlns:a16="http://schemas.microsoft.com/office/drawing/2014/main" id="{CF682344-CBAA-47D3-8FDE-8C425F235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" y="81"/>
              <a:ext cx="64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Extract 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knowledge</a:t>
              </a:r>
            </a:p>
          </p:txBody>
        </p:sp>
      </p:grpSp>
      <p:grpSp>
        <p:nvGrpSpPr>
          <p:cNvPr id="19499" name="Group 43">
            <a:extLst>
              <a:ext uri="{FF2B5EF4-FFF2-40B4-BE49-F238E27FC236}">
                <a16:creationId xmlns:a16="http://schemas.microsoft.com/office/drawing/2014/main" id="{FAA46B18-9CB7-4AE8-AFAD-A256E3B84622}"/>
              </a:ext>
            </a:extLst>
          </p:cNvPr>
          <p:cNvGrpSpPr>
            <a:grpSpLocks/>
          </p:cNvGrpSpPr>
          <p:nvPr/>
        </p:nvGrpSpPr>
        <p:grpSpPr bwMode="auto">
          <a:xfrm>
            <a:off x="6171248" y="3640083"/>
            <a:ext cx="1370574" cy="562888"/>
            <a:chOff x="2" y="12"/>
            <a:chExt cx="935" cy="384"/>
          </a:xfrm>
        </p:grpSpPr>
        <p:sp>
          <p:nvSpPr>
            <p:cNvPr id="19497" name="Rectangle 41">
              <a:extLst>
                <a:ext uri="{FF2B5EF4-FFF2-40B4-BE49-F238E27FC236}">
                  <a16:creationId xmlns:a16="http://schemas.microsoft.com/office/drawing/2014/main" id="{BCF01524-2C6F-49C3-9786-F5A47BF42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" y="12"/>
              <a:ext cx="935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498" name="Rectangle 42">
              <a:extLst>
                <a:ext uri="{FF2B5EF4-FFF2-40B4-BE49-F238E27FC236}">
                  <a16:creationId xmlns:a16="http://schemas.microsoft.com/office/drawing/2014/main" id="{C5021F8C-148E-4099-878E-34B1D4768D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" y="40"/>
              <a:ext cx="90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Find important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attributes &amp;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value ranges</a:t>
              </a:r>
            </a:p>
          </p:txBody>
        </p:sp>
      </p:grpSp>
      <p:grpSp>
        <p:nvGrpSpPr>
          <p:cNvPr id="19502" name="Group 46">
            <a:extLst>
              <a:ext uri="{FF2B5EF4-FFF2-40B4-BE49-F238E27FC236}">
                <a16:creationId xmlns:a16="http://schemas.microsoft.com/office/drawing/2014/main" id="{6756FB88-070F-4863-A197-4DFF312A16A7}"/>
              </a:ext>
            </a:extLst>
          </p:cNvPr>
          <p:cNvGrpSpPr>
            <a:grpSpLocks/>
          </p:cNvGrpSpPr>
          <p:nvPr/>
        </p:nvGrpSpPr>
        <p:grpSpPr bwMode="auto">
          <a:xfrm>
            <a:off x="6172714" y="4554776"/>
            <a:ext cx="1218125" cy="562888"/>
            <a:chOff x="0" y="0"/>
            <a:chExt cx="831" cy="384"/>
          </a:xfrm>
        </p:grpSpPr>
        <p:sp>
          <p:nvSpPr>
            <p:cNvPr id="19500" name="Rectangle 44">
              <a:extLst>
                <a:ext uri="{FF2B5EF4-FFF2-40B4-BE49-F238E27FC236}">
                  <a16:creationId xmlns:a16="http://schemas.microsoft.com/office/drawing/2014/main" id="{7E8727D0-01C8-48FD-A202-304F49E2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831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501" name="Rectangle 45">
              <a:extLst>
                <a:ext uri="{FF2B5EF4-FFF2-40B4-BE49-F238E27FC236}">
                  <a16:creationId xmlns:a16="http://schemas.microsoft.com/office/drawing/2014/main" id="{68C4EF4F-1BB2-4F7C-A6F6-50B2097AE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81"/>
              <a:ext cx="640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Test 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knowledge</a:t>
              </a:r>
            </a:p>
          </p:txBody>
        </p:sp>
      </p:grpSp>
      <p:grpSp>
        <p:nvGrpSpPr>
          <p:cNvPr id="19505" name="Group 49">
            <a:extLst>
              <a:ext uri="{FF2B5EF4-FFF2-40B4-BE49-F238E27FC236}">
                <a16:creationId xmlns:a16="http://schemas.microsoft.com/office/drawing/2014/main" id="{04638954-6D80-476D-A487-41E2502ADD67}"/>
              </a:ext>
            </a:extLst>
          </p:cNvPr>
          <p:cNvGrpSpPr>
            <a:grpSpLocks/>
          </p:cNvGrpSpPr>
          <p:nvPr/>
        </p:nvGrpSpPr>
        <p:grpSpPr bwMode="auto">
          <a:xfrm>
            <a:off x="7770500" y="4554776"/>
            <a:ext cx="992375" cy="562888"/>
            <a:chOff x="2" y="0"/>
            <a:chExt cx="676" cy="384"/>
          </a:xfrm>
        </p:grpSpPr>
        <p:sp>
          <p:nvSpPr>
            <p:cNvPr id="19503" name="Rectangle 47">
              <a:extLst>
                <a:ext uri="{FF2B5EF4-FFF2-40B4-BE49-F238E27FC236}">
                  <a16:creationId xmlns:a16="http://schemas.microsoft.com/office/drawing/2014/main" id="{A8D3AA92-4503-442F-8939-3374C50C5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" y="0"/>
              <a:ext cx="676" cy="384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pPr defTabSz="844357" fontAlgn="base">
                <a:spcBef>
                  <a:spcPct val="0"/>
                </a:spcBef>
                <a:spcAft>
                  <a:spcPct val="0"/>
                </a:spcAft>
              </a:pPr>
              <a:endParaRPr lang="en-GB" sz="1662">
                <a:solidFill>
                  <a:srgbClr val="FFFFFF"/>
                </a:solidFill>
                <a:latin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  <p:sp>
          <p:nvSpPr>
            <p:cNvPr id="19504" name="Rectangle 48">
              <a:extLst>
                <a:ext uri="{FF2B5EF4-FFF2-40B4-BE49-F238E27FC236}">
                  <a16:creationId xmlns:a16="http://schemas.microsoft.com/office/drawing/2014/main" id="{1F29DF4F-A914-4CF6-905D-D19708BD3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" y="81"/>
              <a:ext cx="639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37525" bIns="0" anchor="ctr">
              <a:spAutoFit/>
            </a:bodyPr>
            <a:lstStyle>
              <a:lvl1pPr marL="39688"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Refine </a:t>
              </a:r>
            </a:p>
            <a:p>
              <a:pPr marL="36648" algn="ctr" defTabSz="844357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77">
                  <a:solidFill>
                    <a:srgbClr val="000000"/>
                  </a:solidFill>
                  <a:latin typeface="Times New Roman Bold" panose="02020803070505020304" pitchFamily="18" charset="0"/>
                  <a:cs typeface="Times New Roman Bold" panose="02020803070505020304" pitchFamily="18" charset="0"/>
                  <a:sym typeface="Times New Roman Bold" panose="02020803070505020304" pitchFamily="18" charset="0"/>
                </a:rPr>
                <a:t>knowledge</a:t>
              </a:r>
            </a:p>
          </p:txBody>
        </p:sp>
      </p:grpSp>
      <p:sp>
        <p:nvSpPr>
          <p:cNvPr id="19506" name="Line 50">
            <a:extLst>
              <a:ext uri="{FF2B5EF4-FFF2-40B4-BE49-F238E27FC236}">
                <a16:creationId xmlns:a16="http://schemas.microsoft.com/office/drawing/2014/main" id="{A649CEE4-EA33-4D17-BDBC-A8813E593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490" y="3288278"/>
            <a:ext cx="1675472" cy="281444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07" name="Line 51">
            <a:extLst>
              <a:ext uri="{FF2B5EF4-FFF2-40B4-BE49-F238E27FC236}">
                <a16:creationId xmlns:a16="http://schemas.microsoft.com/office/drawing/2014/main" id="{D4CAB72C-C685-49DE-BEF0-5867E6D0C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285" y="3921527"/>
            <a:ext cx="379657" cy="146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08" name="Line 52">
            <a:extLst>
              <a:ext uri="{FF2B5EF4-FFF2-40B4-BE49-F238E27FC236}">
                <a16:creationId xmlns:a16="http://schemas.microsoft.com/office/drawing/2014/main" id="{C1BE8783-ECA5-4B8B-9512-1A4B2910FE6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8610430" y="1177447"/>
            <a:ext cx="1466" cy="3377329"/>
          </a:xfrm>
          <a:prstGeom prst="line">
            <a:avLst/>
          </a:prstGeom>
          <a:noFill/>
          <a:ln w="635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09" name="Line 53">
            <a:extLst>
              <a:ext uri="{FF2B5EF4-FFF2-40B4-BE49-F238E27FC236}">
                <a16:creationId xmlns:a16="http://schemas.microsoft.com/office/drawing/2014/main" id="{E210F484-1F88-4874-B09C-2CB66FD68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205" y="3921527"/>
            <a:ext cx="457347" cy="146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0" name="Line 54">
            <a:extLst>
              <a:ext uri="{FF2B5EF4-FFF2-40B4-BE49-F238E27FC236}">
                <a16:creationId xmlns:a16="http://schemas.microsoft.com/office/drawing/2014/main" id="{8F01B2D7-EEAC-4EF4-A256-45E13BD12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592" y="3921527"/>
            <a:ext cx="381122" cy="146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1" name="Line 55">
            <a:extLst>
              <a:ext uri="{FF2B5EF4-FFF2-40B4-BE49-F238E27FC236}">
                <a16:creationId xmlns:a16="http://schemas.microsoft.com/office/drawing/2014/main" id="{F3CF04D2-9216-4154-A7A1-A45C8DBB2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837" y="4202971"/>
            <a:ext cx="1465" cy="140722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2" name="Line 56">
            <a:extLst>
              <a:ext uri="{FF2B5EF4-FFF2-40B4-BE49-F238E27FC236}">
                <a16:creationId xmlns:a16="http://schemas.microsoft.com/office/drawing/2014/main" id="{5EEB62AE-8980-4A0D-9ADF-62898BE37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2041" y="4343693"/>
            <a:ext cx="5181796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3" name="Line 57">
            <a:extLst>
              <a:ext uri="{FF2B5EF4-FFF2-40B4-BE49-F238E27FC236}">
                <a16:creationId xmlns:a16="http://schemas.microsoft.com/office/drawing/2014/main" id="{0B12BB28-C8C5-4106-B143-B2ED22FC4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2040" y="4343693"/>
            <a:ext cx="1466" cy="211083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4" name="Line 58">
            <a:extLst>
              <a:ext uri="{FF2B5EF4-FFF2-40B4-BE49-F238E27FC236}">
                <a16:creationId xmlns:a16="http://schemas.microsoft.com/office/drawing/2014/main" id="{5E3075F4-1C39-4B71-B4A6-EDE53CF7A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285" y="4836220"/>
            <a:ext cx="379657" cy="146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5" name="Line 59">
            <a:extLst>
              <a:ext uri="{FF2B5EF4-FFF2-40B4-BE49-F238E27FC236}">
                <a16:creationId xmlns:a16="http://schemas.microsoft.com/office/drawing/2014/main" id="{5C4138D6-2925-4E79-A0D2-FD07727526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205" y="4836220"/>
            <a:ext cx="457347" cy="146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6" name="Line 60">
            <a:extLst>
              <a:ext uri="{FF2B5EF4-FFF2-40B4-BE49-F238E27FC236}">
                <a16:creationId xmlns:a16="http://schemas.microsoft.com/office/drawing/2014/main" id="{53E8A5A2-F01B-4019-9BEE-502F78387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592" y="4836220"/>
            <a:ext cx="381122" cy="146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7" name="Line 61">
            <a:extLst>
              <a:ext uri="{FF2B5EF4-FFF2-40B4-BE49-F238E27FC236}">
                <a16:creationId xmlns:a16="http://schemas.microsoft.com/office/drawing/2014/main" id="{75B4268C-F1E3-465F-B75F-A2A7D1EF4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0839" y="4836220"/>
            <a:ext cx="381122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8" name="Line 62">
            <a:extLst>
              <a:ext uri="{FF2B5EF4-FFF2-40B4-BE49-F238E27FC236}">
                <a16:creationId xmlns:a16="http://schemas.microsoft.com/office/drawing/2014/main" id="{A1CD4393-6768-4E48-889D-7ACC6ED87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430" y="5117664"/>
            <a:ext cx="1466" cy="351805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19" name="Line 63">
            <a:extLst>
              <a:ext uri="{FF2B5EF4-FFF2-40B4-BE49-F238E27FC236}">
                <a16:creationId xmlns:a16="http://schemas.microsoft.com/office/drawing/2014/main" id="{B1EB608D-AEC4-481D-BB43-6D93152D5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347" y="5469470"/>
            <a:ext cx="3581082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0" name="Line 64">
            <a:extLst>
              <a:ext uri="{FF2B5EF4-FFF2-40B4-BE49-F238E27FC236}">
                <a16:creationId xmlns:a16="http://schemas.microsoft.com/office/drawing/2014/main" id="{9830F250-DE54-4190-B048-019326FCB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348" y="5117664"/>
            <a:ext cx="1465" cy="351805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1" name="Line 65">
            <a:extLst>
              <a:ext uri="{FF2B5EF4-FFF2-40B4-BE49-F238E27FC236}">
                <a16:creationId xmlns:a16="http://schemas.microsoft.com/office/drawing/2014/main" id="{166D71DD-16DE-4979-AA44-5EEBAA9A55D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103" y="5117664"/>
            <a:ext cx="1466" cy="70361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2" name="Line 66">
            <a:extLst>
              <a:ext uri="{FF2B5EF4-FFF2-40B4-BE49-F238E27FC236}">
                <a16:creationId xmlns:a16="http://schemas.microsoft.com/office/drawing/2014/main" id="{6F76C505-153B-43E4-967E-D7402BA37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285" y="5821275"/>
            <a:ext cx="6704818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3" name="Line 67">
            <a:extLst>
              <a:ext uri="{FF2B5EF4-FFF2-40B4-BE49-F238E27FC236}">
                <a16:creationId xmlns:a16="http://schemas.microsoft.com/office/drawing/2014/main" id="{CBD6C29C-6860-4871-AB00-0677835FA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285" y="1177448"/>
            <a:ext cx="6476145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4" name="Line 68">
            <a:extLst>
              <a:ext uri="{FF2B5EF4-FFF2-40B4-BE49-F238E27FC236}">
                <a16:creationId xmlns:a16="http://schemas.microsoft.com/office/drawing/2014/main" id="{58C0E16B-F8DB-407F-A838-22EAE8D2DC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4285" y="2162502"/>
            <a:ext cx="6476145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5" name="Line 69">
            <a:extLst>
              <a:ext uri="{FF2B5EF4-FFF2-40B4-BE49-F238E27FC236}">
                <a16:creationId xmlns:a16="http://schemas.microsoft.com/office/drawing/2014/main" id="{9D7024C3-A143-4CFA-A6AD-FC7FF6A690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0838" y="4695498"/>
            <a:ext cx="304898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6" name="Line 70">
            <a:extLst>
              <a:ext uri="{FF2B5EF4-FFF2-40B4-BE49-F238E27FC236}">
                <a16:creationId xmlns:a16="http://schemas.microsoft.com/office/drawing/2014/main" id="{7118FBC1-7033-4370-9329-D8FBC2B63B78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7695736" y="1177447"/>
            <a:ext cx="1466" cy="3518051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7" name="Line 71">
            <a:extLst>
              <a:ext uri="{FF2B5EF4-FFF2-40B4-BE49-F238E27FC236}">
                <a16:creationId xmlns:a16="http://schemas.microsoft.com/office/drawing/2014/main" id="{C69AA050-226E-4F2E-B9EF-98330A54F8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5941" y="4343693"/>
            <a:ext cx="1524489" cy="1466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8" name="Line 72">
            <a:extLst>
              <a:ext uri="{FF2B5EF4-FFF2-40B4-BE49-F238E27FC236}">
                <a16:creationId xmlns:a16="http://schemas.microsoft.com/office/drawing/2014/main" id="{EF0A5249-5449-4C28-A4D2-A231F3774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5941" y="4343693"/>
            <a:ext cx="1466" cy="211083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29" name="Rectangle 73">
            <a:extLst>
              <a:ext uri="{FF2B5EF4-FFF2-40B4-BE49-F238E27FC236}">
                <a16:creationId xmlns:a16="http://schemas.microsoft.com/office/drawing/2014/main" id="{ECB0BBA3-1096-4E76-A0F0-954474C4F359}"/>
              </a:ext>
            </a:extLst>
          </p:cNvPr>
          <p:cNvSpPr>
            <a:spLocks/>
          </p:cNvSpPr>
          <p:nvPr/>
        </p:nvSpPr>
        <p:spPr bwMode="auto">
          <a:xfrm>
            <a:off x="2286733" y="5258387"/>
            <a:ext cx="2261385" cy="73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77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Query &amp; report generation</a:t>
            </a:r>
          </a:p>
          <a:p>
            <a:pPr marL="36648" defTabSz="844357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77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Aggregation &amp; sequences</a:t>
            </a:r>
          </a:p>
          <a:p>
            <a:pPr marL="36648" defTabSz="844357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77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Advanced methods</a:t>
            </a:r>
          </a:p>
        </p:txBody>
      </p:sp>
      <p:sp>
        <p:nvSpPr>
          <p:cNvPr id="19530" name="AutoShape 74">
            <a:extLst>
              <a:ext uri="{FF2B5EF4-FFF2-40B4-BE49-F238E27FC236}">
                <a16:creationId xmlns:a16="http://schemas.microsoft.com/office/drawing/2014/main" id="{802F8E06-3DA0-4676-9ED4-7CD04A741642}"/>
              </a:ext>
            </a:extLst>
          </p:cNvPr>
          <p:cNvSpPr>
            <a:spLocks/>
          </p:cNvSpPr>
          <p:nvPr/>
        </p:nvSpPr>
        <p:spPr bwMode="auto">
          <a:xfrm>
            <a:off x="1219591" y="755282"/>
            <a:ext cx="304898" cy="21108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  <a:moveTo>
                  <a:pt x="0" y="16200"/>
                </a:moveTo>
              </a:path>
            </a:pathLst>
          </a:custGeom>
          <a:solidFill>
            <a:srgbClr val="66CCFF"/>
          </a:solidFill>
          <a:ln w="38100" cap="flat">
            <a:solidFill>
              <a:srgbClr val="66CC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31" name="Rectangle 75">
            <a:extLst>
              <a:ext uri="{FF2B5EF4-FFF2-40B4-BE49-F238E27FC236}">
                <a16:creationId xmlns:a16="http://schemas.microsoft.com/office/drawing/2014/main" id="{F988323D-9824-43CE-AE88-4053688D8FC3}"/>
              </a:ext>
            </a:extLst>
          </p:cNvPr>
          <p:cNvSpPr>
            <a:spLocks/>
          </p:cNvSpPr>
          <p:nvPr/>
        </p:nvSpPr>
        <p:spPr bwMode="auto">
          <a:xfrm>
            <a:off x="2286734" y="1247809"/>
            <a:ext cx="2234327" cy="340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216">
                <a:solidFill>
                  <a:srgbClr val="FFCC66"/>
                </a:solidFill>
                <a:latin typeface="Times New Roman Bold Italic" panose="02020703060505090304" pitchFamily="18" charset="0"/>
                <a:cs typeface="Times New Roman Bold Italic" panose="02020703060505090304" pitchFamily="18" charset="0"/>
                <a:sym typeface="Times New Roman Bold Italic" panose="02020703060505090304" pitchFamily="18" charset="0"/>
              </a:rPr>
              <a:t>Data warehousing</a:t>
            </a:r>
          </a:p>
        </p:txBody>
      </p:sp>
      <p:sp>
        <p:nvSpPr>
          <p:cNvPr id="19532" name="AutoShape 76">
            <a:extLst>
              <a:ext uri="{FF2B5EF4-FFF2-40B4-BE49-F238E27FC236}">
                <a16:creationId xmlns:a16="http://schemas.microsoft.com/office/drawing/2014/main" id="{D07A33D7-85E9-4361-9A51-98742404448D}"/>
              </a:ext>
            </a:extLst>
          </p:cNvPr>
          <p:cNvSpPr>
            <a:spLocks/>
          </p:cNvSpPr>
          <p:nvPr/>
        </p:nvSpPr>
        <p:spPr bwMode="auto">
          <a:xfrm>
            <a:off x="6020265" y="4484415"/>
            <a:ext cx="2895062" cy="63324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87" y="0"/>
                </a:moveTo>
                <a:cubicBezTo>
                  <a:pt x="570" y="0"/>
                  <a:pt x="394" y="806"/>
                  <a:pt x="394" y="1800"/>
                </a:cubicBezTo>
                <a:lnTo>
                  <a:pt x="394" y="9000"/>
                </a:lnTo>
                <a:cubicBezTo>
                  <a:pt x="394" y="9994"/>
                  <a:pt x="217" y="10800"/>
                  <a:pt x="0" y="10800"/>
                </a:cubicBezTo>
                <a:cubicBezTo>
                  <a:pt x="217" y="10800"/>
                  <a:pt x="394" y="11606"/>
                  <a:pt x="394" y="12600"/>
                </a:cubicBezTo>
                <a:lnTo>
                  <a:pt x="394" y="19800"/>
                </a:lnTo>
                <a:cubicBezTo>
                  <a:pt x="394" y="20794"/>
                  <a:pt x="570" y="21600"/>
                  <a:pt x="787" y="21600"/>
                </a:cubicBezTo>
                <a:moveTo>
                  <a:pt x="20813" y="0"/>
                </a:moveTo>
                <a:cubicBezTo>
                  <a:pt x="21030" y="0"/>
                  <a:pt x="21206" y="806"/>
                  <a:pt x="21206" y="1800"/>
                </a:cubicBezTo>
                <a:lnTo>
                  <a:pt x="21206" y="9000"/>
                </a:lnTo>
                <a:cubicBezTo>
                  <a:pt x="21206" y="9994"/>
                  <a:pt x="21383" y="10800"/>
                  <a:pt x="21600" y="10800"/>
                </a:cubicBezTo>
                <a:cubicBezTo>
                  <a:pt x="21383" y="10800"/>
                  <a:pt x="21206" y="11606"/>
                  <a:pt x="21206" y="12600"/>
                </a:cubicBezTo>
                <a:lnTo>
                  <a:pt x="21206" y="19800"/>
                </a:lnTo>
                <a:cubicBezTo>
                  <a:pt x="21206" y="20794"/>
                  <a:pt x="21030" y="21600"/>
                  <a:pt x="20813" y="21600"/>
                </a:cubicBezTo>
              </a:path>
            </a:pathLst>
          </a:custGeom>
          <a:noFill/>
          <a:ln w="28575" cap="flat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33" name="Oval 77">
            <a:extLst>
              <a:ext uri="{FF2B5EF4-FFF2-40B4-BE49-F238E27FC236}">
                <a16:creationId xmlns:a16="http://schemas.microsoft.com/office/drawing/2014/main" id="{02CBF53F-E135-40C6-A994-7BB3D07A82F6}"/>
              </a:ext>
            </a:extLst>
          </p:cNvPr>
          <p:cNvSpPr>
            <a:spLocks/>
          </p:cNvSpPr>
          <p:nvPr/>
        </p:nvSpPr>
        <p:spPr bwMode="auto">
          <a:xfrm>
            <a:off x="4495777" y="1669975"/>
            <a:ext cx="381122" cy="351805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34" name="Rectangle 78">
            <a:extLst>
              <a:ext uri="{FF2B5EF4-FFF2-40B4-BE49-F238E27FC236}">
                <a16:creationId xmlns:a16="http://schemas.microsoft.com/office/drawing/2014/main" id="{08015F13-CF55-42BD-B690-724DA6072CBA}"/>
              </a:ext>
            </a:extLst>
          </p:cNvPr>
          <p:cNvSpPr>
            <a:spLocks/>
          </p:cNvSpPr>
          <p:nvPr/>
        </p:nvSpPr>
        <p:spPr bwMode="auto">
          <a:xfrm>
            <a:off x="4495777" y="1669974"/>
            <a:ext cx="2337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 1</a:t>
            </a:r>
          </a:p>
        </p:txBody>
      </p:sp>
      <p:sp>
        <p:nvSpPr>
          <p:cNvPr id="19535" name="Oval 79">
            <a:extLst>
              <a:ext uri="{FF2B5EF4-FFF2-40B4-BE49-F238E27FC236}">
                <a16:creationId xmlns:a16="http://schemas.microsoft.com/office/drawing/2014/main" id="{92D0EA1C-DD95-4945-9D12-D7A5D47BA74C}"/>
              </a:ext>
            </a:extLst>
          </p:cNvPr>
          <p:cNvSpPr>
            <a:spLocks/>
          </p:cNvSpPr>
          <p:nvPr/>
        </p:nvSpPr>
        <p:spPr bwMode="auto">
          <a:xfrm>
            <a:off x="7238390" y="2866112"/>
            <a:ext cx="381122" cy="351805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36" name="Rectangle 80">
            <a:extLst>
              <a:ext uri="{FF2B5EF4-FFF2-40B4-BE49-F238E27FC236}">
                <a16:creationId xmlns:a16="http://schemas.microsoft.com/office/drawing/2014/main" id="{DB86DF73-EB0D-4811-8031-9F3198103156}"/>
              </a:ext>
            </a:extLst>
          </p:cNvPr>
          <p:cNvSpPr>
            <a:spLocks/>
          </p:cNvSpPr>
          <p:nvPr/>
        </p:nvSpPr>
        <p:spPr bwMode="auto">
          <a:xfrm>
            <a:off x="7314614" y="2866112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2</a:t>
            </a:r>
          </a:p>
        </p:txBody>
      </p:sp>
      <p:sp>
        <p:nvSpPr>
          <p:cNvPr id="19537" name="Oval 81">
            <a:extLst>
              <a:ext uri="{FF2B5EF4-FFF2-40B4-BE49-F238E27FC236}">
                <a16:creationId xmlns:a16="http://schemas.microsoft.com/office/drawing/2014/main" id="{D2E651FD-02C8-4110-89A5-820927F1E20F}"/>
              </a:ext>
            </a:extLst>
          </p:cNvPr>
          <p:cNvSpPr>
            <a:spLocks/>
          </p:cNvSpPr>
          <p:nvPr/>
        </p:nvSpPr>
        <p:spPr bwMode="auto">
          <a:xfrm>
            <a:off x="5334245" y="4273332"/>
            <a:ext cx="381122" cy="351805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38" name="Rectangle 82">
            <a:extLst>
              <a:ext uri="{FF2B5EF4-FFF2-40B4-BE49-F238E27FC236}">
                <a16:creationId xmlns:a16="http://schemas.microsoft.com/office/drawing/2014/main" id="{92A1D18E-C9B5-4E5D-954F-F273CA5D2272}"/>
              </a:ext>
            </a:extLst>
          </p:cNvPr>
          <p:cNvSpPr>
            <a:spLocks/>
          </p:cNvSpPr>
          <p:nvPr/>
        </p:nvSpPr>
        <p:spPr bwMode="auto">
          <a:xfrm>
            <a:off x="5334246" y="4273332"/>
            <a:ext cx="2337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 3</a:t>
            </a:r>
          </a:p>
        </p:txBody>
      </p:sp>
      <p:sp>
        <p:nvSpPr>
          <p:cNvPr id="19539" name="Oval 83">
            <a:extLst>
              <a:ext uri="{FF2B5EF4-FFF2-40B4-BE49-F238E27FC236}">
                <a16:creationId xmlns:a16="http://schemas.microsoft.com/office/drawing/2014/main" id="{1BE4C915-B471-4F93-A8EE-2713D213168C}"/>
              </a:ext>
            </a:extLst>
          </p:cNvPr>
          <p:cNvSpPr>
            <a:spLocks/>
          </p:cNvSpPr>
          <p:nvPr/>
        </p:nvSpPr>
        <p:spPr bwMode="auto">
          <a:xfrm>
            <a:off x="8076859" y="4202971"/>
            <a:ext cx="381122" cy="351805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40" name="Rectangle 84">
            <a:extLst>
              <a:ext uri="{FF2B5EF4-FFF2-40B4-BE49-F238E27FC236}">
                <a16:creationId xmlns:a16="http://schemas.microsoft.com/office/drawing/2014/main" id="{1FBCE90D-C995-4D90-B552-4E7054581D7F}"/>
              </a:ext>
            </a:extLst>
          </p:cNvPr>
          <p:cNvSpPr>
            <a:spLocks/>
          </p:cNvSpPr>
          <p:nvPr/>
        </p:nvSpPr>
        <p:spPr bwMode="auto">
          <a:xfrm>
            <a:off x="8153083" y="4202971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4</a:t>
            </a:r>
          </a:p>
        </p:txBody>
      </p:sp>
      <p:sp>
        <p:nvSpPr>
          <p:cNvPr id="19541" name="Oval 85">
            <a:extLst>
              <a:ext uri="{FF2B5EF4-FFF2-40B4-BE49-F238E27FC236}">
                <a16:creationId xmlns:a16="http://schemas.microsoft.com/office/drawing/2014/main" id="{335BA8BB-499F-42F1-AD08-15CFDD74F726}"/>
              </a:ext>
            </a:extLst>
          </p:cNvPr>
          <p:cNvSpPr>
            <a:spLocks/>
          </p:cNvSpPr>
          <p:nvPr/>
        </p:nvSpPr>
        <p:spPr bwMode="auto">
          <a:xfrm>
            <a:off x="4495777" y="5750913"/>
            <a:ext cx="381122" cy="351805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42" name="Rectangle 86">
            <a:extLst>
              <a:ext uri="{FF2B5EF4-FFF2-40B4-BE49-F238E27FC236}">
                <a16:creationId xmlns:a16="http://schemas.microsoft.com/office/drawing/2014/main" id="{A8B40A1D-9D1E-4CC7-AD1E-128FC51B1D49}"/>
              </a:ext>
            </a:extLst>
          </p:cNvPr>
          <p:cNvSpPr>
            <a:spLocks/>
          </p:cNvSpPr>
          <p:nvPr/>
        </p:nvSpPr>
        <p:spPr bwMode="auto">
          <a:xfrm>
            <a:off x="4572001" y="5750913"/>
            <a:ext cx="18087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37525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6648" defTabSz="844357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62">
                <a:solidFill>
                  <a:srgbClr val="FFFFFF"/>
                </a:solidFill>
                <a:latin typeface="Times New Roman Bold" panose="02020803070505020304" pitchFamily="18" charset="0"/>
                <a:cs typeface="Times New Roman Bold" panose="02020803070505020304" pitchFamily="18" charset="0"/>
                <a:sym typeface="Times New Roman Bold" panose="02020803070505020304" pitchFamily="18" charset="0"/>
              </a:rPr>
              <a:t>5</a:t>
            </a:r>
          </a:p>
        </p:txBody>
      </p:sp>
      <p:sp>
        <p:nvSpPr>
          <p:cNvPr id="19543" name="AutoShape 87">
            <a:extLst>
              <a:ext uri="{FF2B5EF4-FFF2-40B4-BE49-F238E27FC236}">
                <a16:creationId xmlns:a16="http://schemas.microsoft.com/office/drawing/2014/main" id="{0123AEFF-E4CA-4518-B18B-8E6CDD627D72}"/>
              </a:ext>
            </a:extLst>
          </p:cNvPr>
          <p:cNvSpPr>
            <a:spLocks/>
          </p:cNvSpPr>
          <p:nvPr/>
        </p:nvSpPr>
        <p:spPr bwMode="auto">
          <a:xfrm>
            <a:off x="381123" y="2725390"/>
            <a:ext cx="7543287" cy="161830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772" y="0"/>
                </a:moveTo>
                <a:cubicBezTo>
                  <a:pt x="559" y="0"/>
                  <a:pt x="386" y="806"/>
                  <a:pt x="386" y="1800"/>
                </a:cubicBezTo>
                <a:lnTo>
                  <a:pt x="386" y="9000"/>
                </a:lnTo>
                <a:cubicBezTo>
                  <a:pt x="386" y="9994"/>
                  <a:pt x="213" y="10800"/>
                  <a:pt x="0" y="10800"/>
                </a:cubicBezTo>
                <a:cubicBezTo>
                  <a:pt x="213" y="10800"/>
                  <a:pt x="386" y="11606"/>
                  <a:pt x="386" y="12600"/>
                </a:cubicBezTo>
                <a:lnTo>
                  <a:pt x="386" y="19800"/>
                </a:lnTo>
                <a:cubicBezTo>
                  <a:pt x="386" y="20794"/>
                  <a:pt x="559" y="21600"/>
                  <a:pt x="772" y="21600"/>
                </a:cubicBezTo>
                <a:moveTo>
                  <a:pt x="20828" y="0"/>
                </a:moveTo>
                <a:cubicBezTo>
                  <a:pt x="21041" y="0"/>
                  <a:pt x="21214" y="806"/>
                  <a:pt x="21214" y="1800"/>
                </a:cubicBezTo>
                <a:lnTo>
                  <a:pt x="21214" y="9000"/>
                </a:lnTo>
                <a:cubicBezTo>
                  <a:pt x="21214" y="9994"/>
                  <a:pt x="21387" y="10800"/>
                  <a:pt x="21600" y="10800"/>
                </a:cubicBezTo>
                <a:cubicBezTo>
                  <a:pt x="21387" y="10800"/>
                  <a:pt x="21214" y="11606"/>
                  <a:pt x="21214" y="12600"/>
                </a:cubicBezTo>
                <a:lnTo>
                  <a:pt x="21214" y="19800"/>
                </a:lnTo>
                <a:cubicBezTo>
                  <a:pt x="21214" y="20794"/>
                  <a:pt x="21041" y="21600"/>
                  <a:pt x="20828" y="21600"/>
                </a:cubicBezTo>
              </a:path>
            </a:pathLst>
          </a:custGeom>
          <a:noFill/>
          <a:ln w="28575" cap="flat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44" name="AutoShape 88">
            <a:extLst>
              <a:ext uri="{FF2B5EF4-FFF2-40B4-BE49-F238E27FC236}">
                <a16:creationId xmlns:a16="http://schemas.microsoft.com/office/drawing/2014/main" id="{9352A321-2065-4B7F-A840-D1C4C6F0E884}"/>
              </a:ext>
            </a:extLst>
          </p:cNvPr>
          <p:cNvSpPr>
            <a:spLocks/>
          </p:cNvSpPr>
          <p:nvPr/>
        </p:nvSpPr>
        <p:spPr bwMode="auto">
          <a:xfrm>
            <a:off x="381123" y="1036726"/>
            <a:ext cx="4724449" cy="147758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126" y="0"/>
                </a:moveTo>
                <a:cubicBezTo>
                  <a:pt x="815" y="0"/>
                  <a:pt x="563" y="806"/>
                  <a:pt x="563" y="1800"/>
                </a:cubicBezTo>
                <a:lnTo>
                  <a:pt x="563" y="9000"/>
                </a:lnTo>
                <a:cubicBezTo>
                  <a:pt x="563" y="9994"/>
                  <a:pt x="311" y="10800"/>
                  <a:pt x="0" y="10800"/>
                </a:cubicBezTo>
                <a:cubicBezTo>
                  <a:pt x="311" y="10800"/>
                  <a:pt x="563" y="11606"/>
                  <a:pt x="563" y="12600"/>
                </a:cubicBezTo>
                <a:lnTo>
                  <a:pt x="563" y="19800"/>
                </a:lnTo>
                <a:cubicBezTo>
                  <a:pt x="563" y="20794"/>
                  <a:pt x="815" y="21600"/>
                  <a:pt x="1126" y="21600"/>
                </a:cubicBezTo>
                <a:moveTo>
                  <a:pt x="20474" y="0"/>
                </a:moveTo>
                <a:cubicBezTo>
                  <a:pt x="20785" y="0"/>
                  <a:pt x="21037" y="806"/>
                  <a:pt x="21037" y="1800"/>
                </a:cubicBezTo>
                <a:lnTo>
                  <a:pt x="21037" y="9000"/>
                </a:lnTo>
                <a:cubicBezTo>
                  <a:pt x="21037" y="9994"/>
                  <a:pt x="21289" y="10800"/>
                  <a:pt x="21600" y="10800"/>
                </a:cubicBezTo>
                <a:cubicBezTo>
                  <a:pt x="21289" y="10800"/>
                  <a:pt x="21037" y="11606"/>
                  <a:pt x="21037" y="12600"/>
                </a:cubicBezTo>
                <a:lnTo>
                  <a:pt x="21037" y="19800"/>
                </a:lnTo>
                <a:cubicBezTo>
                  <a:pt x="21037" y="20794"/>
                  <a:pt x="20785" y="21600"/>
                  <a:pt x="20474" y="21600"/>
                </a:cubicBezTo>
              </a:path>
            </a:pathLst>
          </a:custGeom>
          <a:noFill/>
          <a:ln w="28575" cap="flat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45" name="AutoShape 89">
            <a:extLst>
              <a:ext uri="{FF2B5EF4-FFF2-40B4-BE49-F238E27FC236}">
                <a16:creationId xmlns:a16="http://schemas.microsoft.com/office/drawing/2014/main" id="{ABDE2BF7-8040-4FA5-B203-EDF84CBE2567}"/>
              </a:ext>
            </a:extLst>
          </p:cNvPr>
          <p:cNvSpPr>
            <a:spLocks/>
          </p:cNvSpPr>
          <p:nvPr/>
        </p:nvSpPr>
        <p:spPr bwMode="auto">
          <a:xfrm>
            <a:off x="457347" y="4484415"/>
            <a:ext cx="5486694" cy="633249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415" y="0"/>
                </a:moveTo>
                <a:cubicBezTo>
                  <a:pt x="301" y="0"/>
                  <a:pt x="208" y="806"/>
                  <a:pt x="208" y="1800"/>
                </a:cubicBezTo>
                <a:lnTo>
                  <a:pt x="208" y="9000"/>
                </a:lnTo>
                <a:cubicBezTo>
                  <a:pt x="208" y="9994"/>
                  <a:pt x="115" y="10800"/>
                  <a:pt x="0" y="10800"/>
                </a:cubicBezTo>
                <a:cubicBezTo>
                  <a:pt x="115" y="10800"/>
                  <a:pt x="208" y="11606"/>
                  <a:pt x="208" y="12600"/>
                </a:cubicBezTo>
                <a:lnTo>
                  <a:pt x="208" y="19800"/>
                </a:lnTo>
                <a:cubicBezTo>
                  <a:pt x="208" y="20794"/>
                  <a:pt x="301" y="21600"/>
                  <a:pt x="415" y="21600"/>
                </a:cubicBezTo>
                <a:moveTo>
                  <a:pt x="21185" y="0"/>
                </a:moveTo>
                <a:cubicBezTo>
                  <a:pt x="21299" y="0"/>
                  <a:pt x="21392" y="806"/>
                  <a:pt x="21392" y="1800"/>
                </a:cubicBezTo>
                <a:lnTo>
                  <a:pt x="21392" y="9000"/>
                </a:lnTo>
                <a:cubicBezTo>
                  <a:pt x="21392" y="9994"/>
                  <a:pt x="21485" y="10800"/>
                  <a:pt x="21600" y="10800"/>
                </a:cubicBezTo>
                <a:cubicBezTo>
                  <a:pt x="21485" y="10800"/>
                  <a:pt x="21392" y="11606"/>
                  <a:pt x="21392" y="12600"/>
                </a:cubicBezTo>
                <a:lnTo>
                  <a:pt x="21392" y="19800"/>
                </a:lnTo>
                <a:cubicBezTo>
                  <a:pt x="21392" y="20794"/>
                  <a:pt x="21299" y="21600"/>
                  <a:pt x="21185" y="21600"/>
                </a:cubicBezTo>
              </a:path>
            </a:pathLst>
          </a:custGeom>
          <a:noFill/>
          <a:ln w="28575" cap="flat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9546" name="AutoShape 90">
            <a:extLst>
              <a:ext uri="{FF2B5EF4-FFF2-40B4-BE49-F238E27FC236}">
                <a16:creationId xmlns:a16="http://schemas.microsoft.com/office/drawing/2014/main" id="{82CCE2A6-7E34-4B70-BEFA-DBE123F400D2}"/>
              </a:ext>
            </a:extLst>
          </p:cNvPr>
          <p:cNvSpPr>
            <a:spLocks/>
          </p:cNvSpPr>
          <p:nvPr/>
        </p:nvSpPr>
        <p:spPr bwMode="auto">
          <a:xfrm>
            <a:off x="457348" y="5328747"/>
            <a:ext cx="4572000" cy="773971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609" y="0"/>
                </a:moveTo>
                <a:cubicBezTo>
                  <a:pt x="441" y="0"/>
                  <a:pt x="305" y="806"/>
                  <a:pt x="305" y="1800"/>
                </a:cubicBezTo>
                <a:lnTo>
                  <a:pt x="305" y="9000"/>
                </a:lnTo>
                <a:cubicBezTo>
                  <a:pt x="305" y="9994"/>
                  <a:pt x="168" y="10800"/>
                  <a:pt x="0" y="10800"/>
                </a:cubicBezTo>
                <a:cubicBezTo>
                  <a:pt x="168" y="10800"/>
                  <a:pt x="305" y="11606"/>
                  <a:pt x="305" y="12600"/>
                </a:cubicBezTo>
                <a:lnTo>
                  <a:pt x="305" y="19800"/>
                </a:lnTo>
                <a:cubicBezTo>
                  <a:pt x="305" y="20794"/>
                  <a:pt x="441" y="21600"/>
                  <a:pt x="609" y="21600"/>
                </a:cubicBezTo>
                <a:moveTo>
                  <a:pt x="20991" y="0"/>
                </a:moveTo>
                <a:cubicBezTo>
                  <a:pt x="21159" y="0"/>
                  <a:pt x="21295" y="806"/>
                  <a:pt x="21295" y="1800"/>
                </a:cubicBezTo>
                <a:lnTo>
                  <a:pt x="21295" y="9000"/>
                </a:lnTo>
                <a:cubicBezTo>
                  <a:pt x="21295" y="9994"/>
                  <a:pt x="21432" y="10800"/>
                  <a:pt x="21600" y="10800"/>
                </a:cubicBezTo>
                <a:cubicBezTo>
                  <a:pt x="21432" y="10800"/>
                  <a:pt x="21295" y="11606"/>
                  <a:pt x="21295" y="12600"/>
                </a:cubicBezTo>
                <a:lnTo>
                  <a:pt x="21295" y="19800"/>
                </a:lnTo>
                <a:cubicBezTo>
                  <a:pt x="21295" y="20794"/>
                  <a:pt x="21159" y="21600"/>
                  <a:pt x="20991" y="21600"/>
                </a:cubicBezTo>
              </a:path>
            </a:pathLst>
          </a:custGeom>
          <a:noFill/>
          <a:ln w="28575" cap="flat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defTabSz="844357" fontAlgn="base">
              <a:spcBef>
                <a:spcPct val="0"/>
              </a:spcBef>
              <a:spcAft>
                <a:spcPct val="0"/>
              </a:spcAft>
            </a:pPr>
            <a:endParaRPr lang="en-GB" sz="1662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85420"/>
            <a:ext cx="52089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2120" algn="l"/>
              </a:tabLst>
            </a:pPr>
            <a:r>
              <a:rPr spc="-5" dirty="0"/>
              <a:t>Data</a:t>
            </a:r>
            <a:r>
              <a:rPr spc="5" dirty="0"/>
              <a:t> </a:t>
            </a:r>
            <a:r>
              <a:rPr spc="-5" dirty="0"/>
              <a:t>Mining	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137539"/>
            <a:ext cx="6236970" cy="2729593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Unsupervised Learning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(Clustering)</a:t>
            </a: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3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Supervised Learning:</a:t>
            </a:r>
            <a:endParaRPr sz="32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Classification</a:t>
            </a:r>
            <a:endParaRPr sz="28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Estimation</a:t>
            </a:r>
            <a:endParaRPr sz="28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4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Times New Roman"/>
                <a:cs typeface="Times New Roman"/>
              </a:rPr>
              <a:t>Prediction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200" y="157479"/>
            <a:ext cx="6497320" cy="13563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5200"/>
              </a:lnSpc>
              <a:spcBef>
                <a:spcPts val="340"/>
              </a:spcBef>
              <a:tabLst>
                <a:tab pos="2635250" algn="l"/>
                <a:tab pos="3411220" algn="l"/>
              </a:tabLst>
            </a:pPr>
            <a:r>
              <a:rPr dirty="0"/>
              <a:t>Sup</a:t>
            </a:r>
            <a:r>
              <a:rPr spc="-5" dirty="0"/>
              <a:t>e</a:t>
            </a:r>
            <a:r>
              <a:rPr dirty="0"/>
              <a:t>rv</a:t>
            </a:r>
            <a:r>
              <a:rPr spc="-5" dirty="0"/>
              <a:t>i</a:t>
            </a:r>
            <a:r>
              <a:rPr dirty="0"/>
              <a:t>s</a:t>
            </a:r>
            <a:r>
              <a:rPr spc="-5" dirty="0"/>
              <a:t>e</a:t>
            </a:r>
            <a:r>
              <a:rPr dirty="0"/>
              <a:t>d	vs.	Unsup</a:t>
            </a:r>
            <a:r>
              <a:rPr spc="-5" dirty="0"/>
              <a:t>e</a:t>
            </a:r>
            <a:r>
              <a:rPr dirty="0"/>
              <a:t>rv</a:t>
            </a:r>
            <a:r>
              <a:rPr spc="-5" dirty="0"/>
              <a:t>i</a:t>
            </a:r>
            <a:r>
              <a:rPr dirty="0"/>
              <a:t>s</a:t>
            </a:r>
            <a:r>
              <a:rPr spc="-5" dirty="0"/>
              <a:t>e</a:t>
            </a:r>
            <a:r>
              <a:rPr dirty="0"/>
              <a:t>d  </a:t>
            </a:r>
            <a:r>
              <a:rPr spc="-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762" y="1670557"/>
            <a:ext cx="7785734" cy="44678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spc="-900" dirty="0">
                <a:solidFill>
                  <a:srgbClr val="B2B2B2"/>
                </a:solidFill>
                <a:latin typeface="Wingdings"/>
                <a:cs typeface="Wingdings"/>
              </a:rPr>
              <a:t></a:t>
            </a:r>
            <a:r>
              <a:rPr sz="2400" spc="305" dirty="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83F24"/>
                </a:solidFill>
                <a:latin typeface="Times New Roman"/>
                <a:cs typeface="Times New Roman"/>
              </a:rPr>
              <a:t>Supervised learning </a:t>
            </a:r>
            <a:r>
              <a:rPr sz="2400" spc="-5" dirty="0">
                <a:solidFill>
                  <a:srgbClr val="FC572E"/>
                </a:solidFill>
                <a:latin typeface="Times New Roman"/>
                <a:cs typeface="Times New Roman"/>
              </a:rPr>
              <a:t>(classification,</a:t>
            </a:r>
            <a:r>
              <a:rPr sz="2400" spc="10" dirty="0">
                <a:solidFill>
                  <a:srgbClr val="FC572E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C572E"/>
                </a:solidFill>
                <a:latin typeface="Times New Roman"/>
                <a:cs typeface="Times New Roman"/>
              </a:rPr>
              <a:t>prediction)</a:t>
            </a:r>
            <a:endParaRPr sz="2400">
              <a:latin typeface="Times New Roman"/>
              <a:cs typeface="Times New Roman"/>
            </a:endParaRPr>
          </a:p>
          <a:p>
            <a:pPr marL="749300" marR="5080" indent="-279400">
              <a:lnSpc>
                <a:spcPct val="101099"/>
              </a:lnSpc>
              <a:spcBef>
                <a:spcPts val="465"/>
              </a:spcBef>
            </a:pPr>
            <a:r>
              <a:rPr sz="2400" spc="-900" dirty="0">
                <a:solidFill>
                  <a:srgbClr val="CCCCFF"/>
                </a:solidFill>
                <a:latin typeface="Wingdings"/>
                <a:cs typeface="Wingdings"/>
              </a:rPr>
              <a:t></a:t>
            </a:r>
            <a:r>
              <a:rPr sz="2400" spc="-145" dirty="0">
                <a:solidFill>
                  <a:srgbClr val="CCCC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Supervision: The training data (observations,  measurements, etc.) are accompanied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labels indicating  the class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observations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2400" spc="-900" dirty="0">
                <a:solidFill>
                  <a:srgbClr val="CCCCFF"/>
                </a:solidFill>
                <a:latin typeface="Wingdings"/>
                <a:cs typeface="Wingdings"/>
              </a:rPr>
              <a:t></a:t>
            </a:r>
            <a:r>
              <a:rPr sz="2400" spc="-145" dirty="0">
                <a:solidFill>
                  <a:srgbClr val="CCCC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New data is classified based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the training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endParaRPr sz="2400">
              <a:latin typeface="Times New Roman"/>
              <a:cs typeface="Times New Roman"/>
            </a:endParaRPr>
          </a:p>
          <a:p>
            <a:pPr marL="355600" marR="911860" indent="-342900">
              <a:lnSpc>
                <a:spcPct val="101499"/>
              </a:lnSpc>
              <a:spcBef>
                <a:spcPts val="575"/>
              </a:spcBef>
            </a:pPr>
            <a:r>
              <a:rPr sz="2400" spc="-900" dirty="0">
                <a:solidFill>
                  <a:srgbClr val="B2B2B2"/>
                </a:solidFill>
                <a:latin typeface="Wingdings"/>
                <a:cs typeface="Wingdings"/>
              </a:rPr>
              <a:t></a:t>
            </a:r>
            <a:r>
              <a:rPr sz="2400" spc="315" dirty="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83F24"/>
                </a:solidFill>
                <a:latin typeface="Times New Roman"/>
                <a:cs typeface="Times New Roman"/>
              </a:rPr>
              <a:t>Unsupervised learning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(summarization. association,  clustering)</a:t>
            </a:r>
            <a:endParaRPr sz="240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500"/>
              </a:spcBef>
            </a:pPr>
            <a:r>
              <a:rPr sz="2400" spc="-900" dirty="0">
                <a:solidFill>
                  <a:srgbClr val="CCCCFF"/>
                </a:solidFill>
                <a:latin typeface="Wingdings"/>
                <a:cs typeface="Wingdings"/>
              </a:rPr>
              <a:t></a:t>
            </a:r>
            <a:r>
              <a:rPr sz="2400" spc="-150" dirty="0">
                <a:solidFill>
                  <a:srgbClr val="CCCC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class labels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training data 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unknown</a:t>
            </a:r>
            <a:endParaRPr sz="2400">
              <a:latin typeface="Times New Roman"/>
              <a:cs typeface="Times New Roman"/>
            </a:endParaRPr>
          </a:p>
          <a:p>
            <a:pPr marL="749300" marR="147320" indent="-279400" algn="just">
              <a:lnSpc>
                <a:spcPct val="99400"/>
              </a:lnSpc>
              <a:spcBef>
                <a:spcPts val="635"/>
              </a:spcBef>
            </a:pPr>
            <a:r>
              <a:rPr sz="2400" spc="-900" dirty="0">
                <a:solidFill>
                  <a:srgbClr val="CCCCFF"/>
                </a:solidFill>
                <a:latin typeface="Wingdings"/>
                <a:cs typeface="Wingdings"/>
              </a:rPr>
              <a:t></a:t>
            </a:r>
            <a:r>
              <a:rPr sz="2400" spc="-145" dirty="0">
                <a:solidFill>
                  <a:srgbClr val="CCCC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Given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measurements, observations, etc. with the  aim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establishing the existence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classes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clusters in  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4600" y="3810000"/>
            <a:ext cx="1600200" cy="13716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3400">
              <a:latin typeface="Times New Roman"/>
              <a:cs typeface="Times New Roman"/>
            </a:endParaRPr>
          </a:p>
          <a:p>
            <a:pPr marL="39624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14800" y="4381500"/>
            <a:ext cx="914400" cy="76200"/>
            <a:chOff x="4114800" y="4381500"/>
            <a:chExt cx="914400" cy="76200"/>
          </a:xfrm>
        </p:grpSpPr>
        <p:sp>
          <p:nvSpPr>
            <p:cNvPr id="4" name="object 4"/>
            <p:cNvSpPr/>
            <p:nvPr/>
          </p:nvSpPr>
          <p:spPr>
            <a:xfrm>
              <a:off x="4114800" y="4419600"/>
              <a:ext cx="889000" cy="0"/>
            </a:xfrm>
            <a:custGeom>
              <a:avLst/>
              <a:gdLst/>
              <a:ahLst/>
              <a:cxnLst/>
              <a:rect l="l" t="t" r="r" b="b"/>
              <a:pathLst>
                <a:path w="889000">
                  <a:moveTo>
                    <a:pt x="0" y="0"/>
                  </a:moveTo>
                  <a:lnTo>
                    <a:pt x="8889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53000" y="4381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676400" y="4457700"/>
            <a:ext cx="762000" cy="76200"/>
            <a:chOff x="1676400" y="4457700"/>
            <a:chExt cx="762000" cy="76200"/>
          </a:xfrm>
        </p:grpSpPr>
        <p:sp>
          <p:nvSpPr>
            <p:cNvPr id="7" name="object 7"/>
            <p:cNvSpPr/>
            <p:nvPr/>
          </p:nvSpPr>
          <p:spPr>
            <a:xfrm>
              <a:off x="1676400" y="4495800"/>
              <a:ext cx="736600" cy="0"/>
            </a:xfrm>
            <a:custGeom>
              <a:avLst/>
              <a:gdLst/>
              <a:ahLst/>
              <a:cxnLst/>
              <a:rect l="l" t="t" r="r" b="b"/>
              <a:pathLst>
                <a:path w="736600">
                  <a:moveTo>
                    <a:pt x="0" y="0"/>
                  </a:moveTo>
                  <a:lnTo>
                    <a:pt x="7365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62200" y="4457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20665" y="4187507"/>
            <a:ext cx="1089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Y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672465" y="4263707"/>
            <a:ext cx="847090" cy="746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spc="-5" dirty="0">
                <a:latin typeface="Times New Roman"/>
                <a:cs typeface="Times New Roman"/>
              </a:rPr>
              <a:t>inputs  </a:t>
            </a:r>
            <a:r>
              <a:rPr sz="2400" dirty="0">
                <a:latin typeface="Times New Roman"/>
                <a:cs typeface="Times New Roman"/>
              </a:rPr>
              <a:t>X1,X2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8665" y="5406707"/>
            <a:ext cx="5772785" cy="11150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59"/>
              </a:spcBef>
            </a:pPr>
            <a:r>
              <a:rPr sz="2400" spc="-5" dirty="0">
                <a:latin typeface="Times New Roman"/>
                <a:cs typeface="Times New Roman"/>
              </a:rPr>
              <a:t>The user does </a:t>
            </a:r>
            <a:r>
              <a:rPr sz="2400" dirty="0">
                <a:latin typeface="Times New Roman"/>
                <a:cs typeface="Times New Roman"/>
              </a:rPr>
              <a:t>not </a:t>
            </a:r>
            <a:r>
              <a:rPr sz="2400" spc="-5" dirty="0">
                <a:latin typeface="Times New Roman"/>
                <a:cs typeface="Times New Roman"/>
              </a:rPr>
              <a:t>care what the model is doing  it 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black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box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20"/>
              </a:lnSpc>
            </a:pPr>
            <a:r>
              <a:rPr sz="2400" spc="-5" dirty="0">
                <a:latin typeface="Times New Roman"/>
                <a:cs typeface="Times New Roman"/>
              </a:rPr>
              <a:t>interested in the accuracy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its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predictions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7052" y="1877695"/>
            <a:ext cx="5391150" cy="14833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dirty="0">
                <a:latin typeface="Times New Roman"/>
                <a:cs typeface="Times New Roman"/>
              </a:rPr>
              <a:t>X: </a:t>
            </a:r>
            <a:r>
              <a:rPr sz="2400" spc="-5" dirty="0">
                <a:latin typeface="Times New Roman"/>
                <a:cs typeface="Times New Roman"/>
              </a:rPr>
              <a:t>vector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independent variables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inputs  </a:t>
            </a:r>
            <a:r>
              <a:rPr sz="2400" dirty="0">
                <a:latin typeface="Times New Roman"/>
                <a:cs typeface="Times New Roman"/>
              </a:rPr>
              <a:t>Y =f(X) : </a:t>
            </a:r>
            <a:r>
              <a:rPr sz="2400" spc="-5" dirty="0">
                <a:latin typeface="Times New Roman"/>
                <a:cs typeface="Times New Roman"/>
              </a:rPr>
              <a:t>an </a:t>
            </a:r>
            <a:r>
              <a:rPr sz="2400" dirty="0">
                <a:latin typeface="Times New Roman"/>
                <a:cs typeface="Times New Roman"/>
              </a:rPr>
              <a:t>unknown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</a:t>
            </a:r>
            <a:endParaRPr sz="2400">
              <a:latin typeface="Times New Roman"/>
              <a:cs typeface="Times New Roman"/>
            </a:endParaRPr>
          </a:p>
          <a:p>
            <a:pPr marL="393700" marR="1403985" indent="-381000">
              <a:lnSpc>
                <a:spcPts val="2900"/>
              </a:lnSpc>
              <a:spcBef>
                <a:spcPts val="20"/>
              </a:spcBef>
            </a:pPr>
            <a:r>
              <a:rPr sz="2400" spc="-114" dirty="0">
                <a:latin typeface="Times New Roman"/>
                <a:cs typeface="Times New Roman"/>
              </a:rPr>
              <a:t>Y: </a:t>
            </a:r>
            <a:r>
              <a:rPr sz="2400" spc="-5" dirty="0">
                <a:latin typeface="Times New Roman"/>
                <a:cs typeface="Times New Roman"/>
              </a:rPr>
              <a:t>dependent variables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output 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single variable </a:t>
            </a:r>
            <a:r>
              <a:rPr sz="2400" dirty="0">
                <a:latin typeface="Times New Roman"/>
                <a:cs typeface="Times New Roman"/>
              </a:rPr>
              <a:t>or 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vector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89927" y="509270"/>
            <a:ext cx="39516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9675" algn="l"/>
              </a:tabLst>
            </a:pPr>
            <a:r>
              <a:rPr dirty="0"/>
              <a:t>B</a:t>
            </a:r>
            <a:r>
              <a:rPr spc="-5" dirty="0"/>
              <a:t>lac</a:t>
            </a:r>
            <a:r>
              <a:rPr dirty="0"/>
              <a:t>k-box	Mod</a:t>
            </a:r>
            <a:r>
              <a:rPr spc="-5" dirty="0"/>
              <a:t>e</a:t>
            </a:r>
            <a:r>
              <a:rPr dirty="0"/>
              <a:t>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9927" y="437832"/>
            <a:ext cx="61404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6020" algn="l"/>
                <a:tab pos="3287395" algn="l"/>
              </a:tabLst>
            </a:pPr>
            <a:r>
              <a:rPr spc="-5" dirty="0"/>
              <a:t>Two	Styles</a:t>
            </a:r>
            <a:r>
              <a:rPr spc="5" dirty="0"/>
              <a:t> </a:t>
            </a:r>
            <a:r>
              <a:rPr dirty="0"/>
              <a:t>of	</a:t>
            </a:r>
            <a:r>
              <a:rPr spc="-5" dirty="0"/>
              <a:t>Data</a:t>
            </a:r>
            <a:r>
              <a:rPr spc="-70" dirty="0"/>
              <a:t> </a:t>
            </a:r>
            <a:r>
              <a:rPr spc="-5" dirty="0"/>
              <a:t>Mining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96059"/>
            <a:ext cx="6656070" cy="379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70"/>
              </a:lnSpc>
              <a:spcBef>
                <a:spcPts val="10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Descriptive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5" dirty="0">
                <a:latin typeface="Times New Roman"/>
                <a:cs typeface="Times New Roman"/>
              </a:rPr>
              <a:t> mining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230"/>
              </a:lnSpc>
              <a:buChar char="–"/>
              <a:tabLst>
                <a:tab pos="755015" algn="l"/>
                <a:tab pos="755650" algn="l"/>
              </a:tabLst>
            </a:pPr>
            <a:r>
              <a:rPr sz="1900" spc="-5" dirty="0">
                <a:latin typeface="Times New Roman"/>
                <a:cs typeface="Times New Roman"/>
              </a:rPr>
              <a:t>characterize the general properties </a:t>
            </a:r>
            <a:r>
              <a:rPr sz="1900" dirty="0">
                <a:latin typeface="Times New Roman"/>
                <a:cs typeface="Times New Roman"/>
              </a:rPr>
              <a:t>of </a:t>
            </a:r>
            <a:r>
              <a:rPr sz="1900" spc="-5" dirty="0">
                <a:latin typeface="Times New Roman"/>
                <a:cs typeface="Times New Roman"/>
              </a:rPr>
              <a:t>the data in the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database</a:t>
            </a:r>
            <a:endParaRPr sz="19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240"/>
              </a:lnSpc>
              <a:buChar char="–"/>
              <a:tabLst>
                <a:tab pos="755015" algn="l"/>
                <a:tab pos="755650" algn="l"/>
              </a:tabLst>
            </a:pPr>
            <a:r>
              <a:rPr sz="1900" spc="-5" dirty="0">
                <a:latin typeface="Times New Roman"/>
                <a:cs typeface="Times New Roman"/>
              </a:rPr>
              <a:t>finds patterns in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data</a:t>
            </a:r>
            <a:endParaRPr sz="19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5"/>
              </a:spcBef>
              <a:buChar char="–"/>
              <a:tabLst>
                <a:tab pos="755015" algn="l"/>
                <a:tab pos="755650" algn="l"/>
              </a:tabLst>
            </a:pPr>
            <a:r>
              <a:rPr sz="1900" spc="-5" dirty="0">
                <a:latin typeface="Times New Roman"/>
                <a:cs typeface="Times New Roman"/>
              </a:rPr>
              <a:t>user determines which </a:t>
            </a:r>
            <a:r>
              <a:rPr sz="2000" spc="-5" dirty="0">
                <a:latin typeface="Times New Roman"/>
                <a:cs typeface="Times New Roman"/>
              </a:rPr>
              <a:t>ones are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important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Predictive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5" dirty="0">
                <a:latin typeface="Times New Roman"/>
                <a:cs typeface="Times New Roman"/>
              </a:rPr>
              <a:t> mining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015" algn="l"/>
                <a:tab pos="755650" algn="l"/>
              </a:tabLst>
            </a:pPr>
            <a:r>
              <a:rPr sz="1900" spc="-5" dirty="0">
                <a:latin typeface="Times New Roman"/>
                <a:cs typeface="Times New Roman"/>
              </a:rPr>
              <a:t>perform inference </a:t>
            </a:r>
            <a:r>
              <a:rPr sz="1900" dirty="0">
                <a:latin typeface="Times New Roman"/>
                <a:cs typeface="Times New Roman"/>
              </a:rPr>
              <a:t>on </a:t>
            </a:r>
            <a:r>
              <a:rPr sz="1900" spc="-5" dirty="0">
                <a:latin typeface="Times New Roman"/>
                <a:cs typeface="Times New Roman"/>
              </a:rPr>
              <a:t>the current data to make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predictions</a:t>
            </a:r>
            <a:endParaRPr sz="19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har char="–"/>
              <a:tabLst>
                <a:tab pos="755015" algn="l"/>
                <a:tab pos="755650" algn="l"/>
              </a:tabLst>
            </a:pPr>
            <a:r>
              <a:rPr sz="1900" dirty="0">
                <a:latin typeface="Times New Roman"/>
                <a:cs typeface="Times New Roman"/>
              </a:rPr>
              <a:t>we know </a:t>
            </a:r>
            <a:r>
              <a:rPr sz="1900" spc="-5" dirty="0">
                <a:latin typeface="Times New Roman"/>
                <a:cs typeface="Times New Roman"/>
              </a:rPr>
              <a:t>what to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predict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830"/>
              </a:lnSpc>
              <a:spcBef>
                <a:spcPts val="4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400" b="1" dirty="0">
                <a:latin typeface="Times New Roman"/>
                <a:cs typeface="Times New Roman"/>
              </a:rPr>
              <a:t>Not </a:t>
            </a:r>
            <a:r>
              <a:rPr sz="2400" b="1" spc="-5" dirty="0">
                <a:latin typeface="Times New Roman"/>
                <a:cs typeface="Times New Roman"/>
              </a:rPr>
              <a:t>mutually exclusive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ts val="2230"/>
              </a:lnSpc>
              <a:buChar char="–"/>
              <a:tabLst>
                <a:tab pos="755015" algn="l"/>
                <a:tab pos="755650" algn="l"/>
              </a:tabLst>
            </a:pPr>
            <a:r>
              <a:rPr sz="1900" spc="-5" dirty="0">
                <a:latin typeface="Times New Roman"/>
                <a:cs typeface="Times New Roman"/>
              </a:rPr>
              <a:t>used together</a:t>
            </a:r>
            <a:endParaRPr sz="19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"/>
              </a:spcBef>
              <a:buChar char="–"/>
              <a:tabLst>
                <a:tab pos="755015" algn="l"/>
                <a:tab pos="755650" algn="l"/>
              </a:tabLst>
            </a:pPr>
            <a:r>
              <a:rPr sz="1900" spc="-5" dirty="0">
                <a:latin typeface="Times New Roman"/>
                <a:cs typeface="Times New Roman"/>
              </a:rPr>
              <a:t>descriptive </a:t>
            </a:r>
            <a:r>
              <a:rPr sz="1900" dirty="0">
                <a:latin typeface="Symbol"/>
                <a:cs typeface="Symbol"/>
              </a:rPr>
              <a:t>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predictive</a:t>
            </a:r>
            <a:endParaRPr sz="1900">
              <a:latin typeface="Times New Roman"/>
              <a:cs typeface="Times New Roman"/>
            </a:endParaRPr>
          </a:p>
          <a:p>
            <a:pPr marL="355600" indent="-342900">
              <a:lnSpc>
                <a:spcPts val="2510"/>
              </a:lnSpc>
              <a:spcBef>
                <a:spcPts val="25"/>
              </a:spcBef>
              <a:buChar char="•"/>
              <a:tabLst>
                <a:tab pos="354965" algn="l"/>
                <a:tab pos="355600" algn="l"/>
              </a:tabLst>
            </a:pPr>
            <a:r>
              <a:rPr sz="2100" spc="-5" dirty="0">
                <a:latin typeface="Times New Roman"/>
                <a:cs typeface="Times New Roman"/>
              </a:rPr>
              <a:t>E.g. customer segmentation </a:t>
            </a:r>
            <a:r>
              <a:rPr sz="2100" dirty="0">
                <a:latin typeface="Times New Roman"/>
                <a:cs typeface="Times New Roman"/>
              </a:rPr>
              <a:t>– </a:t>
            </a:r>
            <a:r>
              <a:rPr sz="2100" spc="-5" dirty="0">
                <a:latin typeface="Times New Roman"/>
                <a:cs typeface="Times New Roman"/>
              </a:rPr>
              <a:t>descriptive </a:t>
            </a:r>
            <a:r>
              <a:rPr sz="2100" dirty="0">
                <a:latin typeface="Times New Roman"/>
                <a:cs typeface="Times New Roman"/>
              </a:rPr>
              <a:t>by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clustering</a:t>
            </a:r>
            <a:endParaRPr sz="2100">
              <a:latin typeface="Times New Roman"/>
              <a:cs typeface="Times New Roman"/>
            </a:endParaRPr>
          </a:p>
          <a:p>
            <a:pPr marL="355600" indent="-342900">
              <a:lnSpc>
                <a:spcPts val="2510"/>
              </a:lnSpc>
              <a:buChar char="•"/>
              <a:tabLst>
                <a:tab pos="354965" algn="l"/>
                <a:tab pos="355600" algn="l"/>
              </a:tabLst>
            </a:pPr>
            <a:r>
              <a:rPr sz="2100" spc="-5" dirty="0">
                <a:latin typeface="Times New Roman"/>
                <a:cs typeface="Times New Roman"/>
              </a:rPr>
              <a:t>Followed </a:t>
            </a:r>
            <a:r>
              <a:rPr sz="2100" dirty="0">
                <a:latin typeface="Times New Roman"/>
                <a:cs typeface="Times New Roman"/>
              </a:rPr>
              <a:t>by a </a:t>
            </a:r>
            <a:r>
              <a:rPr sz="2100" spc="-5" dirty="0">
                <a:latin typeface="Times New Roman"/>
                <a:cs typeface="Times New Roman"/>
              </a:rPr>
              <a:t>risk assignment model </a:t>
            </a:r>
            <a:r>
              <a:rPr sz="2100" dirty="0">
                <a:latin typeface="Times New Roman"/>
                <a:cs typeface="Times New Roman"/>
              </a:rPr>
              <a:t>–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predictive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85420"/>
            <a:ext cx="63722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6745" algn="l"/>
              </a:tabLst>
            </a:pPr>
            <a:r>
              <a:rPr dirty="0"/>
              <a:t>D</a:t>
            </a:r>
            <a:r>
              <a:rPr spc="-5" dirty="0"/>
              <a:t>e</a:t>
            </a:r>
            <a:r>
              <a:rPr dirty="0"/>
              <a:t>s</a:t>
            </a:r>
            <a:r>
              <a:rPr spc="-5" dirty="0"/>
              <a:t>c</a:t>
            </a:r>
            <a:r>
              <a:rPr dirty="0"/>
              <a:t>r</a:t>
            </a:r>
            <a:r>
              <a:rPr spc="-5" dirty="0"/>
              <a:t>i</a:t>
            </a:r>
            <a:r>
              <a:rPr dirty="0"/>
              <a:t>p</a:t>
            </a:r>
            <a:r>
              <a:rPr spc="-5" dirty="0"/>
              <a:t>ti</a:t>
            </a:r>
            <a:r>
              <a:rPr dirty="0"/>
              <a:t>ve</a:t>
            </a:r>
            <a:r>
              <a:rPr spc="-5" dirty="0"/>
              <a:t> </a:t>
            </a:r>
            <a:r>
              <a:rPr dirty="0"/>
              <a:t>D</a:t>
            </a:r>
            <a:r>
              <a:rPr spc="-5" dirty="0"/>
              <a:t>at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M</a:t>
            </a:r>
            <a:r>
              <a:rPr spc="-5" dirty="0"/>
              <a:t>i</a:t>
            </a:r>
            <a:r>
              <a:rPr dirty="0"/>
              <a:t>n</a:t>
            </a:r>
            <a:r>
              <a:rPr spc="-5" dirty="0"/>
              <a:t>i</a:t>
            </a:r>
            <a:r>
              <a:rPr dirty="0"/>
              <a:t>ng	</a:t>
            </a:r>
            <a:r>
              <a:rPr spc="-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174623"/>
            <a:ext cx="7072630" cy="32918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Discovering new patterns inside the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-5" dirty="0">
                <a:latin typeface="Times New Roman"/>
                <a:cs typeface="Times New Roman"/>
              </a:rPr>
              <a:t>during the data exploration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steps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Typical questions answered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descriptive data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mining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what is in 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what does it look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like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are there any unusual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patterns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what does the data suggest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customer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segmentation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users may have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idea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which kind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patterns may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interesting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85420"/>
            <a:ext cx="63722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6745" algn="l"/>
              </a:tabLst>
            </a:pPr>
            <a:r>
              <a:rPr dirty="0"/>
              <a:t>D</a:t>
            </a:r>
            <a:r>
              <a:rPr spc="-5" dirty="0"/>
              <a:t>e</a:t>
            </a:r>
            <a:r>
              <a:rPr dirty="0"/>
              <a:t>s</a:t>
            </a:r>
            <a:r>
              <a:rPr spc="-5" dirty="0"/>
              <a:t>c</a:t>
            </a:r>
            <a:r>
              <a:rPr dirty="0"/>
              <a:t>r</a:t>
            </a:r>
            <a:r>
              <a:rPr spc="-5" dirty="0"/>
              <a:t>i</a:t>
            </a:r>
            <a:r>
              <a:rPr dirty="0"/>
              <a:t>p</a:t>
            </a:r>
            <a:r>
              <a:rPr spc="-5" dirty="0"/>
              <a:t>ti</a:t>
            </a:r>
            <a:r>
              <a:rPr dirty="0"/>
              <a:t>ve</a:t>
            </a:r>
            <a:r>
              <a:rPr spc="-5" dirty="0"/>
              <a:t> </a:t>
            </a:r>
            <a:r>
              <a:rPr dirty="0"/>
              <a:t>D</a:t>
            </a:r>
            <a:r>
              <a:rPr spc="-5" dirty="0"/>
              <a:t>at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M</a:t>
            </a:r>
            <a:r>
              <a:rPr spc="-5" dirty="0"/>
              <a:t>i</a:t>
            </a:r>
            <a:r>
              <a:rPr dirty="0"/>
              <a:t>n</a:t>
            </a:r>
            <a:r>
              <a:rPr spc="-5" dirty="0"/>
              <a:t>i</a:t>
            </a:r>
            <a:r>
              <a:rPr dirty="0"/>
              <a:t>ng	</a:t>
            </a:r>
            <a:r>
              <a:rPr spc="-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9565" y="1178179"/>
            <a:ext cx="5531485" cy="40284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Patterns at various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granularities: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4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geography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country </a:t>
            </a:r>
            <a:r>
              <a:rPr sz="1800" dirty="0">
                <a:latin typeface="Times New Roman"/>
                <a:cs typeface="Times New Roman"/>
              </a:rPr>
              <a:t>- </a:t>
            </a:r>
            <a:r>
              <a:rPr sz="1800" spc="-5" dirty="0">
                <a:latin typeface="Times New Roman"/>
                <a:cs typeface="Times New Roman"/>
              </a:rPr>
              <a:t>city </a:t>
            </a:r>
            <a:r>
              <a:rPr sz="1800" dirty="0">
                <a:latin typeface="Times New Roman"/>
                <a:cs typeface="Times New Roman"/>
              </a:rPr>
              <a:t>- </a:t>
            </a:r>
            <a:r>
              <a:rPr sz="1800" spc="-5" dirty="0">
                <a:latin typeface="Times New Roman"/>
                <a:cs typeface="Times New Roman"/>
              </a:rPr>
              <a:t>region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street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student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7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university </a:t>
            </a:r>
            <a:r>
              <a:rPr sz="1800" dirty="0">
                <a:latin typeface="Times New Roman"/>
                <a:cs typeface="Times New Roman"/>
              </a:rPr>
              <a:t>- </a:t>
            </a:r>
            <a:r>
              <a:rPr sz="1800" spc="-5" dirty="0">
                <a:latin typeface="Times New Roman"/>
                <a:cs typeface="Times New Roman"/>
              </a:rPr>
              <a:t>faculty </a:t>
            </a:r>
            <a:r>
              <a:rPr sz="1800" dirty="0">
                <a:latin typeface="Times New Roman"/>
                <a:cs typeface="Times New Roman"/>
              </a:rPr>
              <a:t>- </a:t>
            </a:r>
            <a:r>
              <a:rPr sz="1800" spc="-5" dirty="0">
                <a:latin typeface="Times New Roman"/>
                <a:cs typeface="Times New Roman"/>
              </a:rPr>
              <a:t>department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minor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Functionalities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descriptive 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mining: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Clustering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Example: customer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segmentation</a:t>
            </a:r>
            <a:endParaRPr sz="1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Summarization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Visualization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Association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1155065" algn="l"/>
                <a:tab pos="1155700" algn="l"/>
              </a:tabLst>
            </a:pPr>
            <a:r>
              <a:rPr sz="1800" spc="-5" dirty="0">
                <a:latin typeface="Times New Roman"/>
                <a:cs typeface="Times New Roman"/>
              </a:rPr>
              <a:t>Example: market basket analysis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85420"/>
            <a:ext cx="52705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Predictive Data</a:t>
            </a:r>
            <a:r>
              <a:rPr spc="-50" dirty="0"/>
              <a:t> </a:t>
            </a:r>
            <a:r>
              <a:rPr spc="-5" dirty="0"/>
              <a:t>Mining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590" y="1059116"/>
            <a:ext cx="7461250" cy="4148454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0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Using </a:t>
            </a:r>
            <a:r>
              <a:rPr sz="2400" dirty="0">
                <a:latin typeface="Times New Roman"/>
                <a:cs typeface="Times New Roman"/>
              </a:rPr>
              <a:t>known </a:t>
            </a:r>
            <a:r>
              <a:rPr sz="2400" spc="-5" dirty="0">
                <a:latin typeface="Times New Roman"/>
                <a:cs typeface="Times New Roman"/>
              </a:rPr>
              <a:t>examples the model 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trained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21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unknown </a:t>
            </a:r>
            <a:r>
              <a:rPr sz="2400" spc="-5" dirty="0">
                <a:latin typeface="Times New Roman"/>
                <a:cs typeface="Times New Roman"/>
              </a:rPr>
              <a:t>function is 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learned from</a:t>
            </a:r>
            <a:r>
              <a:rPr sz="240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i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more data with </a:t>
            </a:r>
            <a:r>
              <a:rPr sz="2400" dirty="0">
                <a:latin typeface="Times New Roman"/>
                <a:cs typeface="Times New Roman"/>
              </a:rPr>
              <a:t>known </a:t>
            </a:r>
            <a:r>
              <a:rPr sz="2400" spc="-5" dirty="0">
                <a:latin typeface="Times New Roman"/>
                <a:cs typeface="Times New Roman"/>
              </a:rPr>
              <a:t>outcomes 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available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2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better the predictive power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  <a:p>
            <a:pPr marL="355600" marR="46355" indent="-342900">
              <a:lnSpc>
                <a:spcPct val="101099"/>
              </a:lnSpc>
              <a:spcBef>
                <a:spcPts val="1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Used to predict outcomes </a:t>
            </a:r>
            <a:r>
              <a:rPr sz="2400" dirty="0">
                <a:latin typeface="Times New Roman"/>
                <a:cs typeface="Times New Roman"/>
              </a:rPr>
              <a:t>whose </a:t>
            </a:r>
            <a:r>
              <a:rPr sz="2400" spc="-5" dirty="0">
                <a:latin typeface="Times New Roman"/>
                <a:cs typeface="Times New Roman"/>
              </a:rPr>
              <a:t>inputs are </a:t>
            </a:r>
            <a:r>
              <a:rPr sz="2400" dirty="0">
                <a:latin typeface="Times New Roman"/>
                <a:cs typeface="Times New Roman"/>
              </a:rPr>
              <a:t>known but </a:t>
            </a:r>
            <a:r>
              <a:rPr sz="2400" spc="-5" dirty="0">
                <a:latin typeface="Times New Roman"/>
                <a:cs typeface="Times New Roman"/>
              </a:rPr>
              <a:t>the  output values are </a:t>
            </a:r>
            <a:r>
              <a:rPr sz="2400" dirty="0">
                <a:latin typeface="Times New Roman"/>
                <a:cs typeface="Times New Roman"/>
              </a:rPr>
              <a:t>not </a:t>
            </a:r>
            <a:r>
              <a:rPr sz="2400" spc="-5" dirty="0">
                <a:latin typeface="Times New Roman"/>
                <a:cs typeface="Times New Roman"/>
              </a:rPr>
              <a:t>realized yet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9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Never </a:t>
            </a:r>
            <a:r>
              <a:rPr sz="2400" dirty="0">
                <a:latin typeface="Times New Roman"/>
                <a:cs typeface="Times New Roman"/>
              </a:rPr>
              <a:t>%100 </a:t>
            </a:r>
            <a:r>
              <a:rPr sz="2400" spc="-5" dirty="0">
                <a:latin typeface="Times New Roman"/>
                <a:cs typeface="Times New Roman"/>
              </a:rPr>
              <a:t>accurate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performance </a:t>
            </a:r>
            <a:r>
              <a:rPr sz="2400" dirty="0">
                <a:latin typeface="Times New Roman"/>
                <a:cs typeface="Times New Roman"/>
              </a:rPr>
              <a:t>of a </a:t>
            </a:r>
            <a:r>
              <a:rPr sz="2400" spc="-5" dirty="0">
                <a:latin typeface="Times New Roman"/>
                <a:cs typeface="Times New Roman"/>
              </a:rPr>
              <a:t>model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past data is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important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to predict the </a:t>
            </a:r>
            <a:r>
              <a:rPr sz="2400" dirty="0">
                <a:latin typeface="Times New Roman"/>
                <a:cs typeface="Times New Roman"/>
              </a:rPr>
              <a:t>known </a:t>
            </a:r>
            <a:r>
              <a:rPr sz="2400" spc="-5" dirty="0">
                <a:latin typeface="Times New Roman"/>
                <a:cs typeface="Times New Roman"/>
              </a:rPr>
              <a:t>outcomes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Its performance </a:t>
            </a:r>
            <a:r>
              <a:rPr sz="2400" dirty="0">
                <a:latin typeface="Times New Roman"/>
                <a:cs typeface="Times New Roman"/>
              </a:rPr>
              <a:t>on unknown </a:t>
            </a:r>
            <a:r>
              <a:rPr sz="2400" spc="-5" dirty="0">
                <a:latin typeface="Times New Roman"/>
                <a:cs typeface="Times New Roman"/>
              </a:rPr>
              <a:t>data is much more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important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65" y="31115"/>
            <a:ext cx="6931025" cy="13563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5200"/>
              </a:lnSpc>
              <a:spcBef>
                <a:spcPts val="340"/>
              </a:spcBef>
              <a:tabLst>
                <a:tab pos="6358890" algn="l"/>
              </a:tabLst>
            </a:pPr>
            <a:r>
              <a:rPr spc="-5" dirty="0"/>
              <a:t>T</a:t>
            </a:r>
            <a:r>
              <a:rPr dirty="0"/>
              <a:t>yp</a:t>
            </a:r>
            <a:r>
              <a:rPr spc="-5" dirty="0"/>
              <a:t>ica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qu</a:t>
            </a:r>
            <a:r>
              <a:rPr spc="-5" dirty="0"/>
              <a:t>e</a:t>
            </a:r>
            <a:r>
              <a:rPr dirty="0"/>
              <a:t>s</a:t>
            </a:r>
            <a:r>
              <a:rPr spc="-5" dirty="0"/>
              <a:t>ti</a:t>
            </a:r>
            <a:r>
              <a:rPr dirty="0"/>
              <a:t>ons </a:t>
            </a:r>
            <a:r>
              <a:rPr spc="-5" dirty="0"/>
              <a:t>a</a:t>
            </a:r>
            <a:r>
              <a:rPr dirty="0"/>
              <a:t>nsw</a:t>
            </a:r>
            <a:r>
              <a:rPr spc="-5" dirty="0"/>
              <a:t>e</a:t>
            </a:r>
            <a:r>
              <a:rPr dirty="0"/>
              <a:t>r</a:t>
            </a:r>
            <a:r>
              <a:rPr spc="-5" dirty="0"/>
              <a:t>e</a:t>
            </a:r>
            <a:r>
              <a:rPr dirty="0"/>
              <a:t>d	by  </a:t>
            </a:r>
            <a:r>
              <a:rPr spc="-5" dirty="0"/>
              <a:t>predictive</a:t>
            </a:r>
            <a:r>
              <a:rPr spc="-10" dirty="0"/>
              <a:t> </a:t>
            </a:r>
            <a:r>
              <a:rPr spc="-5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480566"/>
            <a:ext cx="7566659" cy="379285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Who is likely to respond to </a:t>
            </a:r>
            <a:r>
              <a:rPr sz="2800" dirty="0">
                <a:latin typeface="Times New Roman"/>
                <a:cs typeface="Times New Roman"/>
              </a:rPr>
              <a:t>our </a:t>
            </a:r>
            <a:r>
              <a:rPr sz="2800" spc="-5" dirty="0">
                <a:latin typeface="Times New Roman"/>
                <a:cs typeface="Times New Roman"/>
              </a:rPr>
              <a:t>next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offer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based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history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previous marketing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campaigns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329"/>
              </a:lnSpc>
              <a:spcBef>
                <a:spcPts val="85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Which customers are likely to leave in the next six  months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What transactions are likely to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fraudulent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har char="–"/>
              <a:tabLst>
                <a:tab pos="755015" algn="l"/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based </a:t>
            </a:r>
            <a:r>
              <a:rPr sz="2400" dirty="0">
                <a:latin typeface="Times New Roman"/>
                <a:cs typeface="Times New Roman"/>
              </a:rPr>
              <a:t>on known </a:t>
            </a:r>
            <a:r>
              <a:rPr sz="2400" spc="-5" dirty="0">
                <a:latin typeface="Times New Roman"/>
                <a:cs typeface="Times New Roman"/>
              </a:rPr>
              <a:t>examples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fraud</a:t>
            </a:r>
            <a:endParaRPr sz="2400">
              <a:latin typeface="Times New Roman"/>
              <a:cs typeface="Times New Roman"/>
            </a:endParaRPr>
          </a:p>
          <a:p>
            <a:pPr marL="355600" marR="310515" indent="-342900">
              <a:lnSpc>
                <a:spcPct val="102000"/>
              </a:lnSpc>
              <a:spcBef>
                <a:spcPts val="55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What is the total amount spending </a:t>
            </a:r>
            <a:r>
              <a:rPr sz="2800" dirty="0">
                <a:latin typeface="Times New Roman"/>
                <a:cs typeface="Times New Roman"/>
              </a:rPr>
              <a:t>of a </a:t>
            </a:r>
            <a:r>
              <a:rPr sz="2800" spc="-5" dirty="0">
                <a:latin typeface="Times New Roman"/>
                <a:cs typeface="Times New Roman"/>
              </a:rPr>
              <a:t>customer  in the next month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125" y="521970"/>
            <a:ext cx="71177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2120" algn="l"/>
              </a:tabLst>
            </a:pPr>
            <a:r>
              <a:rPr spc="-5" dirty="0"/>
              <a:t>Data</a:t>
            </a:r>
            <a:r>
              <a:rPr spc="5" dirty="0"/>
              <a:t> </a:t>
            </a:r>
            <a:r>
              <a:rPr spc="-5" dirty="0"/>
              <a:t>Mining	Functionalities</a:t>
            </a:r>
            <a:r>
              <a:rPr spc="-60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662" y="1376108"/>
            <a:ext cx="7418070" cy="321754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Concept description: characterization and</a:t>
            </a:r>
            <a:r>
              <a:rPr sz="2400" u="heavy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discrimination</a:t>
            </a:r>
            <a:endParaRPr sz="2400">
              <a:latin typeface="Times New Roman"/>
              <a:cs typeface="Times New Roman"/>
            </a:endParaRPr>
          </a:p>
          <a:p>
            <a:pPr marL="749300" marR="5080" lvl="1" indent="-279400">
              <a:lnSpc>
                <a:spcPct val="109200"/>
              </a:lnSpc>
              <a:spcBef>
                <a:spcPts val="44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Generalize, summarize, and contrast data characteristics, e.g., big  spenders </a:t>
            </a:r>
            <a:r>
              <a:rPr sz="2000" dirty="0">
                <a:latin typeface="Times New Roman"/>
                <a:cs typeface="Times New Roman"/>
              </a:rPr>
              <a:t>vs. </a:t>
            </a:r>
            <a:r>
              <a:rPr sz="2000" spc="-5" dirty="0">
                <a:latin typeface="Times New Roman"/>
                <a:cs typeface="Times New Roman"/>
              </a:rPr>
              <a:t>budget spenders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91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Association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400" spc="-5" dirty="0">
                <a:latin typeface="Times New Roman"/>
                <a:cs typeface="Times New Roman"/>
              </a:rPr>
              <a:t>correlation 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causality)</a:t>
            </a:r>
            <a:endParaRPr sz="24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Multi-dimensional </a:t>
            </a:r>
            <a:r>
              <a:rPr sz="2000" dirty="0">
                <a:latin typeface="Times New Roman"/>
                <a:cs typeface="Times New Roman"/>
              </a:rPr>
              <a:t>vs. </a:t>
            </a:r>
            <a:r>
              <a:rPr sz="2000" spc="-5" dirty="0">
                <a:latin typeface="Times New Roman"/>
                <a:cs typeface="Times New Roman"/>
              </a:rPr>
              <a:t>single-dimensional association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  <a:tabLst>
                <a:tab pos="755015" algn="l"/>
              </a:tabLst>
            </a:pPr>
            <a:r>
              <a:rPr sz="2000" dirty="0">
                <a:latin typeface="Times New Roman"/>
                <a:cs typeface="Times New Roman"/>
              </a:rPr>
              <a:t>–	</a:t>
            </a:r>
            <a:r>
              <a:rPr sz="2000" spc="-5" dirty="0">
                <a:latin typeface="Times New Roman"/>
                <a:cs typeface="Times New Roman"/>
              </a:rPr>
              <a:t>age(X, </a:t>
            </a:r>
            <a:r>
              <a:rPr sz="2000" spc="-225" dirty="0">
                <a:latin typeface="AoyagiKouzanFontT"/>
                <a:cs typeface="AoyagiKouzanFontT"/>
              </a:rPr>
              <a:t>“</a:t>
            </a:r>
            <a:r>
              <a:rPr sz="2000" spc="-225" dirty="0">
                <a:latin typeface="Times New Roman"/>
                <a:cs typeface="Times New Roman"/>
              </a:rPr>
              <a:t>20..29</a:t>
            </a:r>
            <a:r>
              <a:rPr sz="2000" spc="-225" dirty="0">
                <a:latin typeface="AoyagiKouzanFontT"/>
                <a:cs typeface="AoyagiKouzanFontT"/>
              </a:rPr>
              <a:t>”</a:t>
            </a:r>
            <a:r>
              <a:rPr sz="2000" spc="-225" dirty="0">
                <a:latin typeface="Times New Roman"/>
                <a:cs typeface="Times New Roman"/>
              </a:rPr>
              <a:t>) </a:t>
            </a:r>
            <a:r>
              <a:rPr sz="2000" dirty="0">
                <a:latin typeface="Times New Roman"/>
                <a:cs typeface="Times New Roman"/>
              </a:rPr>
              <a:t>^ </a:t>
            </a:r>
            <a:r>
              <a:rPr sz="2000" spc="-5" dirty="0">
                <a:latin typeface="Times New Roman"/>
                <a:cs typeface="Times New Roman"/>
              </a:rPr>
              <a:t>income(X, </a:t>
            </a:r>
            <a:r>
              <a:rPr sz="2000" spc="-204" dirty="0">
                <a:latin typeface="AoyagiKouzanFontT"/>
                <a:cs typeface="AoyagiKouzanFontT"/>
              </a:rPr>
              <a:t>“</a:t>
            </a:r>
            <a:r>
              <a:rPr sz="2000" spc="-204" dirty="0">
                <a:latin typeface="Times New Roman"/>
                <a:cs typeface="Times New Roman"/>
              </a:rPr>
              <a:t>20..29K</a:t>
            </a:r>
            <a:r>
              <a:rPr sz="2000" spc="-204" dirty="0">
                <a:latin typeface="AoyagiKouzanFontT"/>
                <a:cs typeface="AoyagiKouzanFontT"/>
              </a:rPr>
              <a:t>”</a:t>
            </a:r>
            <a:r>
              <a:rPr sz="2000" spc="-204" dirty="0">
                <a:latin typeface="Times New Roman"/>
                <a:cs typeface="Times New Roman"/>
              </a:rPr>
              <a:t>)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-&gt;</a:t>
            </a:r>
            <a:endParaRPr sz="2000">
              <a:latin typeface="Times New Roman"/>
              <a:cs typeface="Times New Roman"/>
            </a:endParaRPr>
          </a:p>
          <a:p>
            <a:pPr marL="749300">
              <a:lnSpc>
                <a:spcPct val="100000"/>
              </a:lnSpc>
              <a:spcBef>
                <a:spcPts val="320"/>
              </a:spcBef>
            </a:pPr>
            <a:r>
              <a:rPr sz="2000" dirty="0">
                <a:latin typeface="Times New Roman"/>
                <a:cs typeface="Times New Roman"/>
              </a:rPr>
              <a:t>buys(X, </a:t>
            </a:r>
            <a:r>
              <a:rPr sz="2000" spc="-405" dirty="0">
                <a:latin typeface="AoyagiKouzanFontT"/>
                <a:cs typeface="AoyagiKouzanFontT"/>
              </a:rPr>
              <a:t>“</a:t>
            </a:r>
            <a:r>
              <a:rPr sz="2000" spc="-405" dirty="0">
                <a:latin typeface="Times New Roman"/>
                <a:cs typeface="Times New Roman"/>
              </a:rPr>
              <a:t>PC</a:t>
            </a:r>
            <a:r>
              <a:rPr sz="2000" spc="-405" dirty="0">
                <a:latin typeface="AoyagiKouzanFontT"/>
                <a:cs typeface="AoyagiKouzanFontT"/>
              </a:rPr>
              <a:t>”</a:t>
            </a:r>
            <a:r>
              <a:rPr sz="2000" spc="-405" dirty="0">
                <a:latin typeface="Times New Roman"/>
                <a:cs typeface="Times New Roman"/>
              </a:rPr>
              <a:t>) </a:t>
            </a:r>
            <a:r>
              <a:rPr sz="2000" dirty="0">
                <a:latin typeface="Times New Roman"/>
                <a:cs typeface="Times New Roman"/>
              </a:rPr>
              <a:t>[support = 2%, </a:t>
            </a:r>
            <a:r>
              <a:rPr sz="2000" spc="-5" dirty="0">
                <a:latin typeface="Times New Roman"/>
                <a:cs typeface="Times New Roman"/>
              </a:rPr>
              <a:t>confidence </a:t>
            </a:r>
            <a:r>
              <a:rPr sz="2000" dirty="0">
                <a:latin typeface="Times New Roman"/>
                <a:cs typeface="Times New Roman"/>
              </a:rPr>
              <a:t>= 60%]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contains(T, </a:t>
            </a:r>
            <a:r>
              <a:rPr sz="2000" spc="-185" dirty="0">
                <a:latin typeface="AoyagiKouzanFontT"/>
                <a:cs typeface="AoyagiKouzanFontT"/>
              </a:rPr>
              <a:t>“</a:t>
            </a:r>
            <a:r>
              <a:rPr sz="2000" spc="-185" dirty="0">
                <a:latin typeface="Times New Roman"/>
                <a:cs typeface="Times New Roman"/>
              </a:rPr>
              <a:t>computer</a:t>
            </a:r>
            <a:r>
              <a:rPr sz="2000" spc="-185" dirty="0">
                <a:latin typeface="AoyagiKouzanFontT"/>
                <a:cs typeface="AoyagiKouzanFontT"/>
              </a:rPr>
              <a:t>”</a:t>
            </a:r>
            <a:r>
              <a:rPr sz="2000" spc="-185" dirty="0">
                <a:latin typeface="Times New Roman"/>
                <a:cs typeface="Times New Roman"/>
              </a:rPr>
              <a:t>) </a:t>
            </a:r>
            <a:r>
              <a:rPr sz="2000" dirty="0">
                <a:latin typeface="Times New Roman"/>
                <a:cs typeface="Times New Roman"/>
              </a:rPr>
              <a:t>-&gt; </a:t>
            </a:r>
            <a:r>
              <a:rPr sz="2000" spc="-5" dirty="0">
                <a:latin typeface="Times New Roman"/>
                <a:cs typeface="Times New Roman"/>
              </a:rPr>
              <a:t>contains(x, </a:t>
            </a:r>
            <a:r>
              <a:rPr sz="2000" spc="-185" dirty="0">
                <a:latin typeface="AoyagiKouzanFontT"/>
                <a:cs typeface="AoyagiKouzanFontT"/>
              </a:rPr>
              <a:t>“</a:t>
            </a:r>
            <a:r>
              <a:rPr sz="2000" spc="-185" dirty="0">
                <a:latin typeface="Times New Roman"/>
                <a:cs typeface="Times New Roman"/>
              </a:rPr>
              <a:t>software</a:t>
            </a:r>
            <a:r>
              <a:rPr sz="2000" spc="-185" dirty="0">
                <a:latin typeface="AoyagiKouzanFontT"/>
                <a:cs typeface="AoyagiKouzanFontT"/>
              </a:rPr>
              <a:t>”</a:t>
            </a:r>
            <a:r>
              <a:rPr sz="2000" spc="-185" dirty="0">
                <a:latin typeface="Times New Roman"/>
                <a:cs typeface="Times New Roman"/>
              </a:rPr>
              <a:t>) </a:t>
            </a:r>
            <a:r>
              <a:rPr sz="2000" dirty="0">
                <a:latin typeface="Times New Roman"/>
                <a:cs typeface="Times New Roman"/>
              </a:rPr>
              <a:t>[1%,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75%]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225" y="232257"/>
            <a:ext cx="71177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2120" algn="l"/>
              </a:tabLst>
            </a:pPr>
            <a:r>
              <a:rPr spc="-5" dirty="0"/>
              <a:t>Data</a:t>
            </a:r>
            <a:r>
              <a:rPr spc="5" dirty="0"/>
              <a:t> </a:t>
            </a:r>
            <a:r>
              <a:rPr spc="-5" dirty="0"/>
              <a:t>Mining	Functionalities</a:t>
            </a:r>
            <a:r>
              <a:rPr spc="-60" dirty="0"/>
              <a:t> </a:t>
            </a:r>
            <a:r>
              <a:rPr spc="-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662" y="1160208"/>
            <a:ext cx="8011795" cy="501078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Classification and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Prediction</a:t>
            </a:r>
            <a:endParaRPr sz="2400">
              <a:latin typeface="Times New Roman"/>
              <a:cs typeface="Times New Roman"/>
            </a:endParaRPr>
          </a:p>
          <a:p>
            <a:pPr marL="749300" marR="476250" lvl="1" indent="-279400">
              <a:lnSpc>
                <a:spcPct val="109200"/>
              </a:lnSpc>
              <a:spcBef>
                <a:spcPts val="44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Finding models (functions) that describe and distinguish classes </a:t>
            </a:r>
            <a:r>
              <a:rPr sz="2000" dirty="0">
                <a:latin typeface="Times New Roman"/>
                <a:cs typeface="Times New Roman"/>
              </a:rPr>
              <a:t>or  </a:t>
            </a:r>
            <a:r>
              <a:rPr sz="2000" spc="-5" dirty="0">
                <a:latin typeface="Times New Roman"/>
                <a:cs typeface="Times New Roman"/>
              </a:rPr>
              <a:t>concepts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future prediction</a:t>
            </a:r>
            <a:endParaRPr sz="2000">
              <a:latin typeface="Times New Roman"/>
              <a:cs typeface="Times New Roman"/>
            </a:endParaRPr>
          </a:p>
          <a:p>
            <a:pPr marL="749300" marR="631825" lvl="1" indent="-279400">
              <a:lnSpc>
                <a:spcPct val="109200"/>
              </a:lnSpc>
              <a:spcBef>
                <a:spcPts val="56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E.g., classify people as healthy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sick,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classify transactions as  fraudulent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Methods: decision-tree, classification rule, neural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800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Prediction: Predict some </a:t>
            </a:r>
            <a:r>
              <a:rPr sz="2000" dirty="0">
                <a:latin typeface="Times New Roman"/>
                <a:cs typeface="Times New Roman"/>
              </a:rPr>
              <a:t>unknown or </a:t>
            </a:r>
            <a:r>
              <a:rPr sz="2000" spc="-5" dirty="0">
                <a:latin typeface="Times New Roman"/>
                <a:cs typeface="Times New Roman"/>
              </a:rPr>
              <a:t>missing numerical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values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83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Cluster</a:t>
            </a:r>
            <a:r>
              <a:rPr sz="24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  <a:p>
            <a:pPr marL="749300" marR="5080" lvl="1" indent="-279400">
              <a:lnSpc>
                <a:spcPct val="110800"/>
              </a:lnSpc>
              <a:spcBef>
                <a:spcPts val="425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Class label is </a:t>
            </a:r>
            <a:r>
              <a:rPr sz="2000" dirty="0">
                <a:latin typeface="Times New Roman"/>
                <a:cs typeface="Times New Roman"/>
              </a:rPr>
              <a:t>unknown: Group </a:t>
            </a:r>
            <a:r>
              <a:rPr sz="2000" spc="-5" dirty="0">
                <a:latin typeface="Times New Roman"/>
                <a:cs typeface="Times New Roman"/>
              </a:rPr>
              <a:t>data to </a:t>
            </a:r>
            <a:r>
              <a:rPr sz="2000" dirty="0">
                <a:latin typeface="Times New Roman"/>
                <a:cs typeface="Times New Roman"/>
              </a:rPr>
              <a:t>form </a:t>
            </a:r>
            <a:r>
              <a:rPr sz="2000" spc="-5" dirty="0">
                <a:latin typeface="Times New Roman"/>
                <a:cs typeface="Times New Roman"/>
              </a:rPr>
              <a:t>new classes, e.g., cluster  customers </a:t>
            </a:r>
            <a:r>
              <a:rPr sz="2000" dirty="0">
                <a:latin typeface="Times New Roman"/>
                <a:cs typeface="Times New Roman"/>
              </a:rPr>
              <a:t>of a </a:t>
            </a:r>
            <a:r>
              <a:rPr sz="2000" spc="-5" dirty="0">
                <a:latin typeface="Times New Roman"/>
                <a:cs typeface="Times New Roman"/>
              </a:rPr>
              <a:t>retail company to learn about characteristics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different  segments</a:t>
            </a:r>
            <a:endParaRPr sz="2000">
              <a:latin typeface="Times New Roman"/>
              <a:cs typeface="Times New Roman"/>
            </a:endParaRPr>
          </a:p>
          <a:p>
            <a:pPr marL="749300" marR="25400" lvl="1" indent="-279400">
              <a:lnSpc>
                <a:spcPct val="109200"/>
              </a:lnSpc>
              <a:spcBef>
                <a:spcPts val="459"/>
              </a:spcBef>
              <a:buChar char="–"/>
              <a:tabLst>
                <a:tab pos="755015" algn="l"/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Clustering based </a:t>
            </a:r>
            <a:r>
              <a:rPr sz="2000" dirty="0">
                <a:latin typeface="Times New Roman"/>
                <a:cs typeface="Times New Roman"/>
              </a:rPr>
              <a:t>on </a:t>
            </a:r>
            <a:r>
              <a:rPr sz="2000" spc="-5" dirty="0">
                <a:latin typeface="Times New Roman"/>
                <a:cs typeface="Times New Roman"/>
              </a:rPr>
              <a:t>the principle: maximizing the intra-class similarity  and minimizing the interclass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similarity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85420"/>
            <a:ext cx="7289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025" algn="l"/>
                <a:tab pos="3241040" algn="l"/>
                <a:tab pos="3846195" algn="l"/>
                <a:tab pos="5631180" algn="l"/>
              </a:tabLst>
            </a:pPr>
            <a:r>
              <a:rPr dirty="0"/>
              <a:t>An	</a:t>
            </a:r>
            <a:r>
              <a:rPr spc="-5" dirty="0"/>
              <a:t>E</a:t>
            </a:r>
            <a:r>
              <a:rPr dirty="0"/>
              <a:t>xp</a:t>
            </a:r>
            <a:r>
              <a:rPr spc="-5" dirty="0"/>
              <a:t>l</a:t>
            </a:r>
            <a:r>
              <a:rPr dirty="0"/>
              <a:t>os</a:t>
            </a:r>
            <a:r>
              <a:rPr spc="-5" dirty="0"/>
              <a:t>i</a:t>
            </a:r>
            <a:r>
              <a:rPr dirty="0"/>
              <a:t>on	of	M</a:t>
            </a:r>
            <a:r>
              <a:rPr spc="-5" dirty="0"/>
              <a:t>i</a:t>
            </a:r>
            <a:r>
              <a:rPr dirty="0"/>
              <a:t>n</a:t>
            </a:r>
            <a:r>
              <a:rPr spc="-5" dirty="0"/>
              <a:t>i</a:t>
            </a:r>
            <a:r>
              <a:rPr dirty="0"/>
              <a:t>ng	R</a:t>
            </a:r>
            <a:r>
              <a:rPr spc="-5" dirty="0"/>
              <a:t>e</a:t>
            </a:r>
            <a:r>
              <a:rPr dirty="0"/>
              <a:t>su</a:t>
            </a:r>
            <a:r>
              <a:rPr spc="-5" dirty="0"/>
              <a:t>lt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27" y="941387"/>
            <a:ext cx="7814945" cy="78232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marR="5080" indent="-342900">
              <a:lnSpc>
                <a:spcPct val="77400"/>
              </a:lnSpc>
              <a:spcBef>
                <a:spcPts val="86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Data Mining tools can output thousands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rules and  associations (collectively called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patterns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052" y="1918652"/>
            <a:ext cx="3670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When 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pattern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3333CC"/>
                </a:solidFill>
                <a:latin typeface="Times New Roman"/>
                <a:cs typeface="Times New Roman"/>
              </a:rPr>
              <a:t>interesting</a:t>
            </a:r>
            <a:r>
              <a:rPr sz="2400" spc="-10" dirty="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052" y="2302192"/>
            <a:ext cx="3237865" cy="6121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622300" marR="5080" indent="-609600">
              <a:lnSpc>
                <a:spcPts val="2220"/>
              </a:lnSpc>
              <a:spcBef>
                <a:spcPts val="325"/>
              </a:spcBef>
              <a:tabLst>
                <a:tab pos="621665" algn="l"/>
              </a:tabLst>
            </a:pPr>
            <a:r>
              <a:rPr sz="2000" dirty="0">
                <a:latin typeface="Times New Roman"/>
                <a:cs typeface="Times New Roman"/>
              </a:rPr>
              <a:t>1)	If </a:t>
            </a:r>
            <a:r>
              <a:rPr sz="2000" spc="-5" dirty="0">
                <a:latin typeface="Times New Roman"/>
                <a:cs typeface="Times New Roman"/>
              </a:rPr>
              <a:t>it can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understood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  </a:t>
            </a:r>
            <a:r>
              <a:rPr sz="2000" spc="-5" dirty="0">
                <a:latin typeface="Times New Roman"/>
                <a:cs typeface="Times New Roman"/>
              </a:rPr>
              <a:t>humans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052" y="3470592"/>
            <a:ext cx="3138805" cy="8788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622300" marR="5080" indent="-609600">
              <a:lnSpc>
                <a:spcPct val="90000"/>
              </a:lnSpc>
              <a:spcBef>
                <a:spcPts val="340"/>
              </a:spcBef>
              <a:tabLst>
                <a:tab pos="621665" algn="l"/>
              </a:tabLst>
            </a:pPr>
            <a:r>
              <a:rPr sz="2000" dirty="0">
                <a:latin typeface="Times New Roman"/>
                <a:cs typeface="Times New Roman"/>
              </a:rPr>
              <a:t>2)	</a:t>
            </a:r>
            <a:r>
              <a:rPr sz="2000" spc="-5" dirty="0">
                <a:latin typeface="Times New Roman"/>
                <a:cs typeface="Times New Roman"/>
              </a:rPr>
              <a:t>The pattern is strong  (i.e., valid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many new  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records)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052" y="4626292"/>
            <a:ext cx="3216910" cy="5994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622300" marR="5080" indent="-609600">
              <a:lnSpc>
                <a:spcPts val="2120"/>
              </a:lnSpc>
              <a:spcBef>
                <a:spcPts val="400"/>
              </a:spcBef>
              <a:tabLst>
                <a:tab pos="621665" algn="l"/>
              </a:tabLst>
            </a:pPr>
            <a:r>
              <a:rPr sz="2000" dirty="0">
                <a:latin typeface="Times New Roman"/>
                <a:cs typeface="Times New Roman"/>
              </a:rPr>
              <a:t>3)	It </a:t>
            </a:r>
            <a:r>
              <a:rPr sz="2000" spc="-5" dirty="0">
                <a:latin typeface="Times New Roman"/>
                <a:cs typeface="Times New Roman"/>
              </a:rPr>
              <a:t>is potentially useful </a:t>
            </a:r>
            <a:r>
              <a:rPr sz="2000" dirty="0">
                <a:latin typeface="Times New Roman"/>
                <a:cs typeface="Times New Roman"/>
              </a:rPr>
              <a:t>for  your </a:t>
            </a:r>
            <a:r>
              <a:rPr sz="2000" spc="-5" dirty="0">
                <a:latin typeface="Times New Roman"/>
                <a:cs typeface="Times New Roman"/>
              </a:rPr>
              <a:t>business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needs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052" y="5502592"/>
            <a:ext cx="3322954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10"/>
              </a:lnSpc>
              <a:spcBef>
                <a:spcPts val="100"/>
              </a:spcBef>
              <a:tabLst>
                <a:tab pos="621665" algn="l"/>
              </a:tabLst>
            </a:pPr>
            <a:r>
              <a:rPr sz="2000" dirty="0">
                <a:latin typeface="Times New Roman"/>
                <a:cs typeface="Times New Roman"/>
              </a:rPr>
              <a:t>4)	It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novel</a:t>
            </a:r>
            <a:endParaRPr sz="2000">
              <a:latin typeface="Times New Roman"/>
              <a:cs typeface="Times New Roman"/>
            </a:endParaRPr>
          </a:p>
          <a:p>
            <a:pPr marL="622300">
              <a:lnSpc>
                <a:spcPts val="2310"/>
              </a:lnSpc>
            </a:pPr>
            <a:r>
              <a:rPr sz="2000" spc="-5" dirty="0">
                <a:latin typeface="Times New Roman"/>
                <a:cs typeface="Times New Roman"/>
              </a:rPr>
              <a:t>(i.e., previously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unknown)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1565" y="1918652"/>
            <a:ext cx="3745865" cy="441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Metrics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3333CC"/>
                </a:solidFill>
                <a:latin typeface="Times New Roman"/>
                <a:cs typeface="Times New Roman"/>
              </a:rPr>
              <a:t>interestingness</a:t>
            </a:r>
            <a:endParaRPr sz="2400">
              <a:latin typeface="Times New Roman"/>
              <a:cs typeface="Times New Roman"/>
            </a:endParaRPr>
          </a:p>
          <a:p>
            <a:pPr marL="353695" marR="777240" indent="-279400">
              <a:lnSpc>
                <a:spcPts val="2100"/>
              </a:lnSpc>
              <a:spcBef>
                <a:spcPts val="330"/>
              </a:spcBef>
            </a:pPr>
            <a:r>
              <a:rPr sz="2000" spc="-5" dirty="0">
                <a:latin typeface="Times New Roman"/>
                <a:cs typeface="Times New Roman"/>
              </a:rPr>
              <a:t>Simplicity: 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Rule Length </a:t>
            </a:r>
            <a:r>
              <a:rPr sz="2000" dirty="0">
                <a:latin typeface="Times New Roman"/>
                <a:cs typeface="Times New Roman"/>
              </a:rPr>
              <a:t>for  (A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dirty="0">
                <a:latin typeface="Times New Roman"/>
                <a:cs typeface="Times New Roman"/>
              </a:rPr>
              <a:t> B) </a:t>
            </a:r>
            <a:r>
              <a:rPr sz="2000" spc="-5" dirty="0">
                <a:latin typeface="Times New Roman"/>
                <a:cs typeface="Times New Roman"/>
              </a:rPr>
              <a:t>is the number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353695" marR="231140">
              <a:lnSpc>
                <a:spcPts val="21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conjunctive conditions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the  number </a:t>
            </a:r>
            <a:r>
              <a:rPr sz="200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attributes in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rule</a:t>
            </a:r>
            <a:endParaRPr sz="2000">
              <a:latin typeface="Times New Roman"/>
              <a:cs typeface="Times New Roman"/>
            </a:endParaRPr>
          </a:p>
          <a:p>
            <a:pPr marL="353695" marR="327660" indent="-279400">
              <a:lnSpc>
                <a:spcPct val="88900"/>
              </a:lnSpc>
              <a:spcBef>
                <a:spcPts val="505"/>
              </a:spcBef>
            </a:pPr>
            <a:r>
              <a:rPr sz="2000" spc="-5" dirty="0">
                <a:latin typeface="Times New Roman"/>
                <a:cs typeface="Times New Roman"/>
              </a:rPr>
              <a:t>Confidence: 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Rule </a:t>
            </a:r>
            <a:r>
              <a:rPr sz="20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Strength </a:t>
            </a:r>
            <a:r>
              <a:rPr sz="2000" dirty="0">
                <a:latin typeface="Times New Roman"/>
                <a:cs typeface="Times New Roman"/>
              </a:rPr>
              <a:t>for  (A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dirty="0">
                <a:latin typeface="Times New Roman"/>
                <a:cs typeface="Times New Roman"/>
              </a:rPr>
              <a:t> B) </a:t>
            </a:r>
            <a:r>
              <a:rPr sz="2000" spc="-5" dirty="0">
                <a:latin typeface="Times New Roman"/>
                <a:cs typeface="Times New Roman"/>
              </a:rPr>
              <a:t>is the conditional  probability that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implies </a:t>
            </a:r>
            <a:r>
              <a:rPr sz="2000" dirty="0">
                <a:latin typeface="Times New Roman"/>
                <a:cs typeface="Times New Roman"/>
              </a:rPr>
              <a:t>B  </a:t>
            </a:r>
            <a:r>
              <a:rPr sz="1800" i="1" spc="-15" dirty="0">
                <a:latin typeface="Times New Roman"/>
                <a:cs typeface="Times New Roman"/>
              </a:rPr>
              <a:t>(#recs </a:t>
            </a:r>
            <a:r>
              <a:rPr sz="1800" i="1" spc="-5" dirty="0">
                <a:latin typeface="Times New Roman"/>
                <a:cs typeface="Times New Roman"/>
              </a:rPr>
              <a:t>with </a:t>
            </a:r>
            <a:r>
              <a:rPr sz="1800" i="1" dirty="0">
                <a:latin typeface="Times New Roman"/>
                <a:cs typeface="Times New Roman"/>
              </a:rPr>
              <a:t>A &amp; </a:t>
            </a:r>
            <a:r>
              <a:rPr sz="1800" i="1" spc="-10" dirty="0">
                <a:latin typeface="Times New Roman"/>
                <a:cs typeface="Times New Roman"/>
              </a:rPr>
              <a:t>B)/(#recs </a:t>
            </a:r>
            <a:r>
              <a:rPr sz="1800" i="1" spc="-5" dirty="0">
                <a:latin typeface="Times New Roman"/>
                <a:cs typeface="Times New Roman"/>
              </a:rPr>
              <a:t>with</a:t>
            </a:r>
            <a:r>
              <a:rPr sz="1800" i="1" spc="-145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A)</a:t>
            </a:r>
            <a:endParaRPr sz="1800">
              <a:latin typeface="Times New Roman"/>
              <a:cs typeface="Times New Roman"/>
            </a:endParaRPr>
          </a:p>
          <a:p>
            <a:pPr marL="353695" marR="5080" indent="-279400">
              <a:lnSpc>
                <a:spcPct val="89600"/>
              </a:lnSpc>
              <a:spcBef>
                <a:spcPts val="745"/>
              </a:spcBef>
            </a:pPr>
            <a:r>
              <a:rPr sz="2000" spc="-5" dirty="0">
                <a:latin typeface="Times New Roman"/>
                <a:cs typeface="Times New Roman"/>
              </a:rPr>
              <a:t>Support: </a:t>
            </a:r>
            <a:r>
              <a:rPr sz="2000" i="1" dirty="0">
                <a:solidFill>
                  <a:srgbClr val="FF0000"/>
                </a:solidFill>
                <a:latin typeface="Times New Roman"/>
                <a:cs typeface="Times New Roman"/>
              </a:rPr>
              <a:t>Support </a:t>
            </a:r>
            <a:r>
              <a:rPr sz="2000" dirty="0">
                <a:latin typeface="Times New Roman"/>
                <a:cs typeface="Times New Roman"/>
              </a:rPr>
              <a:t>for (A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dirty="0">
                <a:latin typeface="Times New Roman"/>
                <a:cs typeface="Times New Roman"/>
              </a:rPr>
              <a:t> B)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 number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percentage </a:t>
            </a:r>
            <a:r>
              <a:rPr sz="2000" dirty="0">
                <a:latin typeface="Times New Roman"/>
                <a:cs typeface="Times New Roman"/>
              </a:rPr>
              <a:t>of DB  </a:t>
            </a:r>
            <a:r>
              <a:rPr sz="2000" spc="-5" dirty="0">
                <a:latin typeface="Times New Roman"/>
                <a:cs typeface="Times New Roman"/>
              </a:rPr>
              <a:t>records that include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-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  <a:p>
            <a:pPr marL="353695" marR="424815" indent="-279400">
              <a:lnSpc>
                <a:spcPct val="89600"/>
              </a:lnSpc>
              <a:spcBef>
                <a:spcPts val="350"/>
              </a:spcBef>
            </a:pPr>
            <a:r>
              <a:rPr sz="2000" spc="-5" dirty="0">
                <a:latin typeface="Times New Roman"/>
                <a:cs typeface="Times New Roman"/>
              </a:rPr>
              <a:t>Novelty: 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Rule Uniqueness </a:t>
            </a:r>
            <a:r>
              <a:rPr sz="2000" dirty="0">
                <a:latin typeface="Times New Roman"/>
                <a:cs typeface="Times New Roman"/>
              </a:rPr>
              <a:t>for  (A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dirty="0">
                <a:latin typeface="Times New Roman"/>
                <a:cs typeface="Times New Roman"/>
              </a:rPr>
              <a:t> B) </a:t>
            </a:r>
            <a:r>
              <a:rPr sz="2000" spc="-5" dirty="0">
                <a:latin typeface="Times New Roman"/>
                <a:cs typeface="Times New Roman"/>
              </a:rPr>
              <a:t>means </a:t>
            </a:r>
            <a:r>
              <a:rPr sz="2000" dirty="0">
                <a:latin typeface="Times New Roman"/>
                <a:cs typeface="Times New Roman"/>
              </a:rPr>
              <a:t>no </a:t>
            </a:r>
            <a:r>
              <a:rPr sz="2000" spc="-5" dirty="0">
                <a:latin typeface="Times New Roman"/>
                <a:cs typeface="Times New Roman"/>
              </a:rPr>
              <a:t>other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rule  includes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implies this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rule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24300" y="2454275"/>
            <a:ext cx="935355" cy="76200"/>
            <a:chOff x="3924300" y="2454275"/>
            <a:chExt cx="935355" cy="76200"/>
          </a:xfrm>
        </p:grpSpPr>
        <p:sp>
          <p:nvSpPr>
            <p:cNvPr id="11" name="object 11"/>
            <p:cNvSpPr/>
            <p:nvPr/>
          </p:nvSpPr>
          <p:spPr>
            <a:xfrm>
              <a:off x="3924300" y="2492375"/>
              <a:ext cx="909955" cy="0"/>
            </a:xfrm>
            <a:custGeom>
              <a:avLst/>
              <a:gdLst/>
              <a:ahLst/>
              <a:cxnLst/>
              <a:rect l="l" t="t" r="r" b="b"/>
              <a:pathLst>
                <a:path w="909954">
                  <a:moveTo>
                    <a:pt x="0" y="0"/>
                  </a:moveTo>
                  <a:lnTo>
                    <a:pt x="909637" y="0"/>
                  </a:lnTo>
                </a:path>
              </a:pathLst>
            </a:custGeom>
            <a:ln w="190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83137" y="24542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924300" y="3606800"/>
            <a:ext cx="935355" cy="76200"/>
            <a:chOff x="3924300" y="3606800"/>
            <a:chExt cx="935355" cy="76200"/>
          </a:xfrm>
        </p:grpSpPr>
        <p:sp>
          <p:nvSpPr>
            <p:cNvPr id="14" name="object 14"/>
            <p:cNvSpPr/>
            <p:nvPr/>
          </p:nvSpPr>
          <p:spPr>
            <a:xfrm>
              <a:off x="3924300" y="3644900"/>
              <a:ext cx="909955" cy="0"/>
            </a:xfrm>
            <a:custGeom>
              <a:avLst/>
              <a:gdLst/>
              <a:ahLst/>
              <a:cxnLst/>
              <a:rect l="l" t="t" r="r" b="b"/>
              <a:pathLst>
                <a:path w="909954">
                  <a:moveTo>
                    <a:pt x="0" y="0"/>
                  </a:moveTo>
                  <a:lnTo>
                    <a:pt x="909637" y="0"/>
                  </a:lnTo>
                </a:path>
              </a:pathLst>
            </a:custGeom>
            <a:ln w="190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83137" y="3606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924300" y="4759325"/>
            <a:ext cx="935355" cy="76200"/>
            <a:chOff x="3924300" y="4759325"/>
            <a:chExt cx="935355" cy="76200"/>
          </a:xfrm>
        </p:grpSpPr>
        <p:sp>
          <p:nvSpPr>
            <p:cNvPr id="17" name="object 17"/>
            <p:cNvSpPr/>
            <p:nvPr/>
          </p:nvSpPr>
          <p:spPr>
            <a:xfrm>
              <a:off x="3924300" y="4797425"/>
              <a:ext cx="909955" cy="0"/>
            </a:xfrm>
            <a:custGeom>
              <a:avLst/>
              <a:gdLst/>
              <a:ahLst/>
              <a:cxnLst/>
              <a:rect l="l" t="t" r="r" b="b"/>
              <a:pathLst>
                <a:path w="909954">
                  <a:moveTo>
                    <a:pt x="0" y="0"/>
                  </a:moveTo>
                  <a:lnTo>
                    <a:pt x="909637" y="0"/>
                  </a:lnTo>
                </a:path>
              </a:pathLst>
            </a:custGeom>
            <a:ln w="190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83137" y="47593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924300" y="5622925"/>
            <a:ext cx="935355" cy="76200"/>
            <a:chOff x="3924300" y="5622925"/>
            <a:chExt cx="935355" cy="76200"/>
          </a:xfrm>
        </p:grpSpPr>
        <p:sp>
          <p:nvSpPr>
            <p:cNvPr id="20" name="object 20"/>
            <p:cNvSpPr/>
            <p:nvPr/>
          </p:nvSpPr>
          <p:spPr>
            <a:xfrm>
              <a:off x="3924300" y="5661025"/>
              <a:ext cx="909955" cy="0"/>
            </a:xfrm>
            <a:custGeom>
              <a:avLst/>
              <a:gdLst/>
              <a:ahLst/>
              <a:cxnLst/>
              <a:rect l="l" t="t" r="r" b="b"/>
              <a:pathLst>
                <a:path w="909954">
                  <a:moveTo>
                    <a:pt x="0" y="0"/>
                  </a:moveTo>
                  <a:lnTo>
                    <a:pt x="909637" y="0"/>
                  </a:lnTo>
                </a:path>
              </a:pathLst>
            </a:custGeom>
            <a:ln w="1904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83137" y="56229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7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D7B5-C1D5-43E4-960A-8916F907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870" y="412898"/>
            <a:ext cx="4874260" cy="677108"/>
          </a:xfrm>
        </p:spPr>
        <p:txBody>
          <a:bodyPr/>
          <a:lstStyle/>
          <a:p>
            <a:pPr algn="ctr"/>
            <a:r>
              <a:rPr lang="en-US" dirty="0"/>
              <a:t>Recap</a:t>
            </a:r>
            <a:endParaRPr lang="en-GB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2ACB411-FB5F-4715-81E4-3A925C207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2" y="1143000"/>
            <a:ext cx="8686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Char char="•"/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3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Data Mining is the core activity or method within a process of Knowledge Discovery in Databases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3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Done in order to find useful information in large amounts of data not possible using “conventional” approaches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3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Variety of methods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Tx/>
              <a:buChar char="•"/>
              <a:tabLst/>
              <a:defRPr/>
            </a:pPr>
            <a:r>
              <a:rPr kumimoji="0" lang="en-US" altLang="en-US" sz="3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Knowledge of data domain, methods, as well as creativity</a:t>
            </a:r>
            <a:endParaRPr kumimoji="0" lang="en-CA" altLang="en-US" sz="3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242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FFFF"/>
      </a:dk1>
      <a:lt1>
        <a:srgbClr val="FFFFFF"/>
      </a:lt1>
      <a:dk2>
        <a:srgbClr val="0000FF"/>
      </a:dk2>
      <a:lt2>
        <a:srgbClr val="000000"/>
      </a:lt2>
      <a:accent1>
        <a:srgbClr val="FF9900"/>
      </a:accent1>
      <a:accent2>
        <a:srgbClr val="333399"/>
      </a:accent2>
      <a:accent3>
        <a:srgbClr val="AAAAFF"/>
      </a:accent3>
      <a:accent4>
        <a:srgbClr val="DADADA"/>
      </a:accent4>
      <a:accent5>
        <a:srgbClr val="FFC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Comic Sans MS"/>
        <a:ea typeface=""/>
        <a:cs typeface="ヒラギノ明朝 ProN W3"/>
      </a:majorFont>
      <a:minorFont>
        <a:latin typeface="Comic Sans MS"/>
        <a:ea typeface="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 w="952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anose="02020603050405020304" pitchFamily="18" charset="0"/>
            <a:cs typeface="ヒラギノ明朝 ProN W3" charset="0"/>
            <a:sym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 w="952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anose="02020603050405020304" pitchFamily="18" charset="0"/>
            <a:cs typeface="ヒラギノ明朝 ProN W3" charset="0"/>
            <a:sym typeface="Times New Roman" panose="02020603050405020304" pitchFamily="18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1924</Words>
  <Application>Microsoft Office PowerPoint</Application>
  <PresentationFormat>On-screen Show (4:3)</PresentationFormat>
  <Paragraphs>319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AoyagiKouzanFontT</vt:lpstr>
      <vt:lpstr>Arial</vt:lpstr>
      <vt:lpstr>Calibri</vt:lpstr>
      <vt:lpstr>Comic Sans MS</vt:lpstr>
      <vt:lpstr>Comic Sans MS Bold</vt:lpstr>
      <vt:lpstr>Lucida Grande</vt:lpstr>
      <vt:lpstr>Symbol</vt:lpstr>
      <vt:lpstr>Times New Roman</vt:lpstr>
      <vt:lpstr>Times New Roman Bold</vt:lpstr>
      <vt:lpstr>Times New Roman Bold Italic</vt:lpstr>
      <vt:lpstr>Wingdings</vt:lpstr>
      <vt:lpstr>Office Theme</vt:lpstr>
      <vt:lpstr>Title &amp; Bullets</vt:lpstr>
      <vt:lpstr>Knowledge Discovery in Databases  (KDD) and Data Mining (DM)</vt:lpstr>
      <vt:lpstr>Why Data Mining / KDD?  Applications</vt:lpstr>
      <vt:lpstr>Applications (continued)</vt:lpstr>
      <vt:lpstr>Why Now?</vt:lpstr>
      <vt:lpstr>Why Data Mining? Can we solve all problems with DM?</vt:lpstr>
      <vt:lpstr>Definitions: DM = KDD</vt:lpstr>
      <vt:lpstr>PowerPoint Presentation</vt:lpstr>
      <vt:lpstr>KDD Process</vt:lpstr>
      <vt:lpstr>KDD Process Steps (detailed)</vt:lpstr>
      <vt:lpstr>What can computers learn?</vt:lpstr>
      <vt:lpstr>KDD Life Cycle</vt:lpstr>
      <vt:lpstr>PowerPoint Presentation</vt:lpstr>
      <vt:lpstr>PowerPoint Presentation</vt:lpstr>
      <vt:lpstr>Data Mining Strategies</vt:lpstr>
      <vt:lpstr>Supervised vs. Unsupervised  Learning</vt:lpstr>
      <vt:lpstr>Black-box Model</vt:lpstr>
      <vt:lpstr>Two Styles of Data Mining</vt:lpstr>
      <vt:lpstr>Descriptive Data Mining (1)</vt:lpstr>
      <vt:lpstr>Descriptive Data Mining (2)</vt:lpstr>
      <vt:lpstr>Predictive Data Mining</vt:lpstr>
      <vt:lpstr>Typical questions answered by  predictive models</vt:lpstr>
      <vt:lpstr>Data Mining Functionalities (1)</vt:lpstr>
      <vt:lpstr>Data Mining Functionalities (2)</vt:lpstr>
      <vt:lpstr>An Explosion of Mining Results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Discovery in Databases  (KDD) and Data Mining (DM)</dc:title>
  <cp:lastModifiedBy>harisup</cp:lastModifiedBy>
  <cp:revision>7</cp:revision>
  <dcterms:created xsi:type="dcterms:W3CDTF">2021-02-15T21:50:05Z</dcterms:created>
  <dcterms:modified xsi:type="dcterms:W3CDTF">2022-02-15T03:02:45Z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2021-02-15T00:00:00Z</vt:filetime>
  </property>
</Properties>
</file>