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303" r:id="rId28"/>
    <p:sldId id="304" r:id="rId29"/>
    <p:sldId id="305" r:id="rId30"/>
    <p:sldId id="306" r:id="rId31"/>
    <p:sldId id="307" r:id="rId32"/>
    <p:sldId id="31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6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2352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52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728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296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796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32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263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4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13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33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3812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950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4391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987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975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983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52E1-A7EF-4933-9B15-87AA643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381000"/>
            <a:ext cx="1056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88162-15D6-49CD-90AB-29505FA1DB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800" y="1219200"/>
            <a:ext cx="10566400" cy="2324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56161-2FD4-4C54-897F-061EAF45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2800" y="3695700"/>
            <a:ext cx="10566400" cy="2324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BAA6B-E302-4D7B-A8E9-C31C901CC5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0F785-A4AB-46C6-9714-00DDC42AB3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8000" y="6477000"/>
            <a:ext cx="2540000" cy="228600"/>
          </a:xfrm>
        </p:spPr>
        <p:txBody>
          <a:bodyPr/>
          <a:lstStyle>
            <a:lvl1pPr>
              <a:defRPr/>
            </a:lvl1pPr>
          </a:lstStyle>
          <a:p>
            <a:fld id="{A9138752-36FD-427E-8620-69995254E1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38163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35E08-AEE0-4F23-805A-6FB8EB159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381000"/>
            <a:ext cx="1056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5BF82-9BB1-416E-B879-E3451CFA021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12800" y="1219200"/>
            <a:ext cx="10566400" cy="2324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33AE5-8599-4E1E-974A-F3A1356DC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2800" y="3695700"/>
            <a:ext cx="10566400" cy="2324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7ABD0-9DC5-4307-8F37-36EE043EB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F734A-D43F-49D9-A547-62B77556D6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8000" y="6477000"/>
            <a:ext cx="2540000" cy="228600"/>
          </a:xfrm>
        </p:spPr>
        <p:txBody>
          <a:bodyPr/>
          <a:lstStyle>
            <a:lvl1pPr>
              <a:defRPr/>
            </a:lvl1pPr>
          </a:lstStyle>
          <a:p>
            <a:fld id="{667C9EDA-FB14-4F7F-B91D-B353D62D5A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46072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1A08-4A63-47B7-AF26-EE9E3CE1A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381000"/>
            <a:ext cx="1056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CD714-3E74-439A-8C1A-E6A96DFD6F6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12800" y="1219200"/>
            <a:ext cx="5181600" cy="4800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8A601-3F52-4560-839D-6724B38D30C7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197600" y="1219200"/>
            <a:ext cx="5181600" cy="2324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896956-6C4C-4431-A01A-2CAB83ACBAEC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197600" y="3695700"/>
            <a:ext cx="5181600" cy="2324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22AF4-2403-4E9F-BD44-546D22B33D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BF678-FE45-4B23-823E-22A60C12DC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8000" y="6477000"/>
            <a:ext cx="2540000" cy="228600"/>
          </a:xfrm>
        </p:spPr>
        <p:txBody>
          <a:bodyPr/>
          <a:lstStyle>
            <a:lvl1pPr>
              <a:defRPr/>
            </a:lvl1pPr>
          </a:lstStyle>
          <a:p>
            <a:fld id="{6E277F01-79A2-44AE-A4EC-047E76AFB9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41462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ECC37-3534-4642-8703-1241253A6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381000"/>
            <a:ext cx="1056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848A2-1D62-477B-B784-2CB1E4DCE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800" y="1219200"/>
            <a:ext cx="5181600" cy="4800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3F73C-7136-4740-84FC-F68B7713C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97600" y="1219200"/>
            <a:ext cx="5181600" cy="4800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AA0EC-3DA1-46C8-AAEF-9B6C8EBA55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9813D-E42A-413B-82E9-B51DBAB1F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8000" y="6477000"/>
            <a:ext cx="2540000" cy="228600"/>
          </a:xfrm>
        </p:spPr>
        <p:txBody>
          <a:bodyPr/>
          <a:lstStyle>
            <a:lvl1pPr>
              <a:defRPr/>
            </a:lvl1pPr>
          </a:lstStyle>
          <a:p>
            <a:fld id="{01EF72A1-B8CC-4FAC-A291-0AFF413FFE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858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68C7D-9A0E-41AA-B1B6-BF92811A9EA6}" type="datetimeFigureOut">
              <a:rPr lang="en-GB" smtClean="0"/>
              <a:t>11/02/2023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820D493-52E0-4A0D-96C2-6A944C39F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8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E67D6A50-943F-4A0C-8A26-1AEA6A7FB94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373062" y="1864865"/>
            <a:ext cx="8131550" cy="2262781"/>
          </a:xfrm>
        </p:spPr>
        <p:txBody>
          <a:bodyPr>
            <a:normAutofit/>
          </a:bodyPr>
          <a:lstStyle/>
          <a:p>
            <a:r>
              <a:rPr lang="en-US" altLang="en-US" dirty="0"/>
              <a:t>Machine Learning: An Overview</a:t>
            </a:r>
            <a:endParaRPr lang="en-US" altLang="en-US" i="1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76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7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8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9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0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2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3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4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5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6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7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90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1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2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3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4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5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6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7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8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9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0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1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103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557FD1F1-158C-4D81-89C1-F879A38EB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Learning?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473D69EF-A876-4178-B983-EAF52D1FDF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sz="2400" i="1" dirty="0"/>
              <a:t>“Learning denotes changes in a system that ... enable a system to do the same task … more efficiently the next time.”  - </a:t>
            </a:r>
            <a:r>
              <a:rPr lang="en-US" altLang="en-US" sz="2400" dirty="0"/>
              <a:t>Herbert Simon</a:t>
            </a:r>
            <a:r>
              <a:rPr lang="en-US" altLang="en-US" sz="2400" i="1" dirty="0"/>
              <a:t> </a:t>
            </a:r>
          </a:p>
          <a:p>
            <a:r>
              <a:rPr lang="en-US" altLang="en-US" sz="2400" i="1" dirty="0"/>
              <a:t>“Learning is constructing or modifying representations of what is being experienced.” - </a:t>
            </a:r>
            <a:r>
              <a:rPr lang="en-US" altLang="en-US" sz="2400" dirty="0" err="1"/>
              <a:t>Ryszard</a:t>
            </a:r>
            <a:r>
              <a:rPr lang="en-US" altLang="en-US" sz="2400" dirty="0"/>
              <a:t> Michalski</a:t>
            </a:r>
            <a:r>
              <a:rPr lang="en-US" altLang="en-US" sz="2400" i="1" dirty="0"/>
              <a:t> </a:t>
            </a:r>
          </a:p>
          <a:p>
            <a:r>
              <a:rPr lang="en-US" altLang="en-US" sz="2400" i="1" dirty="0"/>
              <a:t>“Learning is making useful changes in our minds.” - </a:t>
            </a:r>
            <a:r>
              <a:rPr lang="en-US" altLang="en-US" sz="2400" dirty="0"/>
              <a:t>Marvin Minsky</a:t>
            </a:r>
            <a:r>
              <a:rPr lang="en-US" altLang="en-US" sz="2400" i="1" dirty="0"/>
              <a:t> </a:t>
            </a:r>
          </a:p>
          <a:p>
            <a:endParaRPr lang="en-US" altLang="en-US" sz="2400" i="1" dirty="0"/>
          </a:p>
          <a:p>
            <a:endParaRPr lang="en-US" altLang="en-US" sz="2400" i="1" dirty="0"/>
          </a:p>
          <a:p>
            <a:pPr>
              <a:buFontTx/>
              <a:buNone/>
            </a:pPr>
            <a:r>
              <a:rPr lang="en-US" altLang="en-US" sz="2400" i="1" dirty="0"/>
              <a:t>	“Machine learning refers to a system capable of the autonomous acquisition and integration of knowledge.”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B1F00D9F-72E7-490B-955C-F5612864A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9046" y="4920622"/>
            <a:ext cx="7772400" cy="9906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5577A5E9-94A0-4066-A832-9CC69C73E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Machine Learning?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3F815969-7D16-488C-AD00-AC61F4B89C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No human experts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industrial/manufacturing control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mass spectrometer analysis, drug design, astronomic discovery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Black-box human expertise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face/handwriting/speech recognition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driving a car, flying a plane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Rapidly changing phenomena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credit scoring, financial modeling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diagnosis, fraud detection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Need for customization/personalization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personalized news reader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movie/book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B89EEFC-CEDA-4B8E-B8D0-CD2650599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Related Fields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6EF7AB49-47C9-49A0-A646-384FB68666D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133600" y="5181600"/>
            <a:ext cx="7924800" cy="990600"/>
          </a:xfrm>
        </p:spPr>
        <p:txBody>
          <a:bodyPr>
            <a:normAutofit fontScale="92500"/>
          </a:bodyPr>
          <a:lstStyle/>
          <a:p>
            <a:pPr>
              <a:buFontTx/>
              <a:buNone/>
            </a:pPr>
            <a:r>
              <a:rPr lang="en-US" altLang="en-US" sz="2400" i="1"/>
              <a:t>Machine learning</a:t>
            </a:r>
            <a:r>
              <a:rPr lang="en-US" altLang="en-US" sz="2400"/>
              <a:t> is primarily concerned with the accuracy and effectiveness of the </a:t>
            </a:r>
            <a:r>
              <a:rPr lang="en-US" altLang="en-US" sz="2400" i="1"/>
              <a:t>computer system</a:t>
            </a:r>
            <a:r>
              <a:rPr lang="en-US" altLang="en-US" sz="2400"/>
              <a:t>.</a:t>
            </a:r>
            <a:endParaRPr lang="en-US" altLang="en-US" sz="2400" i="1"/>
          </a:p>
        </p:txBody>
      </p:sp>
      <p:sp>
        <p:nvSpPr>
          <p:cNvPr id="64516" name="Oval 4">
            <a:extLst>
              <a:ext uri="{FF2B5EF4-FFF2-40B4-BE49-F238E27FC236}">
                <a16:creationId xmlns:a16="http://schemas.microsoft.com/office/drawing/2014/main" id="{2195BF9B-9F4C-4F61-A7E4-66B45B6A9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429000"/>
            <a:ext cx="27432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psychological models</a:t>
            </a:r>
          </a:p>
        </p:txBody>
      </p:sp>
      <p:sp>
        <p:nvSpPr>
          <p:cNvPr id="64517" name="Oval 5">
            <a:extLst>
              <a:ext uri="{FF2B5EF4-FFF2-40B4-BE49-F238E27FC236}">
                <a16:creationId xmlns:a16="http://schemas.microsoft.com/office/drawing/2014/main" id="{86F05A51-94BA-49CF-A27A-E49D56066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10668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data</a:t>
            </a:r>
          </a:p>
          <a:p>
            <a:pPr algn="ctr" eaLnBrk="0" hangingPunct="0"/>
            <a:r>
              <a:rPr lang="en-US" altLang="en-US"/>
              <a:t>mining</a:t>
            </a:r>
          </a:p>
        </p:txBody>
      </p:sp>
      <p:sp>
        <p:nvSpPr>
          <p:cNvPr id="64518" name="Oval 6">
            <a:extLst>
              <a:ext uri="{FF2B5EF4-FFF2-40B4-BE49-F238E27FC236}">
                <a16:creationId xmlns:a16="http://schemas.microsoft.com/office/drawing/2014/main" id="{9B8D009B-1386-4137-AC6E-97FF8E705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819400"/>
            <a:ext cx="22860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cognitive science</a:t>
            </a:r>
          </a:p>
        </p:txBody>
      </p:sp>
      <p:sp>
        <p:nvSpPr>
          <p:cNvPr id="64519" name="Oval 7">
            <a:extLst>
              <a:ext uri="{FF2B5EF4-FFF2-40B4-BE49-F238E27FC236}">
                <a16:creationId xmlns:a16="http://schemas.microsoft.com/office/drawing/2014/main" id="{4B02C593-C9EE-4A3B-9EBE-FEC56CD7D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133600"/>
            <a:ext cx="21336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decision theory</a:t>
            </a:r>
          </a:p>
        </p:txBody>
      </p:sp>
      <p:sp>
        <p:nvSpPr>
          <p:cNvPr id="64520" name="Oval 8">
            <a:extLst>
              <a:ext uri="{FF2B5EF4-FFF2-40B4-BE49-F238E27FC236}">
                <a16:creationId xmlns:a16="http://schemas.microsoft.com/office/drawing/2014/main" id="{E919EB5B-36D4-46D6-B09C-B2AD82166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438400"/>
            <a:ext cx="26670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information theory</a:t>
            </a:r>
          </a:p>
        </p:txBody>
      </p:sp>
      <p:sp>
        <p:nvSpPr>
          <p:cNvPr id="64521" name="Oval 9">
            <a:extLst>
              <a:ext uri="{FF2B5EF4-FFF2-40B4-BE49-F238E27FC236}">
                <a16:creationId xmlns:a16="http://schemas.microsoft.com/office/drawing/2014/main" id="{832D88A3-470B-49DD-B8BE-A339F2C8A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048000"/>
            <a:ext cx="1752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databases</a:t>
            </a:r>
          </a:p>
        </p:txBody>
      </p:sp>
      <p:sp>
        <p:nvSpPr>
          <p:cNvPr id="64522" name="Oval 10">
            <a:extLst>
              <a:ext uri="{FF2B5EF4-FFF2-40B4-BE49-F238E27FC236}">
                <a16:creationId xmlns:a16="http://schemas.microsoft.com/office/drawing/2014/main" id="{2E096DDF-4A6D-4C7B-B900-B3BC668F5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1752600"/>
            <a:ext cx="2286000" cy="23622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000" b="1" i="1"/>
              <a:t>machine</a:t>
            </a:r>
          </a:p>
          <a:p>
            <a:pPr algn="ctr" eaLnBrk="0" hangingPunct="0"/>
            <a:r>
              <a:rPr lang="en-US" altLang="en-US" sz="2000" b="1" i="1"/>
              <a:t>learning</a:t>
            </a:r>
          </a:p>
        </p:txBody>
      </p:sp>
      <p:sp>
        <p:nvSpPr>
          <p:cNvPr id="64523" name="Oval 11">
            <a:extLst>
              <a:ext uri="{FF2B5EF4-FFF2-40B4-BE49-F238E27FC236}">
                <a16:creationId xmlns:a16="http://schemas.microsoft.com/office/drawing/2014/main" id="{93E0F9E1-B5E4-4532-B7E4-90B34DAC4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733800"/>
            <a:ext cx="16764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neuroscience</a:t>
            </a:r>
          </a:p>
        </p:txBody>
      </p:sp>
      <p:sp>
        <p:nvSpPr>
          <p:cNvPr id="64524" name="Oval 12">
            <a:extLst>
              <a:ext uri="{FF2B5EF4-FFF2-40B4-BE49-F238E27FC236}">
                <a16:creationId xmlns:a16="http://schemas.microsoft.com/office/drawing/2014/main" id="{BA00D160-EDC2-414F-A9D7-592669FC7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1600200"/>
            <a:ext cx="18288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statistics</a:t>
            </a:r>
          </a:p>
        </p:txBody>
      </p:sp>
      <p:sp>
        <p:nvSpPr>
          <p:cNvPr id="64525" name="Oval 13">
            <a:extLst>
              <a:ext uri="{FF2B5EF4-FFF2-40B4-BE49-F238E27FC236}">
                <a16:creationId xmlns:a16="http://schemas.microsoft.com/office/drawing/2014/main" id="{07E37994-539E-47BD-B6E3-2D5FE7A28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733800"/>
            <a:ext cx="1447800" cy="1295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evolutionary</a:t>
            </a:r>
          </a:p>
          <a:p>
            <a:pPr algn="ctr" eaLnBrk="0" hangingPunct="0"/>
            <a:r>
              <a:rPr lang="en-US" altLang="en-US"/>
              <a:t>models</a:t>
            </a:r>
          </a:p>
        </p:txBody>
      </p:sp>
      <p:sp>
        <p:nvSpPr>
          <p:cNvPr id="64526" name="Oval 14">
            <a:extLst>
              <a:ext uri="{FF2B5EF4-FFF2-40B4-BE49-F238E27FC236}">
                <a16:creationId xmlns:a16="http://schemas.microsoft.com/office/drawing/2014/main" id="{02E6A6EB-54D7-488B-BA83-409DCB47D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295400"/>
            <a:ext cx="1981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control theory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3CB9C9B-46D0-4382-BD8E-6545FBCE6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Machine Learning Paradigms 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80AE21FA-1DA1-4682-99DC-C170ADA850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en-US" sz="2400" b="1" dirty="0">
              <a:solidFill>
                <a:srgbClr val="000000"/>
              </a:solidFill>
            </a:endParaRPr>
          </a:p>
          <a:p>
            <a:r>
              <a:rPr lang="en-US" altLang="en-US" sz="2400" b="1" dirty="0">
                <a:solidFill>
                  <a:srgbClr val="000000"/>
                </a:solidFill>
              </a:rPr>
              <a:t>learning by being told (advice-taking)</a:t>
            </a:r>
            <a:endParaRPr lang="en-US" altLang="en-US" sz="2400" dirty="0">
              <a:solidFill>
                <a:srgbClr val="000000"/>
              </a:solidFill>
            </a:endParaRPr>
          </a:p>
          <a:p>
            <a:r>
              <a:rPr lang="en-US" altLang="en-US" sz="2400" b="1" dirty="0">
                <a:solidFill>
                  <a:srgbClr val="000000"/>
                </a:solidFill>
              </a:rPr>
              <a:t>learning from examples (induction)</a:t>
            </a:r>
            <a:endParaRPr lang="en-US" altLang="en-US" sz="2400" dirty="0">
              <a:solidFill>
                <a:srgbClr val="000000"/>
              </a:solidFill>
            </a:endParaRPr>
          </a:p>
          <a:p>
            <a:r>
              <a:rPr lang="en-US" altLang="en-US" sz="2400" b="1" dirty="0">
                <a:solidFill>
                  <a:srgbClr val="000000"/>
                </a:solidFill>
              </a:rPr>
              <a:t>learning by analogy</a:t>
            </a:r>
          </a:p>
          <a:p>
            <a:r>
              <a:rPr lang="en-US" altLang="en-US" sz="2400" b="1" dirty="0">
                <a:solidFill>
                  <a:srgbClr val="000000"/>
                </a:solidFill>
              </a:rPr>
              <a:t>speed-up learning</a:t>
            </a:r>
            <a:endParaRPr lang="en-US" altLang="en-US" sz="2400" dirty="0">
              <a:solidFill>
                <a:srgbClr val="000000"/>
              </a:solidFill>
            </a:endParaRPr>
          </a:p>
          <a:p>
            <a:r>
              <a:rPr lang="en-US" altLang="en-US" sz="2400" b="1" dirty="0">
                <a:solidFill>
                  <a:srgbClr val="000000"/>
                </a:solidFill>
              </a:rPr>
              <a:t>concept learning</a:t>
            </a:r>
          </a:p>
          <a:p>
            <a:r>
              <a:rPr lang="en-US" altLang="en-US" sz="2400" b="1" dirty="0">
                <a:solidFill>
                  <a:srgbClr val="000000"/>
                </a:solidFill>
              </a:rPr>
              <a:t>clustering</a:t>
            </a:r>
            <a:endParaRPr lang="en-US" altLang="en-US" sz="2400" dirty="0">
              <a:solidFill>
                <a:srgbClr val="000000"/>
              </a:solidFill>
            </a:endParaRPr>
          </a:p>
          <a:p>
            <a:r>
              <a:rPr lang="en-US" altLang="en-US" sz="2400" b="1" dirty="0">
                <a:solidFill>
                  <a:srgbClr val="000000"/>
                </a:solidFill>
              </a:rPr>
              <a:t>discovery</a:t>
            </a:r>
          </a:p>
          <a:p>
            <a:endParaRPr lang="en-US" alt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3E16006B-2881-4B72-9BC0-DF758B2F4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Architecture of a Learning System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56D5D570-950A-423E-A118-9DD60FCC7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124200"/>
            <a:ext cx="1981200" cy="10668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b="1"/>
              <a:t>learning</a:t>
            </a:r>
          </a:p>
          <a:p>
            <a:pPr algn="ctr" eaLnBrk="0" hangingPunct="0"/>
            <a:r>
              <a:rPr lang="en-US" altLang="en-US" sz="2400" b="1"/>
              <a:t>element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3B301309-F828-4248-A248-06055897C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676400"/>
            <a:ext cx="1981200" cy="10668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/>
              <a:t>critic</a:t>
            </a:r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5D3BE632-FAB2-4BBF-BDA9-CAC319261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724400"/>
            <a:ext cx="1981200" cy="10668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/>
              <a:t>problem</a:t>
            </a:r>
          </a:p>
          <a:p>
            <a:pPr algn="ctr" eaLnBrk="0" hangingPunct="0"/>
            <a:r>
              <a:rPr lang="en-US" altLang="en-US" sz="2400"/>
              <a:t>generator</a:t>
            </a:r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DB137910-98A1-497A-B3C1-0A5520D38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124200"/>
            <a:ext cx="1981200" cy="10668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b="1"/>
              <a:t>performance</a:t>
            </a:r>
          </a:p>
          <a:p>
            <a:pPr algn="ctr" eaLnBrk="0" hangingPunct="0"/>
            <a:r>
              <a:rPr lang="en-US" altLang="en-US" sz="2400" b="1"/>
              <a:t>element</a:t>
            </a:r>
          </a:p>
        </p:txBody>
      </p:sp>
      <p:sp>
        <p:nvSpPr>
          <p:cNvPr id="66567" name="Line 7">
            <a:extLst>
              <a:ext uri="{FF2B5EF4-FFF2-40B4-BE49-F238E27FC236}">
                <a16:creationId xmlns:a16="http://schemas.microsoft.com/office/drawing/2014/main" id="{CBEE4D09-C97E-4E41-ACA1-8778C2EDE2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429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FA03844C-B4DF-498B-BF9B-61552BBA01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38862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6569" name="Line 9">
            <a:extLst>
              <a:ext uri="{FF2B5EF4-FFF2-40B4-BE49-F238E27FC236}">
                <a16:creationId xmlns:a16="http://schemas.microsoft.com/office/drawing/2014/main" id="{C7ACAE42-8FF7-4E41-B746-B94431BC3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52578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6570" name="Line 10">
            <a:extLst>
              <a:ext uri="{FF2B5EF4-FFF2-40B4-BE49-F238E27FC236}">
                <a16:creationId xmlns:a16="http://schemas.microsoft.com/office/drawing/2014/main" id="{C80E35AD-A0E2-4D1F-A0A7-6F19A592DB4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81800" y="4191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6571" name="Line 11">
            <a:extLst>
              <a:ext uri="{FF2B5EF4-FFF2-40B4-BE49-F238E27FC236}">
                <a16:creationId xmlns:a16="http://schemas.microsoft.com/office/drawing/2014/main" id="{5985CAF8-6926-4506-A421-3581714EB56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1143000"/>
            <a:ext cx="0" cy="53340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6572" name="Text Box 12">
            <a:extLst>
              <a:ext uri="{FF2B5EF4-FFF2-40B4-BE49-F238E27FC236}">
                <a16:creationId xmlns:a16="http://schemas.microsoft.com/office/drawing/2014/main" id="{5B828063-161E-4A2C-8270-39CBFD190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1" y="2892425"/>
            <a:ext cx="1628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i="1"/>
              <a:t>ENVIRONMENT</a:t>
            </a:r>
          </a:p>
        </p:txBody>
      </p:sp>
      <p:sp>
        <p:nvSpPr>
          <p:cNvPr id="66573" name="Line 13">
            <a:extLst>
              <a:ext uri="{FF2B5EF4-FFF2-40B4-BE49-F238E27FC236}">
                <a16:creationId xmlns:a16="http://schemas.microsoft.com/office/drawing/2014/main" id="{C6D38BC8-ECCD-4723-BC06-D701FCE55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6574" name="Line 14">
            <a:extLst>
              <a:ext uri="{FF2B5EF4-FFF2-40B4-BE49-F238E27FC236}">
                <a16:creationId xmlns:a16="http://schemas.microsoft.com/office/drawing/2014/main" id="{7453D949-F97B-41FC-9A1B-7D006F1D8C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96200" y="2209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6575" name="Line 15">
            <a:extLst>
              <a:ext uri="{FF2B5EF4-FFF2-40B4-BE49-F238E27FC236}">
                <a16:creationId xmlns:a16="http://schemas.microsoft.com/office/drawing/2014/main" id="{CC157DB8-07EE-48AF-AE96-0FCECC6B56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3657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6576" name="Line 16">
            <a:extLst>
              <a:ext uri="{FF2B5EF4-FFF2-40B4-BE49-F238E27FC236}">
                <a16:creationId xmlns:a16="http://schemas.microsoft.com/office/drawing/2014/main" id="{B2CD601E-B814-43A1-9D1F-5A5B293D83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22098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6577" name="Line 17">
            <a:extLst>
              <a:ext uri="{FF2B5EF4-FFF2-40B4-BE49-F238E27FC236}">
                <a16:creationId xmlns:a16="http://schemas.microsoft.com/office/drawing/2014/main" id="{AF67D01F-A4BA-4B00-8B4E-9C85A86771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2098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6578" name="Text Box 18">
            <a:extLst>
              <a:ext uri="{FF2B5EF4-FFF2-40B4-BE49-F238E27FC236}">
                <a16:creationId xmlns:a16="http://schemas.microsoft.com/office/drawing/2014/main" id="{1C79CEF3-770F-4767-9AEE-0E8D5CB9B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5322" y="1828800"/>
            <a:ext cx="93487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feedback</a:t>
            </a:r>
          </a:p>
        </p:txBody>
      </p:sp>
      <p:sp>
        <p:nvSpPr>
          <p:cNvPr id="66579" name="Text Box 19">
            <a:extLst>
              <a:ext uri="{FF2B5EF4-FFF2-40B4-BE49-F238E27FC236}">
                <a16:creationId xmlns:a16="http://schemas.microsoft.com/office/drawing/2014/main" id="{26463B52-4D42-4ADC-B216-52109A8B9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1432" y="3048000"/>
            <a:ext cx="87075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changes</a:t>
            </a:r>
          </a:p>
        </p:txBody>
      </p:sp>
      <p:sp>
        <p:nvSpPr>
          <p:cNvPr id="66580" name="Text Box 20">
            <a:extLst>
              <a:ext uri="{FF2B5EF4-FFF2-40B4-BE49-F238E27FC236}">
                <a16:creationId xmlns:a16="http://schemas.microsoft.com/office/drawing/2014/main" id="{A4C8783A-1C36-4A07-B028-CE1A0BCB8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474" y="4267200"/>
            <a:ext cx="13596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learning goals</a:t>
            </a:r>
          </a:p>
        </p:txBody>
      </p:sp>
      <p:sp>
        <p:nvSpPr>
          <p:cNvPr id="66581" name="Text Box 21">
            <a:extLst>
              <a:ext uri="{FF2B5EF4-FFF2-40B4-BE49-F238E27FC236}">
                <a16:creationId xmlns:a16="http://schemas.microsoft.com/office/drawing/2014/main" id="{20D712B9-7A7D-43A9-9416-76377D259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1851" y="3657600"/>
            <a:ext cx="78258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actions</a:t>
            </a:r>
          </a:p>
        </p:txBody>
      </p:sp>
      <p:sp>
        <p:nvSpPr>
          <p:cNvPr id="66582" name="Text Box 22">
            <a:extLst>
              <a:ext uri="{FF2B5EF4-FFF2-40B4-BE49-F238E27FC236}">
                <a16:creationId xmlns:a16="http://schemas.microsoft.com/office/drawing/2014/main" id="{BDA1E3CE-7B9C-4F6E-A36C-8ACA25376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4298" y="2209800"/>
            <a:ext cx="894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percepts</a:t>
            </a:r>
          </a:p>
        </p:txBody>
      </p:sp>
      <p:sp>
        <p:nvSpPr>
          <p:cNvPr id="66583" name="Text Box 23">
            <a:extLst>
              <a:ext uri="{FF2B5EF4-FFF2-40B4-BE49-F238E27FC236}">
                <a16:creationId xmlns:a16="http://schemas.microsoft.com/office/drawing/2014/main" id="{AC3A8E95-5E35-43FD-AB20-D910CACF4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021" y="1828800"/>
            <a:ext cx="204004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performance standard</a:t>
            </a:r>
          </a:p>
        </p:txBody>
      </p:sp>
      <p:sp>
        <p:nvSpPr>
          <p:cNvPr id="66584" name="Text Box 24">
            <a:extLst>
              <a:ext uri="{FF2B5EF4-FFF2-40B4-BE49-F238E27FC236}">
                <a16:creationId xmlns:a16="http://schemas.microsoft.com/office/drawing/2014/main" id="{58E728E0-D96F-4F17-9E32-E57380417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4995" y="3886200"/>
            <a:ext cx="10893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knowledge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67EC58EC-E0AF-45E4-BDCA-5AAC2386F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Learning Element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4CF2DBB7-3E43-4E10-B8CE-1EDDAB94F4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/>
              <a:t>Design affected by: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performance element</a:t>
            </a:r>
            <a:r>
              <a:rPr lang="en-US" altLang="en-US"/>
              <a:t> used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e.g., utility-based agent, reactive agent, logical agent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functional component</a:t>
            </a:r>
            <a:r>
              <a:rPr lang="en-US" altLang="en-US"/>
              <a:t> to be learned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e.g., classifier, evaluation function, perception-action function, 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representation</a:t>
            </a:r>
            <a:r>
              <a:rPr lang="en-US" altLang="en-US"/>
              <a:t> of functional component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e.g., weighted linear function, logical theory, HMM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feedback</a:t>
            </a:r>
            <a:r>
              <a:rPr lang="en-US" altLang="en-US"/>
              <a:t> available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e.g., correct action, reward, relative preferences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1C58AEC4-7403-4487-BA25-4349A032F7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Dimensions of Learning Systems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F8E54687-EB33-487B-947A-382D212CCE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type of feedback</a:t>
            </a:r>
          </a:p>
          <a:p>
            <a:pPr lvl="1"/>
            <a:r>
              <a:rPr lang="en-US" altLang="en-US"/>
              <a:t>supervised (labeled examples)</a:t>
            </a:r>
          </a:p>
          <a:p>
            <a:pPr lvl="1"/>
            <a:r>
              <a:rPr lang="en-US" altLang="en-US"/>
              <a:t>unsupervised (unlabeled examples)</a:t>
            </a:r>
          </a:p>
          <a:p>
            <a:pPr lvl="1"/>
            <a:r>
              <a:rPr lang="en-US" altLang="en-US"/>
              <a:t>reinforcement (reward)</a:t>
            </a:r>
          </a:p>
          <a:p>
            <a:r>
              <a:rPr lang="en-US" altLang="en-US"/>
              <a:t>representation</a:t>
            </a:r>
          </a:p>
          <a:p>
            <a:pPr lvl="1"/>
            <a:r>
              <a:rPr lang="en-US" altLang="en-US"/>
              <a:t>attribute-based (feature vector)</a:t>
            </a:r>
          </a:p>
          <a:p>
            <a:pPr lvl="1"/>
            <a:r>
              <a:rPr lang="en-US" altLang="en-US"/>
              <a:t>relational (first-order logic)</a:t>
            </a:r>
          </a:p>
          <a:p>
            <a:r>
              <a:rPr lang="en-US" altLang="en-US"/>
              <a:t>use of knowledge</a:t>
            </a:r>
          </a:p>
          <a:p>
            <a:pPr lvl="1"/>
            <a:r>
              <a:rPr lang="en-US" altLang="en-US"/>
              <a:t>empirical (knowledge-free) </a:t>
            </a:r>
          </a:p>
          <a:p>
            <a:pPr lvl="1"/>
            <a:r>
              <a:rPr lang="en-US" altLang="en-US"/>
              <a:t>analytical (knowledge-guided)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F8696274-2855-4CCD-974D-AD9842F27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Outline Machine Learning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A9EB7CF-8004-45D9-9EFB-0E0E41E83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Supervised learning</a:t>
            </a:r>
          </a:p>
          <a:p>
            <a:r>
              <a:rPr lang="en-US" altLang="en-US" dirty="0"/>
              <a:t>Unsupervised learning</a:t>
            </a:r>
          </a:p>
          <a:p>
            <a:r>
              <a:rPr lang="en-US" altLang="en-US" i="1" dirty="0"/>
              <a:t>Performance evaluation</a:t>
            </a:r>
          </a:p>
          <a:p>
            <a:r>
              <a:rPr lang="en-US" altLang="en-US" i="1" dirty="0"/>
              <a:t>Computational learning theory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264F757C-7B14-4F48-AB37-5B5E0F204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Inductive (Supervised) Learning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EDD0FB00-0B36-4D5E-9F41-176A205B2A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Tx/>
              <a:buNone/>
            </a:pPr>
            <a:r>
              <a:rPr lang="en-US" altLang="en-US" sz="2400" u="sng"/>
              <a:t>Basic Problem</a:t>
            </a:r>
            <a:r>
              <a:rPr lang="en-US" altLang="en-US" sz="2400"/>
              <a:t>: Induce a representation of a function (a systematic relationship between inputs and outputs) from examples.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2400" b="1"/>
              <a:t>target function</a:t>
            </a:r>
            <a:r>
              <a:rPr lang="en-US" altLang="en-US" sz="2400" i="1"/>
              <a:t>  f: X </a:t>
            </a:r>
            <a:r>
              <a:rPr lang="en-US" altLang="en-US" sz="2400" i="1">
                <a:cs typeface="Arial" panose="020B0604020202020204" pitchFamily="34" charset="0"/>
              </a:rPr>
              <a:t>→ Y</a:t>
            </a:r>
          </a:p>
          <a:p>
            <a:pPr>
              <a:lnSpc>
                <a:spcPct val="80000"/>
              </a:lnSpc>
            </a:pPr>
            <a:r>
              <a:rPr lang="en-US" altLang="en-US" sz="2400" b="1">
                <a:cs typeface="Arial" panose="020B0604020202020204" pitchFamily="34" charset="0"/>
              </a:rPr>
              <a:t>example</a:t>
            </a:r>
            <a:r>
              <a:rPr lang="en-US" altLang="en-US" sz="2400" i="1">
                <a:cs typeface="Arial" panose="020B0604020202020204" pitchFamily="34" charset="0"/>
              </a:rPr>
              <a:t>  </a:t>
            </a:r>
            <a:r>
              <a:rPr lang="en-US" altLang="en-US" sz="2400">
                <a:cs typeface="Arial" panose="020B0604020202020204" pitchFamily="34" charset="0"/>
              </a:rPr>
              <a:t>(</a:t>
            </a:r>
            <a:r>
              <a:rPr lang="en-US" altLang="en-US" sz="2400" i="1">
                <a:cs typeface="Arial" panose="020B0604020202020204" pitchFamily="34" charset="0"/>
              </a:rPr>
              <a:t>x,f</a:t>
            </a:r>
            <a:r>
              <a:rPr lang="en-US" altLang="en-US" sz="2400">
                <a:cs typeface="Arial" panose="020B0604020202020204" pitchFamily="34" charset="0"/>
              </a:rPr>
              <a:t>(</a:t>
            </a:r>
            <a:r>
              <a:rPr lang="en-US" altLang="en-US" sz="2400" i="1">
                <a:cs typeface="Arial" panose="020B0604020202020204" pitchFamily="34" charset="0"/>
              </a:rPr>
              <a:t>x</a:t>
            </a:r>
            <a:r>
              <a:rPr lang="en-US" altLang="en-US" sz="2400">
                <a:cs typeface="Arial" panose="020B0604020202020204" pitchFamily="34" charset="0"/>
              </a:rPr>
              <a:t>))</a:t>
            </a:r>
            <a:endParaRPr lang="en-US" altLang="en-US" sz="2400" b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en-US" altLang="en-US" sz="2400" b="1">
                <a:cs typeface="Arial" panose="020B0604020202020204" pitchFamily="34" charset="0"/>
                <a:sym typeface="Symbol" panose="05050102010706020507" pitchFamily="18" charset="2"/>
              </a:rPr>
              <a:t>hypothesis </a:t>
            </a:r>
            <a:r>
              <a:rPr lang="en-US" altLang="en-US" sz="2400" i="1">
                <a:cs typeface="Arial" panose="020B0604020202020204" pitchFamily="34" charset="0"/>
                <a:sym typeface="Symbol" panose="05050102010706020507" pitchFamily="18" charset="2"/>
              </a:rPr>
              <a:t>g: X → Y such that </a:t>
            </a:r>
            <a:r>
              <a:rPr lang="en-US" altLang="en-US" sz="2400" i="1"/>
              <a:t>g</a:t>
            </a:r>
            <a:r>
              <a:rPr lang="en-US" altLang="en-US" sz="2400"/>
              <a:t>(</a:t>
            </a:r>
            <a:r>
              <a:rPr lang="en-US" altLang="en-US" sz="2400" i="1"/>
              <a:t>x</a:t>
            </a:r>
            <a:r>
              <a:rPr lang="en-US" altLang="en-US" sz="2400"/>
              <a:t>)</a:t>
            </a:r>
            <a:r>
              <a:rPr lang="en-US" altLang="en-US" sz="2400" i="1"/>
              <a:t> = f</a:t>
            </a:r>
            <a:r>
              <a:rPr lang="en-US" altLang="en-US" sz="2400"/>
              <a:t>(</a:t>
            </a:r>
            <a:r>
              <a:rPr lang="en-US" altLang="en-US" sz="2400" i="1"/>
              <a:t>x</a:t>
            </a:r>
            <a:r>
              <a:rPr lang="en-US" altLang="en-US" sz="2400"/>
              <a:t>)</a:t>
            </a:r>
          </a:p>
          <a:p>
            <a:pPr>
              <a:lnSpc>
                <a:spcPct val="80000"/>
              </a:lnSpc>
            </a:pPr>
            <a:endParaRPr lang="en-US" altLang="en-US" sz="2400" i="1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i="1"/>
              <a:t>x</a:t>
            </a:r>
            <a:r>
              <a:rPr lang="en-US" altLang="en-US" sz="2000"/>
              <a:t> = set of attribute values  (</a:t>
            </a:r>
            <a:r>
              <a:rPr lang="en-US" altLang="en-US" sz="2000" b="1" i="1"/>
              <a:t>attribute-value representation</a:t>
            </a:r>
            <a:r>
              <a:rPr lang="en-US" altLang="en-US" sz="2000"/>
              <a:t>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i="1"/>
              <a:t>x</a:t>
            </a:r>
            <a:r>
              <a:rPr lang="en-US" altLang="en-US" sz="2000"/>
              <a:t> = set of logical sentences  (</a:t>
            </a:r>
            <a:r>
              <a:rPr lang="en-US" altLang="en-US" sz="2000" i="1"/>
              <a:t>first-order representation</a:t>
            </a:r>
            <a:r>
              <a:rPr lang="en-US" altLang="en-US" sz="2000"/>
              <a:t>)</a:t>
            </a:r>
            <a:endParaRPr lang="en-US" altLang="en-US" sz="1800"/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1800" i="1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i="1"/>
              <a:t>Y</a:t>
            </a:r>
            <a:r>
              <a:rPr lang="en-US" altLang="en-US" sz="2000"/>
              <a:t> = set of discrete labels  (</a:t>
            </a:r>
            <a:r>
              <a:rPr lang="en-US" altLang="en-US" sz="2000" b="1" i="1"/>
              <a:t>classification</a:t>
            </a:r>
            <a:r>
              <a:rPr lang="en-US" altLang="en-US" sz="2000"/>
              <a:t>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i="1"/>
              <a:t>Y</a:t>
            </a:r>
            <a:r>
              <a:rPr lang="en-US" altLang="en-US" sz="2000"/>
              <a:t> = </a:t>
            </a:r>
            <a:r>
              <a:rPr lang="en-US" altLang="en-US" sz="2000">
                <a:sym typeface="Symbol" panose="05050102010706020507" pitchFamily="18" charset="2"/>
              </a:rPr>
              <a:t>  (</a:t>
            </a:r>
            <a:r>
              <a:rPr lang="en-US" altLang="en-US" sz="2000" i="1">
                <a:sym typeface="Symbol" panose="05050102010706020507" pitchFamily="18" charset="2"/>
              </a:rPr>
              <a:t>regression</a:t>
            </a:r>
            <a:r>
              <a:rPr lang="en-US" altLang="en-US" sz="2000">
                <a:sym typeface="Symbol" panose="05050102010706020507" pitchFamily="18" charset="2"/>
              </a:rPr>
              <a:t>)</a:t>
            </a:r>
            <a:endParaRPr lang="en-US" altLang="en-US" sz="2000" i="1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49F57299-7854-4EDC-88C0-F25C7EB91C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Decision Trees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A4409790-4836-4C7C-B749-FB27BDF04DF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219200"/>
            <a:ext cx="7924800" cy="6096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2400" i="1"/>
              <a:t>Should I wait at this restaurant?</a:t>
            </a:r>
          </a:p>
        </p:txBody>
      </p:sp>
      <p:pic>
        <p:nvPicPr>
          <p:cNvPr id="71684" name="Picture 4">
            <a:extLst>
              <a:ext uri="{FF2B5EF4-FFF2-40B4-BE49-F238E27FC236}">
                <a16:creationId xmlns:a16="http://schemas.microsoft.com/office/drawing/2014/main" id="{9B2C2F75-EB5D-423F-AB2D-CA78DB8DF4B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24200" y="1893888"/>
            <a:ext cx="6364288" cy="4125912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98F962EE-99A7-45E8-A46A-F4FB81AA6F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Decision Tree Induction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0CB56F05-D6B2-48FE-9BB9-5F60C7C089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altLang="en-US" sz="2400"/>
              <a:t>(Recursively) partition examples according to the </a:t>
            </a:r>
            <a:r>
              <a:rPr lang="en-US" altLang="en-US" sz="2400" i="1"/>
              <a:t>most important</a:t>
            </a:r>
            <a:r>
              <a:rPr lang="en-US" altLang="en-US" sz="2400"/>
              <a:t> attribute.</a:t>
            </a:r>
          </a:p>
          <a:p>
            <a:pPr>
              <a:buFontTx/>
              <a:buNone/>
            </a:pPr>
            <a:endParaRPr lang="en-US" altLang="en-US" sz="2400"/>
          </a:p>
          <a:p>
            <a:pPr>
              <a:buFontTx/>
              <a:buNone/>
            </a:pPr>
            <a:r>
              <a:rPr lang="en-US" altLang="en-US" sz="2400"/>
              <a:t>Key Concepts</a:t>
            </a:r>
          </a:p>
          <a:p>
            <a:r>
              <a:rPr lang="en-US" altLang="en-US" sz="2400" i="1"/>
              <a:t>entropy</a:t>
            </a:r>
            <a:endParaRPr lang="en-US" altLang="en-US" sz="2400"/>
          </a:p>
          <a:p>
            <a:pPr lvl="1"/>
            <a:r>
              <a:rPr lang="en-US" altLang="en-US" sz="2000"/>
              <a:t>impurity of a set of examples (entropy = 0 if perfectly homogeneous)</a:t>
            </a:r>
          </a:p>
          <a:p>
            <a:pPr lvl="1"/>
            <a:r>
              <a:rPr lang="en-US" altLang="en-US" sz="2000"/>
              <a:t>(#bits needed to encode class of an arbitrary example)</a:t>
            </a:r>
            <a:endParaRPr lang="en-US" altLang="en-US" sz="2000" i="1" baseline="-25000"/>
          </a:p>
          <a:p>
            <a:r>
              <a:rPr lang="en-US" altLang="en-US" sz="2400" i="1"/>
              <a:t>information gain</a:t>
            </a:r>
          </a:p>
          <a:p>
            <a:pPr lvl="1"/>
            <a:r>
              <a:rPr lang="en-US" altLang="en-US" sz="2000"/>
              <a:t>expected reduction in entropy caused by partitioning</a:t>
            </a:r>
          </a:p>
          <a:p>
            <a:endParaRPr lang="en-US" altLang="en-US" sz="2400"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E44FBF0-C24A-499A-92E5-DE9AACECC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Decision Tree Induction: Attribute Selection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23FA2573-115D-43B9-B3A3-EA172532D4B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219200"/>
            <a:ext cx="7924800" cy="1447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/>
              <a:t>Intuitively:  A </a:t>
            </a:r>
            <a:r>
              <a:rPr lang="en-US" altLang="en-US" i="1"/>
              <a:t>good attribute</a:t>
            </a:r>
            <a:r>
              <a:rPr lang="en-US" altLang="en-US"/>
              <a:t> splits the examples into subsets that are (ideally) </a:t>
            </a:r>
            <a:r>
              <a:rPr lang="en-US" altLang="en-US" i="1"/>
              <a:t>all positive </a:t>
            </a:r>
            <a:r>
              <a:rPr lang="en-US" altLang="en-US"/>
              <a:t>or</a:t>
            </a:r>
            <a:r>
              <a:rPr lang="en-US" altLang="en-US" i="1"/>
              <a:t> all negative</a:t>
            </a:r>
            <a:r>
              <a:rPr lang="en-US" altLang="en-US"/>
              <a:t>.</a:t>
            </a:r>
          </a:p>
        </p:txBody>
      </p:sp>
      <p:pic>
        <p:nvPicPr>
          <p:cNvPr id="73732" name="Picture 4">
            <a:extLst>
              <a:ext uri="{FF2B5EF4-FFF2-40B4-BE49-F238E27FC236}">
                <a16:creationId xmlns:a16="http://schemas.microsoft.com/office/drawing/2014/main" id="{0846767B-8704-465B-BCD2-B15635AD698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25676" y="2994026"/>
            <a:ext cx="7908925" cy="23018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D5C0F77B-B476-4A4D-9A04-FE14131C6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Decision Tree Induction: Attribute Selection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C5DD7581-7C66-44F0-884D-643DDDB08B9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219200"/>
            <a:ext cx="7924800" cy="1524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/>
              <a:t>Intuitively:  A </a:t>
            </a:r>
            <a:r>
              <a:rPr lang="en-US" altLang="en-US" i="1"/>
              <a:t>good attribute</a:t>
            </a:r>
            <a:r>
              <a:rPr lang="en-US" altLang="en-US"/>
              <a:t> splits the examples into subsets that are (ideally) </a:t>
            </a:r>
            <a:r>
              <a:rPr lang="en-US" altLang="en-US" i="1"/>
              <a:t>all positive </a:t>
            </a:r>
            <a:r>
              <a:rPr lang="en-US" altLang="en-US"/>
              <a:t>or</a:t>
            </a:r>
            <a:r>
              <a:rPr lang="en-US" altLang="en-US" i="1"/>
              <a:t> all negative</a:t>
            </a:r>
            <a:r>
              <a:rPr lang="en-US" altLang="en-US"/>
              <a:t>.</a:t>
            </a:r>
          </a:p>
        </p:txBody>
      </p:sp>
      <p:pic>
        <p:nvPicPr>
          <p:cNvPr id="74756" name="Picture 4">
            <a:extLst>
              <a:ext uri="{FF2B5EF4-FFF2-40B4-BE49-F238E27FC236}">
                <a16:creationId xmlns:a16="http://schemas.microsoft.com/office/drawing/2014/main" id="{850AB2FC-2669-4BB1-8D74-9872659A2FE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25676" y="2994026"/>
            <a:ext cx="7908925" cy="23018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74757" name="Oval 5">
            <a:extLst>
              <a:ext uri="{FF2B5EF4-FFF2-40B4-BE49-F238E27FC236}">
                <a16:creationId xmlns:a16="http://schemas.microsoft.com/office/drawing/2014/main" id="{C54E9964-D2E4-420B-A55E-4F4F0D848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75" y="2895600"/>
            <a:ext cx="4038600" cy="2895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4B78C5E6-06D9-49FA-BBBA-FD9C8B7CF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(Artificial) Neural Networks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35F7D2C6-53DE-4471-979A-5B5C2701C0C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000"/>
              <a:t>Motivation: human brain</a:t>
            </a:r>
          </a:p>
          <a:p>
            <a:pPr lvl="1"/>
            <a:r>
              <a:rPr lang="en-US" altLang="en-US" sz="1800"/>
              <a:t>massively parallel (</a:t>
            </a:r>
            <a:r>
              <a:rPr lang="en-US" altLang="en-US" sz="1800" i="1"/>
              <a:t>10</a:t>
            </a:r>
            <a:r>
              <a:rPr lang="en-US" altLang="en-US" sz="1800" i="1" baseline="30000"/>
              <a:t>11</a:t>
            </a:r>
            <a:r>
              <a:rPr lang="en-US" altLang="en-US" sz="1800" i="1"/>
              <a:t> neurons, ~20 types</a:t>
            </a:r>
            <a:r>
              <a:rPr lang="en-US" altLang="en-US" sz="1800"/>
              <a:t>)</a:t>
            </a:r>
          </a:p>
          <a:p>
            <a:pPr lvl="1"/>
            <a:r>
              <a:rPr lang="en-US" altLang="en-US" sz="1800"/>
              <a:t>small computational units with simple low-bandwidth communication (</a:t>
            </a:r>
            <a:r>
              <a:rPr lang="en-US" altLang="en-US" sz="1800" i="1"/>
              <a:t>10</a:t>
            </a:r>
            <a:r>
              <a:rPr lang="en-US" altLang="en-US" sz="1800" i="1" baseline="30000"/>
              <a:t>14</a:t>
            </a:r>
            <a:r>
              <a:rPr lang="en-US" altLang="en-US" sz="1800" i="1"/>
              <a:t> synapses, 1-10ms cycle time</a:t>
            </a:r>
            <a:r>
              <a:rPr lang="en-US" altLang="en-US" sz="1800"/>
              <a:t>)</a:t>
            </a:r>
          </a:p>
          <a:p>
            <a:pPr lvl="1"/>
            <a:endParaRPr lang="en-US" altLang="en-US" sz="1800"/>
          </a:p>
          <a:p>
            <a:r>
              <a:rPr lang="en-US" altLang="en-US" sz="2000"/>
              <a:t>Realization: neural network</a:t>
            </a:r>
          </a:p>
          <a:p>
            <a:pPr lvl="1"/>
            <a:r>
              <a:rPr lang="en-US" altLang="en-US" sz="1800" i="1"/>
              <a:t>units</a:t>
            </a:r>
            <a:r>
              <a:rPr lang="en-US" altLang="en-US" sz="1800"/>
              <a:t> (</a:t>
            </a:r>
            <a:r>
              <a:rPr lang="en-US" altLang="en-US" sz="1800">
                <a:sym typeface="Symbol" panose="05050102010706020507" pitchFamily="18" charset="2"/>
              </a:rPr>
              <a:t> </a:t>
            </a:r>
            <a:r>
              <a:rPr lang="en-US" altLang="en-US" sz="1800"/>
              <a:t>neurons) connected by </a:t>
            </a:r>
            <a:r>
              <a:rPr lang="en-US" altLang="en-US" sz="1800" i="1"/>
              <a:t>directed weighted links</a:t>
            </a:r>
            <a:endParaRPr lang="en-US" altLang="en-US" sz="1800"/>
          </a:p>
          <a:p>
            <a:pPr lvl="1"/>
            <a:r>
              <a:rPr lang="en-US" altLang="en-US" sz="1800" i="1"/>
              <a:t>activation function</a:t>
            </a:r>
            <a:r>
              <a:rPr lang="en-US" altLang="en-US" sz="1800"/>
              <a:t> from inputs to output</a:t>
            </a:r>
            <a:endParaRPr lang="en-US" altLang="en-US" sz="1800" i="1"/>
          </a:p>
        </p:txBody>
      </p:sp>
      <p:pic>
        <p:nvPicPr>
          <p:cNvPr id="79876" name="Picture 4">
            <a:extLst>
              <a:ext uri="{FF2B5EF4-FFF2-40B4-BE49-F238E27FC236}">
                <a16:creationId xmlns:a16="http://schemas.microsoft.com/office/drawing/2014/main" id="{08A79FEC-BDC8-4109-B6C1-091AF0F8BFF6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4191001"/>
            <a:ext cx="3886200" cy="16414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79877" name="Picture 5">
            <a:extLst>
              <a:ext uri="{FF2B5EF4-FFF2-40B4-BE49-F238E27FC236}">
                <a16:creationId xmlns:a16="http://schemas.microsoft.com/office/drawing/2014/main" id="{624EE7C9-393D-4A2D-8D79-07F85DD8F440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77000" y="1447800"/>
            <a:ext cx="3352800" cy="201453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3D2CA21-7BEF-4BE3-B553-A71E435260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Neural Networks </a:t>
            </a:r>
            <a:r>
              <a:rPr lang="en-US" altLang="en-US" b="0"/>
              <a:t>(</a:t>
            </a:r>
            <a:r>
              <a:rPr lang="en-US" altLang="en-US" b="0" i="1"/>
              <a:t>continued</a:t>
            </a:r>
            <a:r>
              <a:rPr lang="en-US" altLang="en-US" b="0"/>
              <a:t>)</a:t>
            </a:r>
            <a:endParaRPr lang="en-US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398EC04E-9DFD-4344-A3BC-FBCEF25DC9A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4191000"/>
            <a:ext cx="7924800" cy="21717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en-US" sz="2000" i="1"/>
              <a:t>neural network = parameterized family of nonlinear functions</a:t>
            </a:r>
          </a:p>
          <a:p>
            <a:pPr>
              <a:lnSpc>
                <a:spcPct val="80000"/>
              </a:lnSpc>
            </a:pPr>
            <a:r>
              <a:rPr lang="en-US" altLang="en-US" sz="2000" i="1"/>
              <a:t>types</a:t>
            </a:r>
          </a:p>
          <a:p>
            <a:pPr lvl="1">
              <a:lnSpc>
                <a:spcPct val="80000"/>
              </a:lnSpc>
            </a:pPr>
            <a:r>
              <a:rPr lang="en-US" altLang="en-US" sz="1800" i="1"/>
              <a:t>feed-forward</a:t>
            </a:r>
            <a:r>
              <a:rPr lang="en-US" altLang="en-US" sz="1800"/>
              <a:t> (acyclic): single-layer perceptrons, multi-layer networks</a:t>
            </a:r>
          </a:p>
          <a:p>
            <a:pPr lvl="1">
              <a:lnSpc>
                <a:spcPct val="80000"/>
              </a:lnSpc>
            </a:pPr>
            <a:r>
              <a:rPr lang="en-US" altLang="en-US" sz="1800" i="1"/>
              <a:t>recurrent</a:t>
            </a:r>
            <a:r>
              <a:rPr lang="en-US" altLang="en-US" sz="1800"/>
              <a:t> (cyclic): Hopfield networks, Boltzmann machines</a:t>
            </a:r>
          </a:p>
          <a:p>
            <a:pPr lvl="1">
              <a:lnSpc>
                <a:spcPct val="80000"/>
              </a:lnSpc>
            </a:pPr>
            <a:endParaRPr lang="en-US" altLang="en-US" sz="1800"/>
          </a:p>
          <a:p>
            <a:pPr lvl="1">
              <a:lnSpc>
                <a:spcPct val="80000"/>
              </a:lnSpc>
            </a:pPr>
            <a:endParaRPr lang="en-US" alt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>
                <a:solidFill>
                  <a:schemeClr val="bg2"/>
                </a:solidFill>
              </a:rPr>
              <a:t>[ </a:t>
            </a:r>
            <a:r>
              <a:rPr lang="en-US" altLang="en-US" sz="1800" i="1">
                <a:solidFill>
                  <a:schemeClr val="bg2"/>
                </a:solidFill>
              </a:rPr>
              <a:t>connectionism, parallel distributed processing</a:t>
            </a:r>
            <a:r>
              <a:rPr lang="en-US" altLang="en-US" sz="1800">
                <a:solidFill>
                  <a:schemeClr val="bg2"/>
                </a:solidFill>
              </a:rPr>
              <a:t>]</a:t>
            </a:r>
          </a:p>
        </p:txBody>
      </p:sp>
      <p:pic>
        <p:nvPicPr>
          <p:cNvPr id="80900" name="Picture 4">
            <a:extLst>
              <a:ext uri="{FF2B5EF4-FFF2-40B4-BE49-F238E27FC236}">
                <a16:creationId xmlns:a16="http://schemas.microsoft.com/office/drawing/2014/main" id="{9CE651A2-7466-4480-B0DF-56629D27B1B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43400" y="1295400"/>
            <a:ext cx="3429000" cy="194310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80901" name="Picture 5">
            <a:extLst>
              <a:ext uri="{FF2B5EF4-FFF2-40B4-BE49-F238E27FC236}">
                <a16:creationId xmlns:a16="http://schemas.microsoft.com/office/drawing/2014/main" id="{F851967C-4238-4B9A-9409-399D396C169E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0200" y="3352800"/>
            <a:ext cx="6781800" cy="728663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A56FEDEC-E3E9-4A93-9CCA-B44189EF5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Neural Network Learning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04031F1-8E68-4CA5-935F-9FC393C564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Tx/>
              <a:buNone/>
            </a:pPr>
            <a:r>
              <a:rPr lang="en-US" altLang="en-US" sz="2400" i="1"/>
              <a:t>Key Idea</a:t>
            </a:r>
            <a:r>
              <a:rPr lang="en-US" altLang="en-US" sz="2400"/>
              <a:t>: Adjusting the weights changes the function represented by the neural network (</a:t>
            </a:r>
            <a:r>
              <a:rPr lang="en-US" altLang="en-US" sz="2400" i="1"/>
              <a:t>learning = optimization in weight space</a:t>
            </a:r>
            <a:r>
              <a:rPr lang="en-US" altLang="en-US" sz="2400"/>
              <a:t>).</a:t>
            </a:r>
          </a:p>
          <a:p>
            <a:pPr>
              <a:buFontTx/>
              <a:buNone/>
            </a:pPr>
            <a:endParaRPr lang="en-US" altLang="en-US" sz="2400"/>
          </a:p>
          <a:p>
            <a:pPr>
              <a:buFontTx/>
              <a:buNone/>
            </a:pPr>
            <a:r>
              <a:rPr lang="en-US" altLang="en-US" sz="2400"/>
              <a:t>Iteratively </a:t>
            </a:r>
            <a:r>
              <a:rPr lang="en-US" altLang="en-US" sz="2400" i="1"/>
              <a:t>adjust weights</a:t>
            </a:r>
            <a:r>
              <a:rPr lang="en-US" altLang="en-US" sz="2400"/>
              <a:t> to reduce </a:t>
            </a:r>
            <a:r>
              <a:rPr lang="en-US" altLang="en-US" sz="2400" i="1"/>
              <a:t>error</a:t>
            </a:r>
            <a:r>
              <a:rPr lang="en-US" altLang="en-US" sz="2400"/>
              <a:t> (difference between network output and target output).</a:t>
            </a:r>
          </a:p>
          <a:p>
            <a:pPr>
              <a:buFontTx/>
              <a:buNone/>
            </a:pPr>
            <a:endParaRPr lang="en-US" altLang="en-US" sz="2400">
              <a:cs typeface="Arial" panose="020B0604020202020204" pitchFamily="34" charset="0"/>
            </a:endParaRPr>
          </a:p>
          <a:p>
            <a:r>
              <a:rPr lang="en-US" altLang="en-US" sz="2400">
                <a:cs typeface="Arial" panose="020B0604020202020204" pitchFamily="34" charset="0"/>
              </a:rPr>
              <a:t>Weight Update</a:t>
            </a:r>
          </a:p>
          <a:p>
            <a:pPr lvl="1"/>
            <a:r>
              <a:rPr lang="en-US" altLang="en-US" sz="2000" i="1">
                <a:cs typeface="Arial" panose="020B0604020202020204" pitchFamily="34" charset="0"/>
              </a:rPr>
              <a:t>perceptron training rule</a:t>
            </a:r>
            <a:endParaRPr lang="en-US" altLang="en-US" sz="2000">
              <a:cs typeface="Arial" panose="020B0604020202020204" pitchFamily="34" charset="0"/>
            </a:endParaRPr>
          </a:p>
          <a:p>
            <a:pPr lvl="1"/>
            <a:r>
              <a:rPr lang="en-US" altLang="en-US" sz="2000" i="1">
                <a:cs typeface="Arial" panose="020B0604020202020204" pitchFamily="34" charset="0"/>
              </a:rPr>
              <a:t>linear programming</a:t>
            </a:r>
          </a:p>
          <a:p>
            <a:pPr lvl="1"/>
            <a:r>
              <a:rPr lang="en-US" altLang="en-US" sz="2000" i="1">
                <a:cs typeface="Arial" panose="020B0604020202020204" pitchFamily="34" charset="0"/>
              </a:rPr>
              <a:t>delta rule</a:t>
            </a:r>
          </a:p>
          <a:p>
            <a:pPr lvl="1"/>
            <a:r>
              <a:rPr lang="en-US" altLang="en-US" sz="2000" i="1">
                <a:cs typeface="Arial" panose="020B0604020202020204" pitchFamily="34" charset="0"/>
              </a:rPr>
              <a:t>backpropagation</a:t>
            </a:r>
            <a:endParaRPr lang="en-US" altLang="en-US" sz="20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AEE84123-3F98-4CD7-9801-9253D6C5D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Neural Network Learning: Decision Boundary</a:t>
            </a:r>
          </a:p>
        </p:txBody>
      </p:sp>
      <p:grpSp>
        <p:nvGrpSpPr>
          <p:cNvPr id="82947" name="Group 3">
            <a:extLst>
              <a:ext uri="{FF2B5EF4-FFF2-40B4-BE49-F238E27FC236}">
                <a16:creationId xmlns:a16="http://schemas.microsoft.com/office/drawing/2014/main" id="{C13CC683-DA5A-4AB7-A26B-8B79778B532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51100" y="1447800"/>
            <a:ext cx="3035300" cy="3111500"/>
            <a:chOff x="380" y="1824"/>
            <a:chExt cx="1876" cy="1923"/>
          </a:xfrm>
        </p:grpSpPr>
        <p:sp>
          <p:nvSpPr>
            <p:cNvPr id="82948" name="Line 4">
              <a:extLst>
                <a:ext uri="{FF2B5EF4-FFF2-40B4-BE49-F238E27FC236}">
                  <a16:creationId xmlns:a16="http://schemas.microsoft.com/office/drawing/2014/main" id="{D55F7E27-BBA9-4A6B-B1ED-3158FFBBAF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0" y="1824"/>
              <a:ext cx="0" cy="19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49" name="Line 5">
              <a:extLst>
                <a:ext uri="{FF2B5EF4-FFF2-40B4-BE49-F238E27FC236}">
                  <a16:creationId xmlns:a16="http://schemas.microsoft.com/office/drawing/2014/main" id="{5145D30A-963B-4B09-8D4E-6F072A69CD0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0" y="3747"/>
              <a:ext cx="18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50" name="AutoShape 6">
              <a:extLst>
                <a:ext uri="{FF2B5EF4-FFF2-40B4-BE49-F238E27FC236}">
                  <a16:creationId xmlns:a16="http://schemas.microsoft.com/office/drawing/2014/main" id="{226F40FB-FD91-48F6-B195-B19FE39E36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96" y="2112"/>
              <a:ext cx="90" cy="91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51" name="AutoShape 7">
              <a:extLst>
                <a:ext uri="{FF2B5EF4-FFF2-40B4-BE49-F238E27FC236}">
                  <a16:creationId xmlns:a16="http://schemas.microsoft.com/office/drawing/2014/main" id="{056F0710-A632-401C-B865-19176134B7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56" y="2496"/>
              <a:ext cx="90" cy="90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52" name="AutoShape 8">
              <a:extLst>
                <a:ext uri="{FF2B5EF4-FFF2-40B4-BE49-F238E27FC236}">
                  <a16:creationId xmlns:a16="http://schemas.microsoft.com/office/drawing/2014/main" id="{C574758D-DABF-4A1C-BCC1-90760A895A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2640"/>
              <a:ext cx="90" cy="91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53" name="AutoShape 9">
              <a:extLst>
                <a:ext uri="{FF2B5EF4-FFF2-40B4-BE49-F238E27FC236}">
                  <a16:creationId xmlns:a16="http://schemas.microsoft.com/office/drawing/2014/main" id="{D0C8257D-B5B1-47C9-8576-574D01FBD0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4" y="2448"/>
              <a:ext cx="90" cy="90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54" name="Oval 10">
              <a:extLst>
                <a:ext uri="{FF2B5EF4-FFF2-40B4-BE49-F238E27FC236}">
                  <a16:creationId xmlns:a16="http://schemas.microsoft.com/office/drawing/2014/main" id="{BCCCC401-5CD6-4E59-936B-1EAF42BA6E3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0" y="2928"/>
              <a:ext cx="91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55" name="Oval 11">
              <a:extLst>
                <a:ext uri="{FF2B5EF4-FFF2-40B4-BE49-F238E27FC236}">
                  <a16:creationId xmlns:a16="http://schemas.microsoft.com/office/drawing/2014/main" id="{EDC7AAF7-1C94-4270-8EFB-DEBFCBC09F8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28" y="3072"/>
              <a:ext cx="91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56" name="Oval 12">
              <a:extLst>
                <a:ext uri="{FF2B5EF4-FFF2-40B4-BE49-F238E27FC236}">
                  <a16:creationId xmlns:a16="http://schemas.microsoft.com/office/drawing/2014/main" id="{D2EBB86D-D07F-4747-B27B-C64038F290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92" y="3456"/>
              <a:ext cx="91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57" name="Oval 13">
              <a:extLst>
                <a:ext uri="{FF2B5EF4-FFF2-40B4-BE49-F238E27FC236}">
                  <a16:creationId xmlns:a16="http://schemas.microsoft.com/office/drawing/2014/main" id="{2A81096F-D5A7-4186-8A4C-F6C0ADAB85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68" y="2645"/>
              <a:ext cx="90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58" name="Oval 14">
              <a:extLst>
                <a:ext uri="{FF2B5EF4-FFF2-40B4-BE49-F238E27FC236}">
                  <a16:creationId xmlns:a16="http://schemas.microsoft.com/office/drawing/2014/main" id="{76010D4E-B39C-44CF-AF55-B75D1BD0F7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57" y="3072"/>
              <a:ext cx="91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59" name="Line 15">
              <a:extLst>
                <a:ext uri="{FF2B5EF4-FFF2-40B4-BE49-F238E27FC236}">
                  <a16:creationId xmlns:a16="http://schemas.microsoft.com/office/drawing/2014/main" id="{178FD723-67EA-482B-8C9B-64CB89EACD8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28" y="2112"/>
              <a:ext cx="1584" cy="105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82960" name="Group 16">
            <a:extLst>
              <a:ext uri="{FF2B5EF4-FFF2-40B4-BE49-F238E27FC236}">
                <a16:creationId xmlns:a16="http://schemas.microsoft.com/office/drawing/2014/main" id="{87BC043D-7183-44CB-9CEB-2CB69AF5717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00800" y="1447800"/>
            <a:ext cx="3035300" cy="3111500"/>
            <a:chOff x="1786" y="960"/>
            <a:chExt cx="2246" cy="2303"/>
          </a:xfrm>
        </p:grpSpPr>
        <p:sp>
          <p:nvSpPr>
            <p:cNvPr id="82961" name="Line 17">
              <a:extLst>
                <a:ext uri="{FF2B5EF4-FFF2-40B4-BE49-F238E27FC236}">
                  <a16:creationId xmlns:a16="http://schemas.microsoft.com/office/drawing/2014/main" id="{C3752260-290E-4107-8CFD-F8FB63A59D6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86" y="960"/>
              <a:ext cx="0" cy="2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62" name="Line 18">
              <a:extLst>
                <a:ext uri="{FF2B5EF4-FFF2-40B4-BE49-F238E27FC236}">
                  <a16:creationId xmlns:a16="http://schemas.microsoft.com/office/drawing/2014/main" id="{6DD42E58-68F8-4E26-8CF5-D78671B2841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86" y="3263"/>
              <a:ext cx="22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63" name="AutoShape 19">
              <a:extLst>
                <a:ext uri="{FF2B5EF4-FFF2-40B4-BE49-F238E27FC236}">
                  <a16:creationId xmlns:a16="http://schemas.microsoft.com/office/drawing/2014/main" id="{5496E6AA-9435-491F-A613-B3AE17BDE9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8" y="1823"/>
              <a:ext cx="108" cy="109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64" name="AutoShape 20">
              <a:extLst>
                <a:ext uri="{FF2B5EF4-FFF2-40B4-BE49-F238E27FC236}">
                  <a16:creationId xmlns:a16="http://schemas.microsoft.com/office/drawing/2014/main" id="{8CFF3495-A8F3-4D49-8EEC-2A3FF823E1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96" y="2830"/>
              <a:ext cx="108" cy="108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65" name="AutoShape 21">
              <a:extLst>
                <a:ext uri="{FF2B5EF4-FFF2-40B4-BE49-F238E27FC236}">
                  <a16:creationId xmlns:a16="http://schemas.microsoft.com/office/drawing/2014/main" id="{E6A073ED-B7A5-4E15-809D-8F65AF67F2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5" y="1823"/>
              <a:ext cx="108" cy="109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66" name="AutoShape 22">
              <a:extLst>
                <a:ext uri="{FF2B5EF4-FFF2-40B4-BE49-F238E27FC236}">
                  <a16:creationId xmlns:a16="http://schemas.microsoft.com/office/drawing/2014/main" id="{41C31545-2A1B-4965-9BB5-BFE47C6D06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78" y="1708"/>
              <a:ext cx="108" cy="108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67" name="Oval 23">
              <a:extLst>
                <a:ext uri="{FF2B5EF4-FFF2-40B4-BE49-F238E27FC236}">
                  <a16:creationId xmlns:a16="http://schemas.microsoft.com/office/drawing/2014/main" id="{C2F209E5-2748-47E0-B0E0-D0B00FD519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37" y="2282"/>
              <a:ext cx="109" cy="10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68" name="Oval 24">
              <a:extLst>
                <a:ext uri="{FF2B5EF4-FFF2-40B4-BE49-F238E27FC236}">
                  <a16:creationId xmlns:a16="http://schemas.microsoft.com/office/drawing/2014/main" id="{8E9FEB25-09F6-4981-889A-688440E017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61" y="2542"/>
              <a:ext cx="110" cy="10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69" name="Oval 25">
              <a:extLst>
                <a:ext uri="{FF2B5EF4-FFF2-40B4-BE49-F238E27FC236}">
                  <a16:creationId xmlns:a16="http://schemas.microsoft.com/office/drawing/2014/main" id="{CCDD7A47-0FB6-42B4-B7DC-8A3E17A526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98" y="2914"/>
              <a:ext cx="108" cy="10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70" name="Oval 26">
              <a:extLst>
                <a:ext uri="{FF2B5EF4-FFF2-40B4-BE49-F238E27FC236}">
                  <a16:creationId xmlns:a16="http://schemas.microsoft.com/office/drawing/2014/main" id="{3D3B7E97-04E2-47BE-945E-925D29B0259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81" y="1248"/>
              <a:ext cx="107" cy="10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71" name="Oval 27">
              <a:extLst>
                <a:ext uri="{FF2B5EF4-FFF2-40B4-BE49-F238E27FC236}">
                  <a16:creationId xmlns:a16="http://schemas.microsoft.com/office/drawing/2014/main" id="{BC23D53D-83F3-4567-A212-9E65991A0D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89" y="1176"/>
              <a:ext cx="110" cy="10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72" name="AutoShape 28">
              <a:extLst>
                <a:ext uri="{FF2B5EF4-FFF2-40B4-BE49-F238E27FC236}">
                  <a16:creationId xmlns:a16="http://schemas.microsoft.com/office/drawing/2014/main" id="{51ACD930-16FA-43DF-86E2-03467F27C97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77" y="1463"/>
              <a:ext cx="108" cy="110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73" name="AutoShape 29">
              <a:extLst>
                <a:ext uri="{FF2B5EF4-FFF2-40B4-BE49-F238E27FC236}">
                  <a16:creationId xmlns:a16="http://schemas.microsoft.com/office/drawing/2014/main" id="{E8D443FF-7EF3-4A91-8381-FE15D918FF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05" y="2183"/>
              <a:ext cx="108" cy="109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74" name="AutoShape 30">
              <a:extLst>
                <a:ext uri="{FF2B5EF4-FFF2-40B4-BE49-F238E27FC236}">
                  <a16:creationId xmlns:a16="http://schemas.microsoft.com/office/drawing/2014/main" id="{E9AC654B-4706-4505-80BE-AA999C640D6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32" y="2255"/>
              <a:ext cx="108" cy="109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75" name="AutoShape 31">
              <a:extLst>
                <a:ext uri="{FF2B5EF4-FFF2-40B4-BE49-F238E27FC236}">
                  <a16:creationId xmlns:a16="http://schemas.microsoft.com/office/drawing/2014/main" id="{D3362BF9-1419-4436-A5B2-F800C2E0D0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56" y="2398"/>
              <a:ext cx="108" cy="110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76" name="Freeform 32">
              <a:extLst>
                <a:ext uri="{FF2B5EF4-FFF2-40B4-BE49-F238E27FC236}">
                  <a16:creationId xmlns:a16="http://schemas.microsoft.com/office/drawing/2014/main" id="{B0F4CF47-6E5D-4FD5-BEA4-AC4F40F4311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56" y="1248"/>
              <a:ext cx="2128" cy="1928"/>
            </a:xfrm>
            <a:custGeom>
              <a:avLst/>
              <a:gdLst>
                <a:gd name="T0" fmla="*/ 448 w 2128"/>
                <a:gd name="T1" fmla="*/ 296 h 1928"/>
                <a:gd name="T2" fmla="*/ 784 w 2128"/>
                <a:gd name="T3" fmla="*/ 8 h 1928"/>
                <a:gd name="T4" fmla="*/ 1024 w 2128"/>
                <a:gd name="T5" fmla="*/ 248 h 1928"/>
                <a:gd name="T6" fmla="*/ 1120 w 2128"/>
                <a:gd name="T7" fmla="*/ 440 h 1928"/>
                <a:gd name="T8" fmla="*/ 1552 w 2128"/>
                <a:gd name="T9" fmla="*/ 344 h 1928"/>
                <a:gd name="T10" fmla="*/ 1888 w 2128"/>
                <a:gd name="T11" fmla="*/ 680 h 1928"/>
                <a:gd name="T12" fmla="*/ 1792 w 2128"/>
                <a:gd name="T13" fmla="*/ 872 h 1928"/>
                <a:gd name="T14" fmla="*/ 2128 w 2128"/>
                <a:gd name="T15" fmla="*/ 1256 h 1928"/>
                <a:gd name="T16" fmla="*/ 1792 w 2128"/>
                <a:gd name="T17" fmla="*/ 1496 h 1928"/>
                <a:gd name="T18" fmla="*/ 1648 w 2128"/>
                <a:gd name="T19" fmla="*/ 1880 h 1928"/>
                <a:gd name="T20" fmla="*/ 1360 w 2128"/>
                <a:gd name="T21" fmla="*/ 1784 h 1928"/>
                <a:gd name="T22" fmla="*/ 1312 w 2128"/>
                <a:gd name="T23" fmla="*/ 1304 h 1928"/>
                <a:gd name="T24" fmla="*/ 1312 w 2128"/>
                <a:gd name="T25" fmla="*/ 872 h 1928"/>
                <a:gd name="T26" fmla="*/ 976 w 2128"/>
                <a:gd name="T27" fmla="*/ 824 h 1928"/>
                <a:gd name="T28" fmla="*/ 832 w 2128"/>
                <a:gd name="T29" fmla="*/ 1112 h 1928"/>
                <a:gd name="T30" fmla="*/ 544 w 2128"/>
                <a:gd name="T31" fmla="*/ 1160 h 1928"/>
                <a:gd name="T32" fmla="*/ 352 w 2128"/>
                <a:gd name="T33" fmla="*/ 824 h 1928"/>
                <a:gd name="T34" fmla="*/ 16 w 2128"/>
                <a:gd name="T35" fmla="*/ 584 h 1928"/>
                <a:gd name="T36" fmla="*/ 256 w 2128"/>
                <a:gd name="T37" fmla="*/ 248 h 1928"/>
                <a:gd name="T38" fmla="*/ 448 w 2128"/>
                <a:gd name="T39" fmla="*/ 296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28" h="1928">
                  <a:moveTo>
                    <a:pt x="448" y="296"/>
                  </a:moveTo>
                  <a:cubicBezTo>
                    <a:pt x="536" y="256"/>
                    <a:pt x="688" y="16"/>
                    <a:pt x="784" y="8"/>
                  </a:cubicBezTo>
                  <a:cubicBezTo>
                    <a:pt x="880" y="0"/>
                    <a:pt x="968" y="176"/>
                    <a:pt x="1024" y="248"/>
                  </a:cubicBezTo>
                  <a:cubicBezTo>
                    <a:pt x="1080" y="320"/>
                    <a:pt x="1032" y="424"/>
                    <a:pt x="1120" y="440"/>
                  </a:cubicBezTo>
                  <a:cubicBezTo>
                    <a:pt x="1208" y="456"/>
                    <a:pt x="1424" y="304"/>
                    <a:pt x="1552" y="344"/>
                  </a:cubicBezTo>
                  <a:cubicBezTo>
                    <a:pt x="1680" y="384"/>
                    <a:pt x="1848" y="592"/>
                    <a:pt x="1888" y="680"/>
                  </a:cubicBezTo>
                  <a:cubicBezTo>
                    <a:pt x="1928" y="768"/>
                    <a:pt x="1752" y="776"/>
                    <a:pt x="1792" y="872"/>
                  </a:cubicBezTo>
                  <a:cubicBezTo>
                    <a:pt x="1832" y="968"/>
                    <a:pt x="2128" y="1152"/>
                    <a:pt x="2128" y="1256"/>
                  </a:cubicBezTo>
                  <a:cubicBezTo>
                    <a:pt x="2128" y="1360"/>
                    <a:pt x="1872" y="1392"/>
                    <a:pt x="1792" y="1496"/>
                  </a:cubicBezTo>
                  <a:cubicBezTo>
                    <a:pt x="1712" y="1600"/>
                    <a:pt x="1720" y="1832"/>
                    <a:pt x="1648" y="1880"/>
                  </a:cubicBezTo>
                  <a:cubicBezTo>
                    <a:pt x="1576" y="1928"/>
                    <a:pt x="1416" y="1880"/>
                    <a:pt x="1360" y="1784"/>
                  </a:cubicBezTo>
                  <a:cubicBezTo>
                    <a:pt x="1304" y="1688"/>
                    <a:pt x="1320" y="1456"/>
                    <a:pt x="1312" y="1304"/>
                  </a:cubicBezTo>
                  <a:cubicBezTo>
                    <a:pt x="1304" y="1152"/>
                    <a:pt x="1368" y="952"/>
                    <a:pt x="1312" y="872"/>
                  </a:cubicBezTo>
                  <a:cubicBezTo>
                    <a:pt x="1256" y="792"/>
                    <a:pt x="1056" y="784"/>
                    <a:pt x="976" y="824"/>
                  </a:cubicBezTo>
                  <a:cubicBezTo>
                    <a:pt x="896" y="864"/>
                    <a:pt x="904" y="1056"/>
                    <a:pt x="832" y="1112"/>
                  </a:cubicBezTo>
                  <a:cubicBezTo>
                    <a:pt x="760" y="1168"/>
                    <a:pt x="624" y="1208"/>
                    <a:pt x="544" y="1160"/>
                  </a:cubicBezTo>
                  <a:cubicBezTo>
                    <a:pt x="464" y="1112"/>
                    <a:pt x="440" y="920"/>
                    <a:pt x="352" y="824"/>
                  </a:cubicBezTo>
                  <a:cubicBezTo>
                    <a:pt x="264" y="728"/>
                    <a:pt x="32" y="680"/>
                    <a:pt x="16" y="584"/>
                  </a:cubicBezTo>
                  <a:cubicBezTo>
                    <a:pt x="0" y="488"/>
                    <a:pt x="184" y="296"/>
                    <a:pt x="256" y="248"/>
                  </a:cubicBezTo>
                  <a:cubicBezTo>
                    <a:pt x="328" y="200"/>
                    <a:pt x="408" y="286"/>
                    <a:pt x="448" y="296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0099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2977" name="Text Box 33">
            <a:extLst>
              <a:ext uri="{FF2B5EF4-FFF2-40B4-BE49-F238E27FC236}">
                <a16:creationId xmlns:a16="http://schemas.microsoft.com/office/drawing/2014/main" id="{8726CA2C-FDD1-4803-9F0F-2FD674415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296" y="4937125"/>
            <a:ext cx="25767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i="1"/>
              <a:t>single-layer perceptron</a:t>
            </a:r>
          </a:p>
        </p:txBody>
      </p:sp>
      <p:sp>
        <p:nvSpPr>
          <p:cNvPr id="82978" name="Text Box 34">
            <a:extLst>
              <a:ext uri="{FF2B5EF4-FFF2-40B4-BE49-F238E27FC236}">
                <a16:creationId xmlns:a16="http://schemas.microsoft.com/office/drawing/2014/main" id="{A8964099-3795-4EB5-A68C-0051E26D0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1" y="4953001"/>
            <a:ext cx="2314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i="1"/>
              <a:t>multi-layer network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78B607E2-DCC4-458F-B6B6-0FC7D18F7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Support Vector Machines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F702277-ABAF-45B4-AC86-9CC0DEE649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i="1"/>
              <a:t>Kernel Trick</a:t>
            </a:r>
            <a:r>
              <a:rPr lang="en-US" altLang="en-US"/>
              <a:t>: Map data to </a:t>
            </a:r>
            <a:r>
              <a:rPr lang="en-US" altLang="en-US" i="1"/>
              <a:t>higher-dimensional space</a:t>
            </a:r>
            <a:r>
              <a:rPr lang="en-US" altLang="en-US"/>
              <a:t> where they will be </a:t>
            </a:r>
            <a:r>
              <a:rPr lang="en-US" altLang="en-US" i="1"/>
              <a:t>linearly separable</a:t>
            </a:r>
            <a:r>
              <a:rPr lang="en-US" altLang="en-US"/>
              <a:t>.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Learning a Classifier</a:t>
            </a:r>
          </a:p>
          <a:p>
            <a:r>
              <a:rPr lang="en-US" altLang="en-US"/>
              <a:t>optimal linear separator is one that has the </a:t>
            </a:r>
            <a:r>
              <a:rPr lang="en-US" altLang="en-US" i="1"/>
              <a:t>largest margin</a:t>
            </a:r>
            <a:r>
              <a:rPr lang="en-US" altLang="en-US"/>
              <a:t> between positive examples on one side and negative examples on the other</a:t>
            </a:r>
          </a:p>
          <a:p>
            <a:r>
              <a:rPr lang="en-US" altLang="en-US"/>
              <a:t>= </a:t>
            </a:r>
            <a:r>
              <a:rPr lang="en-US" altLang="en-US" i="1"/>
              <a:t>quadratic programming optimization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AA0A717-DFAD-4214-973D-1744BBACB1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Support Vector Machines </a:t>
            </a:r>
            <a:r>
              <a:rPr lang="en-US" altLang="en-US" b="0"/>
              <a:t>(</a:t>
            </a:r>
            <a:r>
              <a:rPr lang="en-US" altLang="en-US" b="0" i="1"/>
              <a:t>continued</a:t>
            </a:r>
            <a:r>
              <a:rPr lang="en-US" altLang="en-US" b="0"/>
              <a:t>)</a:t>
            </a:r>
            <a:endParaRPr lang="en-US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42D2B53-053D-4AC8-880D-06169B5164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Tx/>
              <a:buNone/>
            </a:pPr>
            <a:r>
              <a:rPr lang="en-US" altLang="en-US" sz="2400" i="1"/>
              <a:t>Key Concept</a:t>
            </a:r>
            <a:r>
              <a:rPr lang="en-US" altLang="en-US" sz="2400"/>
              <a:t>:  Training data enters optimization problem in the form of </a:t>
            </a:r>
            <a:r>
              <a:rPr lang="en-US" altLang="en-US" sz="2400" i="1"/>
              <a:t>dot products </a:t>
            </a:r>
            <a:r>
              <a:rPr lang="en-US" altLang="en-US" sz="2400"/>
              <a:t>of pairs of </a:t>
            </a:r>
            <a:r>
              <a:rPr lang="en-US" altLang="en-US" sz="2400" i="1"/>
              <a:t>points</a:t>
            </a:r>
            <a:r>
              <a:rPr lang="en-US" altLang="en-US" sz="2400"/>
              <a:t>.</a:t>
            </a:r>
          </a:p>
          <a:p>
            <a:endParaRPr lang="en-US" altLang="en-US" sz="2400" i="1"/>
          </a:p>
          <a:p>
            <a:r>
              <a:rPr lang="en-US" altLang="en-US" sz="2400" i="1"/>
              <a:t>support vectors</a:t>
            </a:r>
          </a:p>
          <a:p>
            <a:pPr lvl="1"/>
            <a:r>
              <a:rPr lang="en-US" altLang="en-US" sz="2000"/>
              <a:t>weights associated with data points are </a:t>
            </a:r>
            <a:r>
              <a:rPr lang="en-US" altLang="en-US" sz="2000" i="1"/>
              <a:t>zero</a:t>
            </a:r>
            <a:r>
              <a:rPr lang="en-US" altLang="en-US" sz="2000"/>
              <a:t> except for those points nearest the separator (i.e., the </a:t>
            </a:r>
            <a:r>
              <a:rPr lang="en-US" altLang="en-US" sz="2000" i="1"/>
              <a:t>support vectors</a:t>
            </a:r>
            <a:r>
              <a:rPr lang="en-US" altLang="en-US" sz="2000"/>
              <a:t>) </a:t>
            </a:r>
          </a:p>
          <a:p>
            <a:r>
              <a:rPr lang="en-US" altLang="en-US" sz="2400" i="1"/>
              <a:t>kernel function </a:t>
            </a:r>
            <a:r>
              <a:rPr lang="en-US" altLang="en-US" sz="2400"/>
              <a:t>K(x</a:t>
            </a:r>
            <a:r>
              <a:rPr lang="en-US" altLang="en-US" sz="2400" baseline="-25000"/>
              <a:t>i</a:t>
            </a:r>
            <a:r>
              <a:rPr lang="en-US" altLang="en-US" sz="2400"/>
              <a:t>,x</a:t>
            </a:r>
            <a:r>
              <a:rPr lang="en-US" altLang="en-US" sz="2400" baseline="-25000"/>
              <a:t>j</a:t>
            </a:r>
            <a:r>
              <a:rPr lang="en-US" altLang="en-US" sz="2400"/>
              <a:t>)</a:t>
            </a:r>
          </a:p>
          <a:p>
            <a:pPr lvl="1"/>
            <a:r>
              <a:rPr lang="en-US" altLang="en-US" sz="2000"/>
              <a:t>function that can be applied to pairs of points to evaluate dot products in the corresponding (higher-dimensional) feature space F (</a:t>
            </a:r>
            <a:r>
              <a:rPr lang="en-US" altLang="en-US" sz="2000" i="1"/>
              <a:t>without having to directly compute </a:t>
            </a:r>
            <a:r>
              <a:rPr lang="en-US" altLang="en-US" sz="2000"/>
              <a:t>F(x) </a:t>
            </a:r>
            <a:r>
              <a:rPr lang="en-US" altLang="en-US" sz="2000" i="1"/>
              <a:t>first</a:t>
            </a:r>
            <a:r>
              <a:rPr lang="en-US" altLang="en-US" sz="2000"/>
              <a:t>)</a:t>
            </a:r>
          </a:p>
          <a:p>
            <a:pPr lvl="1"/>
            <a:endParaRPr lang="en-US" altLang="en-US" sz="2000"/>
          </a:p>
          <a:p>
            <a:pPr algn="ctr">
              <a:buFontTx/>
              <a:buNone/>
            </a:pPr>
            <a:r>
              <a:rPr lang="en-US" altLang="en-US" sz="2400" i="1"/>
              <a:t>efficient training </a:t>
            </a:r>
            <a:r>
              <a:rPr lang="en-US" altLang="en-US" sz="2400"/>
              <a:t>and</a:t>
            </a:r>
            <a:r>
              <a:rPr lang="en-US" altLang="en-US" sz="2400" i="1"/>
              <a:t> complex functions!</a:t>
            </a:r>
            <a:endParaRPr lang="en-US" altLang="en-US" sz="2400"/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E93DAEC6-1813-4568-8A5F-512B2B76A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5512" y="5225422"/>
            <a:ext cx="7162800" cy="6858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42645900-0D1D-436B-BF00-E66F91FAF5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81000"/>
            <a:ext cx="8001000" cy="914400"/>
          </a:xfrm>
        </p:spPr>
        <p:txBody>
          <a:bodyPr/>
          <a:lstStyle/>
          <a:p>
            <a:r>
              <a:rPr lang="en-US" altLang="en-US" sz="2800"/>
              <a:t>Support Vector Machines: Decision Boundary</a:t>
            </a:r>
          </a:p>
        </p:txBody>
      </p:sp>
      <p:grpSp>
        <p:nvGrpSpPr>
          <p:cNvPr id="86019" name="Group 3">
            <a:extLst>
              <a:ext uri="{FF2B5EF4-FFF2-40B4-BE49-F238E27FC236}">
                <a16:creationId xmlns:a16="http://schemas.microsoft.com/office/drawing/2014/main" id="{77B0DE82-200B-4781-876A-769CEF9A2D5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53264" y="1752601"/>
            <a:ext cx="2852737" cy="2925763"/>
            <a:chOff x="3541" y="1487"/>
            <a:chExt cx="1499" cy="1537"/>
          </a:xfrm>
        </p:grpSpPr>
        <p:sp>
          <p:nvSpPr>
            <p:cNvPr id="86020" name="Line 4">
              <a:extLst>
                <a:ext uri="{FF2B5EF4-FFF2-40B4-BE49-F238E27FC236}">
                  <a16:creationId xmlns:a16="http://schemas.microsoft.com/office/drawing/2014/main" id="{640B746D-B156-4215-8CBE-508494B05C4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41" y="1487"/>
              <a:ext cx="0" cy="15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1" name="Line 5">
              <a:extLst>
                <a:ext uri="{FF2B5EF4-FFF2-40B4-BE49-F238E27FC236}">
                  <a16:creationId xmlns:a16="http://schemas.microsoft.com/office/drawing/2014/main" id="{AC3D38D1-F185-47D3-962A-D45D186C9D0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41" y="3024"/>
              <a:ext cx="1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2" name="AutoShape 6">
              <a:extLst>
                <a:ext uri="{FF2B5EF4-FFF2-40B4-BE49-F238E27FC236}">
                  <a16:creationId xmlns:a16="http://schemas.microsoft.com/office/drawing/2014/main" id="{233A44C4-D355-4A3E-9BF2-099B828CC19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73" y="1717"/>
              <a:ext cx="72" cy="7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3" name="AutoShape 7">
              <a:extLst>
                <a:ext uri="{FF2B5EF4-FFF2-40B4-BE49-F238E27FC236}">
                  <a16:creationId xmlns:a16="http://schemas.microsoft.com/office/drawing/2014/main" id="{80708114-3FD2-4250-993B-C5D87363C5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1" y="2024"/>
              <a:ext cx="72" cy="72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4" name="AutoShape 8">
              <a:extLst>
                <a:ext uri="{FF2B5EF4-FFF2-40B4-BE49-F238E27FC236}">
                  <a16:creationId xmlns:a16="http://schemas.microsoft.com/office/drawing/2014/main" id="{647ECF1C-436B-4C15-8CA0-D216A074CC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13" y="2139"/>
              <a:ext cx="72" cy="7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5" name="AutoShape 9">
              <a:extLst>
                <a:ext uri="{FF2B5EF4-FFF2-40B4-BE49-F238E27FC236}">
                  <a16:creationId xmlns:a16="http://schemas.microsoft.com/office/drawing/2014/main" id="{F2EF1216-56DB-4107-9C4D-BE5AB1DD39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36" y="1986"/>
              <a:ext cx="72" cy="72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6" name="Oval 10">
              <a:extLst>
                <a:ext uri="{FF2B5EF4-FFF2-40B4-BE49-F238E27FC236}">
                  <a16:creationId xmlns:a16="http://schemas.microsoft.com/office/drawing/2014/main" id="{C1314E05-E6A3-457E-AF39-B117CE27D6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88" y="2369"/>
              <a:ext cx="73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7" name="Oval 11">
              <a:extLst>
                <a:ext uri="{FF2B5EF4-FFF2-40B4-BE49-F238E27FC236}">
                  <a16:creationId xmlns:a16="http://schemas.microsoft.com/office/drawing/2014/main" id="{B8F856DF-706F-4CC6-9A5D-2CA55B5109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18" y="2484"/>
              <a:ext cx="73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8" name="Oval 12">
              <a:extLst>
                <a:ext uri="{FF2B5EF4-FFF2-40B4-BE49-F238E27FC236}">
                  <a16:creationId xmlns:a16="http://schemas.microsoft.com/office/drawing/2014/main" id="{AC09BA75-3BA1-4FA8-812D-F660A36877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50" y="2791"/>
              <a:ext cx="72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9" name="Oval 13">
              <a:extLst>
                <a:ext uri="{FF2B5EF4-FFF2-40B4-BE49-F238E27FC236}">
                  <a16:creationId xmlns:a16="http://schemas.microsoft.com/office/drawing/2014/main" id="{EC29CC77-BF02-4E0B-BFB0-DCD883E14C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50" y="2143"/>
              <a:ext cx="72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30" name="Oval 14">
              <a:extLst>
                <a:ext uri="{FF2B5EF4-FFF2-40B4-BE49-F238E27FC236}">
                  <a16:creationId xmlns:a16="http://schemas.microsoft.com/office/drawing/2014/main" id="{6D164DE6-412D-4682-B86A-995D245DEC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62" y="2484"/>
              <a:ext cx="73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31" name="Line 15">
              <a:extLst>
                <a:ext uri="{FF2B5EF4-FFF2-40B4-BE49-F238E27FC236}">
                  <a16:creationId xmlns:a16="http://schemas.microsoft.com/office/drawing/2014/main" id="{7D9BF93B-497A-4E3D-B9B9-478270AC2C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59" y="1717"/>
              <a:ext cx="1266" cy="844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32" name="Line 16">
              <a:extLst>
                <a:ext uri="{FF2B5EF4-FFF2-40B4-BE49-F238E27FC236}">
                  <a16:creationId xmlns:a16="http://schemas.microsoft.com/office/drawing/2014/main" id="{BB386C4E-67AB-4D5E-A15B-4D751F7F8E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021" y="1488"/>
              <a:ext cx="432" cy="1344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33" name="Line 17">
              <a:extLst>
                <a:ext uri="{FF2B5EF4-FFF2-40B4-BE49-F238E27FC236}">
                  <a16:creationId xmlns:a16="http://schemas.microsoft.com/office/drawing/2014/main" id="{A50D9493-57BC-44CD-92B4-E6737F81B07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85" y="1968"/>
              <a:ext cx="1344" cy="432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86034" name="Group 18">
            <a:extLst>
              <a:ext uri="{FF2B5EF4-FFF2-40B4-BE49-F238E27FC236}">
                <a16:creationId xmlns:a16="http://schemas.microsoft.com/office/drawing/2014/main" id="{EDD4191C-9B56-4891-A522-A8FF17B29E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28864" y="1752601"/>
            <a:ext cx="2852737" cy="2925763"/>
            <a:chOff x="576" y="1488"/>
            <a:chExt cx="1499" cy="1537"/>
          </a:xfrm>
        </p:grpSpPr>
        <p:sp>
          <p:nvSpPr>
            <p:cNvPr id="86035" name="Line 19">
              <a:extLst>
                <a:ext uri="{FF2B5EF4-FFF2-40B4-BE49-F238E27FC236}">
                  <a16:creationId xmlns:a16="http://schemas.microsoft.com/office/drawing/2014/main" id="{E4E04159-755E-4046-845F-10495E9FA1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76" y="1488"/>
              <a:ext cx="0" cy="15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36" name="Line 20">
              <a:extLst>
                <a:ext uri="{FF2B5EF4-FFF2-40B4-BE49-F238E27FC236}">
                  <a16:creationId xmlns:a16="http://schemas.microsoft.com/office/drawing/2014/main" id="{A1643DFA-C5F6-4E8F-BCA3-A1323456E0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76" y="3025"/>
              <a:ext cx="1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37" name="AutoShape 21">
              <a:extLst>
                <a:ext uri="{FF2B5EF4-FFF2-40B4-BE49-F238E27FC236}">
                  <a16:creationId xmlns:a16="http://schemas.microsoft.com/office/drawing/2014/main" id="{55C73214-E2D4-4E11-89C5-C0EBD5D12E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32" y="2064"/>
              <a:ext cx="72" cy="7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38" name="AutoShape 22">
              <a:extLst>
                <a:ext uri="{FF2B5EF4-FFF2-40B4-BE49-F238E27FC236}">
                  <a16:creationId xmlns:a16="http://schemas.microsoft.com/office/drawing/2014/main" id="{2046F435-8D2A-4522-9201-24B10B1974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4" y="2736"/>
              <a:ext cx="72" cy="72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39" name="AutoShape 23">
              <a:extLst>
                <a:ext uri="{FF2B5EF4-FFF2-40B4-BE49-F238E27FC236}">
                  <a16:creationId xmlns:a16="http://schemas.microsoft.com/office/drawing/2014/main" id="{088A5E59-F05B-4FBB-90DE-568D6ABC5D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96" y="2064"/>
              <a:ext cx="72" cy="7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40" name="AutoShape 24">
              <a:extLst>
                <a:ext uri="{FF2B5EF4-FFF2-40B4-BE49-F238E27FC236}">
                  <a16:creationId xmlns:a16="http://schemas.microsoft.com/office/drawing/2014/main" id="{3AFE04D6-C596-48BA-94F9-80D98BCA38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71" y="1987"/>
              <a:ext cx="72" cy="72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41" name="Oval 25">
              <a:extLst>
                <a:ext uri="{FF2B5EF4-FFF2-40B4-BE49-F238E27FC236}">
                  <a16:creationId xmlns:a16="http://schemas.microsoft.com/office/drawing/2014/main" id="{650CCDEE-E48D-4187-8D69-B9E31EAA5BE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23" y="2370"/>
              <a:ext cx="73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42" name="Oval 26">
              <a:extLst>
                <a:ext uri="{FF2B5EF4-FFF2-40B4-BE49-F238E27FC236}">
                  <a16:creationId xmlns:a16="http://schemas.microsoft.com/office/drawing/2014/main" id="{357EA039-0831-4616-82A2-F91DAF63C4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0" y="2544"/>
              <a:ext cx="73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43" name="Oval 27">
              <a:extLst>
                <a:ext uri="{FF2B5EF4-FFF2-40B4-BE49-F238E27FC236}">
                  <a16:creationId xmlns:a16="http://schemas.microsoft.com/office/drawing/2014/main" id="{5A8AE1EF-E246-4A2A-9540-AAEE8347CB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85" y="2792"/>
              <a:ext cx="72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44" name="Oval 28">
              <a:extLst>
                <a:ext uri="{FF2B5EF4-FFF2-40B4-BE49-F238E27FC236}">
                  <a16:creationId xmlns:a16="http://schemas.microsoft.com/office/drawing/2014/main" id="{BAD8228E-BEEE-440E-A808-51E8BFD555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0" y="1680"/>
              <a:ext cx="72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45" name="Oval 29">
              <a:extLst>
                <a:ext uri="{FF2B5EF4-FFF2-40B4-BE49-F238E27FC236}">
                  <a16:creationId xmlns:a16="http://schemas.microsoft.com/office/drawing/2014/main" id="{20BA82F8-2A7E-48E5-B2A7-9E43ED7A54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12" y="1632"/>
              <a:ext cx="73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6046" name="AutoShape 30">
            <a:extLst>
              <a:ext uri="{FF2B5EF4-FFF2-40B4-BE49-F238E27FC236}">
                <a16:creationId xmlns:a16="http://schemas.microsoft.com/office/drawing/2014/main" id="{8A6CA832-3969-4618-ABF4-152A6165F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9263" y="3224213"/>
            <a:ext cx="990600" cy="304800"/>
          </a:xfrm>
          <a:prstGeom prst="rightArrow">
            <a:avLst>
              <a:gd name="adj1" fmla="val 50000"/>
              <a:gd name="adj2" fmla="val 812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6047" name="Text Box 31">
            <a:extLst>
              <a:ext uri="{FF2B5EF4-FFF2-40B4-BE49-F238E27FC236}">
                <a16:creationId xmlns:a16="http://schemas.microsoft.com/office/drawing/2014/main" id="{3F084A65-D619-476E-B942-DCC0C112B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864" y="2590800"/>
            <a:ext cx="504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ru-RU" altLang="en-US" sz="3200">
                <a:latin typeface="Times" panose="02020603050405020304" pitchFamily="18" charset="0"/>
              </a:rPr>
              <a:t>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CC3445C-E6F0-4BAA-B90F-8884A2EF9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Bayesian Networks</a:t>
            </a:r>
          </a:p>
        </p:txBody>
      </p:sp>
      <p:pic>
        <p:nvPicPr>
          <p:cNvPr id="87044" name="Picture 4">
            <a:extLst>
              <a:ext uri="{FF2B5EF4-FFF2-40B4-BE49-F238E27FC236}">
                <a16:creationId xmlns:a16="http://schemas.microsoft.com/office/drawing/2014/main" id="{41CD55E3-EE7F-4C20-BC84-636F4091F26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47950" y="1219200"/>
            <a:ext cx="2990850" cy="2419350"/>
          </a:xfrm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87043" name="Rectangle 3">
            <a:extLst>
              <a:ext uri="{FF2B5EF4-FFF2-40B4-BE49-F238E27FC236}">
                <a16:creationId xmlns:a16="http://schemas.microsoft.com/office/drawing/2014/main" id="{5CEE899B-1698-4295-AD21-FE1D34F345E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Network topology reflects direct </a:t>
            </a:r>
            <a:r>
              <a:rPr lang="en-US" altLang="en-US" sz="2400" i="1"/>
              <a:t>causal influence</a:t>
            </a:r>
          </a:p>
          <a:p>
            <a:pPr>
              <a:lnSpc>
                <a:spcPct val="90000"/>
              </a:lnSpc>
            </a:pPr>
            <a:endParaRPr lang="en-US" altLang="en-US" sz="2400" i="1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i="1" u="sng"/>
              <a:t>Basic Task</a:t>
            </a:r>
            <a:r>
              <a:rPr lang="en-US" altLang="en-US" sz="2400"/>
              <a:t>: Compute probability distribution for unknown variables given observed values of other variables.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chemeClr val="bg2"/>
                </a:solidFill>
              </a:rPr>
              <a:t>[</a:t>
            </a:r>
            <a:r>
              <a:rPr lang="en-US" altLang="en-US" sz="1800" i="1">
                <a:solidFill>
                  <a:schemeClr val="bg2"/>
                </a:solidFill>
              </a:rPr>
              <a:t>belief networks, causal networks</a:t>
            </a:r>
            <a:r>
              <a:rPr lang="en-US" altLang="en-US" sz="1800">
                <a:solidFill>
                  <a:schemeClr val="bg2"/>
                </a:solidFill>
              </a:rPr>
              <a:t>]</a:t>
            </a:r>
            <a:endParaRPr lang="en-US" altLang="en-US" sz="1800" i="1">
              <a:solidFill>
                <a:schemeClr val="bg2"/>
              </a:solidFill>
            </a:endParaRPr>
          </a:p>
        </p:txBody>
      </p:sp>
      <p:graphicFrame>
        <p:nvGraphicFramePr>
          <p:cNvPr id="87045" name="Group 5">
            <a:extLst>
              <a:ext uri="{FF2B5EF4-FFF2-40B4-BE49-F238E27FC236}">
                <a16:creationId xmlns:a16="http://schemas.microsoft.com/office/drawing/2014/main" id="{54A07516-C75E-4CBD-ABC2-8A0E2A0F0832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4038600"/>
          <a:ext cx="3886200" cy="1169988"/>
        </p:xfrm>
        <a:graphic>
          <a:graphicData uri="http://schemas.openxmlformats.org/drawingml/2006/table">
            <a:tbl>
              <a:tblPr/>
              <a:tblGrid>
                <a:gridCol w="512763">
                  <a:extLst>
                    <a:ext uri="{9D8B030D-6E8A-4147-A177-3AD203B41FA5}">
                      <a16:colId xmlns:a16="http://schemas.microsoft.com/office/drawing/2014/main" val="3351575983"/>
                    </a:ext>
                  </a:extLst>
                </a:gridCol>
                <a:gridCol w="881062">
                  <a:extLst>
                    <a:ext uri="{9D8B030D-6E8A-4147-A177-3AD203B41FA5}">
                      <a16:colId xmlns:a16="http://schemas.microsoft.com/office/drawing/2014/main" val="2028739309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1511170928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538438268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1515171968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</a:t>
                      </a: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A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A B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974513"/>
                  </a:ext>
                </a:extLst>
              </a:tr>
              <a:tr h="423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189070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676229"/>
                  </a:ext>
                </a:extLst>
              </a:tr>
            </a:tbl>
          </a:graphicData>
        </a:graphic>
      </p:graphicFrame>
      <p:sp>
        <p:nvSpPr>
          <p:cNvPr id="87071" name="Text Box 31">
            <a:extLst>
              <a:ext uri="{FF2B5EF4-FFF2-40B4-BE49-F238E27FC236}">
                <a16:creationId xmlns:a16="http://schemas.microsoft.com/office/drawing/2014/main" id="{64464244-B8FD-4E1A-8CEF-DF1FB95AB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348289"/>
            <a:ext cx="28165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i="1"/>
              <a:t>conditional probability table</a:t>
            </a:r>
            <a:endParaRPr lang="en-US" altLang="en-US"/>
          </a:p>
          <a:p>
            <a:pPr eaLnBrk="0" hangingPunct="0"/>
            <a:r>
              <a:rPr lang="en-US" altLang="en-US"/>
              <a:t>for </a:t>
            </a:r>
            <a:r>
              <a:rPr lang="en-US" altLang="en-US">
                <a:latin typeface="Times New Roman" panose="02020603050405020304" pitchFamily="18" charset="0"/>
              </a:rPr>
              <a:t>NeighbourCalls</a:t>
            </a:r>
            <a:endParaRPr lang="en-US" altLang="en-US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33BC731A-7BC5-4953-B33D-51846123A8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Bayesian Network Learning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FEB67EAF-EC9F-4006-B4DF-5F2E0E0C6E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Key Concepts</a:t>
            </a:r>
          </a:p>
          <a:p>
            <a:r>
              <a:rPr lang="en-US" altLang="en-US"/>
              <a:t>nodes (attributes) = random variables</a:t>
            </a:r>
          </a:p>
          <a:p>
            <a:r>
              <a:rPr lang="en-US" altLang="en-US"/>
              <a:t>conditional independence</a:t>
            </a:r>
          </a:p>
          <a:p>
            <a:pPr lvl="1"/>
            <a:r>
              <a:rPr lang="en-US" altLang="en-US"/>
              <a:t>an attribute is conditionally independent of its non-descendants, given its parents</a:t>
            </a:r>
          </a:p>
          <a:p>
            <a:r>
              <a:rPr lang="en-US" altLang="en-US"/>
              <a:t>conditional probability table</a:t>
            </a:r>
          </a:p>
          <a:p>
            <a:pPr lvl="1"/>
            <a:r>
              <a:rPr lang="en-US" altLang="en-US"/>
              <a:t>conditional probability distribution of an attribute given its parents</a:t>
            </a:r>
          </a:p>
          <a:p>
            <a:r>
              <a:rPr lang="en-US" altLang="en-US"/>
              <a:t>Bayes Theorem</a:t>
            </a:r>
          </a:p>
          <a:p>
            <a:pPr lvl="1"/>
            <a:r>
              <a:rPr lang="en-US" altLang="en-US" i="1"/>
              <a:t>P</a:t>
            </a:r>
            <a:r>
              <a:rPr lang="en-US" altLang="en-US"/>
              <a:t>(</a:t>
            </a:r>
            <a:r>
              <a:rPr lang="en-US" altLang="en-US" i="1"/>
              <a:t>h|D</a:t>
            </a:r>
            <a:r>
              <a:rPr lang="en-US" altLang="en-US"/>
              <a:t>)</a:t>
            </a:r>
            <a:r>
              <a:rPr lang="en-US" altLang="en-US" i="1"/>
              <a:t> = P</a:t>
            </a:r>
            <a:r>
              <a:rPr lang="en-US" altLang="en-US"/>
              <a:t>(</a:t>
            </a:r>
            <a:r>
              <a:rPr lang="en-US" altLang="en-US" i="1"/>
              <a:t>D|h</a:t>
            </a:r>
            <a:r>
              <a:rPr lang="en-US" altLang="en-US"/>
              <a:t>)</a:t>
            </a:r>
            <a:r>
              <a:rPr lang="en-US" altLang="en-US" i="1"/>
              <a:t>P</a:t>
            </a:r>
            <a:r>
              <a:rPr lang="en-US" altLang="en-US"/>
              <a:t>(</a:t>
            </a:r>
            <a:r>
              <a:rPr lang="en-US" altLang="en-US" i="1"/>
              <a:t>h</a:t>
            </a:r>
            <a:r>
              <a:rPr lang="en-US" altLang="en-US"/>
              <a:t>) / </a:t>
            </a:r>
            <a:r>
              <a:rPr lang="en-US" altLang="en-US" i="1"/>
              <a:t>P</a:t>
            </a:r>
            <a:r>
              <a:rPr lang="en-US" altLang="en-US"/>
              <a:t>(</a:t>
            </a:r>
            <a:r>
              <a:rPr lang="en-US" altLang="en-US" i="1"/>
              <a:t>D</a:t>
            </a:r>
            <a:r>
              <a:rPr lang="en-US" altLang="en-US"/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F5C53D18-E52C-4FF2-A237-12D259A39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Bayesian Network Learning </a:t>
            </a:r>
            <a:r>
              <a:rPr lang="en-US" altLang="en-US" b="0"/>
              <a:t>(</a:t>
            </a:r>
            <a:r>
              <a:rPr lang="en-US" altLang="en-US" b="0" i="1"/>
              <a:t>continued</a:t>
            </a:r>
            <a:r>
              <a:rPr lang="en-US" altLang="en-US" b="0"/>
              <a:t>)</a:t>
            </a:r>
            <a:endParaRPr lang="en-US" alt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1EB2424-070B-4E03-B30C-1706243115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Find </a:t>
            </a:r>
            <a:r>
              <a:rPr lang="en-US" altLang="en-US" sz="2400" i="1"/>
              <a:t>most probable hypothesis</a:t>
            </a:r>
            <a:r>
              <a:rPr lang="en-US" altLang="en-US" sz="2400"/>
              <a:t> given the data.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i="1"/>
              <a:t>In theory</a:t>
            </a:r>
            <a:r>
              <a:rPr lang="en-US" altLang="en-US" sz="2400"/>
              <a:t>:  Use posterior probabilities to weight hypotheses. (</a:t>
            </a:r>
            <a:r>
              <a:rPr lang="en-US" altLang="en-US" sz="2400" i="1"/>
              <a:t>Bayes optimal classifier</a:t>
            </a:r>
            <a:r>
              <a:rPr lang="en-US" altLang="en-US" sz="2400"/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i="1"/>
              <a:t>In practice</a:t>
            </a:r>
            <a:r>
              <a:rPr lang="en-US" altLang="en-US" sz="2400"/>
              <a:t>:  Use single, </a:t>
            </a:r>
            <a:r>
              <a:rPr lang="en-US" altLang="en-US" sz="2400" i="1"/>
              <a:t>maximum a posteriori </a:t>
            </a:r>
            <a:r>
              <a:rPr lang="en-US" altLang="en-US" sz="2400"/>
              <a:t>(most probable) hypothesis.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Settings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known structure, fully observable (</a:t>
            </a:r>
            <a:r>
              <a:rPr lang="en-US" altLang="en-US" sz="2400" i="1"/>
              <a:t>parameter learning</a:t>
            </a:r>
            <a:r>
              <a:rPr lang="en-US" altLang="en-US" sz="2400"/>
              <a:t>)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unknown structure, fully observable (</a:t>
            </a:r>
            <a:r>
              <a:rPr lang="en-US" altLang="en-US" sz="2400" i="1"/>
              <a:t>structural learning</a:t>
            </a:r>
            <a:r>
              <a:rPr lang="en-US" altLang="en-US" sz="2400"/>
              <a:t>)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known structure, hidden variables (</a:t>
            </a:r>
            <a:r>
              <a:rPr lang="en-US" altLang="en-US" sz="2400" i="1"/>
              <a:t>EM algorithm</a:t>
            </a:r>
            <a:r>
              <a:rPr lang="en-US" altLang="en-US" sz="2400"/>
              <a:t>)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unknown structure, hidden variables (</a:t>
            </a:r>
            <a:r>
              <a:rPr lang="en-US" altLang="en-US" sz="2400" i="1"/>
              <a:t>?</a:t>
            </a:r>
            <a:r>
              <a:rPr lang="en-US" altLang="en-US" sz="2400"/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593D3E2B-A0CA-4C84-AF5C-1CDF374A5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Nearest Neighbor Models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44893935-6DFC-4244-8952-153CDB962F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i="1"/>
              <a:t>Key Idea</a:t>
            </a:r>
            <a:r>
              <a:rPr lang="en-US" altLang="en-US" sz="2400"/>
              <a:t>: Properties of an input </a:t>
            </a:r>
            <a:r>
              <a:rPr lang="en-US" altLang="en-US" sz="2400" i="1"/>
              <a:t>x</a:t>
            </a:r>
            <a:r>
              <a:rPr lang="en-US" altLang="en-US" sz="2400"/>
              <a:t> are likely to be </a:t>
            </a:r>
            <a:r>
              <a:rPr lang="en-US" altLang="en-US" sz="2400" i="1"/>
              <a:t>similar</a:t>
            </a:r>
            <a:r>
              <a:rPr lang="en-US" altLang="en-US" sz="2400"/>
              <a:t> to those of points in the </a:t>
            </a:r>
            <a:r>
              <a:rPr lang="en-US" altLang="en-US" sz="2400" i="1"/>
              <a:t>neighborhood</a:t>
            </a:r>
            <a:r>
              <a:rPr lang="en-US" altLang="en-US" sz="2400"/>
              <a:t> of </a:t>
            </a:r>
            <a:r>
              <a:rPr lang="en-US" altLang="en-US" sz="2400" i="1"/>
              <a:t>x</a:t>
            </a:r>
            <a:r>
              <a:rPr lang="en-US" altLang="en-US" sz="240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i="1"/>
              <a:t>Basic Idea</a:t>
            </a:r>
            <a:r>
              <a:rPr lang="en-US" altLang="en-US" sz="2400"/>
              <a:t>: Find (</a:t>
            </a:r>
            <a:r>
              <a:rPr lang="en-US" altLang="en-US" sz="2400" i="1"/>
              <a:t>k</a:t>
            </a:r>
            <a:r>
              <a:rPr lang="en-US" altLang="en-US" sz="2400"/>
              <a:t>) nearest neighbor(s) of </a:t>
            </a:r>
            <a:r>
              <a:rPr lang="en-US" altLang="en-US" sz="2400" i="1"/>
              <a:t>x</a:t>
            </a:r>
            <a:r>
              <a:rPr lang="en-US" altLang="en-US" sz="2400"/>
              <a:t> and infer target attribute value(s) of </a:t>
            </a:r>
            <a:r>
              <a:rPr lang="en-US" altLang="en-US" sz="2400" i="1"/>
              <a:t>x</a:t>
            </a:r>
            <a:r>
              <a:rPr lang="en-US" altLang="en-US" sz="2400"/>
              <a:t> based on corresponding attribute value(s).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Form of </a:t>
            </a:r>
            <a:r>
              <a:rPr lang="en-US" altLang="en-US" sz="2400" i="1"/>
              <a:t>non-parametric learning</a:t>
            </a:r>
            <a:r>
              <a:rPr lang="en-US" altLang="en-US" sz="2400"/>
              <a:t> where hypothesis complexity grows with data (learned model </a:t>
            </a:r>
            <a:r>
              <a:rPr lang="en-US" altLang="en-US" sz="2400">
                <a:sym typeface="Symbol" panose="05050102010706020507" pitchFamily="18" charset="2"/>
              </a:rPr>
              <a:t> </a:t>
            </a:r>
            <a:r>
              <a:rPr lang="en-US" altLang="en-US" sz="2400"/>
              <a:t>all examples seen so far)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chemeClr val="bg2"/>
                </a:solidFill>
              </a:rPr>
              <a:t>[</a:t>
            </a:r>
            <a:r>
              <a:rPr lang="en-US" altLang="en-US" sz="1800" i="1">
                <a:solidFill>
                  <a:schemeClr val="bg2"/>
                </a:solidFill>
              </a:rPr>
              <a:t>instance-based learning, case-based reasoning, analogical reasoning</a:t>
            </a:r>
            <a:r>
              <a:rPr lang="en-US" altLang="en-US" sz="1800">
                <a:solidFill>
                  <a:schemeClr val="bg2"/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04B07A1C-C0BA-4BC3-953A-623B14BB4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Nearest Neighbor Model: Decision Boundary</a:t>
            </a:r>
          </a:p>
        </p:txBody>
      </p:sp>
      <p:grpSp>
        <p:nvGrpSpPr>
          <p:cNvPr id="91139" name="Group 3">
            <a:extLst>
              <a:ext uri="{FF2B5EF4-FFF2-40B4-BE49-F238E27FC236}">
                <a16:creationId xmlns:a16="http://schemas.microsoft.com/office/drawing/2014/main" id="{FF9901EE-8CC1-4300-86DE-145E5A37E1C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67000" y="2062164"/>
            <a:ext cx="2833688" cy="3043237"/>
            <a:chOff x="528" y="1008"/>
            <a:chExt cx="2101" cy="2256"/>
          </a:xfrm>
        </p:grpSpPr>
        <p:sp>
          <p:nvSpPr>
            <p:cNvPr id="91140" name="Line 4">
              <a:extLst>
                <a:ext uri="{FF2B5EF4-FFF2-40B4-BE49-F238E27FC236}">
                  <a16:creationId xmlns:a16="http://schemas.microsoft.com/office/drawing/2014/main" id="{34C1FD4F-D2D7-484D-8A41-258B7ED2EBE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8" y="1110"/>
              <a:ext cx="0" cy="2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1" name="Line 5">
              <a:extLst>
                <a:ext uri="{FF2B5EF4-FFF2-40B4-BE49-F238E27FC236}">
                  <a16:creationId xmlns:a16="http://schemas.microsoft.com/office/drawing/2014/main" id="{CFF93CE6-21E4-49E6-8BF2-ACF736DC149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8" y="3264"/>
              <a:ext cx="2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2" name="AutoShape 6">
              <a:extLst>
                <a:ext uri="{FF2B5EF4-FFF2-40B4-BE49-F238E27FC236}">
                  <a16:creationId xmlns:a16="http://schemas.microsoft.com/office/drawing/2014/main" id="{1D13423E-8C0E-4FD6-8670-33EDA15A6C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08" y="1776"/>
              <a:ext cx="101" cy="10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3" name="AutoShape 7">
              <a:extLst>
                <a:ext uri="{FF2B5EF4-FFF2-40B4-BE49-F238E27FC236}">
                  <a16:creationId xmlns:a16="http://schemas.microsoft.com/office/drawing/2014/main" id="{363F4646-1137-48DE-8BE4-7484A52470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60" y="2736"/>
              <a:ext cx="101" cy="101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4" name="AutoShape 8">
              <a:extLst>
                <a:ext uri="{FF2B5EF4-FFF2-40B4-BE49-F238E27FC236}">
                  <a16:creationId xmlns:a16="http://schemas.microsoft.com/office/drawing/2014/main" id="{BE7FFC87-10D4-41A3-8D83-CB3F25A175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37" y="1917"/>
              <a:ext cx="101" cy="10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5" name="AutoShape 9">
              <a:extLst>
                <a:ext uri="{FF2B5EF4-FFF2-40B4-BE49-F238E27FC236}">
                  <a16:creationId xmlns:a16="http://schemas.microsoft.com/office/drawing/2014/main" id="{0675BF21-6FA0-4E38-BA78-5B1DDB1E47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0" y="1728"/>
              <a:ext cx="101" cy="101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6" name="Oval 10">
              <a:extLst>
                <a:ext uri="{FF2B5EF4-FFF2-40B4-BE49-F238E27FC236}">
                  <a16:creationId xmlns:a16="http://schemas.microsoft.com/office/drawing/2014/main" id="{C0DB46CD-037D-4D8F-A7C9-1D24333E56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15" y="2346"/>
              <a:ext cx="102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7" name="Oval 11">
              <a:extLst>
                <a:ext uri="{FF2B5EF4-FFF2-40B4-BE49-F238E27FC236}">
                  <a16:creationId xmlns:a16="http://schemas.microsoft.com/office/drawing/2014/main" id="{3CC136A5-0780-439C-98E6-081112D9E1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0" y="2400"/>
              <a:ext cx="103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8" name="Oval 12">
              <a:extLst>
                <a:ext uri="{FF2B5EF4-FFF2-40B4-BE49-F238E27FC236}">
                  <a16:creationId xmlns:a16="http://schemas.microsoft.com/office/drawing/2014/main" id="{90EA0807-B959-46A8-A686-742B34871F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0" y="2928"/>
              <a:ext cx="101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9" name="Oval 13">
              <a:extLst>
                <a:ext uri="{FF2B5EF4-FFF2-40B4-BE49-F238E27FC236}">
                  <a16:creationId xmlns:a16="http://schemas.microsoft.com/office/drawing/2014/main" id="{2950E51B-A259-4A5C-A627-C61E9BF732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0" y="1248"/>
              <a:ext cx="101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50" name="Oval 14">
              <a:extLst>
                <a:ext uri="{FF2B5EF4-FFF2-40B4-BE49-F238E27FC236}">
                  <a16:creationId xmlns:a16="http://schemas.microsoft.com/office/drawing/2014/main" id="{DD7D3F02-6E28-4BD4-A4AA-F0C085C0AB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56" y="1152"/>
              <a:ext cx="102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51" name="Line 15">
              <a:extLst>
                <a:ext uri="{FF2B5EF4-FFF2-40B4-BE49-F238E27FC236}">
                  <a16:creationId xmlns:a16="http://schemas.microsoft.com/office/drawing/2014/main" id="{57617513-0F3D-4A47-926D-18F7DC486F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72" y="144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52" name="Line 16">
              <a:extLst>
                <a:ext uri="{FF2B5EF4-FFF2-40B4-BE49-F238E27FC236}">
                  <a16:creationId xmlns:a16="http://schemas.microsoft.com/office/drawing/2014/main" id="{63B7C13C-9955-448A-A541-DA1F3B8ADD5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296" y="1008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53" name="Line 17">
              <a:extLst>
                <a:ext uri="{FF2B5EF4-FFF2-40B4-BE49-F238E27FC236}">
                  <a16:creationId xmlns:a16="http://schemas.microsoft.com/office/drawing/2014/main" id="{C8EBC85A-5978-4F57-A5DF-623289D5E8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440" y="1680"/>
              <a:ext cx="43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54" name="Line 18">
              <a:extLst>
                <a:ext uri="{FF2B5EF4-FFF2-40B4-BE49-F238E27FC236}">
                  <a16:creationId xmlns:a16="http://schemas.microsoft.com/office/drawing/2014/main" id="{A30E05A2-3F3E-4306-9F6A-062CC37390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200" y="1776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55" name="Line 19">
              <a:extLst>
                <a:ext uri="{FF2B5EF4-FFF2-40B4-BE49-F238E27FC236}">
                  <a16:creationId xmlns:a16="http://schemas.microsoft.com/office/drawing/2014/main" id="{A374B827-FE2E-4024-A5E5-17EE0EED380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24" y="2112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56" name="Line 20">
              <a:extLst>
                <a:ext uri="{FF2B5EF4-FFF2-40B4-BE49-F238E27FC236}">
                  <a16:creationId xmlns:a16="http://schemas.microsoft.com/office/drawing/2014/main" id="{39AC79F0-6968-4632-90A7-FA0F13F89B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00" y="211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57" name="Line 21">
              <a:extLst>
                <a:ext uri="{FF2B5EF4-FFF2-40B4-BE49-F238E27FC236}">
                  <a16:creationId xmlns:a16="http://schemas.microsoft.com/office/drawing/2014/main" id="{FDC21804-7148-4EDD-8044-86213DE71C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92" y="230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58" name="Line 22">
              <a:extLst>
                <a:ext uri="{FF2B5EF4-FFF2-40B4-BE49-F238E27FC236}">
                  <a16:creationId xmlns:a16="http://schemas.microsoft.com/office/drawing/2014/main" id="{88FF125A-F39B-4F26-9B48-F0215EB8602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008" y="2640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59" name="Line 23">
              <a:extLst>
                <a:ext uri="{FF2B5EF4-FFF2-40B4-BE49-F238E27FC236}">
                  <a16:creationId xmlns:a16="http://schemas.microsoft.com/office/drawing/2014/main" id="{C83C4AF3-203F-4EAC-B7D0-55946DEAA7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96" y="1440"/>
              <a:ext cx="1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60" name="Line 24">
              <a:extLst>
                <a:ext uri="{FF2B5EF4-FFF2-40B4-BE49-F238E27FC236}">
                  <a16:creationId xmlns:a16="http://schemas.microsoft.com/office/drawing/2014/main" id="{9F304AE3-82D6-40AF-952B-CE03279BB6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72" y="1296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61" name="Line 25">
              <a:extLst>
                <a:ext uri="{FF2B5EF4-FFF2-40B4-BE49-F238E27FC236}">
                  <a16:creationId xmlns:a16="http://schemas.microsoft.com/office/drawing/2014/main" id="{6E98D2CF-E3B3-4655-A7DD-CC2D70A2D1A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72" y="168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62" name="Line 26">
              <a:extLst>
                <a:ext uri="{FF2B5EF4-FFF2-40B4-BE49-F238E27FC236}">
                  <a16:creationId xmlns:a16="http://schemas.microsoft.com/office/drawing/2014/main" id="{A99E60C4-A608-4FAB-AEED-D2FD60E760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392" y="2064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63" name="Line 27">
              <a:extLst>
                <a:ext uri="{FF2B5EF4-FFF2-40B4-BE49-F238E27FC236}">
                  <a16:creationId xmlns:a16="http://schemas.microsoft.com/office/drawing/2014/main" id="{D9E29993-AF9D-4C0E-BDF1-5E198F3CD02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92" y="2640"/>
              <a:ext cx="43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64" name="Line 28">
              <a:extLst>
                <a:ext uri="{FF2B5EF4-FFF2-40B4-BE49-F238E27FC236}">
                  <a16:creationId xmlns:a16="http://schemas.microsoft.com/office/drawing/2014/main" id="{AB8C5536-C718-4FD7-BEEC-F918EE98981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824" y="2256"/>
              <a:ext cx="28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65" name="Line 29">
              <a:extLst>
                <a:ext uri="{FF2B5EF4-FFF2-40B4-BE49-F238E27FC236}">
                  <a16:creationId xmlns:a16="http://schemas.microsoft.com/office/drawing/2014/main" id="{6561CA84-35A5-47E6-8E9C-3ACF3FA257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72" y="206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66" name="Line 30">
              <a:extLst>
                <a:ext uri="{FF2B5EF4-FFF2-40B4-BE49-F238E27FC236}">
                  <a16:creationId xmlns:a16="http://schemas.microsoft.com/office/drawing/2014/main" id="{2C900D39-C03C-4C13-AB95-A9B96ACEF51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2256"/>
              <a:ext cx="33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67" name="Line 31">
              <a:extLst>
                <a:ext uri="{FF2B5EF4-FFF2-40B4-BE49-F238E27FC236}">
                  <a16:creationId xmlns:a16="http://schemas.microsoft.com/office/drawing/2014/main" id="{DDD5A956-8B05-4493-8149-22883B5644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24" y="2736"/>
              <a:ext cx="9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68" name="Rectangle 32">
              <a:extLst>
                <a:ext uri="{FF2B5EF4-FFF2-40B4-BE49-F238E27FC236}">
                  <a16:creationId xmlns:a16="http://schemas.microsoft.com/office/drawing/2014/main" id="{9AC55797-607F-49BF-9A2B-852AB4F3AA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28" y="1584"/>
              <a:ext cx="96" cy="96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69" name="Oval 33">
              <a:extLst>
                <a:ext uri="{FF2B5EF4-FFF2-40B4-BE49-F238E27FC236}">
                  <a16:creationId xmlns:a16="http://schemas.microsoft.com/office/drawing/2014/main" id="{43D818AC-9451-44D2-9EA2-347A3AA6F52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4" y="1200"/>
              <a:ext cx="288" cy="192"/>
            </a:xfrm>
            <a:prstGeom prst="ellips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91170" name="Group 34">
            <a:extLst>
              <a:ext uri="{FF2B5EF4-FFF2-40B4-BE49-F238E27FC236}">
                <a16:creationId xmlns:a16="http://schemas.microsoft.com/office/drawing/2014/main" id="{875D139A-ED22-4ACD-A48B-2EECA595205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94464" y="2062164"/>
            <a:ext cx="2833687" cy="3043237"/>
            <a:chOff x="3131" y="1008"/>
            <a:chExt cx="2101" cy="2256"/>
          </a:xfrm>
        </p:grpSpPr>
        <p:sp>
          <p:nvSpPr>
            <p:cNvPr id="91171" name="Line 35">
              <a:extLst>
                <a:ext uri="{FF2B5EF4-FFF2-40B4-BE49-F238E27FC236}">
                  <a16:creationId xmlns:a16="http://schemas.microsoft.com/office/drawing/2014/main" id="{5B2A1EA3-79E6-463E-9FFD-8D9BDA3654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31" y="1110"/>
              <a:ext cx="0" cy="2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72" name="Line 36">
              <a:extLst>
                <a:ext uri="{FF2B5EF4-FFF2-40B4-BE49-F238E27FC236}">
                  <a16:creationId xmlns:a16="http://schemas.microsoft.com/office/drawing/2014/main" id="{2F2D400D-0CFA-4F43-ACB4-C73E070600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31" y="3264"/>
              <a:ext cx="2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73" name="AutoShape 37">
              <a:extLst>
                <a:ext uri="{FF2B5EF4-FFF2-40B4-BE49-F238E27FC236}">
                  <a16:creationId xmlns:a16="http://schemas.microsoft.com/office/drawing/2014/main" id="{65669F02-6CAE-4C41-B2F5-57AF6CB8BD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11" y="1776"/>
              <a:ext cx="101" cy="10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74" name="AutoShape 38">
              <a:extLst>
                <a:ext uri="{FF2B5EF4-FFF2-40B4-BE49-F238E27FC236}">
                  <a16:creationId xmlns:a16="http://schemas.microsoft.com/office/drawing/2014/main" id="{4232AEB0-F0DA-46A3-AEAB-8CD0785696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63" y="2736"/>
              <a:ext cx="101" cy="101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75" name="AutoShape 39">
              <a:extLst>
                <a:ext uri="{FF2B5EF4-FFF2-40B4-BE49-F238E27FC236}">
                  <a16:creationId xmlns:a16="http://schemas.microsoft.com/office/drawing/2014/main" id="{9E73D7FC-FD9B-450B-928C-350BE1E5AD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40" y="1917"/>
              <a:ext cx="101" cy="10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76" name="AutoShape 40">
              <a:extLst>
                <a:ext uri="{FF2B5EF4-FFF2-40B4-BE49-F238E27FC236}">
                  <a16:creationId xmlns:a16="http://schemas.microsoft.com/office/drawing/2014/main" id="{C21E2E69-AEE6-436F-8B6D-B3B726867BD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63" y="1728"/>
              <a:ext cx="101" cy="101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77" name="Oval 41">
              <a:extLst>
                <a:ext uri="{FF2B5EF4-FFF2-40B4-BE49-F238E27FC236}">
                  <a16:creationId xmlns:a16="http://schemas.microsoft.com/office/drawing/2014/main" id="{CB020D90-F25C-4C01-8DD1-671E3B6536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8" y="2346"/>
              <a:ext cx="102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78" name="Oval 42">
              <a:extLst>
                <a:ext uri="{FF2B5EF4-FFF2-40B4-BE49-F238E27FC236}">
                  <a16:creationId xmlns:a16="http://schemas.microsoft.com/office/drawing/2014/main" id="{50EF977B-A98F-4C32-815B-3660D4BE2E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63" y="2400"/>
              <a:ext cx="103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79" name="Oval 43">
              <a:extLst>
                <a:ext uri="{FF2B5EF4-FFF2-40B4-BE49-F238E27FC236}">
                  <a16:creationId xmlns:a16="http://schemas.microsoft.com/office/drawing/2014/main" id="{36CDA718-0283-43C7-899A-52273E180F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3" y="2928"/>
              <a:ext cx="101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80" name="Oval 44">
              <a:extLst>
                <a:ext uri="{FF2B5EF4-FFF2-40B4-BE49-F238E27FC236}">
                  <a16:creationId xmlns:a16="http://schemas.microsoft.com/office/drawing/2014/main" id="{3FD3A060-F8A2-4160-99A4-323FCD25D3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3" y="1248"/>
              <a:ext cx="101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81" name="Oval 45">
              <a:extLst>
                <a:ext uri="{FF2B5EF4-FFF2-40B4-BE49-F238E27FC236}">
                  <a16:creationId xmlns:a16="http://schemas.microsoft.com/office/drawing/2014/main" id="{E0D865D0-1C72-4901-B53B-4CAEF27113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59" y="1152"/>
              <a:ext cx="102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82" name="Line 46">
              <a:extLst>
                <a:ext uri="{FF2B5EF4-FFF2-40B4-BE49-F238E27FC236}">
                  <a16:creationId xmlns:a16="http://schemas.microsoft.com/office/drawing/2014/main" id="{C9107DE7-2F68-4A44-8CE8-CA3BB72EE4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75" y="144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83" name="Line 47">
              <a:extLst>
                <a:ext uri="{FF2B5EF4-FFF2-40B4-BE49-F238E27FC236}">
                  <a16:creationId xmlns:a16="http://schemas.microsoft.com/office/drawing/2014/main" id="{FC62F65F-146B-47CF-A62F-6A33592A3B3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899" y="1008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84" name="Line 48">
              <a:extLst>
                <a:ext uri="{FF2B5EF4-FFF2-40B4-BE49-F238E27FC236}">
                  <a16:creationId xmlns:a16="http://schemas.microsoft.com/office/drawing/2014/main" id="{DF6F9A1F-AB88-463C-8FC5-D941BDAE573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043" y="1680"/>
              <a:ext cx="43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85" name="Line 49">
              <a:extLst>
                <a:ext uri="{FF2B5EF4-FFF2-40B4-BE49-F238E27FC236}">
                  <a16:creationId xmlns:a16="http://schemas.microsoft.com/office/drawing/2014/main" id="{8B615260-772C-4975-8DD0-A61B9931511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803" y="1776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86" name="Line 50">
              <a:extLst>
                <a:ext uri="{FF2B5EF4-FFF2-40B4-BE49-F238E27FC236}">
                  <a16:creationId xmlns:a16="http://schemas.microsoft.com/office/drawing/2014/main" id="{678D9A95-7B9E-442B-B645-83E72613D0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227" y="2112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87" name="Line 51">
              <a:extLst>
                <a:ext uri="{FF2B5EF4-FFF2-40B4-BE49-F238E27FC236}">
                  <a16:creationId xmlns:a16="http://schemas.microsoft.com/office/drawing/2014/main" id="{460A6F82-F60D-4782-A36F-41A8304FC8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03" y="211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88" name="Line 52">
              <a:extLst>
                <a:ext uri="{FF2B5EF4-FFF2-40B4-BE49-F238E27FC236}">
                  <a16:creationId xmlns:a16="http://schemas.microsoft.com/office/drawing/2014/main" id="{55DEB926-41B0-4001-B441-71F13D54D2A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95" y="230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89" name="Line 53">
              <a:extLst>
                <a:ext uri="{FF2B5EF4-FFF2-40B4-BE49-F238E27FC236}">
                  <a16:creationId xmlns:a16="http://schemas.microsoft.com/office/drawing/2014/main" id="{9A6CFF49-8D38-4BFB-A4B5-912A5E82C4E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611" y="2640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90" name="Line 54">
              <a:extLst>
                <a:ext uri="{FF2B5EF4-FFF2-40B4-BE49-F238E27FC236}">
                  <a16:creationId xmlns:a16="http://schemas.microsoft.com/office/drawing/2014/main" id="{30759996-AB4F-4600-ABDE-D695F0E30E9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99" y="1440"/>
              <a:ext cx="1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91" name="Line 55">
              <a:extLst>
                <a:ext uri="{FF2B5EF4-FFF2-40B4-BE49-F238E27FC236}">
                  <a16:creationId xmlns:a16="http://schemas.microsoft.com/office/drawing/2014/main" id="{37432F68-518F-4DB0-ABCD-EEE8117634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475" y="1296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92" name="Line 56">
              <a:extLst>
                <a:ext uri="{FF2B5EF4-FFF2-40B4-BE49-F238E27FC236}">
                  <a16:creationId xmlns:a16="http://schemas.microsoft.com/office/drawing/2014/main" id="{72E3FDCE-9349-41AA-B3CE-E2D53DB2A7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75" y="168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93" name="Line 57">
              <a:extLst>
                <a:ext uri="{FF2B5EF4-FFF2-40B4-BE49-F238E27FC236}">
                  <a16:creationId xmlns:a16="http://schemas.microsoft.com/office/drawing/2014/main" id="{EC122D4C-881C-4FF8-A74B-297967955E6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995" y="2064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94" name="Line 58">
              <a:extLst>
                <a:ext uri="{FF2B5EF4-FFF2-40B4-BE49-F238E27FC236}">
                  <a16:creationId xmlns:a16="http://schemas.microsoft.com/office/drawing/2014/main" id="{B3DA434C-0E9E-4119-82A6-52EB2B9A47B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95" y="2640"/>
              <a:ext cx="43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95" name="Line 59">
              <a:extLst>
                <a:ext uri="{FF2B5EF4-FFF2-40B4-BE49-F238E27FC236}">
                  <a16:creationId xmlns:a16="http://schemas.microsoft.com/office/drawing/2014/main" id="{2142FC73-9E94-44D5-B4FE-D23DAC8D1B3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427" y="2256"/>
              <a:ext cx="28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96" name="Line 60">
              <a:extLst>
                <a:ext uri="{FF2B5EF4-FFF2-40B4-BE49-F238E27FC236}">
                  <a16:creationId xmlns:a16="http://schemas.microsoft.com/office/drawing/2014/main" id="{0FC6D78B-CF00-4AD1-9BCC-5B4D2F8F2F6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75" y="206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97" name="Line 61">
              <a:extLst>
                <a:ext uri="{FF2B5EF4-FFF2-40B4-BE49-F238E27FC236}">
                  <a16:creationId xmlns:a16="http://schemas.microsoft.com/office/drawing/2014/main" id="{7AB6CB01-5675-4AB5-9FC5-C6515A8DD1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15" y="2256"/>
              <a:ext cx="33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98" name="Line 62">
              <a:extLst>
                <a:ext uri="{FF2B5EF4-FFF2-40B4-BE49-F238E27FC236}">
                  <a16:creationId xmlns:a16="http://schemas.microsoft.com/office/drawing/2014/main" id="{A10DF296-F44D-4B65-9049-75142DFEE2E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27" y="2736"/>
              <a:ext cx="9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99" name="Rectangle 63">
              <a:extLst>
                <a:ext uri="{FF2B5EF4-FFF2-40B4-BE49-F238E27FC236}">
                  <a16:creationId xmlns:a16="http://schemas.microsoft.com/office/drawing/2014/main" id="{AB247FB5-5FC9-4761-B9FF-6D358F24A6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31" y="1584"/>
              <a:ext cx="96" cy="96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200" name="Oval 64">
              <a:extLst>
                <a:ext uri="{FF2B5EF4-FFF2-40B4-BE49-F238E27FC236}">
                  <a16:creationId xmlns:a16="http://schemas.microsoft.com/office/drawing/2014/main" id="{C1768BFA-C091-4DCE-8225-45EA0ACE7B2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1152"/>
              <a:ext cx="1152" cy="960"/>
            </a:xfrm>
            <a:prstGeom prst="ellips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C9410C21-706B-46B2-84DE-7948F4011D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Unsupervised Learning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E24B4811-1458-44AF-A7BE-4AC8E115A4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en-US" sz="2400" i="1"/>
              <a:t>Learn patterns from (unlabeled) data.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Approaches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clustering (similarity-based)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density estimation (e.g., EM algorithm)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Performance Tasks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understanding and visualization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anomaly detection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information retrieval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data compression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FFEDCA49-0479-4AD6-929C-E95FEA5C9B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Performance Evaluation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54F3C363-C501-4B5D-9F3A-46A01914A7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Randomly split examples into </a:t>
            </a:r>
            <a:r>
              <a:rPr lang="en-US" altLang="en-US" i="1"/>
              <a:t>training set U</a:t>
            </a:r>
            <a:r>
              <a:rPr lang="en-US" altLang="en-US"/>
              <a:t> and </a:t>
            </a:r>
            <a:r>
              <a:rPr lang="en-US" altLang="en-US" i="1"/>
              <a:t>test set V</a:t>
            </a:r>
            <a:r>
              <a:rPr lang="en-US" altLang="en-US"/>
              <a:t>.</a:t>
            </a:r>
          </a:p>
          <a:p>
            <a:r>
              <a:rPr lang="en-US" altLang="en-US"/>
              <a:t>Use training set to learn a hypothesis </a:t>
            </a:r>
            <a:r>
              <a:rPr lang="en-US" altLang="en-US" i="1"/>
              <a:t>H</a:t>
            </a:r>
            <a:r>
              <a:rPr lang="en-US" altLang="en-US"/>
              <a:t>.</a:t>
            </a:r>
          </a:p>
          <a:p>
            <a:r>
              <a:rPr lang="en-US" altLang="en-US"/>
              <a:t>Measure % of </a:t>
            </a:r>
            <a:r>
              <a:rPr lang="en-US" altLang="en-US" i="1"/>
              <a:t>V</a:t>
            </a:r>
            <a:r>
              <a:rPr lang="en-US" altLang="en-US"/>
              <a:t> correctly classified by </a:t>
            </a:r>
            <a:r>
              <a:rPr lang="en-US" altLang="en-US" i="1"/>
              <a:t>H.</a:t>
            </a:r>
          </a:p>
          <a:p>
            <a:r>
              <a:rPr lang="en-US" altLang="en-US"/>
              <a:t>Repeat for different random splits and average results.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88CFAE03-EA3D-4A95-BB10-8C2E091CD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Performance Evaluation: Learning Curves</a:t>
            </a:r>
          </a:p>
        </p:txBody>
      </p:sp>
      <p:sp>
        <p:nvSpPr>
          <p:cNvPr id="109571" name="Line 3">
            <a:extLst>
              <a:ext uri="{FF2B5EF4-FFF2-40B4-BE49-F238E27FC236}">
                <a16:creationId xmlns:a16="http://schemas.microsoft.com/office/drawing/2014/main" id="{AA68F7D6-392B-4275-A0E4-7617F98706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5240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9572" name="Line 4">
            <a:extLst>
              <a:ext uri="{FF2B5EF4-FFF2-40B4-BE49-F238E27FC236}">
                <a16:creationId xmlns:a16="http://schemas.microsoft.com/office/drawing/2014/main" id="{FE85EDEC-ACC0-43AD-88E4-EA8DB2C8E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6388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9573" name="Text Box 5">
            <a:extLst>
              <a:ext uri="{FF2B5EF4-FFF2-40B4-BE49-F238E27FC236}">
                <a16:creationId xmlns:a16="http://schemas.microsoft.com/office/drawing/2014/main" id="{EA7F0AEF-FA35-40B6-9C6F-C5EB89423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715000"/>
            <a:ext cx="21553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/>
              <a:t>#training examples</a:t>
            </a:r>
          </a:p>
        </p:txBody>
      </p:sp>
      <p:sp>
        <p:nvSpPr>
          <p:cNvPr id="109574" name="Arc 6">
            <a:extLst>
              <a:ext uri="{FF2B5EF4-FFF2-40B4-BE49-F238E27FC236}">
                <a16:creationId xmlns:a16="http://schemas.microsoft.com/office/drawing/2014/main" id="{3162ED88-C2BD-449C-990D-30DF76339EA8}"/>
              </a:ext>
            </a:extLst>
          </p:cNvPr>
          <p:cNvSpPr>
            <a:spLocks/>
          </p:cNvSpPr>
          <p:nvPr/>
        </p:nvSpPr>
        <p:spPr bwMode="auto">
          <a:xfrm rot="16200000">
            <a:off x="4991100" y="1257300"/>
            <a:ext cx="2133600" cy="3581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63"/>
              <a:gd name="T1" fmla="*/ 0 h 21600"/>
              <a:gd name="T2" fmla="*/ 21563 w 21563"/>
              <a:gd name="T3" fmla="*/ 20335 h 21600"/>
              <a:gd name="T4" fmla="*/ 0 w 2156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63" h="21600" fill="none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</a:path>
              <a:path w="21563" h="21600" stroke="0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9575" name="Arc 7">
            <a:extLst>
              <a:ext uri="{FF2B5EF4-FFF2-40B4-BE49-F238E27FC236}">
                <a16:creationId xmlns:a16="http://schemas.microsoft.com/office/drawing/2014/main" id="{F8CCB0DE-2C73-4B9B-A85B-65DEA0806FA2}"/>
              </a:ext>
            </a:extLst>
          </p:cNvPr>
          <p:cNvSpPr>
            <a:spLocks/>
          </p:cNvSpPr>
          <p:nvPr/>
        </p:nvSpPr>
        <p:spPr bwMode="auto">
          <a:xfrm rot="5400000" flipV="1">
            <a:off x="4953000" y="2362200"/>
            <a:ext cx="2209800" cy="3581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63"/>
              <a:gd name="T1" fmla="*/ 0 h 21600"/>
              <a:gd name="T2" fmla="*/ 21563 w 21563"/>
              <a:gd name="T3" fmla="*/ 20335 h 21600"/>
              <a:gd name="T4" fmla="*/ 0 w 2156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63" h="21600" fill="none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</a:path>
              <a:path w="21563" h="21600" stroke="0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9576" name="Text Box 8">
            <a:extLst>
              <a:ext uri="{FF2B5EF4-FFF2-40B4-BE49-F238E27FC236}">
                <a16:creationId xmlns:a16="http://schemas.microsoft.com/office/drawing/2014/main" id="{A5ECFF5C-7D38-4AD5-8533-BF4EA5F42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550" y="1524000"/>
            <a:ext cx="22485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classification accuracy</a:t>
            </a:r>
          </a:p>
        </p:txBody>
      </p:sp>
      <p:sp>
        <p:nvSpPr>
          <p:cNvPr id="109577" name="Text Box 9">
            <a:extLst>
              <a:ext uri="{FF2B5EF4-FFF2-40B4-BE49-F238E27FC236}">
                <a16:creationId xmlns:a16="http://schemas.microsoft.com/office/drawing/2014/main" id="{F6D151BF-D76E-4290-9B71-10DE2070E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724400"/>
            <a:ext cx="19065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classification error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BBD455CE-B496-417D-A235-38AC2EFEBA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Performance Evaluation: ROC Curves</a:t>
            </a:r>
          </a:p>
        </p:txBody>
      </p:sp>
      <p:sp>
        <p:nvSpPr>
          <p:cNvPr id="110595" name="Line 3">
            <a:extLst>
              <a:ext uri="{FF2B5EF4-FFF2-40B4-BE49-F238E27FC236}">
                <a16:creationId xmlns:a16="http://schemas.microsoft.com/office/drawing/2014/main" id="{E31AC1F5-8EE1-4F89-8F1B-4CF7BC4FA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5240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0596" name="Line 4">
            <a:extLst>
              <a:ext uri="{FF2B5EF4-FFF2-40B4-BE49-F238E27FC236}">
                <a16:creationId xmlns:a16="http://schemas.microsoft.com/office/drawing/2014/main" id="{CCC68EFA-C3B3-4BBE-AE1B-E809C48469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6388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0597" name="Text Box 5">
            <a:extLst>
              <a:ext uri="{FF2B5EF4-FFF2-40B4-BE49-F238E27FC236}">
                <a16:creationId xmlns:a16="http://schemas.microsoft.com/office/drawing/2014/main" id="{92CC856C-90CA-4A2D-8432-F714AE541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614" y="5715000"/>
            <a:ext cx="16455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/>
              <a:t>false positives</a:t>
            </a:r>
          </a:p>
        </p:txBody>
      </p:sp>
      <p:sp>
        <p:nvSpPr>
          <p:cNvPr id="110598" name="Text Box 6">
            <a:extLst>
              <a:ext uri="{FF2B5EF4-FFF2-40B4-BE49-F238E27FC236}">
                <a16:creationId xmlns:a16="http://schemas.microsoft.com/office/drawing/2014/main" id="{90A89C94-63D7-4221-9EA0-E1BE1C1188D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601493" y="3177352"/>
            <a:ext cx="17153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/>
              <a:t>false negatives</a:t>
            </a:r>
          </a:p>
        </p:txBody>
      </p:sp>
      <p:sp>
        <p:nvSpPr>
          <p:cNvPr id="110599" name="Arc 7">
            <a:extLst>
              <a:ext uri="{FF2B5EF4-FFF2-40B4-BE49-F238E27FC236}">
                <a16:creationId xmlns:a16="http://schemas.microsoft.com/office/drawing/2014/main" id="{C1F70726-7EF1-42FC-A9A3-FF789AF0BD59}"/>
              </a:ext>
            </a:extLst>
          </p:cNvPr>
          <p:cNvSpPr>
            <a:spLocks/>
          </p:cNvSpPr>
          <p:nvPr/>
        </p:nvSpPr>
        <p:spPr bwMode="auto">
          <a:xfrm>
            <a:off x="4572000" y="2133600"/>
            <a:ext cx="3048000" cy="2819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63"/>
              <a:gd name="T1" fmla="*/ 0 h 21600"/>
              <a:gd name="T2" fmla="*/ 21563 w 21563"/>
              <a:gd name="T3" fmla="*/ 20335 h 21600"/>
              <a:gd name="T4" fmla="*/ 0 w 2156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63" h="21600" fill="none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</a:path>
              <a:path w="21563" h="21600" stroke="0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BE73BA28-0197-4C79-86A2-B2AA4DFA7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Performance Evaluation: Accuracy/Coverage</a:t>
            </a:r>
          </a:p>
        </p:txBody>
      </p:sp>
      <p:sp>
        <p:nvSpPr>
          <p:cNvPr id="111619" name="Line 3">
            <a:extLst>
              <a:ext uri="{FF2B5EF4-FFF2-40B4-BE49-F238E27FC236}">
                <a16:creationId xmlns:a16="http://schemas.microsoft.com/office/drawing/2014/main" id="{D55B0691-6EE0-4753-A466-28759AE53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5240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1620" name="Line 4">
            <a:extLst>
              <a:ext uri="{FF2B5EF4-FFF2-40B4-BE49-F238E27FC236}">
                <a16:creationId xmlns:a16="http://schemas.microsoft.com/office/drawing/2014/main" id="{F87913A9-C090-47F3-87AB-5AEB8569F0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6388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1621" name="Text Box 5">
            <a:extLst>
              <a:ext uri="{FF2B5EF4-FFF2-40B4-BE49-F238E27FC236}">
                <a16:creationId xmlns:a16="http://schemas.microsoft.com/office/drawing/2014/main" id="{712F170A-2734-456F-BCD4-5BC68F63C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791200"/>
            <a:ext cx="11205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/>
              <a:t>coverage</a:t>
            </a:r>
          </a:p>
        </p:txBody>
      </p:sp>
      <p:sp>
        <p:nvSpPr>
          <p:cNvPr id="111622" name="Text Box 6">
            <a:extLst>
              <a:ext uri="{FF2B5EF4-FFF2-40B4-BE49-F238E27FC236}">
                <a16:creationId xmlns:a16="http://schemas.microsoft.com/office/drawing/2014/main" id="{87C00C0C-485A-4A50-B19A-2B3DAD707FB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215153" y="3397220"/>
            <a:ext cx="24848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/>
              <a:t>classification accuracy</a:t>
            </a:r>
          </a:p>
        </p:txBody>
      </p:sp>
      <p:sp>
        <p:nvSpPr>
          <p:cNvPr id="111623" name="Arc 7">
            <a:extLst>
              <a:ext uri="{FF2B5EF4-FFF2-40B4-BE49-F238E27FC236}">
                <a16:creationId xmlns:a16="http://schemas.microsoft.com/office/drawing/2014/main" id="{B687A363-F484-4BBD-996D-83B34599820F}"/>
              </a:ext>
            </a:extLst>
          </p:cNvPr>
          <p:cNvSpPr>
            <a:spLocks/>
          </p:cNvSpPr>
          <p:nvPr/>
        </p:nvSpPr>
        <p:spPr bwMode="auto">
          <a:xfrm rot="5400000" flipV="1">
            <a:off x="5029200" y="1219200"/>
            <a:ext cx="2057400" cy="3581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63"/>
              <a:gd name="T1" fmla="*/ 0 h 21600"/>
              <a:gd name="T2" fmla="*/ 21563 w 21563"/>
              <a:gd name="T3" fmla="*/ 20335 h 21600"/>
              <a:gd name="T4" fmla="*/ 0 w 2156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63" h="21600" fill="none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</a:path>
              <a:path w="21563" h="21600" stroke="0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3E6A3E59-D5EE-496C-8BEF-D17C4060E8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Current Machine Learning Research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FD56A842-B38E-405A-9316-73F7F0ED2F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en-US" sz="2400"/>
              <a:t>Representation</a:t>
            </a:r>
          </a:p>
          <a:p>
            <a:pPr lvl="1"/>
            <a:r>
              <a:rPr lang="en-US" altLang="en-US" sz="2000"/>
              <a:t>data sequences</a:t>
            </a:r>
          </a:p>
          <a:p>
            <a:pPr lvl="1"/>
            <a:r>
              <a:rPr lang="en-US" altLang="en-US" sz="2000"/>
              <a:t>spatial/temporal data</a:t>
            </a:r>
          </a:p>
          <a:p>
            <a:pPr lvl="1"/>
            <a:r>
              <a:rPr lang="en-US" altLang="en-US" sz="2000"/>
              <a:t>probabilistic relational models</a:t>
            </a:r>
          </a:p>
          <a:p>
            <a:pPr lvl="1"/>
            <a:r>
              <a:rPr lang="en-US" altLang="en-US" sz="2000"/>
              <a:t>…</a:t>
            </a:r>
          </a:p>
          <a:p>
            <a:r>
              <a:rPr lang="en-US" altLang="en-US" sz="2400"/>
              <a:t>Approaches</a:t>
            </a:r>
          </a:p>
          <a:p>
            <a:pPr lvl="1"/>
            <a:r>
              <a:rPr lang="en-US" altLang="en-US" sz="2000"/>
              <a:t>ensemble methods</a:t>
            </a:r>
          </a:p>
          <a:p>
            <a:pPr lvl="1"/>
            <a:r>
              <a:rPr lang="en-US" altLang="en-US" sz="2000"/>
              <a:t>cost-sensitive learning</a:t>
            </a:r>
          </a:p>
          <a:p>
            <a:pPr lvl="1"/>
            <a:r>
              <a:rPr lang="en-US" altLang="en-US" sz="2000"/>
              <a:t>active learning</a:t>
            </a:r>
          </a:p>
          <a:p>
            <a:pPr lvl="1"/>
            <a:r>
              <a:rPr lang="en-US" altLang="en-US" sz="2000"/>
              <a:t>semi-supervised learning</a:t>
            </a:r>
          </a:p>
          <a:p>
            <a:pPr lvl="1"/>
            <a:r>
              <a:rPr lang="en-US" altLang="en-US" sz="2000"/>
              <a:t>collective classification</a:t>
            </a:r>
          </a:p>
          <a:p>
            <a:pPr lvl="1"/>
            <a:r>
              <a:rPr lang="en-US" altLang="en-US" sz="2000"/>
              <a:t>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1289</Words>
  <Application>Microsoft Office PowerPoint</Application>
  <PresentationFormat>Widescreen</PresentationFormat>
  <Paragraphs>256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Century Gothic</vt:lpstr>
      <vt:lpstr>Times</vt:lpstr>
      <vt:lpstr>Times New Roman</vt:lpstr>
      <vt:lpstr>Wingdings 3</vt:lpstr>
      <vt:lpstr>Wisp</vt:lpstr>
      <vt:lpstr>Machine Learning: An Overview</vt:lpstr>
      <vt:lpstr>What is Learning?</vt:lpstr>
      <vt:lpstr>Why Machine Learning?</vt:lpstr>
      <vt:lpstr>Related Fields</vt:lpstr>
      <vt:lpstr>Machine Learning Paradigms </vt:lpstr>
      <vt:lpstr>Architecture of a Learning System</vt:lpstr>
      <vt:lpstr>Learning Element</vt:lpstr>
      <vt:lpstr>Dimensions of Learning Systems</vt:lpstr>
      <vt:lpstr>Outline Machine Learning</vt:lpstr>
      <vt:lpstr>Inductive (Supervised) Learning</vt:lpstr>
      <vt:lpstr>Decision Trees</vt:lpstr>
      <vt:lpstr>Decision Tree Induction</vt:lpstr>
      <vt:lpstr>Decision Tree Induction: Attribute Selection</vt:lpstr>
      <vt:lpstr>Decision Tree Induction: Attribute Selection</vt:lpstr>
      <vt:lpstr>(Artificial) Neural Networks</vt:lpstr>
      <vt:lpstr>Neural Networks (continued)</vt:lpstr>
      <vt:lpstr>Neural Network Learning</vt:lpstr>
      <vt:lpstr>Neural Network Learning: Decision Boundary</vt:lpstr>
      <vt:lpstr>Support Vector Machines</vt:lpstr>
      <vt:lpstr>Support Vector Machines (continued)</vt:lpstr>
      <vt:lpstr>Support Vector Machines: Decision Boundary</vt:lpstr>
      <vt:lpstr>Bayesian Networks</vt:lpstr>
      <vt:lpstr>Bayesian Network Learning</vt:lpstr>
      <vt:lpstr>Bayesian Network Learning (continued)</vt:lpstr>
      <vt:lpstr>Nearest Neighbor Models</vt:lpstr>
      <vt:lpstr>Nearest Neighbor Model: Decision Boundary</vt:lpstr>
      <vt:lpstr>Unsupervised Learning</vt:lpstr>
      <vt:lpstr>Performance Evaluation</vt:lpstr>
      <vt:lpstr>Performance Evaluation: Learning Curves</vt:lpstr>
      <vt:lpstr>Performance Evaluation: ROC Curves</vt:lpstr>
      <vt:lpstr>Performance Evaluation: Accuracy/Coverage</vt:lpstr>
      <vt:lpstr>Current Machine Learning Research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Learning: An Overview</dc:title>
  <dc:creator>Hari Suparwito</dc:creator>
  <cp:lastModifiedBy>Hari Suparwito</cp:lastModifiedBy>
  <cp:revision>4</cp:revision>
  <dcterms:created xsi:type="dcterms:W3CDTF">2019-02-12T15:57:51Z</dcterms:created>
  <dcterms:modified xsi:type="dcterms:W3CDTF">2023-02-10T18:47:09Z</dcterms:modified>
</cp:coreProperties>
</file>