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256" r:id="rId2"/>
    <p:sldId id="257" r:id="rId3"/>
    <p:sldId id="327" r:id="rId4"/>
    <p:sldId id="259" r:id="rId5"/>
    <p:sldId id="260" r:id="rId6"/>
    <p:sldId id="261" r:id="rId7"/>
    <p:sldId id="262" r:id="rId8"/>
    <p:sldId id="329" r:id="rId9"/>
    <p:sldId id="263" r:id="rId10"/>
    <p:sldId id="271" r:id="rId11"/>
    <p:sldId id="272" r:id="rId12"/>
    <p:sldId id="273" r:id="rId13"/>
    <p:sldId id="275" r:id="rId14"/>
    <p:sldId id="276"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25" r:id="rId38"/>
    <p:sldId id="267" r:id="rId39"/>
    <p:sldId id="268" r:id="rId40"/>
    <p:sldId id="269" r:id="rId41"/>
    <p:sldId id="270" r:id="rId42"/>
    <p:sldId id="330" r:id="rId43"/>
    <p:sldId id="274" r:id="rId44"/>
    <p:sldId id="331" r:id="rId45"/>
    <p:sldId id="279" r:id="rId46"/>
    <p:sldId id="333" r:id="rId47"/>
    <p:sldId id="281" r:id="rId48"/>
    <p:sldId id="282" r:id="rId49"/>
    <p:sldId id="283" r:id="rId50"/>
    <p:sldId id="284" r:id="rId51"/>
    <p:sldId id="285" r:id="rId52"/>
    <p:sldId id="287" r:id="rId53"/>
    <p:sldId id="288" r:id="rId54"/>
    <p:sldId id="289" r:id="rId55"/>
    <p:sldId id="290" r:id="rId56"/>
    <p:sldId id="291" r:id="rId57"/>
    <p:sldId id="292" r:id="rId58"/>
    <p:sldId id="293" r:id="rId59"/>
    <p:sldId id="294" r:id="rId60"/>
    <p:sldId id="334" r:id="rId61"/>
    <p:sldId id="335" r:id="rId62"/>
    <p:sldId id="336" r:id="rId63"/>
    <p:sldId id="337" r:id="rId64"/>
    <p:sldId id="338" r:id="rId65"/>
    <p:sldId id="339" r:id="rId66"/>
    <p:sldId id="340" r:id="rId67"/>
    <p:sldId id="341" r:id="rId68"/>
    <p:sldId id="342" r:id="rId69"/>
    <p:sldId id="343" r:id="rId70"/>
    <p:sldId id="344" r:id="rId71"/>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515" autoAdjust="0"/>
    <p:restoredTop sz="94660"/>
  </p:normalViewPr>
  <p:slideViewPr>
    <p:cSldViewPr>
      <p:cViewPr varScale="1">
        <p:scale>
          <a:sx n="66" d="100"/>
          <a:sy n="66" d="100"/>
        </p:scale>
        <p:origin x="576" y="78"/>
      </p:cViewPr>
      <p:guideLst>
        <p:guide orient="horz" pos="2880"/>
        <p:guide pos="2160"/>
      </p:guideLst>
    </p:cSldViewPr>
  </p:slideViewPr>
  <p:notesTextViewPr>
    <p:cViewPr>
      <p:scale>
        <a:sx n="3" d="2"/>
        <a:sy n="3" d="2"/>
      </p:scale>
      <p:origin x="0" y="0"/>
    </p:cViewPr>
  </p:notesTextViewPr>
  <p:sorterViewPr>
    <p:cViewPr>
      <p:scale>
        <a:sx n="100" d="100"/>
        <a:sy n="100" d="100"/>
      </p:scale>
      <p:origin x="0" y="-1177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21188059-56DB-4579-903C-2DB2F4890B5C}" type="datetimeFigureOut">
              <a:rPr lang="en-GB" smtClean="0"/>
              <a:t>15/02/2022</a:t>
            </a:fld>
            <a:endParaRPr lang="en-GB"/>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18E41197-B51A-429A-981A-E1E5AF7CB705}" type="slidenum">
              <a:rPr lang="en-GB" smtClean="0"/>
              <a:t>‹#›</a:t>
            </a:fld>
            <a:endParaRPr lang="en-GB"/>
          </a:p>
        </p:txBody>
      </p:sp>
    </p:spTree>
    <p:extLst>
      <p:ext uri="{BB962C8B-B14F-4D97-AF65-F5344CB8AC3E}">
        <p14:creationId xmlns:p14="http://schemas.microsoft.com/office/powerpoint/2010/main" val="1279858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18D5DAF-2606-4C0D-ABC5-DDD47CA590C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C50FC71-0B43-4785-986A-13BB5185DCAC}" type="slidenum">
              <a:rPr lang="en-US" altLang="en-US" sz="1200" smtClean="0"/>
              <a:pPr/>
              <a:t>3</a:t>
            </a:fld>
            <a:endParaRPr lang="en-US" altLang="en-US" sz="1200"/>
          </a:p>
        </p:txBody>
      </p:sp>
      <p:sp>
        <p:nvSpPr>
          <p:cNvPr id="6147" name="Rectangle 2">
            <a:extLst>
              <a:ext uri="{FF2B5EF4-FFF2-40B4-BE49-F238E27FC236}">
                <a16:creationId xmlns:a16="http://schemas.microsoft.com/office/drawing/2014/main" id="{15BDED7C-0D73-4B83-9B7B-A43B551048CB}"/>
              </a:ext>
            </a:extLst>
          </p:cNvPr>
          <p:cNvSpPr>
            <a:spLocks noChangeArrowheads="1" noTextEdit="1"/>
          </p:cNvSpPr>
          <p:nvPr>
            <p:ph type="sldImg"/>
          </p:nvPr>
        </p:nvSpPr>
        <p:spPr>
          <a:ln/>
        </p:spPr>
      </p:sp>
      <p:sp>
        <p:nvSpPr>
          <p:cNvPr id="6148" name="Rectangle 3">
            <a:extLst>
              <a:ext uri="{FF2B5EF4-FFF2-40B4-BE49-F238E27FC236}">
                <a16:creationId xmlns:a16="http://schemas.microsoft.com/office/drawing/2014/main" id="{C3503F95-A07D-48F0-8681-EFC9C82F840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61A203E-8AC2-4CFB-89FD-F79D20875B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8B44FC7-96E3-4B64-BB66-2A8F415E7D39}" type="slidenum">
              <a:rPr lang="en-US" altLang="en-US" sz="1200" smtClean="0"/>
              <a:pPr/>
              <a:t>8</a:t>
            </a:fld>
            <a:endParaRPr lang="en-US" altLang="en-US" sz="1200"/>
          </a:p>
        </p:txBody>
      </p:sp>
      <p:sp>
        <p:nvSpPr>
          <p:cNvPr id="10243" name="Rectangle 2">
            <a:extLst>
              <a:ext uri="{FF2B5EF4-FFF2-40B4-BE49-F238E27FC236}">
                <a16:creationId xmlns:a16="http://schemas.microsoft.com/office/drawing/2014/main" id="{545E8A5E-99B6-48A8-A520-91A0E8A58085}"/>
              </a:ext>
            </a:extLst>
          </p:cNvPr>
          <p:cNvSpPr>
            <a:spLocks noChangeArrowheads="1" noTextEdit="1"/>
          </p:cNvSpPr>
          <p:nvPr>
            <p:ph type="sldImg"/>
          </p:nvPr>
        </p:nvSpPr>
        <p:spPr>
          <a:ln/>
        </p:spPr>
      </p:sp>
      <p:sp>
        <p:nvSpPr>
          <p:cNvPr id="10244" name="Rectangle 3">
            <a:extLst>
              <a:ext uri="{FF2B5EF4-FFF2-40B4-BE49-F238E27FC236}">
                <a16:creationId xmlns:a16="http://schemas.microsoft.com/office/drawing/2014/main" id="{93212A2A-F162-41AA-BE1D-FF52DE8531B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0AE86333-2F32-41CE-8AFF-1DCC940DAA3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7D709A4-CFBA-486A-A11F-5A46F3336E0C}" type="slidenum">
              <a:rPr lang="en-US" altLang="en-US" sz="1200" smtClean="0"/>
              <a:pPr/>
              <a:t>38</a:t>
            </a:fld>
            <a:endParaRPr lang="en-US" altLang="en-US" sz="1200"/>
          </a:p>
        </p:txBody>
      </p:sp>
      <p:sp>
        <p:nvSpPr>
          <p:cNvPr id="18435" name="Rectangle 2">
            <a:extLst>
              <a:ext uri="{FF2B5EF4-FFF2-40B4-BE49-F238E27FC236}">
                <a16:creationId xmlns:a16="http://schemas.microsoft.com/office/drawing/2014/main" id="{CB16DA7F-0437-4A80-A3F0-96C6A24C0456}"/>
              </a:ext>
            </a:extLst>
          </p:cNvPr>
          <p:cNvSpPr>
            <a:spLocks noChangeArrowheads="1" noTextEdit="1"/>
          </p:cNvSpPr>
          <p:nvPr>
            <p:ph type="sldImg"/>
          </p:nvPr>
        </p:nvSpPr>
        <p:spPr>
          <a:ln/>
        </p:spPr>
      </p:sp>
      <p:sp>
        <p:nvSpPr>
          <p:cNvPr id="18436" name="Rectangle 3">
            <a:extLst>
              <a:ext uri="{FF2B5EF4-FFF2-40B4-BE49-F238E27FC236}">
                <a16:creationId xmlns:a16="http://schemas.microsoft.com/office/drawing/2014/main" id="{BB723C97-8520-4B11-8A9C-8B8D82F40B0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8477948F-060C-48B2-9C9C-BA3EA63DF13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0A0659-47B0-4C84-89F1-A0A2DEC2CE6C}" type="slidenum">
              <a:rPr lang="en-US" altLang="en-US" sz="1200" smtClean="0"/>
              <a:pPr/>
              <a:t>39</a:t>
            </a:fld>
            <a:endParaRPr lang="en-US" altLang="en-US" sz="1200"/>
          </a:p>
        </p:txBody>
      </p:sp>
      <p:sp>
        <p:nvSpPr>
          <p:cNvPr id="20483" name="Rectangle 2">
            <a:extLst>
              <a:ext uri="{FF2B5EF4-FFF2-40B4-BE49-F238E27FC236}">
                <a16:creationId xmlns:a16="http://schemas.microsoft.com/office/drawing/2014/main" id="{DB9C14FE-F127-4192-B77F-9DE7A91CDECD}"/>
              </a:ext>
            </a:extLst>
          </p:cNvPr>
          <p:cNvSpPr>
            <a:spLocks noChangeArrowheads="1" noTextEdit="1"/>
          </p:cNvSpPr>
          <p:nvPr>
            <p:ph type="sldImg"/>
          </p:nvPr>
        </p:nvSpPr>
        <p:spPr>
          <a:ln/>
        </p:spPr>
      </p:sp>
      <p:sp>
        <p:nvSpPr>
          <p:cNvPr id="20484" name="Rectangle 3">
            <a:extLst>
              <a:ext uri="{FF2B5EF4-FFF2-40B4-BE49-F238E27FC236}">
                <a16:creationId xmlns:a16="http://schemas.microsoft.com/office/drawing/2014/main" id="{B2F7AC2C-232A-447D-BDF5-F8997E984F6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A571A10-7A1F-4D64-9DAD-57913D3BC0C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D7AB27A-6E2F-4F94-8945-4457CDD26A33}" type="slidenum">
              <a:rPr lang="en-US" altLang="en-US" sz="1200" smtClean="0"/>
              <a:pPr/>
              <a:t>40</a:t>
            </a:fld>
            <a:endParaRPr lang="en-US" altLang="en-US" sz="1200"/>
          </a:p>
        </p:txBody>
      </p:sp>
      <p:sp>
        <p:nvSpPr>
          <p:cNvPr id="22531" name="Rectangle 2">
            <a:extLst>
              <a:ext uri="{FF2B5EF4-FFF2-40B4-BE49-F238E27FC236}">
                <a16:creationId xmlns:a16="http://schemas.microsoft.com/office/drawing/2014/main" id="{284783BA-6547-4E27-9F33-844DFD0FC9EC}"/>
              </a:ext>
            </a:extLst>
          </p:cNvPr>
          <p:cNvSpPr>
            <a:spLocks noChangeArrowheads="1" noTextEdit="1"/>
          </p:cNvSpPr>
          <p:nvPr>
            <p:ph type="sldImg"/>
          </p:nvPr>
        </p:nvSpPr>
        <p:spPr>
          <a:ln/>
        </p:spPr>
      </p:sp>
      <p:sp>
        <p:nvSpPr>
          <p:cNvPr id="22532" name="Rectangle 3">
            <a:extLst>
              <a:ext uri="{FF2B5EF4-FFF2-40B4-BE49-F238E27FC236}">
                <a16:creationId xmlns:a16="http://schemas.microsoft.com/office/drawing/2014/main" id="{F649A931-0BC1-49AA-A262-60169AB3925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0B2737D-A535-45E2-96C4-7225CE350D6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A6CDE47-C4A6-418D-905C-2EDD985D2E0A}" type="slidenum">
              <a:rPr lang="en-US" altLang="en-US" sz="1200" smtClean="0"/>
              <a:pPr/>
              <a:t>41</a:t>
            </a:fld>
            <a:endParaRPr lang="en-US" altLang="en-US" sz="1200"/>
          </a:p>
        </p:txBody>
      </p:sp>
      <p:sp>
        <p:nvSpPr>
          <p:cNvPr id="24579" name="Rectangle 2">
            <a:extLst>
              <a:ext uri="{FF2B5EF4-FFF2-40B4-BE49-F238E27FC236}">
                <a16:creationId xmlns:a16="http://schemas.microsoft.com/office/drawing/2014/main" id="{CF758F55-0AE8-4564-8829-C8E0971D5865}"/>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D7FD9A2F-173D-42D9-823A-2E580E75DC1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8A92074-EE35-44F9-8F28-28B07060F49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CAACD94-7C56-468C-B935-5030A8429424}" type="slidenum">
              <a:rPr lang="en-US" altLang="en-US" sz="1200" smtClean="0"/>
              <a:pPr/>
              <a:t>42</a:t>
            </a:fld>
            <a:endParaRPr lang="en-US" altLang="en-US" sz="1200"/>
          </a:p>
        </p:txBody>
      </p:sp>
      <p:sp>
        <p:nvSpPr>
          <p:cNvPr id="26627" name="Rectangle 2">
            <a:extLst>
              <a:ext uri="{FF2B5EF4-FFF2-40B4-BE49-F238E27FC236}">
                <a16:creationId xmlns:a16="http://schemas.microsoft.com/office/drawing/2014/main" id="{92E1C7B8-2A86-489D-964D-CCCD75C8104F}"/>
              </a:ext>
            </a:extLst>
          </p:cNvPr>
          <p:cNvSpPr>
            <a:spLocks noChangeArrowheads="1" noTextEdit="1"/>
          </p:cNvSpPr>
          <p:nvPr>
            <p:ph type="sldImg"/>
          </p:nvPr>
        </p:nvSpPr>
        <p:spPr>
          <a:ln/>
        </p:spPr>
      </p:sp>
      <p:sp>
        <p:nvSpPr>
          <p:cNvPr id="26628" name="Rectangle 3">
            <a:extLst>
              <a:ext uri="{FF2B5EF4-FFF2-40B4-BE49-F238E27FC236}">
                <a16:creationId xmlns:a16="http://schemas.microsoft.com/office/drawing/2014/main" id="{9BC31B1B-2508-4895-AE99-EDA7D97574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AC6570DD-8977-439D-9387-FBFCAE96B5B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1D0C9B4-5CE7-4071-B0F8-4396C3AAB483}" type="slidenum">
              <a:rPr lang="en-US" altLang="en-US" sz="1200" smtClean="0"/>
              <a:pPr/>
              <a:t>43</a:t>
            </a:fld>
            <a:endParaRPr lang="en-US" altLang="en-US" sz="1200"/>
          </a:p>
        </p:txBody>
      </p:sp>
      <p:sp>
        <p:nvSpPr>
          <p:cNvPr id="28675" name="Rectangle 2">
            <a:extLst>
              <a:ext uri="{FF2B5EF4-FFF2-40B4-BE49-F238E27FC236}">
                <a16:creationId xmlns:a16="http://schemas.microsoft.com/office/drawing/2014/main" id="{D01C6B73-8558-410F-B341-3586D39E7D46}"/>
              </a:ext>
            </a:extLst>
          </p:cNvPr>
          <p:cNvSpPr>
            <a:spLocks noChangeArrowheads="1" noTextEdit="1"/>
          </p:cNvSpPr>
          <p:nvPr>
            <p:ph type="sldImg"/>
          </p:nvPr>
        </p:nvSpPr>
        <p:spPr>
          <a:ln/>
        </p:spPr>
      </p:sp>
      <p:sp>
        <p:nvSpPr>
          <p:cNvPr id="28676" name="Rectangle 3">
            <a:extLst>
              <a:ext uri="{FF2B5EF4-FFF2-40B4-BE49-F238E27FC236}">
                <a16:creationId xmlns:a16="http://schemas.microsoft.com/office/drawing/2014/main" id="{625CEB57-A54C-4DC8-8B98-4E573CB072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C4E71A7B-A529-4239-9475-766958A3EEE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2D27C4E-C619-41BB-9F34-3C7DAB4E066D}" type="slidenum">
              <a:rPr lang="en-US" altLang="en-US" sz="1200" smtClean="0"/>
              <a:pPr/>
              <a:t>44</a:t>
            </a:fld>
            <a:endParaRPr lang="en-US" altLang="en-US" sz="1200"/>
          </a:p>
        </p:txBody>
      </p:sp>
      <p:sp>
        <p:nvSpPr>
          <p:cNvPr id="30723" name="Rectangle 2">
            <a:extLst>
              <a:ext uri="{FF2B5EF4-FFF2-40B4-BE49-F238E27FC236}">
                <a16:creationId xmlns:a16="http://schemas.microsoft.com/office/drawing/2014/main" id="{D74AD485-6E18-4318-B40E-A1C2A7EAE881}"/>
              </a:ext>
            </a:extLst>
          </p:cNvPr>
          <p:cNvSpPr>
            <a:spLocks noChangeArrowheads="1" noTextEdit="1"/>
          </p:cNvSpPr>
          <p:nvPr>
            <p:ph type="sldImg"/>
          </p:nvPr>
        </p:nvSpPr>
        <p:spPr>
          <a:ln/>
        </p:spPr>
      </p:sp>
      <p:sp>
        <p:nvSpPr>
          <p:cNvPr id="30724" name="Rectangle 3">
            <a:extLst>
              <a:ext uri="{FF2B5EF4-FFF2-40B4-BE49-F238E27FC236}">
                <a16:creationId xmlns:a16="http://schemas.microsoft.com/office/drawing/2014/main" id="{3BAF7BAB-CA0F-42E7-87D3-A79A762DD45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EB9DF33-9FF8-442D-AF0F-5D4EB09FF19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B375BD5-E990-493A-A2A9-414EC4E42591}" type="slidenum">
              <a:rPr lang="en-US" altLang="en-US" sz="1200" smtClean="0"/>
              <a:pPr/>
              <a:t>45</a:t>
            </a:fld>
            <a:endParaRPr lang="en-US" altLang="en-US" sz="1200"/>
          </a:p>
        </p:txBody>
      </p:sp>
      <p:sp>
        <p:nvSpPr>
          <p:cNvPr id="36867" name="Rectangle 2">
            <a:extLst>
              <a:ext uri="{FF2B5EF4-FFF2-40B4-BE49-F238E27FC236}">
                <a16:creationId xmlns:a16="http://schemas.microsoft.com/office/drawing/2014/main" id="{F2FA1730-3E86-49E9-AE1F-CBD879797622}"/>
              </a:ext>
            </a:extLst>
          </p:cNvPr>
          <p:cNvSpPr>
            <a:spLocks noChangeArrowheads="1" noTextEdit="1"/>
          </p:cNvSpPr>
          <p:nvPr>
            <p:ph type="sldImg"/>
          </p:nvPr>
        </p:nvSpPr>
        <p:spPr>
          <a:ln/>
        </p:spPr>
      </p:sp>
      <p:sp>
        <p:nvSpPr>
          <p:cNvPr id="36868" name="Rectangle 3">
            <a:extLst>
              <a:ext uri="{FF2B5EF4-FFF2-40B4-BE49-F238E27FC236}">
                <a16:creationId xmlns:a16="http://schemas.microsoft.com/office/drawing/2014/main" id="{52D48937-3C66-44AD-97B9-46DF1DD33F9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87E22202-459B-43B1-8FE9-F7DC3B000C3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984D75C-5029-45D4-B38B-105C1EBB2099}" type="slidenum">
              <a:rPr lang="en-US" altLang="en-US" sz="1200" smtClean="0"/>
              <a:pPr/>
              <a:t>46</a:t>
            </a:fld>
            <a:endParaRPr lang="en-US" altLang="en-US" sz="1200"/>
          </a:p>
        </p:txBody>
      </p:sp>
      <p:sp>
        <p:nvSpPr>
          <p:cNvPr id="38915" name="Rectangle 2">
            <a:extLst>
              <a:ext uri="{FF2B5EF4-FFF2-40B4-BE49-F238E27FC236}">
                <a16:creationId xmlns:a16="http://schemas.microsoft.com/office/drawing/2014/main" id="{009AB771-FA0D-497B-A3CC-CC49C7AD7BED}"/>
              </a:ext>
            </a:extLst>
          </p:cNvPr>
          <p:cNvSpPr>
            <a:spLocks noChangeArrowheads="1" noTextEdit="1"/>
          </p:cNvSpPr>
          <p:nvPr>
            <p:ph type="sldImg"/>
          </p:nvPr>
        </p:nvSpPr>
        <p:spPr>
          <a:ln/>
        </p:spPr>
      </p:sp>
      <p:sp>
        <p:nvSpPr>
          <p:cNvPr id="38916" name="Rectangle 3">
            <a:extLst>
              <a:ext uri="{FF2B5EF4-FFF2-40B4-BE49-F238E27FC236}">
                <a16:creationId xmlns:a16="http://schemas.microsoft.com/office/drawing/2014/main" id="{78090B63-382D-4466-9601-FE58E3F79DB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B32E7D4-2B50-4B55-943E-8984C3FB612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1A2B606-40F3-4F3D-A1CB-BCA784D2BF31}" type="slidenum">
              <a:rPr lang="en-US" altLang="en-US" sz="1200" smtClean="0"/>
              <a:pPr/>
              <a:t>47</a:t>
            </a:fld>
            <a:endParaRPr lang="en-US" altLang="en-US" sz="1200"/>
          </a:p>
        </p:txBody>
      </p:sp>
      <p:sp>
        <p:nvSpPr>
          <p:cNvPr id="40963" name="Rectangle 2">
            <a:extLst>
              <a:ext uri="{FF2B5EF4-FFF2-40B4-BE49-F238E27FC236}">
                <a16:creationId xmlns:a16="http://schemas.microsoft.com/office/drawing/2014/main" id="{3198EFE5-F8CB-4CAF-AA32-59BFB4E5AEC5}"/>
              </a:ext>
            </a:extLst>
          </p:cNvPr>
          <p:cNvSpPr>
            <a:spLocks noChangeArrowheads="1" noTextEdit="1"/>
          </p:cNvSpPr>
          <p:nvPr>
            <p:ph type="sldImg"/>
          </p:nvPr>
        </p:nvSpPr>
        <p:spPr>
          <a:ln/>
        </p:spPr>
      </p:sp>
      <p:sp>
        <p:nvSpPr>
          <p:cNvPr id="40964" name="Rectangle 3">
            <a:extLst>
              <a:ext uri="{FF2B5EF4-FFF2-40B4-BE49-F238E27FC236}">
                <a16:creationId xmlns:a16="http://schemas.microsoft.com/office/drawing/2014/main" id="{8FFCC36C-4FEB-47A1-BA32-F18387B2BAD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443695A7-9E13-43A7-B603-618EFADD633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746372C-ED69-4B3D-929C-E0FFE09D1A10}" type="slidenum">
              <a:rPr lang="en-US" altLang="en-US" sz="1200" smtClean="0"/>
              <a:pPr/>
              <a:t>48</a:t>
            </a:fld>
            <a:endParaRPr lang="en-US" altLang="en-US" sz="1200"/>
          </a:p>
        </p:txBody>
      </p:sp>
      <p:sp>
        <p:nvSpPr>
          <p:cNvPr id="43011" name="Rectangle 2">
            <a:extLst>
              <a:ext uri="{FF2B5EF4-FFF2-40B4-BE49-F238E27FC236}">
                <a16:creationId xmlns:a16="http://schemas.microsoft.com/office/drawing/2014/main" id="{CB93A550-C082-46C9-B02D-3A738B477F61}"/>
              </a:ext>
            </a:extLst>
          </p:cNvPr>
          <p:cNvSpPr>
            <a:spLocks noChangeArrowheads="1" noTextEdit="1"/>
          </p:cNvSpPr>
          <p:nvPr>
            <p:ph type="sldImg"/>
          </p:nvPr>
        </p:nvSpPr>
        <p:spPr>
          <a:ln/>
        </p:spPr>
      </p:sp>
      <p:sp>
        <p:nvSpPr>
          <p:cNvPr id="43012" name="Rectangle 3">
            <a:extLst>
              <a:ext uri="{FF2B5EF4-FFF2-40B4-BE49-F238E27FC236}">
                <a16:creationId xmlns:a16="http://schemas.microsoft.com/office/drawing/2014/main" id="{241E8083-03BF-4DAC-BB26-AC416A23A02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E1A8B563-9FE8-4987-B49A-CA3492C64E7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C4B8F81-EC56-49B5-94B8-7AE65A79AF63}" type="slidenum">
              <a:rPr lang="en-US" altLang="en-US" sz="1200" smtClean="0"/>
              <a:pPr/>
              <a:t>49</a:t>
            </a:fld>
            <a:endParaRPr lang="en-US" altLang="en-US" sz="1200"/>
          </a:p>
        </p:txBody>
      </p:sp>
      <p:sp>
        <p:nvSpPr>
          <p:cNvPr id="45059" name="Rectangle 2">
            <a:extLst>
              <a:ext uri="{FF2B5EF4-FFF2-40B4-BE49-F238E27FC236}">
                <a16:creationId xmlns:a16="http://schemas.microsoft.com/office/drawing/2014/main" id="{F0851339-9477-4D27-80E9-84C67A2653ED}"/>
              </a:ext>
            </a:extLst>
          </p:cNvPr>
          <p:cNvSpPr>
            <a:spLocks noChangeArrowheads="1" noTextEdit="1"/>
          </p:cNvSpPr>
          <p:nvPr>
            <p:ph type="sldImg"/>
          </p:nvPr>
        </p:nvSpPr>
        <p:spPr>
          <a:ln/>
        </p:spPr>
      </p:sp>
      <p:sp>
        <p:nvSpPr>
          <p:cNvPr id="45060" name="Rectangle 3">
            <a:extLst>
              <a:ext uri="{FF2B5EF4-FFF2-40B4-BE49-F238E27FC236}">
                <a16:creationId xmlns:a16="http://schemas.microsoft.com/office/drawing/2014/main" id="{46C06381-BBCA-4863-8FB8-35AC8091B95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92FD009B-E93E-40A7-B64C-6973B48DF8D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40E4871-D323-4F54-AA48-F6C480840F84}" type="slidenum">
              <a:rPr lang="en-US" altLang="en-US" sz="1200" smtClean="0"/>
              <a:pPr/>
              <a:t>50</a:t>
            </a:fld>
            <a:endParaRPr lang="en-US" altLang="en-US" sz="1200"/>
          </a:p>
        </p:txBody>
      </p:sp>
      <p:sp>
        <p:nvSpPr>
          <p:cNvPr id="47107" name="Rectangle 2">
            <a:extLst>
              <a:ext uri="{FF2B5EF4-FFF2-40B4-BE49-F238E27FC236}">
                <a16:creationId xmlns:a16="http://schemas.microsoft.com/office/drawing/2014/main" id="{0537E0A4-AFE0-47F9-9FA4-555F6DBAB9C9}"/>
              </a:ext>
            </a:extLst>
          </p:cNvPr>
          <p:cNvSpPr>
            <a:spLocks noChangeArrowheads="1" noTextEdit="1"/>
          </p:cNvSpPr>
          <p:nvPr>
            <p:ph type="sldImg"/>
          </p:nvPr>
        </p:nvSpPr>
        <p:spPr>
          <a:ln/>
        </p:spPr>
      </p:sp>
      <p:sp>
        <p:nvSpPr>
          <p:cNvPr id="47108" name="Rectangle 3">
            <a:extLst>
              <a:ext uri="{FF2B5EF4-FFF2-40B4-BE49-F238E27FC236}">
                <a16:creationId xmlns:a16="http://schemas.microsoft.com/office/drawing/2014/main" id="{E04F23ED-8221-4E65-9D07-6FAF0958953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AF2BC50E-255B-4120-9128-801E84E39EF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C6A0974-A447-48CF-B54E-8504DA91AD14}" type="slidenum">
              <a:rPr lang="en-US" altLang="en-US" sz="1200" smtClean="0"/>
              <a:pPr/>
              <a:t>51</a:t>
            </a:fld>
            <a:endParaRPr lang="en-US" altLang="en-US" sz="1200"/>
          </a:p>
        </p:txBody>
      </p:sp>
      <p:sp>
        <p:nvSpPr>
          <p:cNvPr id="49155" name="Rectangle 2">
            <a:extLst>
              <a:ext uri="{FF2B5EF4-FFF2-40B4-BE49-F238E27FC236}">
                <a16:creationId xmlns:a16="http://schemas.microsoft.com/office/drawing/2014/main" id="{E60FC22F-8FC7-4582-9AEE-0F5B6ABCBA1A}"/>
              </a:ext>
            </a:extLst>
          </p:cNvPr>
          <p:cNvSpPr>
            <a:spLocks noChangeArrowheads="1" noTextEdit="1"/>
          </p:cNvSpPr>
          <p:nvPr>
            <p:ph type="sldImg"/>
          </p:nvPr>
        </p:nvSpPr>
        <p:spPr>
          <a:ln/>
        </p:spPr>
      </p:sp>
      <p:sp>
        <p:nvSpPr>
          <p:cNvPr id="49156" name="Rectangle 3">
            <a:extLst>
              <a:ext uri="{FF2B5EF4-FFF2-40B4-BE49-F238E27FC236}">
                <a16:creationId xmlns:a16="http://schemas.microsoft.com/office/drawing/2014/main" id="{A86A3465-1656-4A5B-9B9B-D6F6B28EA89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39367338-F5A6-4F65-A13A-2281CE74B25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C250090-5A27-489A-987F-4FD11A0A2C1F}" type="slidenum">
              <a:rPr lang="en-US" altLang="en-US" sz="1200" smtClean="0"/>
              <a:pPr/>
              <a:t>52</a:t>
            </a:fld>
            <a:endParaRPr lang="en-US" altLang="en-US" sz="1200"/>
          </a:p>
        </p:txBody>
      </p:sp>
      <p:sp>
        <p:nvSpPr>
          <p:cNvPr id="51203" name="Rectangle 2">
            <a:extLst>
              <a:ext uri="{FF2B5EF4-FFF2-40B4-BE49-F238E27FC236}">
                <a16:creationId xmlns:a16="http://schemas.microsoft.com/office/drawing/2014/main" id="{7177A3BE-AB8A-4B67-9A48-2271C41EEC25}"/>
              </a:ext>
            </a:extLst>
          </p:cNvPr>
          <p:cNvSpPr>
            <a:spLocks noChangeArrowheads="1" noTextEdit="1"/>
          </p:cNvSpPr>
          <p:nvPr>
            <p:ph type="sldImg"/>
          </p:nvPr>
        </p:nvSpPr>
        <p:spPr>
          <a:ln/>
        </p:spPr>
      </p:sp>
      <p:sp>
        <p:nvSpPr>
          <p:cNvPr id="51204" name="Rectangle 3">
            <a:extLst>
              <a:ext uri="{FF2B5EF4-FFF2-40B4-BE49-F238E27FC236}">
                <a16:creationId xmlns:a16="http://schemas.microsoft.com/office/drawing/2014/main" id="{21075771-7B44-46F0-A0D9-77CEE81C2C9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E7D94EAB-63EB-422C-83DD-3ED81B63817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E23BEBE-AC48-4F41-91E8-FC99A03DDEE1}" type="slidenum">
              <a:rPr lang="en-US" altLang="en-US" sz="1200" smtClean="0"/>
              <a:pPr/>
              <a:t>53</a:t>
            </a:fld>
            <a:endParaRPr lang="en-US" altLang="en-US" sz="1200"/>
          </a:p>
        </p:txBody>
      </p:sp>
      <p:sp>
        <p:nvSpPr>
          <p:cNvPr id="53251" name="Rectangle 2">
            <a:extLst>
              <a:ext uri="{FF2B5EF4-FFF2-40B4-BE49-F238E27FC236}">
                <a16:creationId xmlns:a16="http://schemas.microsoft.com/office/drawing/2014/main" id="{A1BA701C-D5D3-4846-B163-878A6184EAE1}"/>
              </a:ext>
            </a:extLst>
          </p:cNvPr>
          <p:cNvSpPr>
            <a:spLocks noChangeArrowheads="1" noTextEdit="1"/>
          </p:cNvSpPr>
          <p:nvPr>
            <p:ph type="sldImg"/>
          </p:nvPr>
        </p:nvSpPr>
        <p:spPr>
          <a:ln/>
        </p:spPr>
      </p:sp>
      <p:sp>
        <p:nvSpPr>
          <p:cNvPr id="53252" name="Rectangle 3">
            <a:extLst>
              <a:ext uri="{FF2B5EF4-FFF2-40B4-BE49-F238E27FC236}">
                <a16:creationId xmlns:a16="http://schemas.microsoft.com/office/drawing/2014/main" id="{03C97B8A-947F-4F0A-A259-82F69FCBCCD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0D54AC1C-B97B-4D1F-BA69-CBA9EBCDA3C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C5717A7-0682-4B5F-887A-DD40A8F63147}" type="slidenum">
              <a:rPr lang="en-US" altLang="en-US" sz="1200" smtClean="0"/>
              <a:pPr/>
              <a:t>54</a:t>
            </a:fld>
            <a:endParaRPr lang="en-US" altLang="en-US" sz="1200"/>
          </a:p>
        </p:txBody>
      </p:sp>
      <p:sp>
        <p:nvSpPr>
          <p:cNvPr id="55299" name="Rectangle 2">
            <a:extLst>
              <a:ext uri="{FF2B5EF4-FFF2-40B4-BE49-F238E27FC236}">
                <a16:creationId xmlns:a16="http://schemas.microsoft.com/office/drawing/2014/main" id="{3D39875F-B43F-4CC6-8205-14224CF3B402}"/>
              </a:ext>
            </a:extLst>
          </p:cNvPr>
          <p:cNvSpPr>
            <a:spLocks noChangeArrowheads="1" noTextEdit="1"/>
          </p:cNvSpPr>
          <p:nvPr>
            <p:ph type="sldImg"/>
          </p:nvPr>
        </p:nvSpPr>
        <p:spPr>
          <a:ln/>
        </p:spPr>
      </p:sp>
      <p:sp>
        <p:nvSpPr>
          <p:cNvPr id="55300" name="Rectangle 3">
            <a:extLst>
              <a:ext uri="{FF2B5EF4-FFF2-40B4-BE49-F238E27FC236}">
                <a16:creationId xmlns:a16="http://schemas.microsoft.com/office/drawing/2014/main" id="{E38BCB83-3B50-476B-802B-CA7A518F048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862B930-0201-4F60-B021-C186D872A71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C912E09-E40D-494C-B8E6-AEB1E4C4AA9D}" type="slidenum">
              <a:rPr lang="en-US" altLang="en-US" sz="1200" smtClean="0"/>
              <a:pPr/>
              <a:t>55</a:t>
            </a:fld>
            <a:endParaRPr lang="en-US" altLang="en-US" sz="1200"/>
          </a:p>
        </p:txBody>
      </p:sp>
      <p:sp>
        <p:nvSpPr>
          <p:cNvPr id="57347" name="Rectangle 2">
            <a:extLst>
              <a:ext uri="{FF2B5EF4-FFF2-40B4-BE49-F238E27FC236}">
                <a16:creationId xmlns:a16="http://schemas.microsoft.com/office/drawing/2014/main" id="{105A0EDD-44A9-4FF3-8558-7D6735E7EBB3}"/>
              </a:ext>
            </a:extLst>
          </p:cNvPr>
          <p:cNvSpPr>
            <a:spLocks noChangeArrowheads="1" noTextEdit="1"/>
          </p:cNvSpPr>
          <p:nvPr>
            <p:ph type="sldImg"/>
          </p:nvPr>
        </p:nvSpPr>
        <p:spPr>
          <a:ln/>
        </p:spPr>
      </p:sp>
      <p:sp>
        <p:nvSpPr>
          <p:cNvPr id="57348" name="Rectangle 3">
            <a:extLst>
              <a:ext uri="{FF2B5EF4-FFF2-40B4-BE49-F238E27FC236}">
                <a16:creationId xmlns:a16="http://schemas.microsoft.com/office/drawing/2014/main" id="{216225D6-CCD1-4296-B9E2-58EC10D68BE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BA640FA-B3BA-41B5-9027-F42126CE953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9BA1B75-9FE2-4F4F-A751-6692F6A1F4E6}" type="slidenum">
              <a:rPr lang="en-US" altLang="en-US" sz="1200" smtClean="0"/>
              <a:pPr/>
              <a:t>56</a:t>
            </a:fld>
            <a:endParaRPr lang="en-US"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11927FB8-49C1-43CB-A7EC-D10B8409A2E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4FD2B8D-BDC0-437A-949B-10ADB6F57046}" type="slidenum">
              <a:rPr lang="en-US" altLang="en-US" sz="1200" smtClean="0"/>
              <a:pPr/>
              <a:t>57</a:t>
            </a:fld>
            <a:endParaRPr lang="en-US" altLang="en-US" sz="1200"/>
          </a:p>
        </p:txBody>
      </p:sp>
      <p:sp>
        <p:nvSpPr>
          <p:cNvPr id="61443" name="Rectangle 2">
            <a:extLst>
              <a:ext uri="{FF2B5EF4-FFF2-40B4-BE49-F238E27FC236}">
                <a16:creationId xmlns:a16="http://schemas.microsoft.com/office/drawing/2014/main" id="{04CCFCAD-F241-4042-BA7C-21F4187F2102}"/>
              </a:ext>
            </a:extLst>
          </p:cNvPr>
          <p:cNvSpPr>
            <a:spLocks noChangeArrowheads="1" noTextEdit="1"/>
          </p:cNvSpPr>
          <p:nvPr>
            <p:ph type="sldImg"/>
          </p:nvPr>
        </p:nvSpPr>
        <p:spPr>
          <a:ln/>
        </p:spPr>
      </p:sp>
      <p:sp>
        <p:nvSpPr>
          <p:cNvPr id="61444" name="Rectangle 3">
            <a:extLst>
              <a:ext uri="{FF2B5EF4-FFF2-40B4-BE49-F238E27FC236}">
                <a16:creationId xmlns:a16="http://schemas.microsoft.com/office/drawing/2014/main" id="{F0582208-6D27-41EC-9F8D-23DC28A2369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37306444-F6BD-4D11-95F5-6DD45E32E0D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30E0A2D-E08B-4411-8DA2-C2A259EA744B}" type="slidenum">
              <a:rPr lang="en-US" altLang="en-US" sz="1200" smtClean="0"/>
              <a:pPr/>
              <a:t>58</a:t>
            </a:fld>
            <a:endParaRPr lang="en-US" altLang="en-US" sz="1200"/>
          </a:p>
        </p:txBody>
      </p:sp>
      <p:sp>
        <p:nvSpPr>
          <p:cNvPr id="63491" name="Rectangle 2">
            <a:extLst>
              <a:ext uri="{FF2B5EF4-FFF2-40B4-BE49-F238E27FC236}">
                <a16:creationId xmlns:a16="http://schemas.microsoft.com/office/drawing/2014/main" id="{19BEF51E-9CBF-4DCA-A327-48DBEA95FEE9}"/>
              </a:ext>
            </a:extLst>
          </p:cNvPr>
          <p:cNvSpPr>
            <a:spLocks noChangeArrowheads="1" noTextEdit="1"/>
          </p:cNvSpPr>
          <p:nvPr>
            <p:ph type="sldImg"/>
          </p:nvPr>
        </p:nvSpPr>
        <p:spPr>
          <a:ln/>
        </p:spPr>
      </p:sp>
      <p:sp>
        <p:nvSpPr>
          <p:cNvPr id="63492" name="Rectangle 3">
            <a:extLst>
              <a:ext uri="{FF2B5EF4-FFF2-40B4-BE49-F238E27FC236}">
                <a16:creationId xmlns:a16="http://schemas.microsoft.com/office/drawing/2014/main" id="{5B3CDB82-9271-4204-8C20-B0F837CEB63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BA309A43-A8AC-4C41-95A9-29F7CCA881B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B342B4E-65D4-4AD3-9D6F-D9BD843A3AB0}" type="slidenum">
              <a:rPr lang="en-US" altLang="en-US" sz="1200" smtClean="0"/>
              <a:pPr/>
              <a:t>59</a:t>
            </a:fld>
            <a:endParaRPr lang="en-US" altLang="en-US" sz="1200"/>
          </a:p>
        </p:txBody>
      </p:sp>
      <p:sp>
        <p:nvSpPr>
          <p:cNvPr id="65539" name="Rectangle 2">
            <a:extLst>
              <a:ext uri="{FF2B5EF4-FFF2-40B4-BE49-F238E27FC236}">
                <a16:creationId xmlns:a16="http://schemas.microsoft.com/office/drawing/2014/main" id="{ABF8D7F1-48CA-4597-81A3-66B643365E26}"/>
              </a:ext>
            </a:extLst>
          </p:cNvPr>
          <p:cNvSpPr>
            <a:spLocks noChangeArrowheads="1" noTextEdit="1"/>
          </p:cNvSpPr>
          <p:nvPr>
            <p:ph type="sldImg"/>
          </p:nvPr>
        </p:nvSpPr>
        <p:spPr>
          <a:ln/>
        </p:spPr>
      </p:sp>
      <p:sp>
        <p:nvSpPr>
          <p:cNvPr id="65540" name="Rectangle 3">
            <a:extLst>
              <a:ext uri="{FF2B5EF4-FFF2-40B4-BE49-F238E27FC236}">
                <a16:creationId xmlns:a16="http://schemas.microsoft.com/office/drawing/2014/main" id="{CFB94BD3-6F25-486C-8B05-576817C5E5B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70DF3F6-3416-44BB-A402-7A90BA507C3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7F84703-9DAC-4940-B2BB-BE26D02EE400}" type="slidenum">
              <a:rPr lang="en-US" altLang="en-US" sz="1200" smtClean="0"/>
              <a:pPr/>
              <a:t>60</a:t>
            </a:fld>
            <a:endParaRPr lang="en-US" altLang="en-US" sz="1200"/>
          </a:p>
        </p:txBody>
      </p:sp>
      <p:sp>
        <p:nvSpPr>
          <p:cNvPr id="67587" name="Rectangle 2">
            <a:extLst>
              <a:ext uri="{FF2B5EF4-FFF2-40B4-BE49-F238E27FC236}">
                <a16:creationId xmlns:a16="http://schemas.microsoft.com/office/drawing/2014/main" id="{9CE57997-B3F0-4A1F-A9E6-B3C8F0552C33}"/>
              </a:ext>
            </a:extLst>
          </p:cNvPr>
          <p:cNvSpPr>
            <a:spLocks noChangeArrowheads="1" noTextEdit="1"/>
          </p:cNvSpPr>
          <p:nvPr>
            <p:ph type="sldImg"/>
          </p:nvPr>
        </p:nvSpPr>
        <p:spPr>
          <a:ln/>
        </p:spPr>
      </p:sp>
      <p:sp>
        <p:nvSpPr>
          <p:cNvPr id="67588" name="Rectangle 3">
            <a:extLst>
              <a:ext uri="{FF2B5EF4-FFF2-40B4-BE49-F238E27FC236}">
                <a16:creationId xmlns:a16="http://schemas.microsoft.com/office/drawing/2014/main" id="{7752AFB6-6EC5-4CF6-B09B-0AA89EC6CF0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2EBBACC-2600-40D8-9793-F2DEC257CC8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603DAF0-7D69-4A84-99BB-6109C29CE1D3}" type="slidenum">
              <a:rPr lang="en-US" altLang="en-US" sz="1200" smtClean="0"/>
              <a:pPr/>
              <a:t>61</a:t>
            </a:fld>
            <a:endParaRPr lang="en-US" altLang="en-US" sz="1200"/>
          </a:p>
        </p:txBody>
      </p:sp>
      <p:sp>
        <p:nvSpPr>
          <p:cNvPr id="69635" name="Rectangle 2">
            <a:extLst>
              <a:ext uri="{FF2B5EF4-FFF2-40B4-BE49-F238E27FC236}">
                <a16:creationId xmlns:a16="http://schemas.microsoft.com/office/drawing/2014/main" id="{8DFEB1B6-69CB-4064-A144-9B254FFC9069}"/>
              </a:ext>
            </a:extLst>
          </p:cNvPr>
          <p:cNvSpPr>
            <a:spLocks noChangeArrowheads="1" noTextEdit="1"/>
          </p:cNvSpPr>
          <p:nvPr>
            <p:ph type="sldImg"/>
          </p:nvPr>
        </p:nvSpPr>
        <p:spPr>
          <a:ln/>
        </p:spPr>
      </p:sp>
      <p:sp>
        <p:nvSpPr>
          <p:cNvPr id="69636" name="Rectangle 3">
            <a:extLst>
              <a:ext uri="{FF2B5EF4-FFF2-40B4-BE49-F238E27FC236}">
                <a16:creationId xmlns:a16="http://schemas.microsoft.com/office/drawing/2014/main" id="{5F6DB316-62E1-4D4C-B149-968946CFD6A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F08E1AC4-0E9F-44BA-8568-7E0FBF58FAE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FF47BD-05AF-4FB9-8FB6-CD1FC437C173}" type="slidenum">
              <a:rPr lang="en-US" altLang="en-US" sz="1200" smtClean="0"/>
              <a:pPr/>
              <a:t>62</a:t>
            </a:fld>
            <a:endParaRPr lang="en-US" altLang="en-US" sz="1200"/>
          </a:p>
        </p:txBody>
      </p:sp>
      <p:sp>
        <p:nvSpPr>
          <p:cNvPr id="71683" name="Rectangle 2">
            <a:extLst>
              <a:ext uri="{FF2B5EF4-FFF2-40B4-BE49-F238E27FC236}">
                <a16:creationId xmlns:a16="http://schemas.microsoft.com/office/drawing/2014/main" id="{13DA7914-3F05-45CB-8FF6-5642399B4DAF}"/>
              </a:ext>
            </a:extLst>
          </p:cNvPr>
          <p:cNvSpPr>
            <a:spLocks noChangeArrowheads="1" noTextEdit="1"/>
          </p:cNvSpPr>
          <p:nvPr>
            <p:ph type="sldImg"/>
          </p:nvPr>
        </p:nvSpPr>
        <p:spPr>
          <a:ln/>
        </p:spPr>
      </p:sp>
      <p:sp>
        <p:nvSpPr>
          <p:cNvPr id="71684" name="Rectangle 3">
            <a:extLst>
              <a:ext uri="{FF2B5EF4-FFF2-40B4-BE49-F238E27FC236}">
                <a16:creationId xmlns:a16="http://schemas.microsoft.com/office/drawing/2014/main" id="{ED684355-5D64-45D9-8AD3-51225C470B0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3E4C1463-4147-418A-9478-5AE7BB28D22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B7D1163-FBD2-44CF-A250-87E787930F5F}" type="slidenum">
              <a:rPr lang="en-US" altLang="en-US" sz="1200" smtClean="0"/>
              <a:pPr/>
              <a:t>63</a:t>
            </a:fld>
            <a:endParaRPr lang="en-US" altLang="en-US" sz="1200"/>
          </a:p>
        </p:txBody>
      </p:sp>
      <p:sp>
        <p:nvSpPr>
          <p:cNvPr id="73731" name="Rectangle 2">
            <a:extLst>
              <a:ext uri="{FF2B5EF4-FFF2-40B4-BE49-F238E27FC236}">
                <a16:creationId xmlns:a16="http://schemas.microsoft.com/office/drawing/2014/main" id="{6156B739-8DAB-422D-953D-A7DD3F9C00DE}"/>
              </a:ext>
            </a:extLst>
          </p:cNvPr>
          <p:cNvSpPr>
            <a:spLocks noChangeArrowheads="1" noTextEdit="1"/>
          </p:cNvSpPr>
          <p:nvPr>
            <p:ph type="sldImg"/>
          </p:nvPr>
        </p:nvSpPr>
        <p:spPr>
          <a:ln/>
        </p:spPr>
      </p:sp>
      <p:sp>
        <p:nvSpPr>
          <p:cNvPr id="73732" name="Rectangle 3">
            <a:extLst>
              <a:ext uri="{FF2B5EF4-FFF2-40B4-BE49-F238E27FC236}">
                <a16:creationId xmlns:a16="http://schemas.microsoft.com/office/drawing/2014/main" id="{066F1B46-BF44-43FE-8331-BAC710C371C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5B2136F9-01D9-429D-8404-6D085495712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35871BB-9788-4DCA-834E-167E47642B56}" type="slidenum">
              <a:rPr lang="en-US" altLang="en-US" sz="1200" smtClean="0"/>
              <a:pPr/>
              <a:t>64</a:t>
            </a:fld>
            <a:endParaRPr lang="en-US" altLang="en-US" sz="1200"/>
          </a:p>
        </p:txBody>
      </p:sp>
      <p:sp>
        <p:nvSpPr>
          <p:cNvPr id="75779" name="Rectangle 2">
            <a:extLst>
              <a:ext uri="{FF2B5EF4-FFF2-40B4-BE49-F238E27FC236}">
                <a16:creationId xmlns:a16="http://schemas.microsoft.com/office/drawing/2014/main" id="{3A46E2EA-AE9C-402D-AEC0-B1DA9F0C734D}"/>
              </a:ext>
            </a:extLst>
          </p:cNvPr>
          <p:cNvSpPr>
            <a:spLocks noChangeArrowheads="1" noTextEdit="1"/>
          </p:cNvSpPr>
          <p:nvPr>
            <p:ph type="sldImg"/>
          </p:nvPr>
        </p:nvSpPr>
        <p:spPr>
          <a:ln/>
        </p:spPr>
      </p:sp>
      <p:sp>
        <p:nvSpPr>
          <p:cNvPr id="75780" name="Rectangle 3">
            <a:extLst>
              <a:ext uri="{FF2B5EF4-FFF2-40B4-BE49-F238E27FC236}">
                <a16:creationId xmlns:a16="http://schemas.microsoft.com/office/drawing/2014/main" id="{634BA4F5-1210-4F88-AAAF-B2DCB7C655C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5BD7CCB9-4288-415F-A8CD-0976B4B8F85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F989A49-B59B-4B1C-BBFB-B4767FE5E68F}" type="slidenum">
              <a:rPr lang="en-US" altLang="en-US" sz="1200" smtClean="0"/>
              <a:pPr/>
              <a:t>65</a:t>
            </a:fld>
            <a:endParaRPr lang="en-US" altLang="en-US" sz="1200"/>
          </a:p>
        </p:txBody>
      </p:sp>
      <p:sp>
        <p:nvSpPr>
          <p:cNvPr id="77827" name="Rectangle 2">
            <a:extLst>
              <a:ext uri="{FF2B5EF4-FFF2-40B4-BE49-F238E27FC236}">
                <a16:creationId xmlns:a16="http://schemas.microsoft.com/office/drawing/2014/main" id="{ED199C19-03E0-424F-90C5-FACC19CB80E9}"/>
              </a:ext>
            </a:extLst>
          </p:cNvPr>
          <p:cNvSpPr>
            <a:spLocks noChangeArrowheads="1" noTextEdit="1"/>
          </p:cNvSpPr>
          <p:nvPr>
            <p:ph type="sldImg"/>
          </p:nvPr>
        </p:nvSpPr>
        <p:spPr>
          <a:ln/>
        </p:spPr>
      </p:sp>
      <p:sp>
        <p:nvSpPr>
          <p:cNvPr id="77828" name="Rectangle 3">
            <a:extLst>
              <a:ext uri="{FF2B5EF4-FFF2-40B4-BE49-F238E27FC236}">
                <a16:creationId xmlns:a16="http://schemas.microsoft.com/office/drawing/2014/main" id="{156E7360-ADA8-4A46-ABB4-7BB3CA5A5D6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723B0443-5A48-422E-BACF-5B00541AFCA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EE013C0-1689-48AF-9B29-A3497F0020DD}" type="slidenum">
              <a:rPr lang="en-US" altLang="en-US" sz="1200" smtClean="0"/>
              <a:pPr/>
              <a:t>66</a:t>
            </a:fld>
            <a:endParaRPr lang="en-US" altLang="en-US" sz="1200"/>
          </a:p>
        </p:txBody>
      </p:sp>
      <p:sp>
        <p:nvSpPr>
          <p:cNvPr id="79875" name="Rectangle 2">
            <a:extLst>
              <a:ext uri="{FF2B5EF4-FFF2-40B4-BE49-F238E27FC236}">
                <a16:creationId xmlns:a16="http://schemas.microsoft.com/office/drawing/2014/main" id="{9155DF70-49D7-4E25-863C-D88101BC9CAA}"/>
              </a:ext>
            </a:extLst>
          </p:cNvPr>
          <p:cNvSpPr>
            <a:spLocks noChangeArrowheads="1" noTextEdit="1"/>
          </p:cNvSpPr>
          <p:nvPr>
            <p:ph type="sldImg"/>
          </p:nvPr>
        </p:nvSpPr>
        <p:spPr>
          <a:ln/>
        </p:spPr>
      </p:sp>
      <p:sp>
        <p:nvSpPr>
          <p:cNvPr id="79876" name="Rectangle 3">
            <a:extLst>
              <a:ext uri="{FF2B5EF4-FFF2-40B4-BE49-F238E27FC236}">
                <a16:creationId xmlns:a16="http://schemas.microsoft.com/office/drawing/2014/main" id="{666F6149-9747-4E69-841A-618C8FE3DBD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90B0D33-5AC5-44FA-93D9-5323E1CDB5A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8C7321-B500-4CD9-A580-DA1D6EE614E8}" type="slidenum">
              <a:rPr lang="en-US" altLang="en-US" sz="1200" smtClean="0"/>
              <a:pPr/>
              <a:t>67</a:t>
            </a:fld>
            <a:endParaRPr lang="en-US" altLang="en-US" sz="1200"/>
          </a:p>
        </p:txBody>
      </p:sp>
      <p:sp>
        <p:nvSpPr>
          <p:cNvPr id="81923" name="Rectangle 2">
            <a:extLst>
              <a:ext uri="{FF2B5EF4-FFF2-40B4-BE49-F238E27FC236}">
                <a16:creationId xmlns:a16="http://schemas.microsoft.com/office/drawing/2014/main" id="{462F175C-E88A-49BC-BC6A-3CF88C5F830C}"/>
              </a:ext>
            </a:extLst>
          </p:cNvPr>
          <p:cNvSpPr>
            <a:spLocks noChangeArrowheads="1" noTextEdit="1"/>
          </p:cNvSpPr>
          <p:nvPr>
            <p:ph type="sldImg"/>
          </p:nvPr>
        </p:nvSpPr>
        <p:spPr>
          <a:ln/>
        </p:spPr>
      </p:sp>
      <p:sp>
        <p:nvSpPr>
          <p:cNvPr id="81924" name="Rectangle 3">
            <a:extLst>
              <a:ext uri="{FF2B5EF4-FFF2-40B4-BE49-F238E27FC236}">
                <a16:creationId xmlns:a16="http://schemas.microsoft.com/office/drawing/2014/main" id="{A97E1C75-3C61-407B-A0FF-5EBBBC52336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93BE3C59-33B6-47B0-B34C-DA1FA35E267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2353781-1796-4611-AFC3-B79BE00F7AA7}" type="slidenum">
              <a:rPr lang="en-US" altLang="en-US" sz="1200" smtClean="0"/>
              <a:pPr/>
              <a:t>68</a:t>
            </a:fld>
            <a:endParaRPr lang="en-US" altLang="en-US" sz="1200"/>
          </a:p>
        </p:txBody>
      </p:sp>
      <p:sp>
        <p:nvSpPr>
          <p:cNvPr id="83971" name="Rectangle 2">
            <a:extLst>
              <a:ext uri="{FF2B5EF4-FFF2-40B4-BE49-F238E27FC236}">
                <a16:creationId xmlns:a16="http://schemas.microsoft.com/office/drawing/2014/main" id="{B402537C-06F0-4DEA-B638-D00380FD0AD8}"/>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610DDC3B-7A10-4A10-8664-7FE2FB3A06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7CA622BA-AF63-434A-9EAB-2FC8E1DB9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9CF7206-3B46-47D3-95BF-E040C331D3BC}" type="slidenum">
              <a:rPr lang="en-US" altLang="en-US" sz="1200" smtClean="0"/>
              <a:pPr/>
              <a:t>69</a:t>
            </a:fld>
            <a:endParaRPr lang="en-US" altLang="en-US" sz="1200"/>
          </a:p>
        </p:txBody>
      </p:sp>
      <p:sp>
        <p:nvSpPr>
          <p:cNvPr id="86019" name="Rectangle 2">
            <a:extLst>
              <a:ext uri="{FF2B5EF4-FFF2-40B4-BE49-F238E27FC236}">
                <a16:creationId xmlns:a16="http://schemas.microsoft.com/office/drawing/2014/main" id="{3A7667E2-E76B-420F-B4CF-045FA356391A}"/>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E051E095-18BE-468E-89EF-A7B15B0270E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70BEA058-BABB-4822-9934-FEF7207ACCA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43B845D-37B2-4AFB-9AD8-E8CCF048A87E}" type="slidenum">
              <a:rPr lang="en-US" altLang="en-US" sz="1200" smtClean="0"/>
              <a:pPr/>
              <a:t>70</a:t>
            </a:fld>
            <a:endParaRPr lang="en-US" altLang="en-US" sz="1200"/>
          </a:p>
        </p:txBody>
      </p:sp>
      <p:sp>
        <p:nvSpPr>
          <p:cNvPr id="88067" name="Rectangle 2">
            <a:extLst>
              <a:ext uri="{FF2B5EF4-FFF2-40B4-BE49-F238E27FC236}">
                <a16:creationId xmlns:a16="http://schemas.microsoft.com/office/drawing/2014/main" id="{ED4E5000-62A7-4D7F-90BC-578F8DE34559}"/>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6C727A61-6CD4-4DD7-8BB0-01E01DAE8C8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2/15/2022</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omic Sans MS"/>
                <a:cs typeface="Comic Sans MS"/>
              </a:defRPr>
            </a:lvl1pPr>
          </a:lstStyle>
          <a:p>
            <a:pPr marL="38100">
              <a:lnSpc>
                <a:spcPct val="100000"/>
              </a:lnSpc>
              <a:spcBef>
                <a:spcPts val="22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33339A"/>
                </a:solidFill>
                <a:latin typeface="Comic Sans MS"/>
                <a:cs typeface="Comic Sans MS"/>
              </a:defRPr>
            </a:lvl1pPr>
          </a:lstStyle>
          <a:p>
            <a:endParaRPr/>
          </a:p>
        </p:txBody>
      </p:sp>
      <p:sp>
        <p:nvSpPr>
          <p:cNvPr id="3" name="Holder 3"/>
          <p:cNvSpPr>
            <a:spLocks noGrp="1"/>
          </p:cNvSpPr>
          <p:nvPr>
            <p:ph type="body" idx="1"/>
          </p:nvPr>
        </p:nvSpPr>
        <p:spPr/>
        <p:txBody>
          <a:bodyPr lIns="0" tIns="0" rIns="0" bIns="0"/>
          <a:lstStyle>
            <a:lvl1pPr>
              <a:defRPr sz="2000" b="0" i="0">
                <a:solidFill>
                  <a:srgbClr val="3333CC"/>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2/15/2022</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omic Sans MS"/>
                <a:cs typeface="Comic Sans MS"/>
              </a:defRPr>
            </a:lvl1pPr>
          </a:lstStyle>
          <a:p>
            <a:pPr marL="38100">
              <a:lnSpc>
                <a:spcPct val="100000"/>
              </a:lnSpc>
              <a:spcBef>
                <a:spcPts val="22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33339A"/>
                </a:solidFill>
                <a:latin typeface="Comic Sans MS"/>
                <a:cs typeface="Comic Sans MS"/>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2/15/2022</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omic Sans MS"/>
                <a:cs typeface="Comic Sans MS"/>
              </a:defRPr>
            </a:lvl1pPr>
          </a:lstStyle>
          <a:p>
            <a:pPr marL="38100">
              <a:lnSpc>
                <a:spcPct val="100000"/>
              </a:lnSpc>
              <a:spcBef>
                <a:spcPts val="22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33339A"/>
                </a:solidFill>
                <a:latin typeface="Comic Sans MS"/>
                <a:cs typeface="Comic Sans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2/15/2022</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omic Sans MS"/>
                <a:cs typeface="Comic Sans MS"/>
              </a:defRPr>
            </a:lvl1pPr>
          </a:lstStyle>
          <a:p>
            <a:pPr marL="38100">
              <a:lnSpc>
                <a:spcPct val="100000"/>
              </a:lnSpc>
              <a:spcBef>
                <a:spcPts val="22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2/15/2022</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omic Sans MS"/>
                <a:cs typeface="Comic Sans MS"/>
              </a:defRPr>
            </a:lvl1pPr>
          </a:lstStyle>
          <a:p>
            <a:pPr marL="38100">
              <a:lnSpc>
                <a:spcPct val="100000"/>
              </a:lnSpc>
              <a:spcBef>
                <a:spcPts val="22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774839" y="348995"/>
            <a:ext cx="9144000" cy="6858000"/>
          </a:xfrm>
          <a:custGeom>
            <a:avLst/>
            <a:gdLst/>
            <a:ahLst/>
            <a:cxnLst/>
            <a:rect l="l" t="t" r="r" b="b"/>
            <a:pathLst>
              <a:path w="9144000" h="6858000">
                <a:moveTo>
                  <a:pt x="0" y="0"/>
                </a:moveTo>
                <a:lnTo>
                  <a:pt x="0" y="6858000"/>
                </a:lnTo>
                <a:lnTo>
                  <a:pt x="9144000" y="6858000"/>
                </a:lnTo>
                <a:lnTo>
                  <a:pt x="9144000" y="0"/>
                </a:lnTo>
                <a:lnTo>
                  <a:pt x="0" y="0"/>
                </a:lnTo>
                <a:close/>
              </a:path>
            </a:pathLst>
          </a:custGeom>
          <a:solidFill>
            <a:srgbClr val="FFFFCC"/>
          </a:solidFill>
        </p:spPr>
        <p:txBody>
          <a:bodyPr wrap="square" lIns="0" tIns="0" rIns="0" bIns="0" rtlCol="0"/>
          <a:lstStyle/>
          <a:p>
            <a:endParaRPr/>
          </a:p>
        </p:txBody>
      </p:sp>
      <p:sp>
        <p:nvSpPr>
          <p:cNvPr id="2" name="Holder 2"/>
          <p:cNvSpPr>
            <a:spLocks noGrp="1"/>
          </p:cNvSpPr>
          <p:nvPr>
            <p:ph type="title"/>
          </p:nvPr>
        </p:nvSpPr>
        <p:spPr>
          <a:xfrm>
            <a:off x="2403976" y="942848"/>
            <a:ext cx="5885446" cy="513080"/>
          </a:xfrm>
          <a:prstGeom prst="rect">
            <a:avLst/>
          </a:prstGeom>
        </p:spPr>
        <p:txBody>
          <a:bodyPr wrap="square" lIns="0" tIns="0" rIns="0" bIns="0">
            <a:spAutoFit/>
          </a:bodyPr>
          <a:lstStyle>
            <a:lvl1pPr>
              <a:defRPr sz="3200" b="1" i="0">
                <a:solidFill>
                  <a:srgbClr val="33339A"/>
                </a:solidFill>
                <a:latin typeface="Comic Sans MS"/>
                <a:cs typeface="Comic Sans MS"/>
              </a:defRPr>
            </a:lvl1pPr>
          </a:lstStyle>
          <a:p>
            <a:endParaRPr/>
          </a:p>
        </p:txBody>
      </p:sp>
      <p:sp>
        <p:nvSpPr>
          <p:cNvPr id="3" name="Holder 3"/>
          <p:cNvSpPr>
            <a:spLocks noGrp="1"/>
          </p:cNvSpPr>
          <p:nvPr>
            <p:ph type="body" idx="1"/>
          </p:nvPr>
        </p:nvSpPr>
        <p:spPr>
          <a:xfrm>
            <a:off x="1280915" y="2067560"/>
            <a:ext cx="8131568" cy="4660265"/>
          </a:xfrm>
          <a:prstGeom prst="rect">
            <a:avLst/>
          </a:prstGeom>
        </p:spPr>
        <p:txBody>
          <a:bodyPr wrap="square" lIns="0" tIns="0" rIns="0" bIns="0">
            <a:spAutoFit/>
          </a:bodyPr>
          <a:lstStyle>
            <a:lvl1pPr>
              <a:defRPr sz="2000" b="0" i="0">
                <a:solidFill>
                  <a:srgbClr val="3333CC"/>
                </a:solidFill>
                <a:latin typeface="Comic Sans MS"/>
                <a:cs typeface="Comic Sans MS"/>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2/15/2022</a:t>
            </a:fld>
            <a:endParaRPr lang="en-US"/>
          </a:p>
        </p:txBody>
      </p:sp>
      <p:sp>
        <p:nvSpPr>
          <p:cNvPr id="6" name="Holder 6"/>
          <p:cNvSpPr>
            <a:spLocks noGrp="1"/>
          </p:cNvSpPr>
          <p:nvPr>
            <p:ph type="sldNum" sz="quarter" idx="7"/>
          </p:nvPr>
        </p:nvSpPr>
        <p:spPr>
          <a:xfrm>
            <a:off x="9370955" y="6810695"/>
            <a:ext cx="262254" cy="238125"/>
          </a:xfrm>
          <a:prstGeom prst="rect">
            <a:avLst/>
          </a:prstGeom>
        </p:spPr>
        <p:txBody>
          <a:bodyPr wrap="square" lIns="0" tIns="0" rIns="0" bIns="0">
            <a:spAutoFit/>
          </a:bodyPr>
          <a:lstStyle>
            <a:lvl1pPr>
              <a:defRPr sz="1200" b="0" i="0">
                <a:solidFill>
                  <a:schemeClr val="tx1"/>
                </a:solidFill>
                <a:latin typeface="Comic Sans MS"/>
                <a:cs typeface="Comic Sans MS"/>
              </a:defRPr>
            </a:lvl1pPr>
          </a:lstStyle>
          <a:p>
            <a:pPr marL="38100">
              <a:lnSpc>
                <a:spcPct val="100000"/>
              </a:lnSpc>
              <a:spcBef>
                <a:spcPts val="22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physics.csbsju.edu/stats/box2.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hyperlink" Target="http://www.ibm.com/developerworks/data/li"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7.emf"/><Relationship Id="rId4" Type="http://schemas.openxmlformats.org/officeDocument/2006/relationships/oleObject" Target="../embeddings/oleObject2.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4149" y="2218540"/>
            <a:ext cx="6306820" cy="1044517"/>
          </a:xfrm>
          <a:prstGeom prst="rect">
            <a:avLst/>
          </a:prstGeom>
        </p:spPr>
        <p:txBody>
          <a:bodyPr vert="horz" wrap="square" lIns="0" tIns="302895" rIns="0" bIns="0" rtlCol="0">
            <a:spAutoFit/>
          </a:bodyPr>
          <a:lstStyle/>
          <a:p>
            <a:pPr algn="ctr">
              <a:lnSpc>
                <a:spcPct val="100000"/>
              </a:lnSpc>
              <a:spcBef>
                <a:spcPts val="2385"/>
              </a:spcBef>
            </a:pPr>
            <a:r>
              <a:rPr sz="4800" dirty="0"/>
              <a:t>Data</a:t>
            </a:r>
            <a:r>
              <a:rPr sz="4800" spc="-100" dirty="0"/>
              <a:t> </a:t>
            </a:r>
            <a:r>
              <a:rPr sz="4800" dirty="0"/>
              <a:t>Pre</a:t>
            </a:r>
            <a:r>
              <a:rPr lang="en-US" sz="4800" dirty="0"/>
              <a:t>-</a:t>
            </a:r>
            <a:r>
              <a:rPr sz="4800" dirty="0"/>
              <a:t>p</a:t>
            </a:r>
            <a:r>
              <a:rPr lang="en-US" sz="4800" dirty="0"/>
              <a:t>rocessing</a:t>
            </a:r>
            <a:endParaRPr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782" y="942848"/>
            <a:ext cx="4184517" cy="504625"/>
          </a:xfrm>
          <a:prstGeom prst="rect">
            <a:avLst/>
          </a:prstGeom>
        </p:spPr>
        <p:txBody>
          <a:bodyPr vert="horz" wrap="square" lIns="0" tIns="12065" rIns="0" bIns="0" rtlCol="0">
            <a:spAutoFit/>
          </a:bodyPr>
          <a:lstStyle/>
          <a:p>
            <a:pPr marL="12700">
              <a:lnSpc>
                <a:spcPct val="100000"/>
              </a:lnSpc>
              <a:spcBef>
                <a:spcPts val="95"/>
              </a:spcBef>
            </a:pPr>
            <a:r>
              <a:rPr spc="-5" dirty="0"/>
              <a:t>Data</a:t>
            </a:r>
            <a:r>
              <a:rPr spc="-35" dirty="0"/>
              <a:t> </a:t>
            </a:r>
            <a:r>
              <a:rPr spc="-5" dirty="0"/>
              <a:t>Pre</a:t>
            </a:r>
            <a:r>
              <a:rPr lang="en-US" spc="-5" dirty="0"/>
              <a:t>-processing</a:t>
            </a:r>
            <a:endParaRPr spc="-5" dirty="0"/>
          </a:p>
        </p:txBody>
      </p:sp>
      <p:sp>
        <p:nvSpPr>
          <p:cNvPr id="4" name="object 4"/>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2</a:t>
            </a:fld>
            <a:endParaRPr sz="1200">
              <a:latin typeface="Comic Sans MS"/>
              <a:cs typeface="Comic Sans MS"/>
            </a:endParaRPr>
          </a:p>
        </p:txBody>
      </p:sp>
      <p:sp>
        <p:nvSpPr>
          <p:cNvPr id="3" name="object 3"/>
          <p:cNvSpPr txBox="1"/>
          <p:nvPr/>
        </p:nvSpPr>
        <p:spPr>
          <a:xfrm>
            <a:off x="1309249" y="1910133"/>
            <a:ext cx="6738620" cy="2936701"/>
          </a:xfrm>
          <a:prstGeom prst="rect">
            <a:avLst/>
          </a:prstGeom>
        </p:spPr>
        <p:txBody>
          <a:bodyPr vert="horz" wrap="square" lIns="0" tIns="165100" rIns="0" bIns="0" rtlCol="0">
            <a:spAutoFit/>
          </a:bodyPr>
          <a:lstStyle/>
          <a:p>
            <a:pPr marL="355600" indent="-342900">
              <a:lnSpc>
                <a:spcPct val="100000"/>
              </a:lnSpc>
              <a:spcBef>
                <a:spcPts val="1300"/>
              </a:spcBef>
              <a:buClr>
                <a:srgbClr val="FF0000"/>
              </a:buClr>
              <a:buChar char="•"/>
              <a:tabLst>
                <a:tab pos="354965" algn="l"/>
                <a:tab pos="355600" algn="l"/>
              </a:tabLst>
            </a:pPr>
            <a:r>
              <a:rPr sz="2800" spc="-5" dirty="0">
                <a:solidFill>
                  <a:srgbClr val="0000CC"/>
                </a:solidFill>
                <a:latin typeface="Comic Sans MS"/>
                <a:cs typeface="Comic Sans MS"/>
              </a:rPr>
              <a:t>Introduction to </a:t>
            </a:r>
            <a:r>
              <a:rPr sz="2800" dirty="0">
                <a:solidFill>
                  <a:srgbClr val="0000CC"/>
                </a:solidFill>
                <a:latin typeface="Comic Sans MS"/>
                <a:cs typeface="Comic Sans MS"/>
              </a:rPr>
              <a:t>Data</a:t>
            </a:r>
            <a:r>
              <a:rPr sz="2800" spc="5" dirty="0">
                <a:solidFill>
                  <a:srgbClr val="0000CC"/>
                </a:solidFill>
                <a:latin typeface="Comic Sans MS"/>
                <a:cs typeface="Comic Sans MS"/>
              </a:rPr>
              <a:t> </a:t>
            </a:r>
            <a:r>
              <a:rPr sz="2800" dirty="0">
                <a:solidFill>
                  <a:srgbClr val="0000CC"/>
                </a:solidFill>
                <a:latin typeface="Comic Sans MS"/>
                <a:cs typeface="Comic Sans MS"/>
              </a:rPr>
              <a:t>Pre</a:t>
            </a:r>
            <a:r>
              <a:rPr lang="en-US" sz="2800" dirty="0">
                <a:solidFill>
                  <a:srgbClr val="0000CC"/>
                </a:solidFill>
                <a:latin typeface="Comic Sans MS"/>
                <a:cs typeface="Comic Sans MS"/>
              </a:rPr>
              <a:t>-processing</a:t>
            </a:r>
            <a:endParaRPr sz="2800" dirty="0">
              <a:latin typeface="Comic Sans MS"/>
              <a:cs typeface="Comic Sans MS"/>
            </a:endParaRPr>
          </a:p>
          <a:p>
            <a:pPr marL="355600" indent="-342900">
              <a:lnSpc>
                <a:spcPct val="100000"/>
              </a:lnSpc>
              <a:spcBef>
                <a:spcPts val="1200"/>
              </a:spcBef>
              <a:buClr>
                <a:srgbClr val="FF0000"/>
              </a:buClr>
              <a:buChar char="•"/>
              <a:tabLst>
                <a:tab pos="354965" algn="l"/>
                <a:tab pos="355600" algn="l"/>
              </a:tabLst>
            </a:pPr>
            <a:r>
              <a:rPr sz="2800" dirty="0">
                <a:solidFill>
                  <a:srgbClr val="3333CC"/>
                </a:solidFill>
                <a:latin typeface="Comic Sans MS"/>
                <a:cs typeface="Comic Sans MS"/>
              </a:rPr>
              <a:t>Types of Data</a:t>
            </a:r>
            <a:endParaRPr sz="2800" dirty="0">
              <a:latin typeface="Comic Sans MS"/>
              <a:cs typeface="Comic Sans MS"/>
            </a:endParaRPr>
          </a:p>
          <a:p>
            <a:pPr marL="355600" indent="-342900">
              <a:lnSpc>
                <a:spcPct val="100000"/>
              </a:lnSpc>
              <a:spcBef>
                <a:spcPts val="1200"/>
              </a:spcBef>
              <a:buClr>
                <a:srgbClr val="FF0000"/>
              </a:buClr>
              <a:buChar char="•"/>
              <a:tabLst>
                <a:tab pos="354965" algn="l"/>
                <a:tab pos="355600" algn="l"/>
              </a:tabLst>
            </a:pPr>
            <a:r>
              <a:rPr sz="2800" spc="-5" dirty="0">
                <a:solidFill>
                  <a:srgbClr val="3333CC"/>
                </a:solidFill>
                <a:latin typeface="Comic Sans MS"/>
                <a:cs typeface="Comic Sans MS"/>
              </a:rPr>
              <a:t>Outliers</a:t>
            </a:r>
            <a:endParaRPr sz="2800" dirty="0">
              <a:latin typeface="Comic Sans MS"/>
              <a:cs typeface="Comic Sans MS"/>
            </a:endParaRPr>
          </a:p>
          <a:p>
            <a:pPr marL="355600" indent="-342900">
              <a:lnSpc>
                <a:spcPct val="100000"/>
              </a:lnSpc>
              <a:spcBef>
                <a:spcPts val="1200"/>
              </a:spcBef>
              <a:buClr>
                <a:srgbClr val="FF0000"/>
              </a:buClr>
              <a:buChar char="•"/>
              <a:tabLst>
                <a:tab pos="354965" algn="l"/>
                <a:tab pos="355600" algn="l"/>
              </a:tabLst>
            </a:pPr>
            <a:r>
              <a:rPr sz="2800" dirty="0">
                <a:solidFill>
                  <a:srgbClr val="3333CC"/>
                </a:solidFill>
                <a:latin typeface="Comic Sans MS"/>
                <a:cs typeface="Comic Sans MS"/>
              </a:rPr>
              <a:t>Data</a:t>
            </a:r>
            <a:r>
              <a:rPr sz="2800" spc="10" dirty="0">
                <a:solidFill>
                  <a:srgbClr val="3333CC"/>
                </a:solidFill>
                <a:latin typeface="Comic Sans MS"/>
                <a:cs typeface="Comic Sans MS"/>
              </a:rPr>
              <a:t> </a:t>
            </a:r>
            <a:r>
              <a:rPr sz="2800" dirty="0">
                <a:solidFill>
                  <a:srgbClr val="3333CC"/>
                </a:solidFill>
                <a:latin typeface="Comic Sans MS"/>
                <a:cs typeface="Comic Sans MS"/>
              </a:rPr>
              <a:t>Transformation</a:t>
            </a:r>
            <a:endParaRPr sz="2800" dirty="0">
              <a:latin typeface="Comic Sans MS"/>
              <a:cs typeface="Comic Sans MS"/>
            </a:endParaRPr>
          </a:p>
          <a:p>
            <a:pPr marL="355600" indent="-342900">
              <a:lnSpc>
                <a:spcPct val="100000"/>
              </a:lnSpc>
              <a:spcBef>
                <a:spcPts val="1200"/>
              </a:spcBef>
              <a:buClr>
                <a:srgbClr val="FF0000"/>
              </a:buClr>
              <a:buChar char="•"/>
              <a:tabLst>
                <a:tab pos="354965" algn="l"/>
                <a:tab pos="355600" algn="l"/>
              </a:tabLst>
            </a:pPr>
            <a:r>
              <a:rPr sz="2800" dirty="0">
                <a:solidFill>
                  <a:srgbClr val="3333CC"/>
                </a:solidFill>
                <a:latin typeface="Comic Sans MS"/>
                <a:cs typeface="Comic Sans MS"/>
              </a:rPr>
              <a:t>Missing</a:t>
            </a:r>
            <a:r>
              <a:rPr sz="2800" spc="-5" dirty="0">
                <a:solidFill>
                  <a:srgbClr val="3333CC"/>
                </a:solidFill>
                <a:latin typeface="Comic Sans MS"/>
                <a:cs typeface="Comic Sans MS"/>
              </a:rPr>
              <a:t> </a:t>
            </a:r>
            <a:r>
              <a:rPr sz="2800" dirty="0">
                <a:solidFill>
                  <a:srgbClr val="3333CC"/>
                </a:solidFill>
                <a:latin typeface="Comic Sans MS"/>
                <a:cs typeface="Comic Sans MS"/>
              </a:rPr>
              <a:t>Data</a:t>
            </a:r>
            <a:endParaRPr sz="2800" dirty="0">
              <a:latin typeface="Comic Sans MS"/>
              <a:cs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29BDAA5-2993-427F-83B9-39BCA98D586D}"/>
              </a:ext>
            </a:extLst>
          </p:cNvPr>
          <p:cNvSpPr>
            <a:spLocks noGrp="1" noChangeArrowheads="1"/>
          </p:cNvSpPr>
          <p:nvPr>
            <p:ph type="title"/>
          </p:nvPr>
        </p:nvSpPr>
        <p:spPr>
          <a:xfrm>
            <a:off x="1481243" y="252095"/>
            <a:ext cx="8067040" cy="492443"/>
          </a:xfrm>
        </p:spPr>
        <p:txBody>
          <a:bodyPr/>
          <a:lstStyle/>
          <a:p>
            <a:pPr eaLnBrk="1" hangingPunct="1"/>
            <a:r>
              <a:rPr lang="en-US" altLang="en-US">
                <a:solidFill>
                  <a:schemeClr val="accent2"/>
                </a:solidFill>
              </a:rPr>
              <a:t>Why Data Preprocessing?</a:t>
            </a:r>
          </a:p>
        </p:txBody>
      </p:sp>
      <p:sp>
        <p:nvSpPr>
          <p:cNvPr id="5123" name="Rectangle 3">
            <a:extLst>
              <a:ext uri="{FF2B5EF4-FFF2-40B4-BE49-F238E27FC236}">
                <a16:creationId xmlns:a16="http://schemas.microsoft.com/office/drawing/2014/main" id="{223E2FBC-78A5-4048-B165-5F5719ED8142}"/>
              </a:ext>
            </a:extLst>
          </p:cNvPr>
          <p:cNvSpPr>
            <a:spLocks noGrp="1" noChangeArrowheads="1"/>
          </p:cNvSpPr>
          <p:nvPr>
            <p:ph type="body" idx="1"/>
          </p:nvPr>
        </p:nvSpPr>
        <p:spPr>
          <a:xfrm>
            <a:off x="724958" y="1176444"/>
            <a:ext cx="9411547" cy="5499391"/>
          </a:xfrm>
        </p:spPr>
        <p:txBody>
          <a:bodyPr/>
          <a:lstStyle/>
          <a:p>
            <a:pPr eaLnBrk="1" hangingPunct="1">
              <a:lnSpc>
                <a:spcPct val="90000"/>
              </a:lnSpc>
            </a:pPr>
            <a:r>
              <a:rPr lang="en-US" altLang="en-US" sz="3088"/>
              <a:t>Data in the real world is dirty</a:t>
            </a:r>
          </a:p>
          <a:p>
            <a:pPr lvl="1" eaLnBrk="1" hangingPunct="1">
              <a:lnSpc>
                <a:spcPct val="90000"/>
              </a:lnSpc>
            </a:pPr>
            <a:r>
              <a:rPr lang="en-US" altLang="en-US" sz="2647">
                <a:solidFill>
                  <a:schemeClr val="accent2"/>
                </a:solidFill>
              </a:rPr>
              <a:t>incomplete</a:t>
            </a:r>
            <a:r>
              <a:rPr lang="en-US" altLang="en-US" sz="2647"/>
              <a:t>: lacking attribute values, lacking certain attributes of interest, or containing only aggregate data</a:t>
            </a:r>
          </a:p>
          <a:p>
            <a:pPr lvl="1" eaLnBrk="1" hangingPunct="1">
              <a:lnSpc>
                <a:spcPct val="90000"/>
              </a:lnSpc>
            </a:pPr>
            <a:r>
              <a:rPr lang="en-US" altLang="en-US" sz="2647">
                <a:solidFill>
                  <a:schemeClr val="accent2"/>
                </a:solidFill>
              </a:rPr>
              <a:t>noisy</a:t>
            </a:r>
            <a:r>
              <a:rPr lang="en-US" altLang="en-US" sz="2647"/>
              <a:t>: containing errors or outliers</a:t>
            </a:r>
          </a:p>
          <a:p>
            <a:pPr lvl="1" eaLnBrk="1" hangingPunct="1">
              <a:lnSpc>
                <a:spcPct val="90000"/>
              </a:lnSpc>
            </a:pPr>
            <a:r>
              <a:rPr lang="en-US" altLang="en-US" sz="2647">
                <a:solidFill>
                  <a:schemeClr val="accent2"/>
                </a:solidFill>
              </a:rPr>
              <a:t>inconsistent</a:t>
            </a:r>
            <a:r>
              <a:rPr lang="en-US" altLang="en-US" sz="2647"/>
              <a:t>: containing discrepancies in codes or names</a:t>
            </a:r>
          </a:p>
          <a:p>
            <a:pPr eaLnBrk="1" hangingPunct="1">
              <a:lnSpc>
                <a:spcPct val="90000"/>
              </a:lnSpc>
            </a:pPr>
            <a:r>
              <a:rPr lang="en-US" altLang="en-US" sz="3088"/>
              <a:t>No quality data, no quality mining results!</a:t>
            </a:r>
          </a:p>
          <a:p>
            <a:pPr lvl="1" eaLnBrk="1" hangingPunct="1">
              <a:lnSpc>
                <a:spcPct val="90000"/>
              </a:lnSpc>
            </a:pPr>
            <a:r>
              <a:rPr lang="en-US" altLang="en-US" sz="2647"/>
              <a:t>Quality decisions must be based on quality data</a:t>
            </a:r>
          </a:p>
          <a:p>
            <a:pPr lvl="1" eaLnBrk="1" hangingPunct="1">
              <a:lnSpc>
                <a:spcPct val="90000"/>
              </a:lnSpc>
            </a:pPr>
            <a:r>
              <a:rPr lang="en-US" altLang="en-US" sz="2647"/>
              <a:t>Data warehouse needs consistent integration of quality data</a:t>
            </a:r>
          </a:p>
          <a:p>
            <a:pPr eaLnBrk="1" hangingPunct="1">
              <a:lnSpc>
                <a:spcPct val="90000"/>
              </a:lnSpc>
            </a:pPr>
            <a:r>
              <a:rPr lang="en-US" altLang="en-US" sz="3088"/>
              <a:t>A multi-dimensional measure of data quality:</a:t>
            </a:r>
          </a:p>
          <a:p>
            <a:pPr lvl="1" eaLnBrk="1" hangingPunct="1">
              <a:lnSpc>
                <a:spcPct val="90000"/>
              </a:lnSpc>
            </a:pPr>
            <a:r>
              <a:rPr lang="en-US" altLang="en-US" sz="2647"/>
              <a:t>A well-accepted multi-dimensional view: </a:t>
            </a:r>
          </a:p>
          <a:p>
            <a:pPr lvl="2" eaLnBrk="1" hangingPunct="1">
              <a:lnSpc>
                <a:spcPct val="90000"/>
              </a:lnSpc>
            </a:pPr>
            <a:r>
              <a:rPr lang="en-US" altLang="en-US" sz="2206"/>
              <a:t>accuracy, completeness, consistency, timeliness, believability, value added, interpretability, accessibility</a:t>
            </a:r>
          </a:p>
          <a:p>
            <a:pPr lvl="1" eaLnBrk="1" hangingPunct="1">
              <a:lnSpc>
                <a:spcPct val="90000"/>
              </a:lnSpc>
            </a:pPr>
            <a:r>
              <a:rPr lang="en-US" altLang="en-US" sz="2647"/>
              <a:t>Broad categories:</a:t>
            </a:r>
          </a:p>
          <a:p>
            <a:pPr lvl="2" eaLnBrk="1" hangingPunct="1">
              <a:lnSpc>
                <a:spcPct val="90000"/>
              </a:lnSpc>
            </a:pPr>
            <a:r>
              <a:rPr lang="en-US" altLang="en-US" sz="2206"/>
              <a:t>intrinsic, contextual, representational, and accessibility.</a:t>
            </a:r>
          </a:p>
          <a:p>
            <a:pPr lvl="1" eaLnBrk="1" hangingPunct="1">
              <a:lnSpc>
                <a:spcPct val="90000"/>
              </a:lnSpc>
            </a:pPr>
            <a:endParaRPr lang="en-US" altLang="en-US" sz="2647"/>
          </a:p>
        </p:txBody>
      </p:sp>
    </p:spTree>
  </p:cSld>
  <p:clrMapOvr>
    <a:masterClrMapping/>
  </p:clrMapOvr>
  <p:transition>
    <p:checke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7129" y="942848"/>
            <a:ext cx="3933825" cy="513080"/>
          </a:xfrm>
          <a:prstGeom prst="rect">
            <a:avLst/>
          </a:prstGeom>
        </p:spPr>
        <p:txBody>
          <a:bodyPr vert="horz" wrap="square" lIns="0" tIns="12065" rIns="0" bIns="0" rtlCol="0">
            <a:spAutoFit/>
          </a:bodyPr>
          <a:lstStyle/>
          <a:p>
            <a:pPr marL="12700">
              <a:lnSpc>
                <a:spcPct val="100000"/>
              </a:lnSpc>
              <a:spcBef>
                <a:spcPts val="95"/>
              </a:spcBef>
            </a:pPr>
            <a:r>
              <a:rPr spc="-5" dirty="0"/>
              <a:t>Why Prepare</a:t>
            </a:r>
            <a:r>
              <a:rPr spc="-30" dirty="0"/>
              <a:t> </a:t>
            </a:r>
            <a:r>
              <a:rPr spc="-5" dirty="0"/>
              <a:t>Data?</a:t>
            </a:r>
          </a:p>
        </p:txBody>
      </p:sp>
      <p:sp>
        <p:nvSpPr>
          <p:cNvPr id="4" name="object 4"/>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4</a:t>
            </a:fld>
            <a:endParaRPr sz="1200">
              <a:latin typeface="Comic Sans MS"/>
              <a:cs typeface="Comic Sans MS"/>
            </a:endParaRPr>
          </a:p>
        </p:txBody>
      </p:sp>
      <p:sp>
        <p:nvSpPr>
          <p:cNvPr id="3" name="object 3"/>
          <p:cNvSpPr txBox="1"/>
          <p:nvPr/>
        </p:nvSpPr>
        <p:spPr>
          <a:xfrm>
            <a:off x="1309249" y="2238247"/>
            <a:ext cx="7941945" cy="3208020"/>
          </a:xfrm>
          <a:prstGeom prst="rect">
            <a:avLst/>
          </a:prstGeom>
        </p:spPr>
        <p:txBody>
          <a:bodyPr vert="horz" wrap="square" lIns="0" tIns="12700" rIns="0" bIns="0" rtlCol="0">
            <a:spAutoFit/>
          </a:bodyPr>
          <a:lstStyle/>
          <a:p>
            <a:pPr marL="355600" indent="-342900">
              <a:lnSpc>
                <a:spcPct val="100000"/>
              </a:lnSpc>
              <a:spcBef>
                <a:spcPts val="100"/>
              </a:spcBef>
              <a:buClr>
                <a:srgbClr val="FF0000"/>
              </a:buClr>
              <a:buChar char="•"/>
              <a:tabLst>
                <a:tab pos="354965" algn="l"/>
                <a:tab pos="355600" algn="l"/>
              </a:tabLst>
            </a:pPr>
            <a:r>
              <a:rPr sz="2400" spc="-5" dirty="0">
                <a:solidFill>
                  <a:srgbClr val="3333CC"/>
                </a:solidFill>
                <a:latin typeface="Comic Sans MS"/>
                <a:cs typeface="Comic Sans MS"/>
              </a:rPr>
              <a:t>Some data </a:t>
            </a:r>
            <a:r>
              <a:rPr sz="2400" dirty="0">
                <a:solidFill>
                  <a:srgbClr val="3333CC"/>
                </a:solidFill>
                <a:latin typeface="Comic Sans MS"/>
                <a:cs typeface="Comic Sans MS"/>
              </a:rPr>
              <a:t>preparation </a:t>
            </a:r>
            <a:r>
              <a:rPr sz="2400" spc="-5" dirty="0">
                <a:solidFill>
                  <a:srgbClr val="3333CC"/>
                </a:solidFill>
                <a:latin typeface="Comic Sans MS"/>
                <a:cs typeface="Comic Sans MS"/>
              </a:rPr>
              <a:t>is needed for </a:t>
            </a:r>
            <a:r>
              <a:rPr sz="2400" dirty="0">
                <a:solidFill>
                  <a:srgbClr val="3333CC"/>
                </a:solidFill>
                <a:latin typeface="Comic Sans MS"/>
                <a:cs typeface="Comic Sans MS"/>
              </a:rPr>
              <a:t>all mining</a:t>
            </a:r>
            <a:r>
              <a:rPr sz="2400" spc="-75" dirty="0">
                <a:solidFill>
                  <a:srgbClr val="3333CC"/>
                </a:solidFill>
                <a:latin typeface="Comic Sans MS"/>
                <a:cs typeface="Comic Sans MS"/>
              </a:rPr>
              <a:t> </a:t>
            </a:r>
            <a:r>
              <a:rPr sz="2400" spc="-5" dirty="0">
                <a:solidFill>
                  <a:srgbClr val="3333CC"/>
                </a:solidFill>
                <a:latin typeface="Comic Sans MS"/>
                <a:cs typeface="Comic Sans MS"/>
              </a:rPr>
              <a:t>tools</a:t>
            </a:r>
            <a:endParaRPr sz="2400">
              <a:latin typeface="Comic Sans MS"/>
              <a:cs typeface="Comic Sans MS"/>
            </a:endParaRPr>
          </a:p>
          <a:p>
            <a:pPr>
              <a:lnSpc>
                <a:spcPct val="100000"/>
              </a:lnSpc>
              <a:spcBef>
                <a:spcPts val="5"/>
              </a:spcBef>
              <a:buClr>
                <a:srgbClr val="FF0000"/>
              </a:buClr>
              <a:buFont typeface="Comic Sans MS"/>
              <a:buChar char="•"/>
            </a:pPr>
            <a:endParaRPr sz="2750">
              <a:latin typeface="Times New Roman"/>
              <a:cs typeface="Times New Roman"/>
            </a:endParaRPr>
          </a:p>
          <a:p>
            <a:pPr marL="355600" marR="5080" indent="-342900">
              <a:lnSpc>
                <a:spcPct val="110000"/>
              </a:lnSpc>
              <a:buClr>
                <a:srgbClr val="FF0000"/>
              </a:buClr>
              <a:buChar char="•"/>
              <a:tabLst>
                <a:tab pos="354965" algn="l"/>
                <a:tab pos="355600" algn="l"/>
              </a:tabLst>
            </a:pPr>
            <a:r>
              <a:rPr sz="2400" dirty="0">
                <a:solidFill>
                  <a:srgbClr val="3333CC"/>
                </a:solidFill>
                <a:latin typeface="Comic Sans MS"/>
                <a:cs typeface="Comic Sans MS"/>
              </a:rPr>
              <a:t>The purpose </a:t>
            </a:r>
            <a:r>
              <a:rPr sz="2400" spc="-5" dirty="0">
                <a:solidFill>
                  <a:srgbClr val="3333CC"/>
                </a:solidFill>
                <a:latin typeface="Comic Sans MS"/>
                <a:cs typeface="Comic Sans MS"/>
              </a:rPr>
              <a:t>of </a:t>
            </a:r>
            <a:r>
              <a:rPr sz="2400" dirty="0">
                <a:solidFill>
                  <a:srgbClr val="3333CC"/>
                </a:solidFill>
                <a:latin typeface="Comic Sans MS"/>
                <a:cs typeface="Comic Sans MS"/>
              </a:rPr>
              <a:t>preparation </a:t>
            </a:r>
            <a:r>
              <a:rPr sz="2400" spc="-5" dirty="0">
                <a:solidFill>
                  <a:srgbClr val="3333CC"/>
                </a:solidFill>
                <a:latin typeface="Comic Sans MS"/>
                <a:cs typeface="Comic Sans MS"/>
              </a:rPr>
              <a:t>is to transform data</a:t>
            </a:r>
            <a:r>
              <a:rPr sz="2400" spc="-114" dirty="0">
                <a:solidFill>
                  <a:srgbClr val="3333CC"/>
                </a:solidFill>
                <a:latin typeface="Comic Sans MS"/>
                <a:cs typeface="Comic Sans MS"/>
              </a:rPr>
              <a:t> </a:t>
            </a:r>
            <a:r>
              <a:rPr sz="2400" dirty="0">
                <a:solidFill>
                  <a:srgbClr val="3333CC"/>
                </a:solidFill>
                <a:latin typeface="Comic Sans MS"/>
                <a:cs typeface="Comic Sans MS"/>
              </a:rPr>
              <a:t>sets  </a:t>
            </a:r>
            <a:r>
              <a:rPr sz="2400" spc="-5" dirty="0">
                <a:solidFill>
                  <a:srgbClr val="3333CC"/>
                </a:solidFill>
                <a:latin typeface="Comic Sans MS"/>
                <a:cs typeface="Comic Sans MS"/>
              </a:rPr>
              <a:t>so that their </a:t>
            </a:r>
            <a:r>
              <a:rPr sz="2400" spc="-5" dirty="0">
                <a:solidFill>
                  <a:srgbClr val="008000"/>
                </a:solidFill>
                <a:latin typeface="Comic Sans MS"/>
                <a:cs typeface="Comic Sans MS"/>
              </a:rPr>
              <a:t>information content is best exposed </a:t>
            </a:r>
            <a:r>
              <a:rPr sz="2400" spc="-5" dirty="0">
                <a:solidFill>
                  <a:srgbClr val="3333CC"/>
                </a:solidFill>
                <a:latin typeface="Comic Sans MS"/>
                <a:cs typeface="Comic Sans MS"/>
              </a:rPr>
              <a:t>to  the mining</a:t>
            </a:r>
            <a:r>
              <a:rPr sz="2400" spc="5" dirty="0">
                <a:solidFill>
                  <a:srgbClr val="3333CC"/>
                </a:solidFill>
                <a:latin typeface="Comic Sans MS"/>
                <a:cs typeface="Comic Sans MS"/>
              </a:rPr>
              <a:t> </a:t>
            </a:r>
            <a:r>
              <a:rPr sz="2400" spc="-5" dirty="0">
                <a:solidFill>
                  <a:srgbClr val="3333CC"/>
                </a:solidFill>
                <a:latin typeface="Comic Sans MS"/>
                <a:cs typeface="Comic Sans MS"/>
              </a:rPr>
              <a:t>tool</a:t>
            </a:r>
            <a:endParaRPr sz="2400">
              <a:latin typeface="Comic Sans MS"/>
              <a:cs typeface="Comic Sans MS"/>
            </a:endParaRPr>
          </a:p>
          <a:p>
            <a:pPr>
              <a:lnSpc>
                <a:spcPct val="100000"/>
              </a:lnSpc>
              <a:spcBef>
                <a:spcPts val="5"/>
              </a:spcBef>
              <a:buClr>
                <a:srgbClr val="FF0000"/>
              </a:buClr>
              <a:buFont typeface="Comic Sans MS"/>
              <a:buChar char="•"/>
            </a:pPr>
            <a:endParaRPr sz="2750">
              <a:latin typeface="Times New Roman"/>
              <a:cs typeface="Times New Roman"/>
            </a:endParaRPr>
          </a:p>
          <a:p>
            <a:pPr marL="355600" marR="264160" indent="-342900">
              <a:lnSpc>
                <a:spcPct val="110000"/>
              </a:lnSpc>
              <a:buClr>
                <a:srgbClr val="FF0000"/>
              </a:buClr>
              <a:buChar char="•"/>
              <a:tabLst>
                <a:tab pos="354965" algn="l"/>
                <a:tab pos="355600" algn="l"/>
              </a:tabLst>
            </a:pPr>
            <a:r>
              <a:rPr sz="2400" dirty="0">
                <a:solidFill>
                  <a:srgbClr val="008000"/>
                </a:solidFill>
                <a:latin typeface="Comic Sans MS"/>
                <a:cs typeface="Comic Sans MS"/>
              </a:rPr>
              <a:t>Error </a:t>
            </a:r>
            <a:r>
              <a:rPr sz="2400" dirty="0">
                <a:solidFill>
                  <a:srgbClr val="3333CC"/>
                </a:solidFill>
                <a:latin typeface="Comic Sans MS"/>
                <a:cs typeface="Comic Sans MS"/>
              </a:rPr>
              <a:t>prediction </a:t>
            </a:r>
            <a:r>
              <a:rPr sz="2400" spc="-5" dirty="0">
                <a:solidFill>
                  <a:srgbClr val="3333CC"/>
                </a:solidFill>
                <a:latin typeface="Comic Sans MS"/>
                <a:cs typeface="Comic Sans MS"/>
              </a:rPr>
              <a:t>rate should be </a:t>
            </a:r>
            <a:r>
              <a:rPr sz="2400" dirty="0">
                <a:solidFill>
                  <a:srgbClr val="008000"/>
                </a:solidFill>
                <a:latin typeface="Comic Sans MS"/>
                <a:cs typeface="Comic Sans MS"/>
              </a:rPr>
              <a:t>lower </a:t>
            </a:r>
            <a:r>
              <a:rPr sz="2400" spc="-5" dirty="0">
                <a:solidFill>
                  <a:srgbClr val="3333CC"/>
                </a:solidFill>
                <a:latin typeface="Comic Sans MS"/>
                <a:cs typeface="Comic Sans MS"/>
              </a:rPr>
              <a:t>(or the</a:t>
            </a:r>
            <a:r>
              <a:rPr sz="2400" spc="-125" dirty="0">
                <a:solidFill>
                  <a:srgbClr val="3333CC"/>
                </a:solidFill>
                <a:latin typeface="Comic Sans MS"/>
                <a:cs typeface="Comic Sans MS"/>
              </a:rPr>
              <a:t> </a:t>
            </a:r>
            <a:r>
              <a:rPr sz="2400" spc="-5" dirty="0">
                <a:solidFill>
                  <a:srgbClr val="3333CC"/>
                </a:solidFill>
                <a:latin typeface="Comic Sans MS"/>
                <a:cs typeface="Comic Sans MS"/>
              </a:rPr>
              <a:t>same)  </a:t>
            </a:r>
            <a:r>
              <a:rPr sz="2400" dirty="0">
                <a:solidFill>
                  <a:srgbClr val="3333CC"/>
                </a:solidFill>
                <a:latin typeface="Comic Sans MS"/>
                <a:cs typeface="Comic Sans MS"/>
              </a:rPr>
              <a:t>after </a:t>
            </a:r>
            <a:r>
              <a:rPr sz="2400" spc="-5" dirty="0">
                <a:solidFill>
                  <a:srgbClr val="3333CC"/>
                </a:solidFill>
                <a:latin typeface="Comic Sans MS"/>
                <a:cs typeface="Comic Sans MS"/>
              </a:rPr>
              <a:t>the </a:t>
            </a:r>
            <a:r>
              <a:rPr sz="2400" dirty="0">
                <a:solidFill>
                  <a:srgbClr val="3333CC"/>
                </a:solidFill>
                <a:latin typeface="Comic Sans MS"/>
                <a:cs typeface="Comic Sans MS"/>
              </a:rPr>
              <a:t>preparation as </a:t>
            </a:r>
            <a:r>
              <a:rPr sz="2400" spc="-5" dirty="0">
                <a:solidFill>
                  <a:srgbClr val="3333CC"/>
                </a:solidFill>
                <a:latin typeface="Comic Sans MS"/>
                <a:cs typeface="Comic Sans MS"/>
              </a:rPr>
              <a:t>before</a:t>
            </a:r>
            <a:r>
              <a:rPr sz="2400" spc="-60" dirty="0">
                <a:solidFill>
                  <a:srgbClr val="3333CC"/>
                </a:solidFill>
                <a:latin typeface="Comic Sans MS"/>
                <a:cs typeface="Comic Sans MS"/>
              </a:rPr>
              <a:t> </a:t>
            </a:r>
            <a:r>
              <a:rPr sz="2400" spc="-5" dirty="0">
                <a:solidFill>
                  <a:srgbClr val="3333CC"/>
                </a:solidFill>
                <a:latin typeface="Comic Sans MS"/>
                <a:cs typeface="Comic Sans MS"/>
              </a:rPr>
              <a:t>it</a:t>
            </a:r>
            <a:endParaRPr sz="2400">
              <a:latin typeface="Comic Sans MS"/>
              <a:cs typeface="Comic Sans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7129" y="942848"/>
            <a:ext cx="3933825" cy="513080"/>
          </a:xfrm>
          <a:prstGeom prst="rect">
            <a:avLst/>
          </a:prstGeom>
        </p:spPr>
        <p:txBody>
          <a:bodyPr vert="horz" wrap="square" lIns="0" tIns="12065" rIns="0" bIns="0" rtlCol="0">
            <a:spAutoFit/>
          </a:bodyPr>
          <a:lstStyle/>
          <a:p>
            <a:pPr marL="12700">
              <a:lnSpc>
                <a:spcPct val="100000"/>
              </a:lnSpc>
              <a:spcBef>
                <a:spcPts val="95"/>
              </a:spcBef>
            </a:pPr>
            <a:r>
              <a:rPr spc="-5" dirty="0"/>
              <a:t>Why Prepare</a:t>
            </a:r>
            <a:r>
              <a:rPr spc="-30" dirty="0"/>
              <a:t> </a:t>
            </a:r>
            <a:r>
              <a:rPr spc="-5" dirty="0"/>
              <a:t>Data?</a:t>
            </a:r>
          </a:p>
        </p:txBody>
      </p:sp>
      <p:sp>
        <p:nvSpPr>
          <p:cNvPr id="5" name="object 5"/>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5</a:t>
            </a:fld>
            <a:endParaRPr sz="1200">
              <a:latin typeface="Comic Sans MS"/>
              <a:cs typeface="Comic Sans MS"/>
            </a:endParaRPr>
          </a:p>
        </p:txBody>
      </p:sp>
      <p:sp>
        <p:nvSpPr>
          <p:cNvPr id="3" name="object 3"/>
          <p:cNvSpPr txBox="1"/>
          <p:nvPr/>
        </p:nvSpPr>
        <p:spPr>
          <a:xfrm>
            <a:off x="1309249" y="2344165"/>
            <a:ext cx="7790180" cy="1232535"/>
          </a:xfrm>
          <a:prstGeom prst="rect">
            <a:avLst/>
          </a:prstGeom>
        </p:spPr>
        <p:txBody>
          <a:bodyPr vert="horz" wrap="square" lIns="0" tIns="12700" rIns="0" bIns="0" rtlCol="0">
            <a:spAutoFit/>
          </a:bodyPr>
          <a:lstStyle/>
          <a:p>
            <a:pPr marL="355600" marR="5080" indent="-342900">
              <a:lnSpc>
                <a:spcPct val="110000"/>
              </a:lnSpc>
              <a:spcBef>
                <a:spcPts val="100"/>
              </a:spcBef>
              <a:buClr>
                <a:srgbClr val="FF0000"/>
              </a:buClr>
              <a:buChar char="•"/>
              <a:tabLst>
                <a:tab pos="354965" algn="l"/>
                <a:tab pos="355600" algn="l"/>
              </a:tabLst>
            </a:pPr>
            <a:r>
              <a:rPr sz="2400" dirty="0">
                <a:solidFill>
                  <a:srgbClr val="3333CC"/>
                </a:solidFill>
                <a:latin typeface="Comic Sans MS"/>
                <a:cs typeface="Comic Sans MS"/>
              </a:rPr>
              <a:t>Preparing </a:t>
            </a:r>
            <a:r>
              <a:rPr sz="2400" spc="-5" dirty="0">
                <a:solidFill>
                  <a:srgbClr val="3333CC"/>
                </a:solidFill>
                <a:latin typeface="Comic Sans MS"/>
                <a:cs typeface="Comic Sans MS"/>
              </a:rPr>
              <a:t>data </a:t>
            </a:r>
            <a:r>
              <a:rPr sz="2400" dirty="0">
                <a:solidFill>
                  <a:srgbClr val="3333CC"/>
                </a:solidFill>
                <a:latin typeface="Comic Sans MS"/>
                <a:cs typeface="Comic Sans MS"/>
              </a:rPr>
              <a:t>also </a:t>
            </a:r>
            <a:r>
              <a:rPr sz="2400" dirty="0">
                <a:solidFill>
                  <a:srgbClr val="008000"/>
                </a:solidFill>
                <a:latin typeface="Comic Sans MS"/>
                <a:cs typeface="Comic Sans MS"/>
              </a:rPr>
              <a:t>prepares </a:t>
            </a:r>
            <a:r>
              <a:rPr sz="2400" spc="-5" dirty="0">
                <a:solidFill>
                  <a:srgbClr val="008000"/>
                </a:solidFill>
                <a:latin typeface="Comic Sans MS"/>
                <a:cs typeface="Comic Sans MS"/>
              </a:rPr>
              <a:t>the miner </a:t>
            </a:r>
            <a:r>
              <a:rPr sz="2400" spc="-5" dirty="0">
                <a:solidFill>
                  <a:srgbClr val="3333CC"/>
                </a:solidFill>
                <a:latin typeface="Comic Sans MS"/>
                <a:cs typeface="Comic Sans MS"/>
              </a:rPr>
              <a:t>so that</a:t>
            </a:r>
            <a:r>
              <a:rPr sz="2400" spc="-175" dirty="0">
                <a:solidFill>
                  <a:srgbClr val="3333CC"/>
                </a:solidFill>
                <a:latin typeface="Comic Sans MS"/>
                <a:cs typeface="Comic Sans MS"/>
              </a:rPr>
              <a:t> </a:t>
            </a:r>
            <a:r>
              <a:rPr sz="2400" spc="-5" dirty="0">
                <a:solidFill>
                  <a:srgbClr val="3333CC"/>
                </a:solidFill>
                <a:latin typeface="Comic Sans MS"/>
                <a:cs typeface="Comic Sans MS"/>
              </a:rPr>
              <a:t>when  using </a:t>
            </a:r>
            <a:r>
              <a:rPr sz="2400" dirty="0">
                <a:solidFill>
                  <a:srgbClr val="3333CC"/>
                </a:solidFill>
                <a:latin typeface="Comic Sans MS"/>
                <a:cs typeface="Comic Sans MS"/>
              </a:rPr>
              <a:t>prepared </a:t>
            </a:r>
            <a:r>
              <a:rPr sz="2400" spc="-5" dirty="0">
                <a:solidFill>
                  <a:srgbClr val="3333CC"/>
                </a:solidFill>
                <a:latin typeface="Comic Sans MS"/>
                <a:cs typeface="Comic Sans MS"/>
              </a:rPr>
              <a:t>data the </a:t>
            </a:r>
            <a:r>
              <a:rPr sz="2400" dirty="0">
                <a:solidFill>
                  <a:srgbClr val="3333CC"/>
                </a:solidFill>
                <a:latin typeface="Comic Sans MS"/>
                <a:cs typeface="Comic Sans MS"/>
              </a:rPr>
              <a:t>miner produces </a:t>
            </a:r>
            <a:r>
              <a:rPr sz="2400" spc="-5" dirty="0">
                <a:solidFill>
                  <a:srgbClr val="3333CC"/>
                </a:solidFill>
                <a:latin typeface="Comic Sans MS"/>
                <a:cs typeface="Comic Sans MS"/>
              </a:rPr>
              <a:t>better  </a:t>
            </a:r>
            <a:r>
              <a:rPr sz="2400" dirty="0">
                <a:solidFill>
                  <a:srgbClr val="3333CC"/>
                </a:solidFill>
                <a:latin typeface="Comic Sans MS"/>
                <a:cs typeface="Comic Sans MS"/>
              </a:rPr>
              <a:t>models,</a:t>
            </a:r>
            <a:r>
              <a:rPr sz="2400" spc="-20" dirty="0">
                <a:solidFill>
                  <a:srgbClr val="3333CC"/>
                </a:solidFill>
                <a:latin typeface="Comic Sans MS"/>
                <a:cs typeface="Comic Sans MS"/>
              </a:rPr>
              <a:t> </a:t>
            </a:r>
            <a:r>
              <a:rPr sz="2400" spc="-5" dirty="0">
                <a:solidFill>
                  <a:srgbClr val="3333CC"/>
                </a:solidFill>
                <a:latin typeface="Comic Sans MS"/>
                <a:cs typeface="Comic Sans MS"/>
              </a:rPr>
              <a:t>faster</a:t>
            </a:r>
            <a:endParaRPr sz="2400">
              <a:latin typeface="Comic Sans MS"/>
              <a:cs typeface="Comic Sans MS"/>
            </a:endParaRPr>
          </a:p>
        </p:txBody>
      </p:sp>
      <p:sp>
        <p:nvSpPr>
          <p:cNvPr id="4" name="object 4"/>
          <p:cNvSpPr txBox="1"/>
          <p:nvPr/>
        </p:nvSpPr>
        <p:spPr>
          <a:xfrm>
            <a:off x="1309249" y="4611878"/>
            <a:ext cx="7298055" cy="830580"/>
          </a:xfrm>
          <a:prstGeom prst="rect">
            <a:avLst/>
          </a:prstGeom>
        </p:spPr>
        <p:txBody>
          <a:bodyPr vert="horz" wrap="square" lIns="0" tIns="12700" rIns="0" bIns="0" rtlCol="0">
            <a:spAutoFit/>
          </a:bodyPr>
          <a:lstStyle/>
          <a:p>
            <a:pPr marL="355600" marR="5080" indent="-342900">
              <a:lnSpc>
                <a:spcPct val="110000"/>
              </a:lnSpc>
              <a:spcBef>
                <a:spcPts val="100"/>
              </a:spcBef>
              <a:buClr>
                <a:srgbClr val="FF0000"/>
              </a:buClr>
              <a:buChar char="•"/>
              <a:tabLst>
                <a:tab pos="354965" algn="l"/>
                <a:tab pos="355600" algn="l"/>
              </a:tabLst>
            </a:pPr>
            <a:r>
              <a:rPr sz="2400" dirty="0">
                <a:solidFill>
                  <a:srgbClr val="008000"/>
                </a:solidFill>
                <a:latin typeface="Comic Sans MS"/>
                <a:cs typeface="Comic Sans MS"/>
              </a:rPr>
              <a:t>GIGO </a:t>
            </a:r>
            <a:r>
              <a:rPr sz="2400" dirty="0">
                <a:solidFill>
                  <a:srgbClr val="3333CC"/>
                </a:solidFill>
                <a:latin typeface="Comic Sans MS"/>
                <a:cs typeface="Comic Sans MS"/>
              </a:rPr>
              <a:t>- </a:t>
            </a:r>
            <a:r>
              <a:rPr sz="2400" spc="-5" dirty="0">
                <a:solidFill>
                  <a:srgbClr val="3333CC"/>
                </a:solidFill>
                <a:latin typeface="Comic Sans MS"/>
                <a:cs typeface="Comic Sans MS"/>
              </a:rPr>
              <a:t>good data is </a:t>
            </a:r>
            <a:r>
              <a:rPr sz="2400" dirty="0">
                <a:solidFill>
                  <a:srgbClr val="3333CC"/>
                </a:solidFill>
                <a:latin typeface="Comic Sans MS"/>
                <a:cs typeface="Comic Sans MS"/>
              </a:rPr>
              <a:t>a prerequisite </a:t>
            </a:r>
            <a:r>
              <a:rPr sz="2400" spc="-5" dirty="0">
                <a:solidFill>
                  <a:srgbClr val="3333CC"/>
                </a:solidFill>
                <a:latin typeface="Comic Sans MS"/>
                <a:cs typeface="Comic Sans MS"/>
              </a:rPr>
              <a:t>for</a:t>
            </a:r>
            <a:r>
              <a:rPr sz="2400" spc="-125" dirty="0">
                <a:solidFill>
                  <a:srgbClr val="3333CC"/>
                </a:solidFill>
                <a:latin typeface="Comic Sans MS"/>
                <a:cs typeface="Comic Sans MS"/>
              </a:rPr>
              <a:t> </a:t>
            </a:r>
            <a:r>
              <a:rPr sz="2400" dirty="0">
                <a:solidFill>
                  <a:srgbClr val="3333CC"/>
                </a:solidFill>
                <a:latin typeface="Comic Sans MS"/>
                <a:cs typeface="Comic Sans MS"/>
              </a:rPr>
              <a:t>producing  effective models of any</a:t>
            </a:r>
            <a:r>
              <a:rPr sz="2400" spc="-15" dirty="0">
                <a:solidFill>
                  <a:srgbClr val="3333CC"/>
                </a:solidFill>
                <a:latin typeface="Comic Sans MS"/>
                <a:cs typeface="Comic Sans MS"/>
              </a:rPr>
              <a:t> </a:t>
            </a:r>
            <a:r>
              <a:rPr sz="2400" spc="-5" dirty="0">
                <a:solidFill>
                  <a:srgbClr val="3333CC"/>
                </a:solidFill>
                <a:latin typeface="Comic Sans MS"/>
                <a:cs typeface="Comic Sans MS"/>
              </a:rPr>
              <a:t>type</a:t>
            </a:r>
            <a:endParaRPr sz="2400">
              <a:latin typeface="Comic Sans MS"/>
              <a:cs typeface="Comic Sans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7129" y="942848"/>
            <a:ext cx="3933825" cy="513080"/>
          </a:xfrm>
          <a:prstGeom prst="rect">
            <a:avLst/>
          </a:prstGeom>
        </p:spPr>
        <p:txBody>
          <a:bodyPr vert="horz" wrap="square" lIns="0" tIns="12065" rIns="0" bIns="0" rtlCol="0">
            <a:spAutoFit/>
          </a:bodyPr>
          <a:lstStyle/>
          <a:p>
            <a:pPr marL="12700">
              <a:lnSpc>
                <a:spcPct val="100000"/>
              </a:lnSpc>
              <a:spcBef>
                <a:spcPts val="95"/>
              </a:spcBef>
            </a:pPr>
            <a:r>
              <a:rPr spc="-5" dirty="0"/>
              <a:t>Why Prepare</a:t>
            </a:r>
            <a:r>
              <a:rPr spc="-30" dirty="0"/>
              <a:t> </a:t>
            </a:r>
            <a:r>
              <a:rPr spc="-5" dirty="0"/>
              <a:t>Data?</a:t>
            </a:r>
          </a:p>
        </p:txBody>
      </p:sp>
      <p:sp>
        <p:nvSpPr>
          <p:cNvPr id="4" name="object 4"/>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6</a:t>
            </a:fld>
            <a:endParaRPr sz="1200">
              <a:latin typeface="Comic Sans MS"/>
              <a:cs typeface="Comic Sans MS"/>
            </a:endParaRPr>
          </a:p>
        </p:txBody>
      </p:sp>
      <p:sp>
        <p:nvSpPr>
          <p:cNvPr id="3" name="object 3"/>
          <p:cNvSpPr txBox="1"/>
          <p:nvPr/>
        </p:nvSpPr>
        <p:spPr>
          <a:xfrm>
            <a:off x="1309249" y="1751329"/>
            <a:ext cx="8096884" cy="4815205"/>
          </a:xfrm>
          <a:prstGeom prst="rect">
            <a:avLst/>
          </a:prstGeom>
        </p:spPr>
        <p:txBody>
          <a:bodyPr vert="horz" wrap="square" lIns="0" tIns="12700" rIns="0" bIns="0" rtlCol="0">
            <a:spAutoFit/>
          </a:bodyPr>
          <a:lstStyle/>
          <a:p>
            <a:pPr marL="355600" indent="-342900">
              <a:lnSpc>
                <a:spcPct val="100000"/>
              </a:lnSpc>
              <a:spcBef>
                <a:spcPts val="100"/>
              </a:spcBef>
              <a:buClr>
                <a:srgbClr val="FF0000"/>
              </a:buClr>
              <a:buChar char="•"/>
              <a:tabLst>
                <a:tab pos="354965" algn="l"/>
                <a:tab pos="355600" algn="l"/>
              </a:tabLst>
            </a:pPr>
            <a:r>
              <a:rPr sz="1800" dirty="0">
                <a:solidFill>
                  <a:srgbClr val="3333CC"/>
                </a:solidFill>
                <a:latin typeface="Comic Sans MS"/>
                <a:cs typeface="Comic Sans MS"/>
              </a:rPr>
              <a:t>Data </a:t>
            </a:r>
            <a:r>
              <a:rPr sz="1800" spc="-5" dirty="0">
                <a:solidFill>
                  <a:srgbClr val="3333CC"/>
                </a:solidFill>
                <a:latin typeface="Comic Sans MS"/>
                <a:cs typeface="Comic Sans MS"/>
              </a:rPr>
              <a:t>need to be formatted for </a:t>
            </a:r>
            <a:r>
              <a:rPr sz="1800" dirty="0">
                <a:solidFill>
                  <a:srgbClr val="3333CC"/>
                </a:solidFill>
                <a:latin typeface="Comic Sans MS"/>
                <a:cs typeface="Comic Sans MS"/>
              </a:rPr>
              <a:t>a given software</a:t>
            </a:r>
            <a:r>
              <a:rPr sz="1800" spc="20" dirty="0">
                <a:solidFill>
                  <a:srgbClr val="3333CC"/>
                </a:solidFill>
                <a:latin typeface="Comic Sans MS"/>
                <a:cs typeface="Comic Sans MS"/>
              </a:rPr>
              <a:t> </a:t>
            </a:r>
            <a:r>
              <a:rPr sz="1800" spc="-5" dirty="0">
                <a:solidFill>
                  <a:srgbClr val="3333CC"/>
                </a:solidFill>
                <a:latin typeface="Comic Sans MS"/>
                <a:cs typeface="Comic Sans MS"/>
              </a:rPr>
              <a:t>tool</a:t>
            </a:r>
            <a:endParaRPr sz="1800">
              <a:latin typeface="Comic Sans MS"/>
              <a:cs typeface="Comic Sans MS"/>
            </a:endParaRPr>
          </a:p>
          <a:p>
            <a:pPr marL="355600" indent="-342900">
              <a:lnSpc>
                <a:spcPct val="100000"/>
              </a:lnSpc>
              <a:spcBef>
                <a:spcPts val="2160"/>
              </a:spcBef>
              <a:buClr>
                <a:srgbClr val="FF0000"/>
              </a:buClr>
              <a:buChar char="•"/>
              <a:tabLst>
                <a:tab pos="354965" algn="l"/>
                <a:tab pos="355600" algn="l"/>
              </a:tabLst>
            </a:pPr>
            <a:r>
              <a:rPr sz="1800" dirty="0">
                <a:solidFill>
                  <a:srgbClr val="3333CC"/>
                </a:solidFill>
                <a:latin typeface="Comic Sans MS"/>
                <a:cs typeface="Comic Sans MS"/>
              </a:rPr>
              <a:t>Data </a:t>
            </a:r>
            <a:r>
              <a:rPr sz="1800" spc="-5" dirty="0">
                <a:solidFill>
                  <a:srgbClr val="3333CC"/>
                </a:solidFill>
                <a:latin typeface="Comic Sans MS"/>
                <a:cs typeface="Comic Sans MS"/>
              </a:rPr>
              <a:t>need to be </a:t>
            </a:r>
            <a:r>
              <a:rPr sz="1800" dirty="0">
                <a:solidFill>
                  <a:srgbClr val="3333CC"/>
                </a:solidFill>
                <a:latin typeface="Comic Sans MS"/>
                <a:cs typeface="Comic Sans MS"/>
              </a:rPr>
              <a:t>made adequate </a:t>
            </a:r>
            <a:r>
              <a:rPr sz="1800" spc="-5" dirty="0">
                <a:solidFill>
                  <a:srgbClr val="3333CC"/>
                </a:solidFill>
                <a:latin typeface="Comic Sans MS"/>
                <a:cs typeface="Comic Sans MS"/>
              </a:rPr>
              <a:t>for </a:t>
            </a:r>
            <a:r>
              <a:rPr sz="1800" dirty="0">
                <a:solidFill>
                  <a:srgbClr val="3333CC"/>
                </a:solidFill>
                <a:latin typeface="Comic Sans MS"/>
                <a:cs typeface="Comic Sans MS"/>
              </a:rPr>
              <a:t>a given</a:t>
            </a:r>
            <a:r>
              <a:rPr sz="1800" spc="20" dirty="0">
                <a:solidFill>
                  <a:srgbClr val="3333CC"/>
                </a:solidFill>
                <a:latin typeface="Comic Sans MS"/>
                <a:cs typeface="Comic Sans MS"/>
              </a:rPr>
              <a:t> </a:t>
            </a:r>
            <a:r>
              <a:rPr sz="1800" spc="-5" dirty="0">
                <a:solidFill>
                  <a:srgbClr val="3333CC"/>
                </a:solidFill>
                <a:latin typeface="Comic Sans MS"/>
                <a:cs typeface="Comic Sans MS"/>
              </a:rPr>
              <a:t>method</a:t>
            </a:r>
            <a:endParaRPr sz="1800">
              <a:latin typeface="Comic Sans MS"/>
              <a:cs typeface="Comic Sans MS"/>
            </a:endParaRPr>
          </a:p>
          <a:p>
            <a:pPr marL="355600" indent="-342900">
              <a:lnSpc>
                <a:spcPct val="100000"/>
              </a:lnSpc>
              <a:spcBef>
                <a:spcPts val="2160"/>
              </a:spcBef>
              <a:buClr>
                <a:srgbClr val="FF0000"/>
              </a:buClr>
              <a:buChar char="•"/>
              <a:tabLst>
                <a:tab pos="354965" algn="l"/>
                <a:tab pos="355600" algn="l"/>
              </a:tabLst>
            </a:pPr>
            <a:r>
              <a:rPr sz="1800" dirty="0">
                <a:solidFill>
                  <a:srgbClr val="3333CC"/>
                </a:solidFill>
                <a:latin typeface="Comic Sans MS"/>
                <a:cs typeface="Comic Sans MS"/>
              </a:rPr>
              <a:t>Data </a:t>
            </a:r>
            <a:r>
              <a:rPr sz="1800" spc="-5" dirty="0">
                <a:solidFill>
                  <a:srgbClr val="3333CC"/>
                </a:solidFill>
                <a:latin typeface="Comic Sans MS"/>
                <a:cs typeface="Comic Sans MS"/>
              </a:rPr>
              <a:t>in the real world is dirty</a:t>
            </a:r>
            <a:endParaRPr sz="1800">
              <a:latin typeface="Comic Sans MS"/>
              <a:cs typeface="Comic Sans MS"/>
            </a:endParaRPr>
          </a:p>
          <a:p>
            <a:pPr marL="755650" marR="5080" lvl="1" indent="-285750">
              <a:lnSpc>
                <a:spcPct val="110000"/>
              </a:lnSpc>
              <a:spcBef>
                <a:spcPts val="1764"/>
              </a:spcBef>
              <a:buClr>
                <a:srgbClr val="FF0000"/>
              </a:buClr>
              <a:buChar char="•"/>
              <a:tabLst>
                <a:tab pos="755015" algn="l"/>
                <a:tab pos="755650" algn="l"/>
              </a:tabLst>
            </a:pPr>
            <a:r>
              <a:rPr sz="1600" spc="-5" dirty="0">
                <a:solidFill>
                  <a:srgbClr val="008000"/>
                </a:solidFill>
                <a:latin typeface="Comic Sans MS"/>
                <a:cs typeface="Comic Sans MS"/>
              </a:rPr>
              <a:t>incomplete: </a:t>
            </a:r>
            <a:r>
              <a:rPr sz="1600" dirty="0">
                <a:solidFill>
                  <a:srgbClr val="3333CC"/>
                </a:solidFill>
                <a:latin typeface="Comic Sans MS"/>
                <a:cs typeface="Comic Sans MS"/>
              </a:rPr>
              <a:t>lacking attribute </a:t>
            </a:r>
            <a:r>
              <a:rPr sz="1600" spc="-5" dirty="0">
                <a:solidFill>
                  <a:srgbClr val="3333CC"/>
                </a:solidFill>
                <a:latin typeface="Comic Sans MS"/>
                <a:cs typeface="Comic Sans MS"/>
              </a:rPr>
              <a:t>values, </a:t>
            </a:r>
            <a:r>
              <a:rPr sz="1600" dirty="0">
                <a:solidFill>
                  <a:srgbClr val="3333CC"/>
                </a:solidFill>
                <a:latin typeface="Comic Sans MS"/>
                <a:cs typeface="Comic Sans MS"/>
              </a:rPr>
              <a:t>lacking certain attributes of </a:t>
            </a:r>
            <a:r>
              <a:rPr sz="1600" spc="-5" dirty="0">
                <a:solidFill>
                  <a:srgbClr val="3333CC"/>
                </a:solidFill>
                <a:latin typeface="Comic Sans MS"/>
                <a:cs typeface="Comic Sans MS"/>
              </a:rPr>
              <a:t>interest, </a:t>
            </a:r>
            <a:r>
              <a:rPr sz="1600" dirty="0">
                <a:solidFill>
                  <a:srgbClr val="3333CC"/>
                </a:solidFill>
                <a:latin typeface="Comic Sans MS"/>
                <a:cs typeface="Comic Sans MS"/>
              </a:rPr>
              <a:t>or  containing only aggregate</a:t>
            </a:r>
            <a:r>
              <a:rPr sz="1600" spc="-30" dirty="0">
                <a:solidFill>
                  <a:srgbClr val="3333CC"/>
                </a:solidFill>
                <a:latin typeface="Comic Sans MS"/>
                <a:cs typeface="Comic Sans MS"/>
              </a:rPr>
              <a:t> </a:t>
            </a:r>
            <a:r>
              <a:rPr sz="1600" spc="-5" dirty="0">
                <a:solidFill>
                  <a:srgbClr val="3333CC"/>
                </a:solidFill>
                <a:latin typeface="Comic Sans MS"/>
                <a:cs typeface="Comic Sans MS"/>
              </a:rPr>
              <a:t>data</a:t>
            </a:r>
            <a:endParaRPr sz="1600">
              <a:latin typeface="Comic Sans MS"/>
              <a:cs typeface="Comic Sans MS"/>
            </a:endParaRPr>
          </a:p>
          <a:p>
            <a:pPr marL="1155700" lvl="2" indent="-228600">
              <a:lnSpc>
                <a:spcPct val="100000"/>
              </a:lnSpc>
              <a:spcBef>
                <a:spcPts val="865"/>
              </a:spcBef>
              <a:buClr>
                <a:srgbClr val="FF0000"/>
              </a:buClr>
              <a:buSzPct val="89285"/>
              <a:buChar char="•"/>
              <a:tabLst>
                <a:tab pos="1155065" algn="l"/>
                <a:tab pos="1155700" algn="l"/>
              </a:tabLst>
            </a:pPr>
            <a:r>
              <a:rPr sz="1400" spc="-5" dirty="0">
                <a:solidFill>
                  <a:srgbClr val="3333CC"/>
                </a:solidFill>
                <a:latin typeface="Comic Sans MS"/>
                <a:cs typeface="Comic Sans MS"/>
              </a:rPr>
              <a:t>e.g.,</a:t>
            </a:r>
            <a:r>
              <a:rPr sz="1400" spc="-20" dirty="0">
                <a:solidFill>
                  <a:srgbClr val="3333CC"/>
                </a:solidFill>
                <a:latin typeface="Comic Sans MS"/>
                <a:cs typeface="Comic Sans MS"/>
              </a:rPr>
              <a:t> </a:t>
            </a:r>
            <a:r>
              <a:rPr sz="1400" spc="-5" dirty="0">
                <a:solidFill>
                  <a:srgbClr val="3333CC"/>
                </a:solidFill>
                <a:latin typeface="Comic Sans MS"/>
                <a:cs typeface="Comic Sans MS"/>
              </a:rPr>
              <a:t>occupation=“”</a:t>
            </a:r>
            <a:endParaRPr sz="1400">
              <a:latin typeface="Comic Sans MS"/>
              <a:cs typeface="Comic Sans MS"/>
            </a:endParaRPr>
          </a:p>
          <a:p>
            <a:pPr marL="755650" lvl="1" indent="-285750">
              <a:lnSpc>
                <a:spcPct val="100000"/>
              </a:lnSpc>
              <a:spcBef>
                <a:spcPts val="935"/>
              </a:spcBef>
              <a:buClr>
                <a:srgbClr val="FF0000"/>
              </a:buClr>
              <a:buChar char="•"/>
              <a:tabLst>
                <a:tab pos="755015" algn="l"/>
                <a:tab pos="755650" algn="l"/>
              </a:tabLst>
            </a:pPr>
            <a:r>
              <a:rPr sz="1600" spc="-5" dirty="0">
                <a:solidFill>
                  <a:srgbClr val="008000"/>
                </a:solidFill>
                <a:latin typeface="Comic Sans MS"/>
                <a:cs typeface="Comic Sans MS"/>
              </a:rPr>
              <a:t>noisy: </a:t>
            </a:r>
            <a:r>
              <a:rPr sz="1600" dirty="0">
                <a:solidFill>
                  <a:srgbClr val="3333CC"/>
                </a:solidFill>
                <a:latin typeface="Comic Sans MS"/>
                <a:cs typeface="Comic Sans MS"/>
              </a:rPr>
              <a:t>containing errors or</a:t>
            </a:r>
            <a:r>
              <a:rPr sz="1600" spc="-25" dirty="0">
                <a:solidFill>
                  <a:srgbClr val="3333CC"/>
                </a:solidFill>
                <a:latin typeface="Comic Sans MS"/>
                <a:cs typeface="Comic Sans MS"/>
              </a:rPr>
              <a:t> </a:t>
            </a:r>
            <a:r>
              <a:rPr sz="1600" spc="-5" dirty="0">
                <a:solidFill>
                  <a:srgbClr val="3333CC"/>
                </a:solidFill>
                <a:latin typeface="Comic Sans MS"/>
                <a:cs typeface="Comic Sans MS"/>
              </a:rPr>
              <a:t>outliers</a:t>
            </a:r>
            <a:endParaRPr sz="1600">
              <a:latin typeface="Comic Sans MS"/>
              <a:cs typeface="Comic Sans MS"/>
            </a:endParaRPr>
          </a:p>
          <a:p>
            <a:pPr marL="1155700" lvl="2" indent="-228600">
              <a:lnSpc>
                <a:spcPct val="100000"/>
              </a:lnSpc>
              <a:spcBef>
                <a:spcPts val="865"/>
              </a:spcBef>
              <a:buClr>
                <a:srgbClr val="FF0000"/>
              </a:buClr>
              <a:buSzPct val="89285"/>
              <a:buChar char="•"/>
              <a:tabLst>
                <a:tab pos="1155065" algn="l"/>
                <a:tab pos="1155700" algn="l"/>
              </a:tabLst>
            </a:pPr>
            <a:r>
              <a:rPr sz="1400" spc="-5" dirty="0">
                <a:solidFill>
                  <a:srgbClr val="3333CC"/>
                </a:solidFill>
                <a:latin typeface="Comic Sans MS"/>
                <a:cs typeface="Comic Sans MS"/>
              </a:rPr>
              <a:t>e.g., </a:t>
            </a:r>
            <a:r>
              <a:rPr sz="1400" spc="-10" dirty="0">
                <a:solidFill>
                  <a:srgbClr val="3333CC"/>
                </a:solidFill>
                <a:latin typeface="Comic Sans MS"/>
                <a:cs typeface="Comic Sans MS"/>
              </a:rPr>
              <a:t>Salary=“-10”,</a:t>
            </a:r>
            <a:r>
              <a:rPr sz="1400" spc="-25" dirty="0">
                <a:solidFill>
                  <a:srgbClr val="3333CC"/>
                </a:solidFill>
                <a:latin typeface="Comic Sans MS"/>
                <a:cs typeface="Comic Sans MS"/>
              </a:rPr>
              <a:t> </a:t>
            </a:r>
            <a:r>
              <a:rPr sz="1400" spc="-10" dirty="0">
                <a:solidFill>
                  <a:srgbClr val="3333CC"/>
                </a:solidFill>
                <a:latin typeface="Comic Sans MS"/>
                <a:cs typeface="Comic Sans MS"/>
              </a:rPr>
              <a:t>Age=“222”</a:t>
            </a:r>
            <a:endParaRPr sz="1400">
              <a:latin typeface="Comic Sans MS"/>
              <a:cs typeface="Comic Sans MS"/>
            </a:endParaRPr>
          </a:p>
          <a:p>
            <a:pPr marL="755650" lvl="1" indent="-285750">
              <a:lnSpc>
                <a:spcPct val="100000"/>
              </a:lnSpc>
              <a:spcBef>
                <a:spcPts val="935"/>
              </a:spcBef>
              <a:buClr>
                <a:srgbClr val="FF0000"/>
              </a:buClr>
              <a:buChar char="•"/>
              <a:tabLst>
                <a:tab pos="755015" algn="l"/>
                <a:tab pos="755650" algn="l"/>
              </a:tabLst>
            </a:pPr>
            <a:r>
              <a:rPr sz="1600" spc="-5" dirty="0">
                <a:solidFill>
                  <a:srgbClr val="008000"/>
                </a:solidFill>
                <a:latin typeface="Comic Sans MS"/>
                <a:cs typeface="Comic Sans MS"/>
              </a:rPr>
              <a:t>inconsistent: </a:t>
            </a:r>
            <a:r>
              <a:rPr sz="1600" dirty="0">
                <a:solidFill>
                  <a:srgbClr val="3333CC"/>
                </a:solidFill>
                <a:latin typeface="Comic Sans MS"/>
                <a:cs typeface="Comic Sans MS"/>
              </a:rPr>
              <a:t>containing </a:t>
            </a:r>
            <a:r>
              <a:rPr sz="1600" spc="-5" dirty="0">
                <a:solidFill>
                  <a:srgbClr val="3333CC"/>
                </a:solidFill>
                <a:latin typeface="Comic Sans MS"/>
                <a:cs typeface="Comic Sans MS"/>
              </a:rPr>
              <a:t>discrepancies in </a:t>
            </a:r>
            <a:r>
              <a:rPr sz="1600" dirty="0">
                <a:solidFill>
                  <a:srgbClr val="3333CC"/>
                </a:solidFill>
                <a:latin typeface="Comic Sans MS"/>
                <a:cs typeface="Comic Sans MS"/>
              </a:rPr>
              <a:t>codes or</a:t>
            </a:r>
            <a:r>
              <a:rPr sz="1600" spc="-70" dirty="0">
                <a:solidFill>
                  <a:srgbClr val="3333CC"/>
                </a:solidFill>
                <a:latin typeface="Comic Sans MS"/>
                <a:cs typeface="Comic Sans MS"/>
              </a:rPr>
              <a:t> </a:t>
            </a:r>
            <a:r>
              <a:rPr sz="1600" spc="-5" dirty="0">
                <a:solidFill>
                  <a:srgbClr val="3333CC"/>
                </a:solidFill>
                <a:latin typeface="Comic Sans MS"/>
                <a:cs typeface="Comic Sans MS"/>
              </a:rPr>
              <a:t>names</a:t>
            </a:r>
            <a:endParaRPr sz="1600">
              <a:latin typeface="Comic Sans MS"/>
              <a:cs typeface="Comic Sans MS"/>
            </a:endParaRPr>
          </a:p>
          <a:p>
            <a:pPr marL="1155700" lvl="2" indent="-228600">
              <a:lnSpc>
                <a:spcPct val="100000"/>
              </a:lnSpc>
              <a:spcBef>
                <a:spcPts val="865"/>
              </a:spcBef>
              <a:buClr>
                <a:srgbClr val="FF0000"/>
              </a:buClr>
              <a:buSzPct val="89285"/>
              <a:buChar char="•"/>
              <a:tabLst>
                <a:tab pos="1155065" algn="l"/>
                <a:tab pos="1155700" algn="l"/>
              </a:tabLst>
            </a:pPr>
            <a:r>
              <a:rPr sz="1400" spc="-5" dirty="0">
                <a:solidFill>
                  <a:srgbClr val="3333CC"/>
                </a:solidFill>
                <a:latin typeface="Comic Sans MS"/>
                <a:cs typeface="Comic Sans MS"/>
              </a:rPr>
              <a:t>e.g., </a:t>
            </a:r>
            <a:r>
              <a:rPr sz="1400" spc="-10" dirty="0">
                <a:solidFill>
                  <a:srgbClr val="3333CC"/>
                </a:solidFill>
                <a:latin typeface="Comic Sans MS"/>
                <a:cs typeface="Comic Sans MS"/>
              </a:rPr>
              <a:t>Age=“42”</a:t>
            </a:r>
            <a:r>
              <a:rPr sz="1400" spc="-40" dirty="0">
                <a:solidFill>
                  <a:srgbClr val="3333CC"/>
                </a:solidFill>
                <a:latin typeface="Comic Sans MS"/>
                <a:cs typeface="Comic Sans MS"/>
              </a:rPr>
              <a:t> </a:t>
            </a:r>
            <a:r>
              <a:rPr sz="1400" spc="-10" dirty="0">
                <a:solidFill>
                  <a:srgbClr val="3333CC"/>
                </a:solidFill>
                <a:latin typeface="Comic Sans MS"/>
                <a:cs typeface="Comic Sans MS"/>
              </a:rPr>
              <a:t>Birthday=“03/07/1997”</a:t>
            </a:r>
            <a:endParaRPr sz="1400">
              <a:latin typeface="Comic Sans MS"/>
              <a:cs typeface="Comic Sans MS"/>
            </a:endParaRPr>
          </a:p>
          <a:p>
            <a:pPr marL="1155700" lvl="2" indent="-228600">
              <a:lnSpc>
                <a:spcPct val="100000"/>
              </a:lnSpc>
              <a:spcBef>
                <a:spcPts val="840"/>
              </a:spcBef>
              <a:buClr>
                <a:srgbClr val="FF0000"/>
              </a:buClr>
              <a:buSzPct val="89285"/>
              <a:buChar char="•"/>
              <a:tabLst>
                <a:tab pos="1155065" algn="l"/>
                <a:tab pos="1155700" algn="l"/>
              </a:tabLst>
            </a:pPr>
            <a:r>
              <a:rPr sz="1400" spc="-5" dirty="0">
                <a:solidFill>
                  <a:srgbClr val="3333CC"/>
                </a:solidFill>
                <a:latin typeface="Comic Sans MS"/>
                <a:cs typeface="Comic Sans MS"/>
              </a:rPr>
              <a:t>e.g., Was </a:t>
            </a:r>
            <a:r>
              <a:rPr sz="1400" spc="-10" dirty="0">
                <a:solidFill>
                  <a:srgbClr val="3333CC"/>
                </a:solidFill>
                <a:latin typeface="Comic Sans MS"/>
                <a:cs typeface="Comic Sans MS"/>
              </a:rPr>
              <a:t>rating </a:t>
            </a:r>
            <a:r>
              <a:rPr sz="1400" spc="-5" dirty="0">
                <a:solidFill>
                  <a:srgbClr val="3333CC"/>
                </a:solidFill>
                <a:latin typeface="Comic Sans MS"/>
                <a:cs typeface="Comic Sans MS"/>
              </a:rPr>
              <a:t>“1,2,3”, now </a:t>
            </a:r>
            <a:r>
              <a:rPr sz="1400" spc="-10" dirty="0">
                <a:solidFill>
                  <a:srgbClr val="3333CC"/>
                </a:solidFill>
                <a:latin typeface="Comic Sans MS"/>
                <a:cs typeface="Comic Sans MS"/>
              </a:rPr>
              <a:t>rating </a:t>
            </a:r>
            <a:r>
              <a:rPr sz="1400" spc="-5" dirty="0">
                <a:solidFill>
                  <a:srgbClr val="3333CC"/>
                </a:solidFill>
                <a:latin typeface="Comic Sans MS"/>
                <a:cs typeface="Comic Sans MS"/>
              </a:rPr>
              <a:t>“A, B,</a:t>
            </a:r>
            <a:r>
              <a:rPr sz="1400" spc="25" dirty="0">
                <a:solidFill>
                  <a:srgbClr val="3333CC"/>
                </a:solidFill>
                <a:latin typeface="Comic Sans MS"/>
                <a:cs typeface="Comic Sans MS"/>
              </a:rPr>
              <a:t> </a:t>
            </a:r>
            <a:r>
              <a:rPr sz="1400" spc="-5" dirty="0">
                <a:solidFill>
                  <a:srgbClr val="3333CC"/>
                </a:solidFill>
                <a:latin typeface="Comic Sans MS"/>
                <a:cs typeface="Comic Sans MS"/>
              </a:rPr>
              <a:t>C”</a:t>
            </a:r>
            <a:endParaRPr sz="1400">
              <a:latin typeface="Comic Sans MS"/>
              <a:cs typeface="Comic Sans MS"/>
            </a:endParaRPr>
          </a:p>
          <a:p>
            <a:pPr marL="1155700" lvl="2" indent="-228600">
              <a:lnSpc>
                <a:spcPct val="100000"/>
              </a:lnSpc>
              <a:spcBef>
                <a:spcPts val="840"/>
              </a:spcBef>
              <a:buClr>
                <a:srgbClr val="FF0000"/>
              </a:buClr>
              <a:buSzPct val="89285"/>
              <a:buChar char="•"/>
              <a:tabLst>
                <a:tab pos="1155065" algn="l"/>
                <a:tab pos="1155700" algn="l"/>
              </a:tabLst>
            </a:pPr>
            <a:r>
              <a:rPr sz="1400" spc="-5" dirty="0">
                <a:solidFill>
                  <a:srgbClr val="3333CC"/>
                </a:solidFill>
                <a:latin typeface="Comic Sans MS"/>
                <a:cs typeface="Comic Sans MS"/>
              </a:rPr>
              <a:t>e.g., </a:t>
            </a:r>
            <a:r>
              <a:rPr sz="1400" spc="-10" dirty="0">
                <a:solidFill>
                  <a:srgbClr val="3333CC"/>
                </a:solidFill>
                <a:latin typeface="Comic Sans MS"/>
                <a:cs typeface="Comic Sans MS"/>
              </a:rPr>
              <a:t>discrepancy </a:t>
            </a:r>
            <a:r>
              <a:rPr sz="1400" spc="-5" dirty="0">
                <a:solidFill>
                  <a:srgbClr val="3333CC"/>
                </a:solidFill>
                <a:latin typeface="Comic Sans MS"/>
                <a:cs typeface="Comic Sans MS"/>
              </a:rPr>
              <a:t>between </a:t>
            </a:r>
            <a:r>
              <a:rPr sz="1400" spc="-10" dirty="0">
                <a:solidFill>
                  <a:srgbClr val="3333CC"/>
                </a:solidFill>
                <a:latin typeface="Comic Sans MS"/>
                <a:cs typeface="Comic Sans MS"/>
              </a:rPr>
              <a:t>duplicate</a:t>
            </a:r>
            <a:r>
              <a:rPr sz="1400" spc="65" dirty="0">
                <a:solidFill>
                  <a:srgbClr val="3333CC"/>
                </a:solidFill>
                <a:latin typeface="Comic Sans MS"/>
                <a:cs typeface="Comic Sans MS"/>
              </a:rPr>
              <a:t> </a:t>
            </a:r>
            <a:r>
              <a:rPr sz="1400" spc="-5" dirty="0">
                <a:solidFill>
                  <a:srgbClr val="3333CC"/>
                </a:solidFill>
                <a:latin typeface="Comic Sans MS"/>
                <a:cs typeface="Comic Sans MS"/>
              </a:rPr>
              <a:t>records</a:t>
            </a:r>
            <a:endParaRPr sz="1400">
              <a:latin typeface="Comic Sans MS"/>
              <a:cs typeface="Comic Sans MS"/>
            </a:endParaRPr>
          </a:p>
          <a:p>
            <a:pPr marL="1155700" lvl="2" indent="-228600">
              <a:lnSpc>
                <a:spcPct val="100000"/>
              </a:lnSpc>
              <a:spcBef>
                <a:spcPts val="790"/>
              </a:spcBef>
              <a:buClr>
                <a:srgbClr val="FF0000"/>
              </a:buClr>
              <a:buSzPct val="89285"/>
              <a:buChar char="•"/>
              <a:tabLst>
                <a:tab pos="1155065" algn="l"/>
                <a:tab pos="1155700" algn="l"/>
              </a:tabLst>
            </a:pPr>
            <a:r>
              <a:rPr sz="1400" spc="-5" dirty="0">
                <a:solidFill>
                  <a:srgbClr val="3333CC"/>
                </a:solidFill>
                <a:latin typeface="Comic Sans MS"/>
                <a:cs typeface="Comic Sans MS"/>
              </a:rPr>
              <a:t>e.g., </a:t>
            </a:r>
            <a:r>
              <a:rPr sz="1450" b="1" i="1" spc="-30" dirty="0">
                <a:solidFill>
                  <a:srgbClr val="3333CC"/>
                </a:solidFill>
                <a:latin typeface="Comic Sans MS"/>
                <a:cs typeface="Comic Sans MS"/>
              </a:rPr>
              <a:t>Endereço: </a:t>
            </a:r>
            <a:r>
              <a:rPr sz="1400" spc="-10" dirty="0">
                <a:solidFill>
                  <a:srgbClr val="3333CC"/>
                </a:solidFill>
                <a:latin typeface="Comic Sans MS"/>
                <a:cs typeface="Comic Sans MS"/>
              </a:rPr>
              <a:t>travessa </a:t>
            </a:r>
            <a:r>
              <a:rPr sz="1400" spc="-5" dirty="0">
                <a:solidFill>
                  <a:srgbClr val="3333CC"/>
                </a:solidFill>
                <a:latin typeface="Comic Sans MS"/>
                <a:cs typeface="Comic Sans MS"/>
              </a:rPr>
              <a:t>da </a:t>
            </a:r>
            <a:r>
              <a:rPr sz="1400" spc="-10" dirty="0">
                <a:solidFill>
                  <a:srgbClr val="3333CC"/>
                </a:solidFill>
                <a:latin typeface="Comic Sans MS"/>
                <a:cs typeface="Comic Sans MS"/>
              </a:rPr>
              <a:t>Igreja </a:t>
            </a:r>
            <a:r>
              <a:rPr sz="1400" spc="-5" dirty="0">
                <a:solidFill>
                  <a:srgbClr val="3333CC"/>
                </a:solidFill>
                <a:latin typeface="Comic Sans MS"/>
                <a:cs typeface="Comic Sans MS"/>
              </a:rPr>
              <a:t>de Nevogilde </a:t>
            </a:r>
            <a:r>
              <a:rPr sz="1450" b="1" i="1" spc="-35" dirty="0">
                <a:solidFill>
                  <a:srgbClr val="3333CC"/>
                </a:solidFill>
                <a:latin typeface="Comic Sans MS"/>
                <a:cs typeface="Comic Sans MS"/>
              </a:rPr>
              <a:t>Freguesia:</a:t>
            </a:r>
            <a:r>
              <a:rPr sz="1450" b="1" i="1" spc="-340" dirty="0">
                <a:solidFill>
                  <a:srgbClr val="3333CC"/>
                </a:solidFill>
                <a:latin typeface="Comic Sans MS"/>
                <a:cs typeface="Comic Sans MS"/>
              </a:rPr>
              <a:t> </a:t>
            </a:r>
            <a:r>
              <a:rPr sz="1400" spc="-5" dirty="0">
                <a:solidFill>
                  <a:srgbClr val="3333CC"/>
                </a:solidFill>
                <a:latin typeface="Comic Sans MS"/>
                <a:cs typeface="Comic Sans MS"/>
              </a:rPr>
              <a:t>Paranhos</a:t>
            </a:r>
            <a:endParaRPr sz="1400">
              <a:latin typeface="Comic Sans MS"/>
              <a:cs typeface="Comic Sans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64669" y="904748"/>
            <a:ext cx="5701030" cy="452755"/>
          </a:xfrm>
          <a:prstGeom prst="rect">
            <a:avLst/>
          </a:prstGeom>
        </p:spPr>
        <p:txBody>
          <a:bodyPr vert="horz" wrap="square" lIns="0" tIns="12700" rIns="0" bIns="0" rtlCol="0">
            <a:spAutoFit/>
          </a:bodyPr>
          <a:lstStyle/>
          <a:p>
            <a:pPr marL="12700">
              <a:lnSpc>
                <a:spcPct val="100000"/>
              </a:lnSpc>
              <a:spcBef>
                <a:spcPts val="100"/>
              </a:spcBef>
            </a:pPr>
            <a:r>
              <a:rPr sz="2800" spc="-5" dirty="0"/>
              <a:t>Major Tasks in </a:t>
            </a:r>
            <a:r>
              <a:rPr sz="2800" dirty="0"/>
              <a:t>Data</a:t>
            </a:r>
            <a:r>
              <a:rPr sz="2800" spc="-60" dirty="0"/>
              <a:t> </a:t>
            </a:r>
            <a:r>
              <a:rPr sz="2800" spc="-5" dirty="0"/>
              <a:t>Preparation</a:t>
            </a:r>
            <a:endParaRPr sz="2800"/>
          </a:p>
        </p:txBody>
      </p:sp>
      <p:sp>
        <p:nvSpPr>
          <p:cNvPr id="4" name="object 4"/>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7</a:t>
            </a:fld>
            <a:endParaRPr sz="1200">
              <a:latin typeface="Comic Sans MS"/>
              <a:cs typeface="Comic Sans MS"/>
            </a:endParaRPr>
          </a:p>
        </p:txBody>
      </p:sp>
      <p:sp>
        <p:nvSpPr>
          <p:cNvPr id="3" name="object 3"/>
          <p:cNvSpPr txBox="1"/>
          <p:nvPr/>
        </p:nvSpPr>
        <p:spPr>
          <a:xfrm>
            <a:off x="1463173" y="1867153"/>
            <a:ext cx="7837170" cy="4171315"/>
          </a:xfrm>
          <a:prstGeom prst="rect">
            <a:avLst/>
          </a:prstGeom>
        </p:spPr>
        <p:txBody>
          <a:bodyPr vert="horz" wrap="square" lIns="0" tIns="12700" rIns="0" bIns="0" rtlCol="0">
            <a:spAutoFit/>
          </a:bodyPr>
          <a:lstStyle/>
          <a:p>
            <a:pPr marL="355600" indent="-342900">
              <a:lnSpc>
                <a:spcPct val="100000"/>
              </a:lnSpc>
              <a:spcBef>
                <a:spcPts val="100"/>
              </a:spcBef>
              <a:buClr>
                <a:srgbClr val="FF0000"/>
              </a:buClr>
              <a:buChar char="•"/>
              <a:tabLst>
                <a:tab pos="354965" algn="l"/>
                <a:tab pos="355600" algn="l"/>
              </a:tabLst>
            </a:pPr>
            <a:r>
              <a:rPr sz="1800" dirty="0">
                <a:solidFill>
                  <a:srgbClr val="3333CC"/>
                </a:solidFill>
                <a:latin typeface="Comic Sans MS"/>
                <a:cs typeface="Comic Sans MS"/>
              </a:rPr>
              <a:t>Data</a:t>
            </a:r>
            <a:r>
              <a:rPr sz="1800" spc="-5" dirty="0">
                <a:solidFill>
                  <a:srgbClr val="3333CC"/>
                </a:solidFill>
                <a:latin typeface="Comic Sans MS"/>
                <a:cs typeface="Comic Sans MS"/>
              </a:rPr>
              <a:t> discretization</a:t>
            </a:r>
            <a:endParaRPr sz="1800">
              <a:latin typeface="Comic Sans MS"/>
              <a:cs typeface="Comic Sans MS"/>
            </a:endParaRPr>
          </a:p>
          <a:p>
            <a:pPr marL="755015" lvl="1" indent="-286385">
              <a:lnSpc>
                <a:spcPct val="100000"/>
              </a:lnSpc>
              <a:spcBef>
                <a:spcPts val="1490"/>
              </a:spcBef>
              <a:buClr>
                <a:srgbClr val="FF0000"/>
              </a:buClr>
              <a:buChar char="•"/>
              <a:tabLst>
                <a:tab pos="755015" algn="l"/>
                <a:tab pos="755650" algn="l"/>
              </a:tabLst>
            </a:pPr>
            <a:r>
              <a:rPr sz="1400" spc="-5" dirty="0">
                <a:solidFill>
                  <a:srgbClr val="3333CC"/>
                </a:solidFill>
                <a:latin typeface="Comic Sans MS"/>
                <a:cs typeface="Comic Sans MS"/>
              </a:rPr>
              <a:t>Part of data </a:t>
            </a:r>
            <a:r>
              <a:rPr sz="1400" spc="-10" dirty="0">
                <a:solidFill>
                  <a:srgbClr val="3333CC"/>
                </a:solidFill>
                <a:latin typeface="Comic Sans MS"/>
                <a:cs typeface="Comic Sans MS"/>
              </a:rPr>
              <a:t>reduction </a:t>
            </a:r>
            <a:r>
              <a:rPr sz="1400" spc="-5" dirty="0">
                <a:solidFill>
                  <a:srgbClr val="3333CC"/>
                </a:solidFill>
                <a:latin typeface="Comic Sans MS"/>
                <a:cs typeface="Comic Sans MS"/>
              </a:rPr>
              <a:t>but with particular </a:t>
            </a:r>
            <a:r>
              <a:rPr sz="1400" spc="-10" dirty="0">
                <a:solidFill>
                  <a:srgbClr val="3333CC"/>
                </a:solidFill>
                <a:latin typeface="Comic Sans MS"/>
                <a:cs typeface="Comic Sans MS"/>
              </a:rPr>
              <a:t>importance, </a:t>
            </a:r>
            <a:r>
              <a:rPr sz="1400" spc="-5" dirty="0">
                <a:solidFill>
                  <a:srgbClr val="3333CC"/>
                </a:solidFill>
                <a:latin typeface="Comic Sans MS"/>
                <a:cs typeface="Comic Sans MS"/>
              </a:rPr>
              <a:t>especially for </a:t>
            </a:r>
            <a:r>
              <a:rPr sz="1400" spc="-10" dirty="0">
                <a:solidFill>
                  <a:srgbClr val="3333CC"/>
                </a:solidFill>
                <a:latin typeface="Comic Sans MS"/>
                <a:cs typeface="Comic Sans MS"/>
              </a:rPr>
              <a:t>numerical</a:t>
            </a:r>
            <a:r>
              <a:rPr sz="1400" spc="165" dirty="0">
                <a:solidFill>
                  <a:srgbClr val="3333CC"/>
                </a:solidFill>
                <a:latin typeface="Comic Sans MS"/>
                <a:cs typeface="Comic Sans MS"/>
              </a:rPr>
              <a:t> </a:t>
            </a:r>
            <a:r>
              <a:rPr sz="1400" spc="-5" dirty="0">
                <a:solidFill>
                  <a:srgbClr val="3333CC"/>
                </a:solidFill>
                <a:latin typeface="Comic Sans MS"/>
                <a:cs typeface="Comic Sans MS"/>
              </a:rPr>
              <a:t>data</a:t>
            </a:r>
            <a:endParaRPr sz="1400">
              <a:latin typeface="Comic Sans MS"/>
              <a:cs typeface="Comic Sans MS"/>
            </a:endParaRPr>
          </a:p>
          <a:p>
            <a:pPr marL="355600" indent="-342900">
              <a:lnSpc>
                <a:spcPct val="100000"/>
              </a:lnSpc>
              <a:spcBef>
                <a:spcPts val="740"/>
              </a:spcBef>
              <a:buClr>
                <a:srgbClr val="FF0000"/>
              </a:buClr>
              <a:buChar char="•"/>
              <a:tabLst>
                <a:tab pos="354965" algn="l"/>
                <a:tab pos="355600" algn="l"/>
              </a:tabLst>
            </a:pPr>
            <a:r>
              <a:rPr sz="1800" dirty="0">
                <a:solidFill>
                  <a:srgbClr val="3333CC"/>
                </a:solidFill>
                <a:latin typeface="Comic Sans MS"/>
                <a:cs typeface="Comic Sans MS"/>
              </a:rPr>
              <a:t>Data</a:t>
            </a:r>
            <a:r>
              <a:rPr sz="1800" spc="-5" dirty="0">
                <a:solidFill>
                  <a:srgbClr val="3333CC"/>
                </a:solidFill>
                <a:latin typeface="Comic Sans MS"/>
                <a:cs typeface="Comic Sans MS"/>
              </a:rPr>
              <a:t> </a:t>
            </a:r>
            <a:r>
              <a:rPr sz="1800" dirty="0">
                <a:solidFill>
                  <a:srgbClr val="3333CC"/>
                </a:solidFill>
                <a:latin typeface="Comic Sans MS"/>
                <a:cs typeface="Comic Sans MS"/>
              </a:rPr>
              <a:t>cleaning</a:t>
            </a:r>
            <a:endParaRPr sz="1800">
              <a:latin typeface="Comic Sans MS"/>
              <a:cs typeface="Comic Sans MS"/>
            </a:endParaRPr>
          </a:p>
          <a:p>
            <a:pPr marL="755015" marR="455295" lvl="1" indent="-285750">
              <a:lnSpc>
                <a:spcPts val="1510"/>
              </a:lnSpc>
              <a:spcBef>
                <a:spcPts val="1685"/>
              </a:spcBef>
              <a:buClr>
                <a:srgbClr val="FF0000"/>
              </a:buClr>
              <a:buChar char="•"/>
              <a:tabLst>
                <a:tab pos="755015" algn="l"/>
                <a:tab pos="755650" algn="l"/>
              </a:tabLst>
            </a:pPr>
            <a:r>
              <a:rPr sz="1400" spc="-5" dirty="0">
                <a:solidFill>
                  <a:srgbClr val="3333CC"/>
                </a:solidFill>
                <a:latin typeface="Comic Sans MS"/>
                <a:cs typeface="Comic Sans MS"/>
              </a:rPr>
              <a:t>Fill in missing </a:t>
            </a:r>
            <a:r>
              <a:rPr sz="1400" spc="-10" dirty="0">
                <a:solidFill>
                  <a:srgbClr val="3333CC"/>
                </a:solidFill>
                <a:latin typeface="Comic Sans MS"/>
                <a:cs typeface="Comic Sans MS"/>
              </a:rPr>
              <a:t>values, </a:t>
            </a:r>
            <a:r>
              <a:rPr sz="1400" spc="-5" dirty="0">
                <a:solidFill>
                  <a:srgbClr val="3333CC"/>
                </a:solidFill>
                <a:latin typeface="Comic Sans MS"/>
                <a:cs typeface="Comic Sans MS"/>
              </a:rPr>
              <a:t>smooth noisy data, identify or </a:t>
            </a:r>
            <a:r>
              <a:rPr sz="1400" spc="-10" dirty="0">
                <a:solidFill>
                  <a:srgbClr val="3333CC"/>
                </a:solidFill>
                <a:latin typeface="Comic Sans MS"/>
                <a:cs typeface="Comic Sans MS"/>
              </a:rPr>
              <a:t>remove </a:t>
            </a:r>
            <a:r>
              <a:rPr sz="1400" spc="-5" dirty="0">
                <a:solidFill>
                  <a:srgbClr val="3333CC"/>
                </a:solidFill>
                <a:latin typeface="Comic Sans MS"/>
                <a:cs typeface="Comic Sans MS"/>
              </a:rPr>
              <a:t>outliers, and </a:t>
            </a:r>
            <a:r>
              <a:rPr sz="1400" spc="-10" dirty="0">
                <a:solidFill>
                  <a:srgbClr val="3333CC"/>
                </a:solidFill>
                <a:latin typeface="Comic Sans MS"/>
                <a:cs typeface="Comic Sans MS"/>
              </a:rPr>
              <a:t>resolve  </a:t>
            </a:r>
            <a:r>
              <a:rPr sz="1400" spc="-5" dirty="0">
                <a:solidFill>
                  <a:srgbClr val="3333CC"/>
                </a:solidFill>
                <a:latin typeface="Comic Sans MS"/>
                <a:cs typeface="Comic Sans MS"/>
              </a:rPr>
              <a:t>inconsistencies</a:t>
            </a:r>
            <a:endParaRPr sz="1400">
              <a:latin typeface="Comic Sans MS"/>
              <a:cs typeface="Comic Sans MS"/>
            </a:endParaRPr>
          </a:p>
          <a:p>
            <a:pPr marL="355600" indent="-342900">
              <a:lnSpc>
                <a:spcPct val="100000"/>
              </a:lnSpc>
              <a:spcBef>
                <a:spcPts val="720"/>
              </a:spcBef>
              <a:buClr>
                <a:srgbClr val="FF0000"/>
              </a:buClr>
              <a:buChar char="•"/>
              <a:tabLst>
                <a:tab pos="354965" algn="l"/>
                <a:tab pos="355600" algn="l"/>
              </a:tabLst>
            </a:pPr>
            <a:r>
              <a:rPr sz="1800" dirty="0">
                <a:solidFill>
                  <a:srgbClr val="3333CC"/>
                </a:solidFill>
                <a:latin typeface="Comic Sans MS"/>
                <a:cs typeface="Comic Sans MS"/>
              </a:rPr>
              <a:t>Data</a:t>
            </a:r>
            <a:r>
              <a:rPr sz="1800" spc="-5" dirty="0">
                <a:solidFill>
                  <a:srgbClr val="3333CC"/>
                </a:solidFill>
                <a:latin typeface="Comic Sans MS"/>
                <a:cs typeface="Comic Sans MS"/>
              </a:rPr>
              <a:t> integration</a:t>
            </a:r>
            <a:endParaRPr sz="1800">
              <a:latin typeface="Comic Sans MS"/>
              <a:cs typeface="Comic Sans MS"/>
            </a:endParaRPr>
          </a:p>
          <a:p>
            <a:pPr marL="755015" lvl="1" indent="-285750">
              <a:lnSpc>
                <a:spcPct val="100000"/>
              </a:lnSpc>
              <a:spcBef>
                <a:spcPts val="1490"/>
              </a:spcBef>
              <a:buClr>
                <a:srgbClr val="FF0000"/>
              </a:buClr>
              <a:buChar char="•"/>
              <a:tabLst>
                <a:tab pos="755015" algn="l"/>
                <a:tab pos="755650" algn="l"/>
              </a:tabLst>
            </a:pPr>
            <a:r>
              <a:rPr sz="1400" spc="-10" dirty="0">
                <a:solidFill>
                  <a:srgbClr val="3333CC"/>
                </a:solidFill>
                <a:latin typeface="Comic Sans MS"/>
                <a:cs typeface="Comic Sans MS"/>
              </a:rPr>
              <a:t>Integration </a:t>
            </a:r>
            <a:r>
              <a:rPr sz="1400" spc="-5" dirty="0">
                <a:solidFill>
                  <a:srgbClr val="3333CC"/>
                </a:solidFill>
                <a:latin typeface="Comic Sans MS"/>
                <a:cs typeface="Comic Sans MS"/>
              </a:rPr>
              <a:t>of multiple databases, data cubes, or</a:t>
            </a:r>
            <a:r>
              <a:rPr sz="1400" spc="5" dirty="0">
                <a:solidFill>
                  <a:srgbClr val="3333CC"/>
                </a:solidFill>
                <a:latin typeface="Comic Sans MS"/>
                <a:cs typeface="Comic Sans MS"/>
              </a:rPr>
              <a:t> </a:t>
            </a:r>
            <a:r>
              <a:rPr sz="1400" spc="-10" dirty="0">
                <a:solidFill>
                  <a:srgbClr val="3333CC"/>
                </a:solidFill>
                <a:latin typeface="Comic Sans MS"/>
                <a:cs typeface="Comic Sans MS"/>
              </a:rPr>
              <a:t>files</a:t>
            </a:r>
            <a:endParaRPr sz="1400">
              <a:latin typeface="Comic Sans MS"/>
              <a:cs typeface="Comic Sans MS"/>
            </a:endParaRPr>
          </a:p>
          <a:p>
            <a:pPr marL="355600" indent="-342900">
              <a:lnSpc>
                <a:spcPct val="100000"/>
              </a:lnSpc>
              <a:spcBef>
                <a:spcPts val="740"/>
              </a:spcBef>
              <a:buClr>
                <a:srgbClr val="FF0000"/>
              </a:buClr>
              <a:buChar char="•"/>
              <a:tabLst>
                <a:tab pos="354965" algn="l"/>
                <a:tab pos="355600" algn="l"/>
              </a:tabLst>
            </a:pPr>
            <a:r>
              <a:rPr sz="1800" dirty="0">
                <a:solidFill>
                  <a:srgbClr val="3333CC"/>
                </a:solidFill>
                <a:latin typeface="Comic Sans MS"/>
                <a:cs typeface="Comic Sans MS"/>
              </a:rPr>
              <a:t>Data</a:t>
            </a:r>
            <a:r>
              <a:rPr sz="1800" spc="-5" dirty="0">
                <a:solidFill>
                  <a:srgbClr val="3333CC"/>
                </a:solidFill>
                <a:latin typeface="Comic Sans MS"/>
                <a:cs typeface="Comic Sans MS"/>
              </a:rPr>
              <a:t> </a:t>
            </a:r>
            <a:r>
              <a:rPr sz="1800" dirty="0">
                <a:solidFill>
                  <a:srgbClr val="3333CC"/>
                </a:solidFill>
                <a:latin typeface="Comic Sans MS"/>
                <a:cs typeface="Comic Sans MS"/>
              </a:rPr>
              <a:t>transformation</a:t>
            </a:r>
            <a:endParaRPr sz="1800">
              <a:latin typeface="Comic Sans MS"/>
              <a:cs typeface="Comic Sans MS"/>
            </a:endParaRPr>
          </a:p>
          <a:p>
            <a:pPr marL="755015" lvl="1" indent="-285750">
              <a:lnSpc>
                <a:spcPct val="100000"/>
              </a:lnSpc>
              <a:spcBef>
                <a:spcPts val="1495"/>
              </a:spcBef>
              <a:buClr>
                <a:srgbClr val="FF0000"/>
              </a:buClr>
              <a:buChar char="•"/>
              <a:tabLst>
                <a:tab pos="755015" algn="l"/>
                <a:tab pos="755650" algn="l"/>
              </a:tabLst>
            </a:pPr>
            <a:r>
              <a:rPr sz="1400" spc="-5" dirty="0">
                <a:solidFill>
                  <a:srgbClr val="3333CC"/>
                </a:solidFill>
                <a:latin typeface="Comic Sans MS"/>
                <a:cs typeface="Comic Sans MS"/>
              </a:rPr>
              <a:t>Normalization and aggregation</a:t>
            </a:r>
            <a:endParaRPr sz="1400">
              <a:latin typeface="Comic Sans MS"/>
              <a:cs typeface="Comic Sans MS"/>
            </a:endParaRPr>
          </a:p>
          <a:p>
            <a:pPr marL="355600" indent="-342900">
              <a:lnSpc>
                <a:spcPct val="100000"/>
              </a:lnSpc>
              <a:spcBef>
                <a:spcPts val="740"/>
              </a:spcBef>
              <a:buClr>
                <a:srgbClr val="FF0000"/>
              </a:buClr>
              <a:buChar char="•"/>
              <a:tabLst>
                <a:tab pos="354965" algn="l"/>
                <a:tab pos="355600" algn="l"/>
              </a:tabLst>
            </a:pPr>
            <a:r>
              <a:rPr sz="1800" dirty="0">
                <a:solidFill>
                  <a:srgbClr val="3333CC"/>
                </a:solidFill>
                <a:latin typeface="Comic Sans MS"/>
                <a:cs typeface="Comic Sans MS"/>
              </a:rPr>
              <a:t>Data</a:t>
            </a:r>
            <a:r>
              <a:rPr sz="1800" spc="-5" dirty="0">
                <a:solidFill>
                  <a:srgbClr val="3333CC"/>
                </a:solidFill>
                <a:latin typeface="Comic Sans MS"/>
                <a:cs typeface="Comic Sans MS"/>
              </a:rPr>
              <a:t> reduction</a:t>
            </a:r>
            <a:endParaRPr sz="1800">
              <a:latin typeface="Comic Sans MS"/>
              <a:cs typeface="Comic Sans MS"/>
            </a:endParaRPr>
          </a:p>
          <a:p>
            <a:pPr marL="755015" marR="5080" lvl="1" indent="-285750">
              <a:lnSpc>
                <a:spcPts val="1510"/>
              </a:lnSpc>
              <a:spcBef>
                <a:spcPts val="1685"/>
              </a:spcBef>
              <a:buClr>
                <a:srgbClr val="FF0000"/>
              </a:buClr>
              <a:buChar char="•"/>
              <a:tabLst>
                <a:tab pos="755015" algn="l"/>
                <a:tab pos="755650" algn="l"/>
              </a:tabLst>
            </a:pPr>
            <a:r>
              <a:rPr sz="1400" spc="-10" dirty="0">
                <a:solidFill>
                  <a:srgbClr val="3333CC"/>
                </a:solidFill>
                <a:latin typeface="Comic Sans MS"/>
                <a:cs typeface="Comic Sans MS"/>
              </a:rPr>
              <a:t>Obtains reduced representation </a:t>
            </a:r>
            <a:r>
              <a:rPr sz="1400" spc="-5" dirty="0">
                <a:solidFill>
                  <a:srgbClr val="3333CC"/>
                </a:solidFill>
                <a:latin typeface="Comic Sans MS"/>
                <a:cs typeface="Comic Sans MS"/>
              </a:rPr>
              <a:t>in </a:t>
            </a:r>
            <a:r>
              <a:rPr sz="1400" spc="-10" dirty="0">
                <a:solidFill>
                  <a:srgbClr val="3333CC"/>
                </a:solidFill>
                <a:latin typeface="Comic Sans MS"/>
                <a:cs typeface="Comic Sans MS"/>
              </a:rPr>
              <a:t>volume </a:t>
            </a:r>
            <a:r>
              <a:rPr sz="1400" spc="5" dirty="0">
                <a:solidFill>
                  <a:srgbClr val="3333CC"/>
                </a:solidFill>
                <a:latin typeface="Comic Sans MS"/>
                <a:cs typeface="Comic Sans MS"/>
              </a:rPr>
              <a:t>but </a:t>
            </a:r>
            <a:r>
              <a:rPr sz="1400" spc="-5" dirty="0">
                <a:solidFill>
                  <a:srgbClr val="3333CC"/>
                </a:solidFill>
                <a:latin typeface="Comic Sans MS"/>
                <a:cs typeface="Comic Sans MS"/>
              </a:rPr>
              <a:t>produces the same or similar analytical  </a:t>
            </a:r>
            <a:r>
              <a:rPr sz="1400" spc="-10" dirty="0">
                <a:solidFill>
                  <a:srgbClr val="3333CC"/>
                </a:solidFill>
                <a:latin typeface="Comic Sans MS"/>
                <a:cs typeface="Comic Sans MS"/>
              </a:rPr>
              <a:t>results</a:t>
            </a:r>
            <a:endParaRPr sz="1400">
              <a:latin typeface="Comic Sans MS"/>
              <a:cs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D784238-78D1-476A-BF8A-6BEC15E2EA6B}"/>
              </a:ext>
            </a:extLst>
          </p:cNvPr>
          <p:cNvSpPr>
            <a:spLocks noGrp="1" noChangeArrowheads="1"/>
          </p:cNvSpPr>
          <p:nvPr>
            <p:ph type="title"/>
          </p:nvPr>
        </p:nvSpPr>
        <p:spPr>
          <a:xfrm>
            <a:off x="1817370" y="252096"/>
            <a:ext cx="7501577" cy="1357551"/>
          </a:xfrm>
        </p:spPr>
        <p:txBody>
          <a:bodyPr/>
          <a:lstStyle/>
          <a:p>
            <a:pPr eaLnBrk="1" hangingPunct="1"/>
            <a:r>
              <a:rPr lang="en-US" altLang="en-US" sz="4411">
                <a:solidFill>
                  <a:schemeClr val="accent2"/>
                </a:solidFill>
              </a:rPr>
              <a:t>Forms of data preprocessing</a:t>
            </a:r>
            <a:r>
              <a:rPr lang="en-US" altLang="en-US"/>
              <a:t> </a:t>
            </a:r>
          </a:p>
        </p:txBody>
      </p:sp>
      <p:pic>
        <p:nvPicPr>
          <p:cNvPr id="9219" name="Picture 3">
            <a:extLst>
              <a:ext uri="{FF2B5EF4-FFF2-40B4-BE49-F238E27FC236}">
                <a16:creationId xmlns:a16="http://schemas.microsoft.com/office/drawing/2014/main" id="{6D255F93-346E-4CB1-A0CA-01DD00C71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737" t="2563" r="4099"/>
          <a:stretch>
            <a:fillRect/>
          </a:stretch>
        </p:blipFill>
        <p:spPr bwMode="auto">
          <a:xfrm>
            <a:off x="304800" y="885834"/>
            <a:ext cx="9663642" cy="6677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hecke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6746" y="947420"/>
            <a:ext cx="5048885" cy="75692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3333CC"/>
                </a:solidFill>
              </a:rPr>
              <a:t>Data Preparation as a step </a:t>
            </a:r>
            <a:r>
              <a:rPr sz="2400" spc="-5" dirty="0">
                <a:solidFill>
                  <a:srgbClr val="3333CC"/>
                </a:solidFill>
              </a:rPr>
              <a:t>in</a:t>
            </a:r>
            <a:r>
              <a:rPr sz="2400" spc="-90" dirty="0">
                <a:solidFill>
                  <a:srgbClr val="3333CC"/>
                </a:solidFill>
              </a:rPr>
              <a:t> </a:t>
            </a:r>
            <a:r>
              <a:rPr sz="2400" spc="-5" dirty="0">
                <a:solidFill>
                  <a:srgbClr val="3333CC"/>
                </a:solidFill>
              </a:rPr>
              <a:t>the  </a:t>
            </a:r>
            <a:r>
              <a:rPr sz="2400" dirty="0">
                <a:solidFill>
                  <a:srgbClr val="3333CC"/>
                </a:solidFill>
              </a:rPr>
              <a:t>Knowledge Discovery</a:t>
            </a:r>
            <a:r>
              <a:rPr sz="2400" spc="-45" dirty="0">
                <a:solidFill>
                  <a:srgbClr val="3333CC"/>
                </a:solidFill>
              </a:rPr>
              <a:t> </a:t>
            </a:r>
            <a:r>
              <a:rPr sz="2400" dirty="0">
                <a:solidFill>
                  <a:srgbClr val="3333CC"/>
                </a:solidFill>
              </a:rPr>
              <a:t>Process</a:t>
            </a:r>
            <a:endParaRPr sz="2400"/>
          </a:p>
        </p:txBody>
      </p:sp>
      <p:sp>
        <p:nvSpPr>
          <p:cNvPr id="3" name="object 3"/>
          <p:cNvSpPr/>
          <p:nvPr/>
        </p:nvSpPr>
        <p:spPr>
          <a:xfrm>
            <a:off x="1984133" y="5454396"/>
            <a:ext cx="1001394" cy="626745"/>
          </a:xfrm>
          <a:custGeom>
            <a:avLst/>
            <a:gdLst/>
            <a:ahLst/>
            <a:cxnLst/>
            <a:rect l="l" t="t" r="r" b="b"/>
            <a:pathLst>
              <a:path w="1001394" h="626745">
                <a:moveTo>
                  <a:pt x="936633" y="39612"/>
                </a:moveTo>
                <a:lnTo>
                  <a:pt x="898999" y="40477"/>
                </a:lnTo>
                <a:lnTo>
                  <a:pt x="0" y="593597"/>
                </a:lnTo>
                <a:lnTo>
                  <a:pt x="20574" y="626363"/>
                </a:lnTo>
                <a:lnTo>
                  <a:pt x="918486" y="73472"/>
                </a:lnTo>
                <a:lnTo>
                  <a:pt x="936633" y="39612"/>
                </a:lnTo>
                <a:close/>
              </a:path>
              <a:path w="1001394" h="626745">
                <a:moveTo>
                  <a:pt x="1001268" y="0"/>
                </a:moveTo>
                <a:lnTo>
                  <a:pt x="835914" y="4571"/>
                </a:lnTo>
                <a:lnTo>
                  <a:pt x="817626" y="23621"/>
                </a:lnTo>
                <a:lnTo>
                  <a:pt x="819102" y="31087"/>
                </a:lnTo>
                <a:lnTo>
                  <a:pt x="823150" y="37052"/>
                </a:lnTo>
                <a:lnTo>
                  <a:pt x="829198" y="40874"/>
                </a:lnTo>
                <a:lnTo>
                  <a:pt x="836676" y="41909"/>
                </a:lnTo>
                <a:lnTo>
                  <a:pt x="898999" y="40477"/>
                </a:lnTo>
                <a:lnTo>
                  <a:pt x="958596" y="3809"/>
                </a:lnTo>
                <a:lnTo>
                  <a:pt x="978408" y="36575"/>
                </a:lnTo>
                <a:lnTo>
                  <a:pt x="978408" y="42390"/>
                </a:lnTo>
                <a:lnTo>
                  <a:pt x="1001268" y="0"/>
                </a:lnTo>
                <a:close/>
              </a:path>
              <a:path w="1001394" h="626745">
                <a:moveTo>
                  <a:pt x="978408" y="42390"/>
                </a:moveTo>
                <a:lnTo>
                  <a:pt x="978408" y="36575"/>
                </a:lnTo>
                <a:lnTo>
                  <a:pt x="918486" y="73472"/>
                </a:lnTo>
                <a:lnTo>
                  <a:pt x="889254" y="128015"/>
                </a:lnTo>
                <a:lnTo>
                  <a:pt x="887241" y="135171"/>
                </a:lnTo>
                <a:lnTo>
                  <a:pt x="888015" y="142398"/>
                </a:lnTo>
                <a:lnTo>
                  <a:pt x="891504" y="148911"/>
                </a:lnTo>
                <a:lnTo>
                  <a:pt x="897636" y="153923"/>
                </a:lnTo>
                <a:lnTo>
                  <a:pt x="904779" y="155936"/>
                </a:lnTo>
                <a:lnTo>
                  <a:pt x="911923" y="155162"/>
                </a:lnTo>
                <a:lnTo>
                  <a:pt x="918210" y="151673"/>
                </a:lnTo>
                <a:lnTo>
                  <a:pt x="922782" y="145541"/>
                </a:lnTo>
                <a:lnTo>
                  <a:pt x="978408" y="42390"/>
                </a:lnTo>
                <a:close/>
              </a:path>
              <a:path w="1001394" h="626745">
                <a:moveTo>
                  <a:pt x="978408" y="36575"/>
                </a:moveTo>
                <a:lnTo>
                  <a:pt x="958596" y="3809"/>
                </a:lnTo>
                <a:lnTo>
                  <a:pt x="898999" y="40477"/>
                </a:lnTo>
                <a:lnTo>
                  <a:pt x="936633" y="39612"/>
                </a:lnTo>
                <a:lnTo>
                  <a:pt x="951738" y="11429"/>
                </a:lnTo>
                <a:lnTo>
                  <a:pt x="969264" y="38861"/>
                </a:lnTo>
                <a:lnTo>
                  <a:pt x="969264" y="42206"/>
                </a:lnTo>
                <a:lnTo>
                  <a:pt x="978408" y="36575"/>
                </a:lnTo>
                <a:close/>
              </a:path>
              <a:path w="1001394" h="626745">
                <a:moveTo>
                  <a:pt x="969264" y="42206"/>
                </a:moveTo>
                <a:lnTo>
                  <a:pt x="969264" y="38861"/>
                </a:lnTo>
                <a:lnTo>
                  <a:pt x="936633" y="39612"/>
                </a:lnTo>
                <a:lnTo>
                  <a:pt x="918486" y="73472"/>
                </a:lnTo>
                <a:lnTo>
                  <a:pt x="969264" y="42206"/>
                </a:lnTo>
                <a:close/>
              </a:path>
              <a:path w="1001394" h="626745">
                <a:moveTo>
                  <a:pt x="969264" y="38861"/>
                </a:moveTo>
                <a:lnTo>
                  <a:pt x="951738" y="11429"/>
                </a:lnTo>
                <a:lnTo>
                  <a:pt x="936633" y="39612"/>
                </a:lnTo>
                <a:lnTo>
                  <a:pt x="969264" y="38861"/>
                </a:lnTo>
                <a:close/>
              </a:path>
            </a:pathLst>
          </a:custGeom>
          <a:solidFill>
            <a:srgbClr val="3333CC"/>
          </a:solidFill>
        </p:spPr>
        <p:txBody>
          <a:bodyPr wrap="square" lIns="0" tIns="0" rIns="0" bIns="0" rtlCol="0"/>
          <a:lstStyle/>
          <a:p>
            <a:endParaRPr/>
          </a:p>
        </p:txBody>
      </p:sp>
      <p:sp>
        <p:nvSpPr>
          <p:cNvPr id="4" name="object 4"/>
          <p:cNvSpPr/>
          <p:nvPr/>
        </p:nvSpPr>
        <p:spPr>
          <a:xfrm>
            <a:off x="7623695" y="2025395"/>
            <a:ext cx="772160" cy="474345"/>
          </a:xfrm>
          <a:custGeom>
            <a:avLst/>
            <a:gdLst/>
            <a:ahLst/>
            <a:cxnLst/>
            <a:rect l="l" t="t" r="r" b="b"/>
            <a:pathLst>
              <a:path w="772159" h="474344">
                <a:moveTo>
                  <a:pt x="706776" y="39236"/>
                </a:moveTo>
                <a:lnTo>
                  <a:pt x="668263" y="39681"/>
                </a:lnTo>
                <a:lnTo>
                  <a:pt x="0" y="441197"/>
                </a:lnTo>
                <a:lnTo>
                  <a:pt x="19050" y="473963"/>
                </a:lnTo>
                <a:lnTo>
                  <a:pt x="688948" y="71885"/>
                </a:lnTo>
                <a:lnTo>
                  <a:pt x="706776" y="39236"/>
                </a:lnTo>
                <a:close/>
              </a:path>
              <a:path w="772159" h="474344">
                <a:moveTo>
                  <a:pt x="771906" y="0"/>
                </a:moveTo>
                <a:lnTo>
                  <a:pt x="606552" y="2285"/>
                </a:lnTo>
                <a:lnTo>
                  <a:pt x="587502" y="21335"/>
                </a:lnTo>
                <a:lnTo>
                  <a:pt x="589418" y="28813"/>
                </a:lnTo>
                <a:lnTo>
                  <a:pt x="593693" y="34861"/>
                </a:lnTo>
                <a:lnTo>
                  <a:pt x="599824" y="38909"/>
                </a:lnTo>
                <a:lnTo>
                  <a:pt x="607314" y="40385"/>
                </a:lnTo>
                <a:lnTo>
                  <a:pt x="668263" y="39681"/>
                </a:lnTo>
                <a:lnTo>
                  <a:pt x="729234" y="3047"/>
                </a:lnTo>
                <a:lnTo>
                  <a:pt x="749046" y="35813"/>
                </a:lnTo>
                <a:lnTo>
                  <a:pt x="749046" y="41365"/>
                </a:lnTo>
                <a:lnTo>
                  <a:pt x="771906" y="0"/>
                </a:lnTo>
                <a:close/>
              </a:path>
              <a:path w="772159" h="474344">
                <a:moveTo>
                  <a:pt x="749046" y="41365"/>
                </a:moveTo>
                <a:lnTo>
                  <a:pt x="749046" y="35813"/>
                </a:lnTo>
                <a:lnTo>
                  <a:pt x="688948" y="71885"/>
                </a:lnTo>
                <a:lnTo>
                  <a:pt x="659130" y="126491"/>
                </a:lnTo>
                <a:lnTo>
                  <a:pt x="656665" y="133647"/>
                </a:lnTo>
                <a:lnTo>
                  <a:pt x="657129" y="140874"/>
                </a:lnTo>
                <a:lnTo>
                  <a:pt x="660308" y="147387"/>
                </a:lnTo>
                <a:lnTo>
                  <a:pt x="665988" y="152399"/>
                </a:lnTo>
                <a:lnTo>
                  <a:pt x="673250" y="154745"/>
                </a:lnTo>
                <a:lnTo>
                  <a:pt x="680656" y="154019"/>
                </a:lnTo>
                <a:lnTo>
                  <a:pt x="687204" y="150578"/>
                </a:lnTo>
                <a:lnTo>
                  <a:pt x="691896" y="144779"/>
                </a:lnTo>
                <a:lnTo>
                  <a:pt x="749046" y="41365"/>
                </a:lnTo>
                <a:close/>
              </a:path>
              <a:path w="772159" h="474344">
                <a:moveTo>
                  <a:pt x="749046" y="35813"/>
                </a:moveTo>
                <a:lnTo>
                  <a:pt x="729234" y="3047"/>
                </a:lnTo>
                <a:lnTo>
                  <a:pt x="668263" y="39681"/>
                </a:lnTo>
                <a:lnTo>
                  <a:pt x="706776" y="39236"/>
                </a:lnTo>
                <a:lnTo>
                  <a:pt x="722376" y="10667"/>
                </a:lnTo>
                <a:lnTo>
                  <a:pt x="739140" y="38861"/>
                </a:lnTo>
                <a:lnTo>
                  <a:pt x="739140" y="41759"/>
                </a:lnTo>
                <a:lnTo>
                  <a:pt x="749046" y="35813"/>
                </a:lnTo>
                <a:close/>
              </a:path>
              <a:path w="772159" h="474344">
                <a:moveTo>
                  <a:pt x="739140" y="41759"/>
                </a:moveTo>
                <a:lnTo>
                  <a:pt x="739140" y="38861"/>
                </a:lnTo>
                <a:lnTo>
                  <a:pt x="706776" y="39236"/>
                </a:lnTo>
                <a:lnTo>
                  <a:pt x="688948" y="71885"/>
                </a:lnTo>
                <a:lnTo>
                  <a:pt x="739140" y="41759"/>
                </a:lnTo>
                <a:close/>
              </a:path>
              <a:path w="772159" h="474344">
                <a:moveTo>
                  <a:pt x="739140" y="38861"/>
                </a:moveTo>
                <a:lnTo>
                  <a:pt x="722376" y="10667"/>
                </a:lnTo>
                <a:lnTo>
                  <a:pt x="706776" y="39236"/>
                </a:lnTo>
                <a:lnTo>
                  <a:pt x="739140" y="38861"/>
                </a:lnTo>
                <a:close/>
              </a:path>
            </a:pathLst>
          </a:custGeom>
          <a:solidFill>
            <a:srgbClr val="3333CC"/>
          </a:solidFill>
        </p:spPr>
        <p:txBody>
          <a:bodyPr wrap="square" lIns="0" tIns="0" rIns="0" bIns="0" rtlCol="0"/>
          <a:lstStyle/>
          <a:p>
            <a:endParaRPr/>
          </a:p>
        </p:txBody>
      </p:sp>
      <p:sp>
        <p:nvSpPr>
          <p:cNvPr id="5" name="object 5"/>
          <p:cNvSpPr/>
          <p:nvPr/>
        </p:nvSpPr>
        <p:spPr>
          <a:xfrm>
            <a:off x="5870333" y="3015995"/>
            <a:ext cx="1001394" cy="626745"/>
          </a:xfrm>
          <a:custGeom>
            <a:avLst/>
            <a:gdLst/>
            <a:ahLst/>
            <a:cxnLst/>
            <a:rect l="l" t="t" r="r" b="b"/>
            <a:pathLst>
              <a:path w="1001395" h="626745">
                <a:moveTo>
                  <a:pt x="936633" y="39612"/>
                </a:moveTo>
                <a:lnTo>
                  <a:pt x="898999" y="40477"/>
                </a:lnTo>
                <a:lnTo>
                  <a:pt x="0" y="593597"/>
                </a:lnTo>
                <a:lnTo>
                  <a:pt x="20574" y="626363"/>
                </a:lnTo>
                <a:lnTo>
                  <a:pt x="918486" y="73472"/>
                </a:lnTo>
                <a:lnTo>
                  <a:pt x="936633" y="39612"/>
                </a:lnTo>
                <a:close/>
              </a:path>
              <a:path w="1001395" h="626745">
                <a:moveTo>
                  <a:pt x="1001268" y="0"/>
                </a:moveTo>
                <a:lnTo>
                  <a:pt x="835914" y="4571"/>
                </a:lnTo>
                <a:lnTo>
                  <a:pt x="817626" y="23621"/>
                </a:lnTo>
                <a:lnTo>
                  <a:pt x="819102" y="31087"/>
                </a:lnTo>
                <a:lnTo>
                  <a:pt x="823150" y="37052"/>
                </a:lnTo>
                <a:lnTo>
                  <a:pt x="829198" y="40874"/>
                </a:lnTo>
                <a:lnTo>
                  <a:pt x="836676" y="41909"/>
                </a:lnTo>
                <a:lnTo>
                  <a:pt x="898999" y="40477"/>
                </a:lnTo>
                <a:lnTo>
                  <a:pt x="958596" y="3809"/>
                </a:lnTo>
                <a:lnTo>
                  <a:pt x="978408" y="36575"/>
                </a:lnTo>
                <a:lnTo>
                  <a:pt x="978408" y="42390"/>
                </a:lnTo>
                <a:lnTo>
                  <a:pt x="1001268" y="0"/>
                </a:lnTo>
                <a:close/>
              </a:path>
              <a:path w="1001395" h="626745">
                <a:moveTo>
                  <a:pt x="978408" y="42390"/>
                </a:moveTo>
                <a:lnTo>
                  <a:pt x="978408" y="36575"/>
                </a:lnTo>
                <a:lnTo>
                  <a:pt x="918486" y="73472"/>
                </a:lnTo>
                <a:lnTo>
                  <a:pt x="889254" y="128015"/>
                </a:lnTo>
                <a:lnTo>
                  <a:pt x="887241" y="135171"/>
                </a:lnTo>
                <a:lnTo>
                  <a:pt x="888015" y="142398"/>
                </a:lnTo>
                <a:lnTo>
                  <a:pt x="891504" y="148911"/>
                </a:lnTo>
                <a:lnTo>
                  <a:pt x="897636" y="153923"/>
                </a:lnTo>
                <a:lnTo>
                  <a:pt x="904779" y="155936"/>
                </a:lnTo>
                <a:lnTo>
                  <a:pt x="911923" y="155162"/>
                </a:lnTo>
                <a:lnTo>
                  <a:pt x="918210" y="151673"/>
                </a:lnTo>
                <a:lnTo>
                  <a:pt x="922782" y="145541"/>
                </a:lnTo>
                <a:lnTo>
                  <a:pt x="978408" y="42390"/>
                </a:lnTo>
                <a:close/>
              </a:path>
              <a:path w="1001395" h="626745">
                <a:moveTo>
                  <a:pt x="978408" y="36575"/>
                </a:moveTo>
                <a:lnTo>
                  <a:pt x="958596" y="3809"/>
                </a:lnTo>
                <a:lnTo>
                  <a:pt x="898999" y="40477"/>
                </a:lnTo>
                <a:lnTo>
                  <a:pt x="936633" y="39612"/>
                </a:lnTo>
                <a:lnTo>
                  <a:pt x="951738" y="11429"/>
                </a:lnTo>
                <a:lnTo>
                  <a:pt x="969264" y="38861"/>
                </a:lnTo>
                <a:lnTo>
                  <a:pt x="969264" y="42206"/>
                </a:lnTo>
                <a:lnTo>
                  <a:pt x="978408" y="36575"/>
                </a:lnTo>
                <a:close/>
              </a:path>
              <a:path w="1001395" h="626745">
                <a:moveTo>
                  <a:pt x="969264" y="42206"/>
                </a:moveTo>
                <a:lnTo>
                  <a:pt x="969264" y="38861"/>
                </a:lnTo>
                <a:lnTo>
                  <a:pt x="936633" y="39612"/>
                </a:lnTo>
                <a:lnTo>
                  <a:pt x="918486" y="73472"/>
                </a:lnTo>
                <a:lnTo>
                  <a:pt x="969264" y="42206"/>
                </a:lnTo>
                <a:close/>
              </a:path>
              <a:path w="1001395" h="626745">
                <a:moveTo>
                  <a:pt x="969264" y="38861"/>
                </a:moveTo>
                <a:lnTo>
                  <a:pt x="951738" y="11429"/>
                </a:lnTo>
                <a:lnTo>
                  <a:pt x="936633" y="39612"/>
                </a:lnTo>
                <a:lnTo>
                  <a:pt x="969264" y="38861"/>
                </a:lnTo>
                <a:close/>
              </a:path>
            </a:pathLst>
          </a:custGeom>
          <a:solidFill>
            <a:srgbClr val="3333CC"/>
          </a:solidFill>
        </p:spPr>
        <p:txBody>
          <a:bodyPr wrap="square" lIns="0" tIns="0" rIns="0" bIns="0" rtlCol="0"/>
          <a:lstStyle/>
          <a:p>
            <a:endParaRPr/>
          </a:p>
        </p:txBody>
      </p:sp>
      <p:sp>
        <p:nvSpPr>
          <p:cNvPr id="6" name="object 6"/>
          <p:cNvSpPr/>
          <p:nvPr/>
        </p:nvSpPr>
        <p:spPr>
          <a:xfrm>
            <a:off x="4041533" y="4082796"/>
            <a:ext cx="1001394" cy="626745"/>
          </a:xfrm>
          <a:custGeom>
            <a:avLst/>
            <a:gdLst/>
            <a:ahLst/>
            <a:cxnLst/>
            <a:rect l="l" t="t" r="r" b="b"/>
            <a:pathLst>
              <a:path w="1001395" h="626745">
                <a:moveTo>
                  <a:pt x="936633" y="39612"/>
                </a:moveTo>
                <a:lnTo>
                  <a:pt x="898999" y="40477"/>
                </a:lnTo>
                <a:lnTo>
                  <a:pt x="0" y="593597"/>
                </a:lnTo>
                <a:lnTo>
                  <a:pt x="20574" y="626363"/>
                </a:lnTo>
                <a:lnTo>
                  <a:pt x="918486" y="73472"/>
                </a:lnTo>
                <a:lnTo>
                  <a:pt x="936633" y="39612"/>
                </a:lnTo>
                <a:close/>
              </a:path>
              <a:path w="1001395" h="626745">
                <a:moveTo>
                  <a:pt x="1001268" y="0"/>
                </a:moveTo>
                <a:lnTo>
                  <a:pt x="835914" y="4571"/>
                </a:lnTo>
                <a:lnTo>
                  <a:pt x="817626" y="23621"/>
                </a:lnTo>
                <a:lnTo>
                  <a:pt x="819102" y="31087"/>
                </a:lnTo>
                <a:lnTo>
                  <a:pt x="823150" y="37052"/>
                </a:lnTo>
                <a:lnTo>
                  <a:pt x="829198" y="40874"/>
                </a:lnTo>
                <a:lnTo>
                  <a:pt x="836676" y="41909"/>
                </a:lnTo>
                <a:lnTo>
                  <a:pt x="898999" y="40477"/>
                </a:lnTo>
                <a:lnTo>
                  <a:pt x="958596" y="3809"/>
                </a:lnTo>
                <a:lnTo>
                  <a:pt x="978408" y="36575"/>
                </a:lnTo>
                <a:lnTo>
                  <a:pt x="978408" y="42390"/>
                </a:lnTo>
                <a:lnTo>
                  <a:pt x="1001268" y="0"/>
                </a:lnTo>
                <a:close/>
              </a:path>
              <a:path w="1001395" h="626745">
                <a:moveTo>
                  <a:pt x="978408" y="42390"/>
                </a:moveTo>
                <a:lnTo>
                  <a:pt x="978408" y="36575"/>
                </a:lnTo>
                <a:lnTo>
                  <a:pt x="918486" y="73472"/>
                </a:lnTo>
                <a:lnTo>
                  <a:pt x="889254" y="128015"/>
                </a:lnTo>
                <a:lnTo>
                  <a:pt x="887241" y="135171"/>
                </a:lnTo>
                <a:lnTo>
                  <a:pt x="888015" y="142398"/>
                </a:lnTo>
                <a:lnTo>
                  <a:pt x="891504" y="148911"/>
                </a:lnTo>
                <a:lnTo>
                  <a:pt x="897636" y="153923"/>
                </a:lnTo>
                <a:lnTo>
                  <a:pt x="904779" y="155936"/>
                </a:lnTo>
                <a:lnTo>
                  <a:pt x="911923" y="155162"/>
                </a:lnTo>
                <a:lnTo>
                  <a:pt x="918210" y="151673"/>
                </a:lnTo>
                <a:lnTo>
                  <a:pt x="922782" y="145541"/>
                </a:lnTo>
                <a:lnTo>
                  <a:pt x="978408" y="42390"/>
                </a:lnTo>
                <a:close/>
              </a:path>
              <a:path w="1001395" h="626745">
                <a:moveTo>
                  <a:pt x="978408" y="36575"/>
                </a:moveTo>
                <a:lnTo>
                  <a:pt x="958596" y="3809"/>
                </a:lnTo>
                <a:lnTo>
                  <a:pt x="898999" y="40477"/>
                </a:lnTo>
                <a:lnTo>
                  <a:pt x="936633" y="39612"/>
                </a:lnTo>
                <a:lnTo>
                  <a:pt x="951738" y="11429"/>
                </a:lnTo>
                <a:lnTo>
                  <a:pt x="969264" y="38861"/>
                </a:lnTo>
                <a:lnTo>
                  <a:pt x="969264" y="42206"/>
                </a:lnTo>
                <a:lnTo>
                  <a:pt x="978408" y="36575"/>
                </a:lnTo>
                <a:close/>
              </a:path>
              <a:path w="1001395" h="626745">
                <a:moveTo>
                  <a:pt x="969264" y="42206"/>
                </a:moveTo>
                <a:lnTo>
                  <a:pt x="969264" y="38861"/>
                </a:lnTo>
                <a:lnTo>
                  <a:pt x="936633" y="39612"/>
                </a:lnTo>
                <a:lnTo>
                  <a:pt x="918486" y="73472"/>
                </a:lnTo>
                <a:lnTo>
                  <a:pt x="969264" y="42206"/>
                </a:lnTo>
                <a:close/>
              </a:path>
              <a:path w="1001395" h="626745">
                <a:moveTo>
                  <a:pt x="969264" y="38861"/>
                </a:moveTo>
                <a:lnTo>
                  <a:pt x="951738" y="11429"/>
                </a:lnTo>
                <a:lnTo>
                  <a:pt x="936633" y="39612"/>
                </a:lnTo>
                <a:lnTo>
                  <a:pt x="969264" y="38861"/>
                </a:lnTo>
                <a:close/>
              </a:path>
            </a:pathLst>
          </a:custGeom>
          <a:solidFill>
            <a:srgbClr val="3333CC"/>
          </a:solidFill>
        </p:spPr>
        <p:txBody>
          <a:bodyPr wrap="square" lIns="0" tIns="0" rIns="0" bIns="0" rtlCol="0"/>
          <a:lstStyle/>
          <a:p>
            <a:endParaRPr/>
          </a:p>
        </p:txBody>
      </p:sp>
      <p:sp>
        <p:nvSpPr>
          <p:cNvPr id="7" name="object 7"/>
          <p:cNvSpPr txBox="1"/>
          <p:nvPr/>
        </p:nvSpPr>
        <p:spPr>
          <a:xfrm>
            <a:off x="1438790" y="5021071"/>
            <a:ext cx="1040765" cy="452120"/>
          </a:xfrm>
          <a:prstGeom prst="rect">
            <a:avLst/>
          </a:prstGeom>
        </p:spPr>
        <p:txBody>
          <a:bodyPr vert="horz" wrap="square" lIns="0" tIns="12065" rIns="0" bIns="0" rtlCol="0">
            <a:spAutoFit/>
          </a:bodyPr>
          <a:lstStyle/>
          <a:p>
            <a:pPr marL="64769" marR="5080" indent="-52705">
              <a:lnSpc>
                <a:spcPct val="100000"/>
              </a:lnSpc>
              <a:spcBef>
                <a:spcPts val="95"/>
              </a:spcBef>
            </a:pPr>
            <a:r>
              <a:rPr sz="1400" spc="-5" dirty="0">
                <a:latin typeface="Comic Sans MS"/>
                <a:cs typeface="Comic Sans MS"/>
              </a:rPr>
              <a:t>Cleaning</a:t>
            </a:r>
            <a:r>
              <a:rPr sz="1400" spc="-65" dirty="0">
                <a:latin typeface="Comic Sans MS"/>
                <a:cs typeface="Comic Sans MS"/>
              </a:rPr>
              <a:t> </a:t>
            </a:r>
            <a:r>
              <a:rPr sz="1400" spc="-5" dirty="0">
                <a:latin typeface="Comic Sans MS"/>
                <a:cs typeface="Comic Sans MS"/>
              </a:rPr>
              <a:t>and  Integration</a:t>
            </a:r>
            <a:endParaRPr sz="1400">
              <a:latin typeface="Comic Sans MS"/>
              <a:cs typeface="Comic Sans MS"/>
            </a:endParaRPr>
          </a:p>
        </p:txBody>
      </p:sp>
      <p:sp>
        <p:nvSpPr>
          <p:cNvPr id="8" name="object 8"/>
          <p:cNvSpPr/>
          <p:nvPr/>
        </p:nvSpPr>
        <p:spPr>
          <a:xfrm>
            <a:off x="7404620" y="2330195"/>
            <a:ext cx="0" cy="609600"/>
          </a:xfrm>
          <a:custGeom>
            <a:avLst/>
            <a:gdLst/>
            <a:ahLst/>
            <a:cxnLst/>
            <a:rect l="l" t="t" r="r" b="b"/>
            <a:pathLst>
              <a:path h="609600">
                <a:moveTo>
                  <a:pt x="0" y="0"/>
                </a:moveTo>
                <a:lnTo>
                  <a:pt x="0" y="609600"/>
                </a:lnTo>
              </a:path>
            </a:pathLst>
          </a:custGeom>
          <a:ln w="84581">
            <a:solidFill>
              <a:srgbClr val="FF0000"/>
            </a:solidFill>
          </a:ln>
        </p:spPr>
        <p:txBody>
          <a:bodyPr wrap="square" lIns="0" tIns="0" rIns="0" bIns="0" rtlCol="0"/>
          <a:lstStyle/>
          <a:p>
            <a:endParaRPr/>
          </a:p>
        </p:txBody>
      </p:sp>
      <p:sp>
        <p:nvSpPr>
          <p:cNvPr id="9" name="object 9"/>
          <p:cNvSpPr/>
          <p:nvPr/>
        </p:nvSpPr>
        <p:spPr>
          <a:xfrm>
            <a:off x="7356220" y="2324100"/>
            <a:ext cx="97155" cy="622935"/>
          </a:xfrm>
          <a:custGeom>
            <a:avLst/>
            <a:gdLst/>
            <a:ahLst/>
            <a:cxnLst/>
            <a:rect l="l" t="t" r="r" b="b"/>
            <a:pathLst>
              <a:path w="97154" h="622935">
                <a:moveTo>
                  <a:pt x="96775" y="622553"/>
                </a:moveTo>
                <a:lnTo>
                  <a:pt x="96775" y="0"/>
                </a:lnTo>
                <a:lnTo>
                  <a:pt x="0" y="0"/>
                </a:lnTo>
                <a:lnTo>
                  <a:pt x="0" y="622553"/>
                </a:lnTo>
                <a:lnTo>
                  <a:pt x="6108" y="622553"/>
                </a:lnTo>
                <a:lnTo>
                  <a:pt x="6108" y="12953"/>
                </a:lnTo>
                <a:lnTo>
                  <a:pt x="12192" y="6095"/>
                </a:lnTo>
                <a:lnTo>
                  <a:pt x="12192" y="12953"/>
                </a:lnTo>
                <a:lnTo>
                  <a:pt x="84594" y="12953"/>
                </a:lnTo>
                <a:lnTo>
                  <a:pt x="84594" y="6095"/>
                </a:lnTo>
                <a:lnTo>
                  <a:pt x="90677" y="12953"/>
                </a:lnTo>
                <a:lnTo>
                  <a:pt x="90677" y="622553"/>
                </a:lnTo>
                <a:lnTo>
                  <a:pt x="96775" y="622553"/>
                </a:lnTo>
                <a:close/>
              </a:path>
              <a:path w="97154" h="622935">
                <a:moveTo>
                  <a:pt x="12192" y="12953"/>
                </a:moveTo>
                <a:lnTo>
                  <a:pt x="12192" y="6095"/>
                </a:lnTo>
                <a:lnTo>
                  <a:pt x="6108" y="12953"/>
                </a:lnTo>
                <a:lnTo>
                  <a:pt x="12192" y="12953"/>
                </a:lnTo>
                <a:close/>
              </a:path>
              <a:path w="97154" h="622935">
                <a:moveTo>
                  <a:pt x="12192" y="609599"/>
                </a:moveTo>
                <a:lnTo>
                  <a:pt x="12192" y="12953"/>
                </a:lnTo>
                <a:lnTo>
                  <a:pt x="6108" y="12953"/>
                </a:lnTo>
                <a:lnTo>
                  <a:pt x="6108" y="609599"/>
                </a:lnTo>
                <a:lnTo>
                  <a:pt x="12192" y="609599"/>
                </a:lnTo>
                <a:close/>
              </a:path>
              <a:path w="97154" h="622935">
                <a:moveTo>
                  <a:pt x="90677" y="609599"/>
                </a:moveTo>
                <a:lnTo>
                  <a:pt x="6108" y="609599"/>
                </a:lnTo>
                <a:lnTo>
                  <a:pt x="12192" y="615695"/>
                </a:lnTo>
                <a:lnTo>
                  <a:pt x="12192" y="622553"/>
                </a:lnTo>
                <a:lnTo>
                  <a:pt x="84594" y="622553"/>
                </a:lnTo>
                <a:lnTo>
                  <a:pt x="84594" y="615695"/>
                </a:lnTo>
                <a:lnTo>
                  <a:pt x="90677" y="609599"/>
                </a:lnTo>
                <a:close/>
              </a:path>
              <a:path w="97154" h="622935">
                <a:moveTo>
                  <a:pt x="12192" y="622553"/>
                </a:moveTo>
                <a:lnTo>
                  <a:pt x="12192" y="615695"/>
                </a:lnTo>
                <a:lnTo>
                  <a:pt x="6108" y="609599"/>
                </a:lnTo>
                <a:lnTo>
                  <a:pt x="6108" y="622553"/>
                </a:lnTo>
                <a:lnTo>
                  <a:pt x="12192" y="622553"/>
                </a:lnTo>
                <a:close/>
              </a:path>
              <a:path w="97154" h="622935">
                <a:moveTo>
                  <a:pt x="90677" y="12953"/>
                </a:moveTo>
                <a:lnTo>
                  <a:pt x="84594" y="6095"/>
                </a:lnTo>
                <a:lnTo>
                  <a:pt x="84594" y="12953"/>
                </a:lnTo>
                <a:lnTo>
                  <a:pt x="90677" y="12953"/>
                </a:lnTo>
                <a:close/>
              </a:path>
              <a:path w="97154" h="622935">
                <a:moveTo>
                  <a:pt x="90677" y="609599"/>
                </a:moveTo>
                <a:lnTo>
                  <a:pt x="90677" y="12953"/>
                </a:lnTo>
                <a:lnTo>
                  <a:pt x="84594" y="12953"/>
                </a:lnTo>
                <a:lnTo>
                  <a:pt x="84594" y="609599"/>
                </a:lnTo>
                <a:lnTo>
                  <a:pt x="90677" y="609599"/>
                </a:lnTo>
                <a:close/>
              </a:path>
              <a:path w="97154" h="622935">
                <a:moveTo>
                  <a:pt x="90677" y="622553"/>
                </a:moveTo>
                <a:lnTo>
                  <a:pt x="90677" y="609599"/>
                </a:lnTo>
                <a:lnTo>
                  <a:pt x="84594" y="615695"/>
                </a:lnTo>
                <a:lnTo>
                  <a:pt x="84594" y="622553"/>
                </a:lnTo>
                <a:lnTo>
                  <a:pt x="90677" y="622553"/>
                </a:lnTo>
                <a:close/>
              </a:path>
            </a:pathLst>
          </a:custGeom>
          <a:solidFill>
            <a:srgbClr val="000000"/>
          </a:solidFill>
        </p:spPr>
        <p:txBody>
          <a:bodyPr wrap="square" lIns="0" tIns="0" rIns="0" bIns="0" rtlCol="0"/>
          <a:lstStyle/>
          <a:p>
            <a:endParaRPr/>
          </a:p>
        </p:txBody>
      </p:sp>
      <p:sp>
        <p:nvSpPr>
          <p:cNvPr id="10" name="object 10"/>
          <p:cNvSpPr/>
          <p:nvPr/>
        </p:nvSpPr>
        <p:spPr>
          <a:xfrm>
            <a:off x="7489190" y="2558795"/>
            <a:ext cx="0" cy="381000"/>
          </a:xfrm>
          <a:custGeom>
            <a:avLst/>
            <a:gdLst/>
            <a:ahLst/>
            <a:cxnLst/>
            <a:rect l="l" t="t" r="r" b="b"/>
            <a:pathLst>
              <a:path h="381000">
                <a:moveTo>
                  <a:pt x="0" y="0"/>
                </a:moveTo>
                <a:lnTo>
                  <a:pt x="0" y="381000"/>
                </a:lnTo>
              </a:path>
            </a:pathLst>
          </a:custGeom>
          <a:ln w="84581">
            <a:solidFill>
              <a:srgbClr val="FFCF01"/>
            </a:solidFill>
          </a:ln>
        </p:spPr>
        <p:txBody>
          <a:bodyPr wrap="square" lIns="0" tIns="0" rIns="0" bIns="0" rtlCol="0"/>
          <a:lstStyle/>
          <a:p>
            <a:endParaRPr/>
          </a:p>
        </p:txBody>
      </p:sp>
      <p:sp>
        <p:nvSpPr>
          <p:cNvPr id="11" name="object 11"/>
          <p:cNvSpPr/>
          <p:nvPr/>
        </p:nvSpPr>
        <p:spPr>
          <a:xfrm>
            <a:off x="7440815" y="2552700"/>
            <a:ext cx="97155" cy="394335"/>
          </a:xfrm>
          <a:custGeom>
            <a:avLst/>
            <a:gdLst/>
            <a:ahLst/>
            <a:cxnLst/>
            <a:rect l="l" t="t" r="r" b="b"/>
            <a:pathLst>
              <a:path w="97154" h="394335">
                <a:moveTo>
                  <a:pt x="96774" y="393953"/>
                </a:moveTo>
                <a:lnTo>
                  <a:pt x="96774" y="0"/>
                </a:lnTo>
                <a:lnTo>
                  <a:pt x="0" y="0"/>
                </a:lnTo>
                <a:lnTo>
                  <a:pt x="0" y="393953"/>
                </a:lnTo>
                <a:lnTo>
                  <a:pt x="6083" y="393953"/>
                </a:lnTo>
                <a:lnTo>
                  <a:pt x="6083" y="12953"/>
                </a:lnTo>
                <a:lnTo>
                  <a:pt x="12192" y="6095"/>
                </a:lnTo>
                <a:lnTo>
                  <a:pt x="12192" y="12953"/>
                </a:lnTo>
                <a:lnTo>
                  <a:pt x="84582" y="12953"/>
                </a:lnTo>
                <a:lnTo>
                  <a:pt x="84582" y="6095"/>
                </a:lnTo>
                <a:lnTo>
                  <a:pt x="90677" y="12953"/>
                </a:lnTo>
                <a:lnTo>
                  <a:pt x="90677" y="393953"/>
                </a:lnTo>
                <a:lnTo>
                  <a:pt x="96774" y="393953"/>
                </a:lnTo>
                <a:close/>
              </a:path>
              <a:path w="97154" h="394335">
                <a:moveTo>
                  <a:pt x="12192" y="12953"/>
                </a:moveTo>
                <a:lnTo>
                  <a:pt x="12192" y="6095"/>
                </a:lnTo>
                <a:lnTo>
                  <a:pt x="6083" y="12953"/>
                </a:lnTo>
                <a:lnTo>
                  <a:pt x="12192" y="12953"/>
                </a:lnTo>
                <a:close/>
              </a:path>
              <a:path w="97154" h="394335">
                <a:moveTo>
                  <a:pt x="12192" y="380999"/>
                </a:moveTo>
                <a:lnTo>
                  <a:pt x="12192" y="12953"/>
                </a:lnTo>
                <a:lnTo>
                  <a:pt x="6083" y="12953"/>
                </a:lnTo>
                <a:lnTo>
                  <a:pt x="6083" y="380999"/>
                </a:lnTo>
                <a:lnTo>
                  <a:pt x="12192" y="380999"/>
                </a:lnTo>
                <a:close/>
              </a:path>
              <a:path w="97154" h="394335">
                <a:moveTo>
                  <a:pt x="90677" y="380999"/>
                </a:moveTo>
                <a:lnTo>
                  <a:pt x="6083" y="380999"/>
                </a:lnTo>
                <a:lnTo>
                  <a:pt x="12192" y="387095"/>
                </a:lnTo>
                <a:lnTo>
                  <a:pt x="12192" y="393953"/>
                </a:lnTo>
                <a:lnTo>
                  <a:pt x="84582" y="393953"/>
                </a:lnTo>
                <a:lnTo>
                  <a:pt x="84582" y="387095"/>
                </a:lnTo>
                <a:lnTo>
                  <a:pt x="90677" y="380999"/>
                </a:lnTo>
                <a:close/>
              </a:path>
              <a:path w="97154" h="394335">
                <a:moveTo>
                  <a:pt x="12192" y="393953"/>
                </a:moveTo>
                <a:lnTo>
                  <a:pt x="12192" y="387095"/>
                </a:lnTo>
                <a:lnTo>
                  <a:pt x="6083" y="380999"/>
                </a:lnTo>
                <a:lnTo>
                  <a:pt x="6083" y="393953"/>
                </a:lnTo>
                <a:lnTo>
                  <a:pt x="12192" y="393953"/>
                </a:lnTo>
                <a:close/>
              </a:path>
              <a:path w="97154" h="394335">
                <a:moveTo>
                  <a:pt x="90677" y="12953"/>
                </a:moveTo>
                <a:lnTo>
                  <a:pt x="84582" y="6095"/>
                </a:lnTo>
                <a:lnTo>
                  <a:pt x="84582" y="12953"/>
                </a:lnTo>
                <a:lnTo>
                  <a:pt x="90677" y="12953"/>
                </a:lnTo>
                <a:close/>
              </a:path>
              <a:path w="97154" h="394335">
                <a:moveTo>
                  <a:pt x="90677" y="380999"/>
                </a:moveTo>
                <a:lnTo>
                  <a:pt x="90677" y="12953"/>
                </a:lnTo>
                <a:lnTo>
                  <a:pt x="84582" y="12953"/>
                </a:lnTo>
                <a:lnTo>
                  <a:pt x="84582" y="380999"/>
                </a:lnTo>
                <a:lnTo>
                  <a:pt x="90677" y="380999"/>
                </a:lnTo>
                <a:close/>
              </a:path>
              <a:path w="97154" h="394335">
                <a:moveTo>
                  <a:pt x="90677" y="393953"/>
                </a:moveTo>
                <a:lnTo>
                  <a:pt x="90677" y="380999"/>
                </a:lnTo>
                <a:lnTo>
                  <a:pt x="84582" y="387095"/>
                </a:lnTo>
                <a:lnTo>
                  <a:pt x="84582" y="393953"/>
                </a:lnTo>
                <a:lnTo>
                  <a:pt x="90677" y="393953"/>
                </a:lnTo>
                <a:close/>
              </a:path>
            </a:pathLst>
          </a:custGeom>
          <a:solidFill>
            <a:srgbClr val="000000"/>
          </a:solidFill>
        </p:spPr>
        <p:txBody>
          <a:bodyPr wrap="square" lIns="0" tIns="0" rIns="0" bIns="0" rtlCol="0"/>
          <a:lstStyle/>
          <a:p>
            <a:endParaRPr/>
          </a:p>
        </p:txBody>
      </p:sp>
      <p:sp>
        <p:nvSpPr>
          <p:cNvPr id="12" name="object 12"/>
          <p:cNvSpPr/>
          <p:nvPr/>
        </p:nvSpPr>
        <p:spPr>
          <a:xfrm>
            <a:off x="7320038" y="2482595"/>
            <a:ext cx="0" cy="457200"/>
          </a:xfrm>
          <a:custGeom>
            <a:avLst/>
            <a:gdLst/>
            <a:ahLst/>
            <a:cxnLst/>
            <a:rect l="l" t="t" r="r" b="b"/>
            <a:pathLst>
              <a:path h="457200">
                <a:moveTo>
                  <a:pt x="0" y="0"/>
                </a:moveTo>
                <a:lnTo>
                  <a:pt x="0" y="457200"/>
                </a:lnTo>
              </a:path>
            </a:pathLst>
          </a:custGeom>
          <a:ln w="84581">
            <a:solidFill>
              <a:srgbClr val="00E4A8"/>
            </a:solidFill>
          </a:ln>
        </p:spPr>
        <p:txBody>
          <a:bodyPr wrap="square" lIns="0" tIns="0" rIns="0" bIns="0" rtlCol="0"/>
          <a:lstStyle/>
          <a:p>
            <a:endParaRPr/>
          </a:p>
        </p:txBody>
      </p:sp>
      <p:sp>
        <p:nvSpPr>
          <p:cNvPr id="13" name="object 13"/>
          <p:cNvSpPr/>
          <p:nvPr/>
        </p:nvSpPr>
        <p:spPr>
          <a:xfrm>
            <a:off x="7270877" y="2476500"/>
            <a:ext cx="97790" cy="470534"/>
          </a:xfrm>
          <a:custGeom>
            <a:avLst/>
            <a:gdLst/>
            <a:ahLst/>
            <a:cxnLst/>
            <a:rect l="l" t="t" r="r" b="b"/>
            <a:pathLst>
              <a:path w="97790" h="470535">
                <a:moveTo>
                  <a:pt x="97535" y="470153"/>
                </a:moveTo>
                <a:lnTo>
                  <a:pt x="97535" y="0"/>
                </a:lnTo>
                <a:lnTo>
                  <a:pt x="0" y="0"/>
                </a:lnTo>
                <a:lnTo>
                  <a:pt x="0" y="470153"/>
                </a:lnTo>
                <a:lnTo>
                  <a:pt x="6870" y="470153"/>
                </a:lnTo>
                <a:lnTo>
                  <a:pt x="6870" y="12953"/>
                </a:lnTo>
                <a:lnTo>
                  <a:pt x="12966" y="6095"/>
                </a:lnTo>
                <a:lnTo>
                  <a:pt x="12966" y="12953"/>
                </a:lnTo>
                <a:lnTo>
                  <a:pt x="85344" y="12953"/>
                </a:lnTo>
                <a:lnTo>
                  <a:pt x="85344" y="6095"/>
                </a:lnTo>
                <a:lnTo>
                  <a:pt x="91452" y="12953"/>
                </a:lnTo>
                <a:lnTo>
                  <a:pt x="91452" y="470153"/>
                </a:lnTo>
                <a:lnTo>
                  <a:pt x="97535" y="470153"/>
                </a:lnTo>
                <a:close/>
              </a:path>
              <a:path w="97790" h="470535">
                <a:moveTo>
                  <a:pt x="12966" y="12953"/>
                </a:moveTo>
                <a:lnTo>
                  <a:pt x="12966" y="6095"/>
                </a:lnTo>
                <a:lnTo>
                  <a:pt x="6870" y="12953"/>
                </a:lnTo>
                <a:lnTo>
                  <a:pt x="12966" y="12953"/>
                </a:lnTo>
                <a:close/>
              </a:path>
              <a:path w="97790" h="470535">
                <a:moveTo>
                  <a:pt x="12966" y="457199"/>
                </a:moveTo>
                <a:lnTo>
                  <a:pt x="12966" y="12953"/>
                </a:lnTo>
                <a:lnTo>
                  <a:pt x="6870" y="12953"/>
                </a:lnTo>
                <a:lnTo>
                  <a:pt x="6870" y="457199"/>
                </a:lnTo>
                <a:lnTo>
                  <a:pt x="12966" y="457199"/>
                </a:lnTo>
                <a:close/>
              </a:path>
              <a:path w="97790" h="470535">
                <a:moveTo>
                  <a:pt x="91452" y="457199"/>
                </a:moveTo>
                <a:lnTo>
                  <a:pt x="6870" y="457199"/>
                </a:lnTo>
                <a:lnTo>
                  <a:pt x="12966" y="463295"/>
                </a:lnTo>
                <a:lnTo>
                  <a:pt x="12966" y="470153"/>
                </a:lnTo>
                <a:lnTo>
                  <a:pt x="85344" y="470153"/>
                </a:lnTo>
                <a:lnTo>
                  <a:pt x="85344" y="463295"/>
                </a:lnTo>
                <a:lnTo>
                  <a:pt x="91452" y="457199"/>
                </a:lnTo>
                <a:close/>
              </a:path>
              <a:path w="97790" h="470535">
                <a:moveTo>
                  <a:pt x="12966" y="470153"/>
                </a:moveTo>
                <a:lnTo>
                  <a:pt x="12966" y="463295"/>
                </a:lnTo>
                <a:lnTo>
                  <a:pt x="6870" y="457199"/>
                </a:lnTo>
                <a:lnTo>
                  <a:pt x="6870" y="470153"/>
                </a:lnTo>
                <a:lnTo>
                  <a:pt x="12966" y="470153"/>
                </a:lnTo>
                <a:close/>
              </a:path>
              <a:path w="97790" h="470535">
                <a:moveTo>
                  <a:pt x="91452" y="12953"/>
                </a:moveTo>
                <a:lnTo>
                  <a:pt x="85344" y="6095"/>
                </a:lnTo>
                <a:lnTo>
                  <a:pt x="85344" y="12953"/>
                </a:lnTo>
                <a:lnTo>
                  <a:pt x="91452" y="12953"/>
                </a:lnTo>
                <a:close/>
              </a:path>
              <a:path w="97790" h="470535">
                <a:moveTo>
                  <a:pt x="91452" y="457199"/>
                </a:moveTo>
                <a:lnTo>
                  <a:pt x="91452" y="12953"/>
                </a:lnTo>
                <a:lnTo>
                  <a:pt x="85344" y="12953"/>
                </a:lnTo>
                <a:lnTo>
                  <a:pt x="85344" y="457199"/>
                </a:lnTo>
                <a:lnTo>
                  <a:pt x="91452" y="457199"/>
                </a:lnTo>
                <a:close/>
              </a:path>
              <a:path w="97790" h="470535">
                <a:moveTo>
                  <a:pt x="91452" y="470153"/>
                </a:moveTo>
                <a:lnTo>
                  <a:pt x="91452" y="457199"/>
                </a:lnTo>
                <a:lnTo>
                  <a:pt x="85344" y="463295"/>
                </a:lnTo>
                <a:lnTo>
                  <a:pt x="85344" y="470153"/>
                </a:lnTo>
                <a:lnTo>
                  <a:pt x="91452" y="470153"/>
                </a:lnTo>
                <a:close/>
              </a:path>
            </a:pathLst>
          </a:custGeom>
          <a:solidFill>
            <a:srgbClr val="000000"/>
          </a:solidFill>
        </p:spPr>
        <p:txBody>
          <a:bodyPr wrap="square" lIns="0" tIns="0" rIns="0" bIns="0" rtlCol="0"/>
          <a:lstStyle/>
          <a:p>
            <a:endParaRPr/>
          </a:p>
        </p:txBody>
      </p:sp>
      <p:sp>
        <p:nvSpPr>
          <p:cNvPr id="14" name="object 14"/>
          <p:cNvSpPr/>
          <p:nvPr/>
        </p:nvSpPr>
        <p:spPr>
          <a:xfrm>
            <a:off x="7573784" y="2711195"/>
            <a:ext cx="0" cy="228600"/>
          </a:xfrm>
          <a:custGeom>
            <a:avLst/>
            <a:gdLst/>
            <a:ahLst/>
            <a:cxnLst/>
            <a:rect l="l" t="t" r="r" b="b"/>
            <a:pathLst>
              <a:path h="228600">
                <a:moveTo>
                  <a:pt x="0" y="0"/>
                </a:moveTo>
                <a:lnTo>
                  <a:pt x="0" y="228600"/>
                </a:lnTo>
              </a:path>
            </a:pathLst>
          </a:custGeom>
          <a:ln w="84581">
            <a:solidFill>
              <a:srgbClr val="000000"/>
            </a:solidFill>
          </a:ln>
        </p:spPr>
        <p:txBody>
          <a:bodyPr wrap="square" lIns="0" tIns="0" rIns="0" bIns="0" rtlCol="0"/>
          <a:lstStyle/>
          <a:p>
            <a:endParaRPr/>
          </a:p>
        </p:txBody>
      </p:sp>
      <p:sp>
        <p:nvSpPr>
          <p:cNvPr id="15" name="object 15"/>
          <p:cNvSpPr/>
          <p:nvPr/>
        </p:nvSpPr>
        <p:spPr>
          <a:xfrm>
            <a:off x="7525398" y="2705100"/>
            <a:ext cx="97790" cy="241935"/>
          </a:xfrm>
          <a:custGeom>
            <a:avLst/>
            <a:gdLst/>
            <a:ahLst/>
            <a:cxnLst/>
            <a:rect l="l" t="t" r="r" b="b"/>
            <a:pathLst>
              <a:path w="97790" h="241935">
                <a:moveTo>
                  <a:pt x="97534" y="241553"/>
                </a:moveTo>
                <a:lnTo>
                  <a:pt x="97534" y="0"/>
                </a:lnTo>
                <a:lnTo>
                  <a:pt x="0" y="0"/>
                </a:lnTo>
                <a:lnTo>
                  <a:pt x="0" y="241553"/>
                </a:lnTo>
                <a:lnTo>
                  <a:pt x="6095" y="241553"/>
                </a:lnTo>
                <a:lnTo>
                  <a:pt x="6095" y="12953"/>
                </a:lnTo>
                <a:lnTo>
                  <a:pt x="12179" y="6095"/>
                </a:lnTo>
                <a:lnTo>
                  <a:pt x="12179" y="12953"/>
                </a:lnTo>
                <a:lnTo>
                  <a:pt x="84581" y="12953"/>
                </a:lnTo>
                <a:lnTo>
                  <a:pt x="84581" y="6095"/>
                </a:lnTo>
                <a:lnTo>
                  <a:pt x="90665" y="12953"/>
                </a:lnTo>
                <a:lnTo>
                  <a:pt x="90665" y="241553"/>
                </a:lnTo>
                <a:lnTo>
                  <a:pt x="97534" y="241553"/>
                </a:lnTo>
                <a:close/>
              </a:path>
              <a:path w="97790" h="241935">
                <a:moveTo>
                  <a:pt x="12179" y="12953"/>
                </a:moveTo>
                <a:lnTo>
                  <a:pt x="12179" y="6095"/>
                </a:lnTo>
                <a:lnTo>
                  <a:pt x="6095" y="12953"/>
                </a:lnTo>
                <a:lnTo>
                  <a:pt x="12179" y="12953"/>
                </a:lnTo>
                <a:close/>
              </a:path>
              <a:path w="97790" h="241935">
                <a:moveTo>
                  <a:pt x="12179" y="228599"/>
                </a:moveTo>
                <a:lnTo>
                  <a:pt x="12179" y="12953"/>
                </a:lnTo>
                <a:lnTo>
                  <a:pt x="6095" y="12953"/>
                </a:lnTo>
                <a:lnTo>
                  <a:pt x="6095" y="228599"/>
                </a:lnTo>
                <a:lnTo>
                  <a:pt x="12179" y="228599"/>
                </a:lnTo>
                <a:close/>
              </a:path>
              <a:path w="97790" h="241935">
                <a:moveTo>
                  <a:pt x="90665" y="228599"/>
                </a:moveTo>
                <a:lnTo>
                  <a:pt x="6095" y="228599"/>
                </a:lnTo>
                <a:lnTo>
                  <a:pt x="12179" y="234695"/>
                </a:lnTo>
                <a:lnTo>
                  <a:pt x="12179" y="241553"/>
                </a:lnTo>
                <a:lnTo>
                  <a:pt x="84581" y="241553"/>
                </a:lnTo>
                <a:lnTo>
                  <a:pt x="84581" y="234695"/>
                </a:lnTo>
                <a:lnTo>
                  <a:pt x="90665" y="228599"/>
                </a:lnTo>
                <a:close/>
              </a:path>
              <a:path w="97790" h="241935">
                <a:moveTo>
                  <a:pt x="12179" y="241553"/>
                </a:moveTo>
                <a:lnTo>
                  <a:pt x="12179" y="234695"/>
                </a:lnTo>
                <a:lnTo>
                  <a:pt x="6095" y="228599"/>
                </a:lnTo>
                <a:lnTo>
                  <a:pt x="6095" y="241553"/>
                </a:lnTo>
                <a:lnTo>
                  <a:pt x="12179" y="241553"/>
                </a:lnTo>
                <a:close/>
              </a:path>
              <a:path w="97790" h="241935">
                <a:moveTo>
                  <a:pt x="90665" y="12953"/>
                </a:moveTo>
                <a:lnTo>
                  <a:pt x="84581" y="6095"/>
                </a:lnTo>
                <a:lnTo>
                  <a:pt x="84581" y="12953"/>
                </a:lnTo>
                <a:lnTo>
                  <a:pt x="90665" y="12953"/>
                </a:lnTo>
                <a:close/>
              </a:path>
              <a:path w="97790" h="241935">
                <a:moveTo>
                  <a:pt x="90665" y="228599"/>
                </a:moveTo>
                <a:lnTo>
                  <a:pt x="90665" y="12953"/>
                </a:lnTo>
                <a:lnTo>
                  <a:pt x="84581" y="12953"/>
                </a:lnTo>
                <a:lnTo>
                  <a:pt x="84581" y="228599"/>
                </a:lnTo>
                <a:lnTo>
                  <a:pt x="90665" y="228599"/>
                </a:lnTo>
                <a:close/>
              </a:path>
              <a:path w="97790" h="241935">
                <a:moveTo>
                  <a:pt x="90665" y="241553"/>
                </a:moveTo>
                <a:lnTo>
                  <a:pt x="90665" y="228599"/>
                </a:lnTo>
                <a:lnTo>
                  <a:pt x="84581" y="234695"/>
                </a:lnTo>
                <a:lnTo>
                  <a:pt x="84581" y="241553"/>
                </a:lnTo>
                <a:lnTo>
                  <a:pt x="90665" y="241553"/>
                </a:lnTo>
                <a:close/>
              </a:path>
            </a:pathLst>
          </a:custGeom>
          <a:solidFill>
            <a:srgbClr val="000000"/>
          </a:solidFill>
        </p:spPr>
        <p:txBody>
          <a:bodyPr wrap="square" lIns="0" tIns="0" rIns="0" bIns="0" rtlCol="0"/>
          <a:lstStyle/>
          <a:p>
            <a:endParaRPr/>
          </a:p>
        </p:txBody>
      </p:sp>
      <p:sp>
        <p:nvSpPr>
          <p:cNvPr id="16" name="object 16"/>
          <p:cNvSpPr/>
          <p:nvPr/>
        </p:nvSpPr>
        <p:spPr>
          <a:xfrm>
            <a:off x="7023227" y="2977895"/>
            <a:ext cx="762000" cy="0"/>
          </a:xfrm>
          <a:custGeom>
            <a:avLst/>
            <a:gdLst/>
            <a:ahLst/>
            <a:cxnLst/>
            <a:rect l="l" t="t" r="r" b="b"/>
            <a:pathLst>
              <a:path w="762000">
                <a:moveTo>
                  <a:pt x="0" y="0"/>
                </a:moveTo>
                <a:lnTo>
                  <a:pt x="762000" y="0"/>
                </a:lnTo>
              </a:path>
            </a:pathLst>
          </a:custGeom>
          <a:ln w="76200">
            <a:solidFill>
              <a:srgbClr val="00E4A8"/>
            </a:solidFill>
          </a:ln>
        </p:spPr>
        <p:txBody>
          <a:bodyPr wrap="square" lIns="0" tIns="0" rIns="0" bIns="0" rtlCol="0"/>
          <a:lstStyle/>
          <a:p>
            <a:endParaRPr/>
          </a:p>
        </p:txBody>
      </p:sp>
      <p:sp>
        <p:nvSpPr>
          <p:cNvPr id="17" name="object 17"/>
          <p:cNvSpPr/>
          <p:nvPr/>
        </p:nvSpPr>
        <p:spPr>
          <a:xfrm>
            <a:off x="7017143" y="2933700"/>
            <a:ext cx="775335" cy="89535"/>
          </a:xfrm>
          <a:custGeom>
            <a:avLst/>
            <a:gdLst/>
            <a:ahLst/>
            <a:cxnLst/>
            <a:rect l="l" t="t" r="r" b="b"/>
            <a:pathLst>
              <a:path w="775334" h="89535">
                <a:moveTo>
                  <a:pt x="774953" y="89153"/>
                </a:moveTo>
                <a:lnTo>
                  <a:pt x="774953" y="0"/>
                </a:lnTo>
                <a:lnTo>
                  <a:pt x="0" y="0"/>
                </a:lnTo>
                <a:lnTo>
                  <a:pt x="0" y="89153"/>
                </a:lnTo>
                <a:lnTo>
                  <a:pt x="6083" y="89153"/>
                </a:lnTo>
                <a:lnTo>
                  <a:pt x="6083" y="12953"/>
                </a:lnTo>
                <a:lnTo>
                  <a:pt x="12954" y="6095"/>
                </a:lnTo>
                <a:lnTo>
                  <a:pt x="12954" y="12953"/>
                </a:lnTo>
                <a:lnTo>
                  <a:pt x="762000" y="12953"/>
                </a:lnTo>
                <a:lnTo>
                  <a:pt x="762000" y="6095"/>
                </a:lnTo>
                <a:lnTo>
                  <a:pt x="768083" y="12953"/>
                </a:lnTo>
                <a:lnTo>
                  <a:pt x="768083" y="89153"/>
                </a:lnTo>
                <a:lnTo>
                  <a:pt x="774953" y="89153"/>
                </a:lnTo>
                <a:close/>
              </a:path>
              <a:path w="775334" h="89535">
                <a:moveTo>
                  <a:pt x="12954" y="12953"/>
                </a:moveTo>
                <a:lnTo>
                  <a:pt x="12954" y="6095"/>
                </a:lnTo>
                <a:lnTo>
                  <a:pt x="6083" y="12953"/>
                </a:lnTo>
                <a:lnTo>
                  <a:pt x="12954" y="12953"/>
                </a:lnTo>
                <a:close/>
              </a:path>
              <a:path w="775334" h="89535">
                <a:moveTo>
                  <a:pt x="12954" y="76199"/>
                </a:moveTo>
                <a:lnTo>
                  <a:pt x="12954" y="12953"/>
                </a:lnTo>
                <a:lnTo>
                  <a:pt x="6083" y="12953"/>
                </a:lnTo>
                <a:lnTo>
                  <a:pt x="6083" y="76199"/>
                </a:lnTo>
                <a:lnTo>
                  <a:pt x="12954" y="76199"/>
                </a:lnTo>
                <a:close/>
              </a:path>
              <a:path w="775334" h="89535">
                <a:moveTo>
                  <a:pt x="768083" y="76199"/>
                </a:moveTo>
                <a:lnTo>
                  <a:pt x="6083" y="76199"/>
                </a:lnTo>
                <a:lnTo>
                  <a:pt x="12954" y="82295"/>
                </a:lnTo>
                <a:lnTo>
                  <a:pt x="12954" y="89153"/>
                </a:lnTo>
                <a:lnTo>
                  <a:pt x="762000" y="89153"/>
                </a:lnTo>
                <a:lnTo>
                  <a:pt x="762000" y="82295"/>
                </a:lnTo>
                <a:lnTo>
                  <a:pt x="768083" y="76199"/>
                </a:lnTo>
                <a:close/>
              </a:path>
              <a:path w="775334" h="89535">
                <a:moveTo>
                  <a:pt x="12954" y="89153"/>
                </a:moveTo>
                <a:lnTo>
                  <a:pt x="12954" y="82295"/>
                </a:lnTo>
                <a:lnTo>
                  <a:pt x="6083" y="76199"/>
                </a:lnTo>
                <a:lnTo>
                  <a:pt x="6083" y="89153"/>
                </a:lnTo>
                <a:lnTo>
                  <a:pt x="12954" y="89153"/>
                </a:lnTo>
                <a:close/>
              </a:path>
              <a:path w="775334" h="89535">
                <a:moveTo>
                  <a:pt x="768083" y="12953"/>
                </a:moveTo>
                <a:lnTo>
                  <a:pt x="762000" y="6095"/>
                </a:lnTo>
                <a:lnTo>
                  <a:pt x="762000" y="12953"/>
                </a:lnTo>
                <a:lnTo>
                  <a:pt x="768083" y="12953"/>
                </a:lnTo>
                <a:close/>
              </a:path>
              <a:path w="775334" h="89535">
                <a:moveTo>
                  <a:pt x="768083" y="76199"/>
                </a:moveTo>
                <a:lnTo>
                  <a:pt x="768083" y="12953"/>
                </a:lnTo>
                <a:lnTo>
                  <a:pt x="762000" y="12953"/>
                </a:lnTo>
                <a:lnTo>
                  <a:pt x="762000" y="76199"/>
                </a:lnTo>
                <a:lnTo>
                  <a:pt x="768083" y="76199"/>
                </a:lnTo>
                <a:close/>
              </a:path>
              <a:path w="775334" h="89535">
                <a:moveTo>
                  <a:pt x="768083" y="89153"/>
                </a:moveTo>
                <a:lnTo>
                  <a:pt x="768083" y="76199"/>
                </a:lnTo>
                <a:lnTo>
                  <a:pt x="762000" y="82295"/>
                </a:lnTo>
                <a:lnTo>
                  <a:pt x="762000" y="89153"/>
                </a:lnTo>
                <a:lnTo>
                  <a:pt x="768083" y="89153"/>
                </a:lnTo>
                <a:close/>
              </a:path>
            </a:pathLst>
          </a:custGeom>
          <a:solidFill>
            <a:srgbClr val="000000"/>
          </a:solidFill>
        </p:spPr>
        <p:txBody>
          <a:bodyPr wrap="square" lIns="0" tIns="0" rIns="0" bIns="0" rtlCol="0"/>
          <a:lstStyle/>
          <a:p>
            <a:endParaRPr/>
          </a:p>
        </p:txBody>
      </p:sp>
      <p:sp>
        <p:nvSpPr>
          <p:cNvPr id="18" name="object 18"/>
          <p:cNvSpPr/>
          <p:nvPr/>
        </p:nvSpPr>
        <p:spPr>
          <a:xfrm>
            <a:off x="7108570" y="2711195"/>
            <a:ext cx="169545" cy="228600"/>
          </a:xfrm>
          <a:custGeom>
            <a:avLst/>
            <a:gdLst/>
            <a:ahLst/>
            <a:cxnLst/>
            <a:rect l="l" t="t" r="r" b="b"/>
            <a:pathLst>
              <a:path w="169545" h="228600">
                <a:moveTo>
                  <a:pt x="0" y="0"/>
                </a:moveTo>
                <a:lnTo>
                  <a:pt x="0" y="228600"/>
                </a:lnTo>
                <a:lnTo>
                  <a:pt x="169164" y="228600"/>
                </a:lnTo>
                <a:lnTo>
                  <a:pt x="169164" y="0"/>
                </a:lnTo>
                <a:lnTo>
                  <a:pt x="0" y="0"/>
                </a:lnTo>
                <a:close/>
              </a:path>
            </a:pathLst>
          </a:custGeom>
          <a:solidFill>
            <a:srgbClr val="FF99FF"/>
          </a:solidFill>
        </p:spPr>
        <p:txBody>
          <a:bodyPr wrap="square" lIns="0" tIns="0" rIns="0" bIns="0" rtlCol="0"/>
          <a:lstStyle/>
          <a:p>
            <a:endParaRPr/>
          </a:p>
        </p:txBody>
      </p:sp>
      <p:sp>
        <p:nvSpPr>
          <p:cNvPr id="19" name="object 19"/>
          <p:cNvSpPr/>
          <p:nvPr/>
        </p:nvSpPr>
        <p:spPr>
          <a:xfrm>
            <a:off x="7101713" y="2705100"/>
            <a:ext cx="182245" cy="241935"/>
          </a:xfrm>
          <a:custGeom>
            <a:avLst/>
            <a:gdLst/>
            <a:ahLst/>
            <a:cxnLst/>
            <a:rect l="l" t="t" r="r" b="b"/>
            <a:pathLst>
              <a:path w="182245" h="241935">
                <a:moveTo>
                  <a:pt x="182118" y="241553"/>
                </a:moveTo>
                <a:lnTo>
                  <a:pt x="182118" y="0"/>
                </a:lnTo>
                <a:lnTo>
                  <a:pt x="0" y="0"/>
                </a:lnTo>
                <a:lnTo>
                  <a:pt x="0" y="241553"/>
                </a:lnTo>
                <a:lnTo>
                  <a:pt x="6857" y="241553"/>
                </a:lnTo>
                <a:lnTo>
                  <a:pt x="6857" y="12953"/>
                </a:lnTo>
                <a:lnTo>
                  <a:pt x="12966" y="6095"/>
                </a:lnTo>
                <a:lnTo>
                  <a:pt x="12966" y="12953"/>
                </a:lnTo>
                <a:lnTo>
                  <a:pt x="169163" y="12953"/>
                </a:lnTo>
                <a:lnTo>
                  <a:pt x="169163" y="6095"/>
                </a:lnTo>
                <a:lnTo>
                  <a:pt x="176034" y="12953"/>
                </a:lnTo>
                <a:lnTo>
                  <a:pt x="176034" y="241553"/>
                </a:lnTo>
                <a:lnTo>
                  <a:pt x="182118" y="241553"/>
                </a:lnTo>
                <a:close/>
              </a:path>
              <a:path w="182245" h="241935">
                <a:moveTo>
                  <a:pt x="12966" y="12953"/>
                </a:moveTo>
                <a:lnTo>
                  <a:pt x="12966" y="6095"/>
                </a:lnTo>
                <a:lnTo>
                  <a:pt x="6857" y="12953"/>
                </a:lnTo>
                <a:lnTo>
                  <a:pt x="12966" y="12953"/>
                </a:lnTo>
                <a:close/>
              </a:path>
              <a:path w="182245" h="241935">
                <a:moveTo>
                  <a:pt x="12966" y="228599"/>
                </a:moveTo>
                <a:lnTo>
                  <a:pt x="12966" y="12953"/>
                </a:lnTo>
                <a:lnTo>
                  <a:pt x="6857" y="12953"/>
                </a:lnTo>
                <a:lnTo>
                  <a:pt x="6857" y="228599"/>
                </a:lnTo>
                <a:lnTo>
                  <a:pt x="12966" y="228599"/>
                </a:lnTo>
                <a:close/>
              </a:path>
              <a:path w="182245" h="241935">
                <a:moveTo>
                  <a:pt x="176034" y="228599"/>
                </a:moveTo>
                <a:lnTo>
                  <a:pt x="6857" y="228599"/>
                </a:lnTo>
                <a:lnTo>
                  <a:pt x="12966" y="234695"/>
                </a:lnTo>
                <a:lnTo>
                  <a:pt x="12966" y="241553"/>
                </a:lnTo>
                <a:lnTo>
                  <a:pt x="169163" y="241553"/>
                </a:lnTo>
                <a:lnTo>
                  <a:pt x="169163" y="234695"/>
                </a:lnTo>
                <a:lnTo>
                  <a:pt x="176034" y="228599"/>
                </a:lnTo>
                <a:close/>
              </a:path>
              <a:path w="182245" h="241935">
                <a:moveTo>
                  <a:pt x="12966" y="241553"/>
                </a:moveTo>
                <a:lnTo>
                  <a:pt x="12966" y="234695"/>
                </a:lnTo>
                <a:lnTo>
                  <a:pt x="6857" y="228599"/>
                </a:lnTo>
                <a:lnTo>
                  <a:pt x="6857" y="241553"/>
                </a:lnTo>
                <a:lnTo>
                  <a:pt x="12966" y="241553"/>
                </a:lnTo>
                <a:close/>
              </a:path>
              <a:path w="182245" h="241935">
                <a:moveTo>
                  <a:pt x="176034" y="12953"/>
                </a:moveTo>
                <a:lnTo>
                  <a:pt x="169163" y="6095"/>
                </a:lnTo>
                <a:lnTo>
                  <a:pt x="169163" y="12953"/>
                </a:lnTo>
                <a:lnTo>
                  <a:pt x="176034" y="12953"/>
                </a:lnTo>
                <a:close/>
              </a:path>
              <a:path w="182245" h="241935">
                <a:moveTo>
                  <a:pt x="176034" y="228599"/>
                </a:moveTo>
                <a:lnTo>
                  <a:pt x="176034" y="12953"/>
                </a:lnTo>
                <a:lnTo>
                  <a:pt x="169163" y="12953"/>
                </a:lnTo>
                <a:lnTo>
                  <a:pt x="169163" y="228599"/>
                </a:lnTo>
                <a:lnTo>
                  <a:pt x="176034" y="228599"/>
                </a:lnTo>
                <a:close/>
              </a:path>
              <a:path w="182245" h="241935">
                <a:moveTo>
                  <a:pt x="176034" y="241553"/>
                </a:moveTo>
                <a:lnTo>
                  <a:pt x="176034" y="228599"/>
                </a:lnTo>
                <a:lnTo>
                  <a:pt x="169163" y="234695"/>
                </a:lnTo>
                <a:lnTo>
                  <a:pt x="169163" y="241553"/>
                </a:lnTo>
                <a:lnTo>
                  <a:pt x="176034" y="241553"/>
                </a:lnTo>
                <a:close/>
              </a:path>
            </a:pathLst>
          </a:custGeom>
          <a:solidFill>
            <a:srgbClr val="000000"/>
          </a:solidFill>
        </p:spPr>
        <p:txBody>
          <a:bodyPr wrap="square" lIns="0" tIns="0" rIns="0" bIns="0" rtlCol="0"/>
          <a:lstStyle/>
          <a:p>
            <a:endParaRPr/>
          </a:p>
        </p:txBody>
      </p:sp>
      <p:sp>
        <p:nvSpPr>
          <p:cNvPr id="20" name="object 20"/>
          <p:cNvSpPr txBox="1"/>
          <p:nvPr/>
        </p:nvSpPr>
        <p:spPr>
          <a:xfrm>
            <a:off x="2904108" y="3785869"/>
            <a:ext cx="1320165" cy="452120"/>
          </a:xfrm>
          <a:prstGeom prst="rect">
            <a:avLst/>
          </a:prstGeom>
        </p:spPr>
        <p:txBody>
          <a:bodyPr vert="horz" wrap="square" lIns="0" tIns="12065" rIns="0" bIns="0" rtlCol="0">
            <a:spAutoFit/>
          </a:bodyPr>
          <a:lstStyle/>
          <a:p>
            <a:pPr marL="12700" marR="5080" indent="59055">
              <a:lnSpc>
                <a:spcPct val="100000"/>
              </a:lnSpc>
              <a:spcBef>
                <a:spcPts val="95"/>
              </a:spcBef>
            </a:pPr>
            <a:r>
              <a:rPr sz="1400" spc="-5" dirty="0">
                <a:latin typeface="Comic Sans MS"/>
                <a:cs typeface="Comic Sans MS"/>
              </a:rPr>
              <a:t>Selection and  Transformation</a:t>
            </a:r>
            <a:endParaRPr sz="1400">
              <a:latin typeface="Comic Sans MS"/>
              <a:cs typeface="Comic Sans MS"/>
            </a:endParaRPr>
          </a:p>
        </p:txBody>
      </p:sp>
      <p:sp>
        <p:nvSpPr>
          <p:cNvPr id="21" name="object 21"/>
          <p:cNvSpPr txBox="1"/>
          <p:nvPr/>
        </p:nvSpPr>
        <p:spPr>
          <a:xfrm>
            <a:off x="4663573" y="2961385"/>
            <a:ext cx="12934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mic Sans MS"/>
                <a:cs typeface="Comic Sans MS"/>
              </a:rPr>
              <a:t>Data</a:t>
            </a:r>
            <a:r>
              <a:rPr sz="1800" spc="-85" dirty="0">
                <a:latin typeface="Comic Sans MS"/>
                <a:cs typeface="Comic Sans MS"/>
              </a:rPr>
              <a:t> </a:t>
            </a:r>
            <a:r>
              <a:rPr sz="1800" dirty="0">
                <a:latin typeface="Comic Sans MS"/>
                <a:cs typeface="Comic Sans MS"/>
              </a:rPr>
              <a:t>Mining</a:t>
            </a:r>
            <a:endParaRPr sz="1800">
              <a:latin typeface="Comic Sans MS"/>
              <a:cs typeface="Comic Sans MS"/>
            </a:endParaRPr>
          </a:p>
        </p:txBody>
      </p:sp>
      <p:sp>
        <p:nvSpPr>
          <p:cNvPr id="22" name="object 22"/>
          <p:cNvSpPr txBox="1"/>
          <p:nvPr/>
        </p:nvSpPr>
        <p:spPr>
          <a:xfrm>
            <a:off x="6669157" y="1765045"/>
            <a:ext cx="1207770" cy="452120"/>
          </a:xfrm>
          <a:prstGeom prst="rect">
            <a:avLst/>
          </a:prstGeom>
        </p:spPr>
        <p:txBody>
          <a:bodyPr vert="horz" wrap="square" lIns="0" tIns="12065" rIns="0" bIns="0" rtlCol="0">
            <a:spAutoFit/>
          </a:bodyPr>
          <a:lstStyle/>
          <a:p>
            <a:pPr marL="106045" marR="5080" indent="-93980">
              <a:lnSpc>
                <a:spcPct val="100000"/>
              </a:lnSpc>
              <a:spcBef>
                <a:spcPts val="95"/>
              </a:spcBef>
            </a:pPr>
            <a:r>
              <a:rPr sz="1400" spc="-5" dirty="0">
                <a:latin typeface="Comic Sans MS"/>
                <a:cs typeface="Comic Sans MS"/>
              </a:rPr>
              <a:t>Evaluation</a:t>
            </a:r>
            <a:r>
              <a:rPr sz="1400" spc="-50" dirty="0">
                <a:latin typeface="Comic Sans MS"/>
                <a:cs typeface="Comic Sans MS"/>
              </a:rPr>
              <a:t> </a:t>
            </a:r>
            <a:r>
              <a:rPr sz="1400" spc="-5" dirty="0">
                <a:latin typeface="Comic Sans MS"/>
                <a:cs typeface="Comic Sans MS"/>
              </a:rPr>
              <a:t>and  Presentation</a:t>
            </a:r>
            <a:endParaRPr sz="1400">
              <a:latin typeface="Comic Sans MS"/>
              <a:cs typeface="Comic Sans MS"/>
            </a:endParaRPr>
          </a:p>
        </p:txBody>
      </p:sp>
      <p:sp>
        <p:nvSpPr>
          <p:cNvPr id="23" name="object 23"/>
          <p:cNvSpPr/>
          <p:nvPr/>
        </p:nvSpPr>
        <p:spPr>
          <a:xfrm>
            <a:off x="6356477" y="3473196"/>
            <a:ext cx="114300" cy="2097405"/>
          </a:xfrm>
          <a:custGeom>
            <a:avLst/>
            <a:gdLst/>
            <a:ahLst/>
            <a:cxnLst/>
            <a:rect l="l" t="t" r="r" b="b"/>
            <a:pathLst>
              <a:path w="114300" h="2097404">
                <a:moveTo>
                  <a:pt x="114300" y="114300"/>
                </a:moveTo>
                <a:lnTo>
                  <a:pt x="57150" y="0"/>
                </a:lnTo>
                <a:lnTo>
                  <a:pt x="0" y="114300"/>
                </a:lnTo>
                <a:lnTo>
                  <a:pt x="38100" y="114300"/>
                </a:lnTo>
                <a:lnTo>
                  <a:pt x="38100" y="95250"/>
                </a:lnTo>
                <a:lnTo>
                  <a:pt x="39683" y="88094"/>
                </a:lnTo>
                <a:lnTo>
                  <a:pt x="43910" y="82010"/>
                </a:lnTo>
                <a:lnTo>
                  <a:pt x="49994" y="77783"/>
                </a:lnTo>
                <a:lnTo>
                  <a:pt x="57150" y="76200"/>
                </a:lnTo>
                <a:lnTo>
                  <a:pt x="64627" y="77783"/>
                </a:lnTo>
                <a:lnTo>
                  <a:pt x="70675" y="82010"/>
                </a:lnTo>
                <a:lnTo>
                  <a:pt x="74723" y="88094"/>
                </a:lnTo>
                <a:lnTo>
                  <a:pt x="76200" y="95250"/>
                </a:lnTo>
                <a:lnTo>
                  <a:pt x="76200" y="114300"/>
                </a:lnTo>
                <a:lnTo>
                  <a:pt x="114300" y="114300"/>
                </a:lnTo>
                <a:close/>
              </a:path>
              <a:path w="114300" h="2097404">
                <a:moveTo>
                  <a:pt x="76200" y="96012"/>
                </a:moveTo>
                <a:lnTo>
                  <a:pt x="76200" y="95250"/>
                </a:lnTo>
                <a:lnTo>
                  <a:pt x="74723" y="88094"/>
                </a:lnTo>
                <a:lnTo>
                  <a:pt x="70675" y="82010"/>
                </a:lnTo>
                <a:lnTo>
                  <a:pt x="64627" y="77783"/>
                </a:lnTo>
                <a:lnTo>
                  <a:pt x="57150" y="76200"/>
                </a:lnTo>
                <a:lnTo>
                  <a:pt x="49994" y="77783"/>
                </a:lnTo>
                <a:lnTo>
                  <a:pt x="43910" y="82010"/>
                </a:lnTo>
                <a:lnTo>
                  <a:pt x="39683" y="88094"/>
                </a:lnTo>
                <a:lnTo>
                  <a:pt x="38100" y="95250"/>
                </a:lnTo>
                <a:lnTo>
                  <a:pt x="38100" y="96012"/>
                </a:lnTo>
                <a:lnTo>
                  <a:pt x="39683" y="103167"/>
                </a:lnTo>
                <a:lnTo>
                  <a:pt x="43910" y="109251"/>
                </a:lnTo>
                <a:lnTo>
                  <a:pt x="49994" y="113478"/>
                </a:lnTo>
                <a:lnTo>
                  <a:pt x="53706" y="114300"/>
                </a:lnTo>
                <a:lnTo>
                  <a:pt x="60748" y="114300"/>
                </a:lnTo>
                <a:lnTo>
                  <a:pt x="64627" y="113478"/>
                </a:lnTo>
                <a:lnTo>
                  <a:pt x="70675" y="109251"/>
                </a:lnTo>
                <a:lnTo>
                  <a:pt x="74723" y="103167"/>
                </a:lnTo>
                <a:lnTo>
                  <a:pt x="76200" y="96012"/>
                </a:lnTo>
                <a:close/>
              </a:path>
              <a:path w="114300" h="2097404">
                <a:moveTo>
                  <a:pt x="53706" y="114300"/>
                </a:moveTo>
                <a:lnTo>
                  <a:pt x="49994" y="113478"/>
                </a:lnTo>
                <a:lnTo>
                  <a:pt x="43910" y="109251"/>
                </a:lnTo>
                <a:lnTo>
                  <a:pt x="39683" y="103167"/>
                </a:lnTo>
                <a:lnTo>
                  <a:pt x="38100" y="96012"/>
                </a:lnTo>
                <a:lnTo>
                  <a:pt x="38100" y="114300"/>
                </a:lnTo>
                <a:lnTo>
                  <a:pt x="53706" y="114300"/>
                </a:lnTo>
                <a:close/>
              </a:path>
              <a:path w="114300" h="2097404">
                <a:moveTo>
                  <a:pt x="60748" y="114300"/>
                </a:moveTo>
                <a:lnTo>
                  <a:pt x="53706" y="114300"/>
                </a:lnTo>
                <a:lnTo>
                  <a:pt x="57150" y="115062"/>
                </a:lnTo>
                <a:lnTo>
                  <a:pt x="60748" y="114300"/>
                </a:lnTo>
                <a:close/>
              </a:path>
              <a:path w="114300" h="2097404">
                <a:moveTo>
                  <a:pt x="76200" y="114300"/>
                </a:moveTo>
                <a:lnTo>
                  <a:pt x="76200" y="96012"/>
                </a:lnTo>
                <a:lnTo>
                  <a:pt x="74723" y="103167"/>
                </a:lnTo>
                <a:lnTo>
                  <a:pt x="70675" y="109251"/>
                </a:lnTo>
                <a:lnTo>
                  <a:pt x="64627" y="113478"/>
                </a:lnTo>
                <a:lnTo>
                  <a:pt x="60748" y="114300"/>
                </a:lnTo>
                <a:lnTo>
                  <a:pt x="76200" y="114300"/>
                </a:lnTo>
                <a:close/>
              </a:path>
              <a:path w="114300" h="2097404">
                <a:moveTo>
                  <a:pt x="76200" y="172211"/>
                </a:moveTo>
                <a:lnTo>
                  <a:pt x="74723" y="164734"/>
                </a:lnTo>
                <a:lnTo>
                  <a:pt x="70675" y="158686"/>
                </a:lnTo>
                <a:lnTo>
                  <a:pt x="64627" y="154638"/>
                </a:lnTo>
                <a:lnTo>
                  <a:pt x="57150" y="153162"/>
                </a:lnTo>
                <a:lnTo>
                  <a:pt x="49994" y="154638"/>
                </a:lnTo>
                <a:lnTo>
                  <a:pt x="43910" y="158686"/>
                </a:lnTo>
                <a:lnTo>
                  <a:pt x="39683" y="164734"/>
                </a:lnTo>
                <a:lnTo>
                  <a:pt x="38100" y="172211"/>
                </a:lnTo>
                <a:lnTo>
                  <a:pt x="39683" y="179367"/>
                </a:lnTo>
                <a:lnTo>
                  <a:pt x="43910" y="185451"/>
                </a:lnTo>
                <a:lnTo>
                  <a:pt x="49994" y="189678"/>
                </a:lnTo>
                <a:lnTo>
                  <a:pt x="57150" y="191262"/>
                </a:lnTo>
                <a:lnTo>
                  <a:pt x="64627" y="189678"/>
                </a:lnTo>
                <a:lnTo>
                  <a:pt x="70675" y="185451"/>
                </a:lnTo>
                <a:lnTo>
                  <a:pt x="74723" y="179367"/>
                </a:lnTo>
                <a:lnTo>
                  <a:pt x="76200" y="172211"/>
                </a:lnTo>
                <a:close/>
              </a:path>
              <a:path w="114300" h="2097404">
                <a:moveTo>
                  <a:pt x="76200" y="248412"/>
                </a:moveTo>
                <a:lnTo>
                  <a:pt x="74723" y="240934"/>
                </a:lnTo>
                <a:lnTo>
                  <a:pt x="70675" y="234886"/>
                </a:lnTo>
                <a:lnTo>
                  <a:pt x="64627" y="230838"/>
                </a:lnTo>
                <a:lnTo>
                  <a:pt x="57150" y="229362"/>
                </a:lnTo>
                <a:lnTo>
                  <a:pt x="49994" y="230838"/>
                </a:lnTo>
                <a:lnTo>
                  <a:pt x="43910" y="234886"/>
                </a:lnTo>
                <a:lnTo>
                  <a:pt x="39683" y="240934"/>
                </a:lnTo>
                <a:lnTo>
                  <a:pt x="38100" y="248412"/>
                </a:lnTo>
                <a:lnTo>
                  <a:pt x="39683" y="255567"/>
                </a:lnTo>
                <a:lnTo>
                  <a:pt x="43910" y="261651"/>
                </a:lnTo>
                <a:lnTo>
                  <a:pt x="49994" y="265878"/>
                </a:lnTo>
                <a:lnTo>
                  <a:pt x="57150" y="267462"/>
                </a:lnTo>
                <a:lnTo>
                  <a:pt x="64627" y="265878"/>
                </a:lnTo>
                <a:lnTo>
                  <a:pt x="70675" y="261651"/>
                </a:lnTo>
                <a:lnTo>
                  <a:pt x="74723" y="255567"/>
                </a:lnTo>
                <a:lnTo>
                  <a:pt x="76200" y="248412"/>
                </a:lnTo>
                <a:close/>
              </a:path>
              <a:path w="114300" h="2097404">
                <a:moveTo>
                  <a:pt x="76200" y="324612"/>
                </a:moveTo>
                <a:lnTo>
                  <a:pt x="74723" y="317134"/>
                </a:lnTo>
                <a:lnTo>
                  <a:pt x="70675" y="311086"/>
                </a:lnTo>
                <a:lnTo>
                  <a:pt x="64627" y="307038"/>
                </a:lnTo>
                <a:lnTo>
                  <a:pt x="57150" y="305562"/>
                </a:lnTo>
                <a:lnTo>
                  <a:pt x="49994" y="307038"/>
                </a:lnTo>
                <a:lnTo>
                  <a:pt x="43910" y="311086"/>
                </a:lnTo>
                <a:lnTo>
                  <a:pt x="39683" y="317134"/>
                </a:lnTo>
                <a:lnTo>
                  <a:pt x="38100" y="324612"/>
                </a:lnTo>
                <a:lnTo>
                  <a:pt x="39683" y="331767"/>
                </a:lnTo>
                <a:lnTo>
                  <a:pt x="43910" y="337851"/>
                </a:lnTo>
                <a:lnTo>
                  <a:pt x="49994" y="342078"/>
                </a:lnTo>
                <a:lnTo>
                  <a:pt x="57150" y="343662"/>
                </a:lnTo>
                <a:lnTo>
                  <a:pt x="64627" y="342078"/>
                </a:lnTo>
                <a:lnTo>
                  <a:pt x="70675" y="337851"/>
                </a:lnTo>
                <a:lnTo>
                  <a:pt x="74723" y="331767"/>
                </a:lnTo>
                <a:lnTo>
                  <a:pt x="76200" y="324612"/>
                </a:lnTo>
                <a:close/>
              </a:path>
              <a:path w="114300" h="2097404">
                <a:moveTo>
                  <a:pt x="76200" y="400812"/>
                </a:moveTo>
                <a:lnTo>
                  <a:pt x="74723" y="393334"/>
                </a:lnTo>
                <a:lnTo>
                  <a:pt x="70675" y="387286"/>
                </a:lnTo>
                <a:lnTo>
                  <a:pt x="64627" y="383238"/>
                </a:lnTo>
                <a:lnTo>
                  <a:pt x="57150" y="381762"/>
                </a:lnTo>
                <a:lnTo>
                  <a:pt x="49994" y="383238"/>
                </a:lnTo>
                <a:lnTo>
                  <a:pt x="43910" y="387286"/>
                </a:lnTo>
                <a:lnTo>
                  <a:pt x="39683" y="393334"/>
                </a:lnTo>
                <a:lnTo>
                  <a:pt x="38100" y="400812"/>
                </a:lnTo>
                <a:lnTo>
                  <a:pt x="39683" y="408289"/>
                </a:lnTo>
                <a:lnTo>
                  <a:pt x="43910" y="414337"/>
                </a:lnTo>
                <a:lnTo>
                  <a:pt x="49994" y="418385"/>
                </a:lnTo>
                <a:lnTo>
                  <a:pt x="57150" y="419862"/>
                </a:lnTo>
                <a:lnTo>
                  <a:pt x="64627" y="418385"/>
                </a:lnTo>
                <a:lnTo>
                  <a:pt x="70675" y="414337"/>
                </a:lnTo>
                <a:lnTo>
                  <a:pt x="74723" y="408289"/>
                </a:lnTo>
                <a:lnTo>
                  <a:pt x="76200" y="400812"/>
                </a:lnTo>
                <a:close/>
              </a:path>
              <a:path w="114300" h="2097404">
                <a:moveTo>
                  <a:pt x="76200" y="477012"/>
                </a:moveTo>
                <a:lnTo>
                  <a:pt x="74723" y="469534"/>
                </a:lnTo>
                <a:lnTo>
                  <a:pt x="70675" y="463486"/>
                </a:lnTo>
                <a:lnTo>
                  <a:pt x="64627" y="459438"/>
                </a:lnTo>
                <a:lnTo>
                  <a:pt x="57150" y="457962"/>
                </a:lnTo>
                <a:lnTo>
                  <a:pt x="49994" y="459438"/>
                </a:lnTo>
                <a:lnTo>
                  <a:pt x="43910" y="463486"/>
                </a:lnTo>
                <a:lnTo>
                  <a:pt x="39683" y="469534"/>
                </a:lnTo>
                <a:lnTo>
                  <a:pt x="38100" y="477012"/>
                </a:lnTo>
                <a:lnTo>
                  <a:pt x="39683" y="484489"/>
                </a:lnTo>
                <a:lnTo>
                  <a:pt x="43910" y="490537"/>
                </a:lnTo>
                <a:lnTo>
                  <a:pt x="49994" y="494585"/>
                </a:lnTo>
                <a:lnTo>
                  <a:pt x="57150" y="496062"/>
                </a:lnTo>
                <a:lnTo>
                  <a:pt x="64627" y="494585"/>
                </a:lnTo>
                <a:lnTo>
                  <a:pt x="70675" y="490537"/>
                </a:lnTo>
                <a:lnTo>
                  <a:pt x="74723" y="484489"/>
                </a:lnTo>
                <a:lnTo>
                  <a:pt x="76200" y="477012"/>
                </a:lnTo>
                <a:close/>
              </a:path>
              <a:path w="114300" h="2097404">
                <a:moveTo>
                  <a:pt x="76200" y="553212"/>
                </a:moveTo>
                <a:lnTo>
                  <a:pt x="74723" y="545734"/>
                </a:lnTo>
                <a:lnTo>
                  <a:pt x="70675" y="539686"/>
                </a:lnTo>
                <a:lnTo>
                  <a:pt x="64627" y="535638"/>
                </a:lnTo>
                <a:lnTo>
                  <a:pt x="57150" y="534162"/>
                </a:lnTo>
                <a:lnTo>
                  <a:pt x="49994" y="535638"/>
                </a:lnTo>
                <a:lnTo>
                  <a:pt x="43910" y="539686"/>
                </a:lnTo>
                <a:lnTo>
                  <a:pt x="39683" y="545734"/>
                </a:lnTo>
                <a:lnTo>
                  <a:pt x="38100" y="553212"/>
                </a:lnTo>
                <a:lnTo>
                  <a:pt x="39683" y="560689"/>
                </a:lnTo>
                <a:lnTo>
                  <a:pt x="43910" y="566737"/>
                </a:lnTo>
                <a:lnTo>
                  <a:pt x="49994" y="570785"/>
                </a:lnTo>
                <a:lnTo>
                  <a:pt x="57150" y="572262"/>
                </a:lnTo>
                <a:lnTo>
                  <a:pt x="64627" y="570785"/>
                </a:lnTo>
                <a:lnTo>
                  <a:pt x="70675" y="566737"/>
                </a:lnTo>
                <a:lnTo>
                  <a:pt x="74723" y="560689"/>
                </a:lnTo>
                <a:lnTo>
                  <a:pt x="76200" y="553212"/>
                </a:lnTo>
                <a:close/>
              </a:path>
              <a:path w="114300" h="2097404">
                <a:moveTo>
                  <a:pt x="76200" y="629412"/>
                </a:moveTo>
                <a:lnTo>
                  <a:pt x="74723" y="621934"/>
                </a:lnTo>
                <a:lnTo>
                  <a:pt x="70675" y="615886"/>
                </a:lnTo>
                <a:lnTo>
                  <a:pt x="64627" y="611838"/>
                </a:lnTo>
                <a:lnTo>
                  <a:pt x="57150" y="610362"/>
                </a:lnTo>
                <a:lnTo>
                  <a:pt x="49994" y="611838"/>
                </a:lnTo>
                <a:lnTo>
                  <a:pt x="43910" y="615886"/>
                </a:lnTo>
                <a:lnTo>
                  <a:pt x="39683" y="621934"/>
                </a:lnTo>
                <a:lnTo>
                  <a:pt x="38100" y="629412"/>
                </a:lnTo>
                <a:lnTo>
                  <a:pt x="39683" y="636889"/>
                </a:lnTo>
                <a:lnTo>
                  <a:pt x="43910" y="642937"/>
                </a:lnTo>
                <a:lnTo>
                  <a:pt x="49994" y="646985"/>
                </a:lnTo>
                <a:lnTo>
                  <a:pt x="57150" y="648462"/>
                </a:lnTo>
                <a:lnTo>
                  <a:pt x="64627" y="646985"/>
                </a:lnTo>
                <a:lnTo>
                  <a:pt x="70675" y="642937"/>
                </a:lnTo>
                <a:lnTo>
                  <a:pt x="74723" y="636889"/>
                </a:lnTo>
                <a:lnTo>
                  <a:pt x="76200" y="629412"/>
                </a:lnTo>
                <a:close/>
              </a:path>
              <a:path w="114300" h="2097404">
                <a:moveTo>
                  <a:pt x="76200" y="705612"/>
                </a:moveTo>
                <a:lnTo>
                  <a:pt x="74723" y="698134"/>
                </a:lnTo>
                <a:lnTo>
                  <a:pt x="70675" y="692086"/>
                </a:lnTo>
                <a:lnTo>
                  <a:pt x="64627" y="688038"/>
                </a:lnTo>
                <a:lnTo>
                  <a:pt x="57150" y="686562"/>
                </a:lnTo>
                <a:lnTo>
                  <a:pt x="49994" y="688038"/>
                </a:lnTo>
                <a:lnTo>
                  <a:pt x="43910" y="692086"/>
                </a:lnTo>
                <a:lnTo>
                  <a:pt x="39683" y="698134"/>
                </a:lnTo>
                <a:lnTo>
                  <a:pt x="38100" y="705612"/>
                </a:lnTo>
                <a:lnTo>
                  <a:pt x="39683" y="713089"/>
                </a:lnTo>
                <a:lnTo>
                  <a:pt x="43910" y="719137"/>
                </a:lnTo>
                <a:lnTo>
                  <a:pt x="49994" y="723185"/>
                </a:lnTo>
                <a:lnTo>
                  <a:pt x="57150" y="724662"/>
                </a:lnTo>
                <a:lnTo>
                  <a:pt x="64627" y="723185"/>
                </a:lnTo>
                <a:lnTo>
                  <a:pt x="70675" y="719137"/>
                </a:lnTo>
                <a:lnTo>
                  <a:pt x="74723" y="713089"/>
                </a:lnTo>
                <a:lnTo>
                  <a:pt x="76200" y="705612"/>
                </a:lnTo>
                <a:close/>
              </a:path>
              <a:path w="114300" h="2097404">
                <a:moveTo>
                  <a:pt x="76200" y="781812"/>
                </a:moveTo>
                <a:lnTo>
                  <a:pt x="74723" y="774334"/>
                </a:lnTo>
                <a:lnTo>
                  <a:pt x="70675" y="768286"/>
                </a:lnTo>
                <a:lnTo>
                  <a:pt x="64627" y="764238"/>
                </a:lnTo>
                <a:lnTo>
                  <a:pt x="57150" y="762762"/>
                </a:lnTo>
                <a:lnTo>
                  <a:pt x="49994" y="764238"/>
                </a:lnTo>
                <a:lnTo>
                  <a:pt x="43910" y="768286"/>
                </a:lnTo>
                <a:lnTo>
                  <a:pt x="39683" y="774334"/>
                </a:lnTo>
                <a:lnTo>
                  <a:pt x="38100" y="781812"/>
                </a:lnTo>
                <a:lnTo>
                  <a:pt x="39683" y="789289"/>
                </a:lnTo>
                <a:lnTo>
                  <a:pt x="43910" y="795337"/>
                </a:lnTo>
                <a:lnTo>
                  <a:pt x="49994" y="799385"/>
                </a:lnTo>
                <a:lnTo>
                  <a:pt x="57150" y="800862"/>
                </a:lnTo>
                <a:lnTo>
                  <a:pt x="64627" y="799385"/>
                </a:lnTo>
                <a:lnTo>
                  <a:pt x="70675" y="795337"/>
                </a:lnTo>
                <a:lnTo>
                  <a:pt x="74723" y="789289"/>
                </a:lnTo>
                <a:lnTo>
                  <a:pt x="76200" y="781812"/>
                </a:lnTo>
                <a:close/>
              </a:path>
              <a:path w="114300" h="2097404">
                <a:moveTo>
                  <a:pt x="76200" y="858012"/>
                </a:moveTo>
                <a:lnTo>
                  <a:pt x="74723" y="850534"/>
                </a:lnTo>
                <a:lnTo>
                  <a:pt x="70675" y="844486"/>
                </a:lnTo>
                <a:lnTo>
                  <a:pt x="64627" y="840438"/>
                </a:lnTo>
                <a:lnTo>
                  <a:pt x="57150" y="838962"/>
                </a:lnTo>
                <a:lnTo>
                  <a:pt x="49994" y="840438"/>
                </a:lnTo>
                <a:lnTo>
                  <a:pt x="43910" y="844486"/>
                </a:lnTo>
                <a:lnTo>
                  <a:pt x="39683" y="850534"/>
                </a:lnTo>
                <a:lnTo>
                  <a:pt x="38100" y="858012"/>
                </a:lnTo>
                <a:lnTo>
                  <a:pt x="39683" y="865489"/>
                </a:lnTo>
                <a:lnTo>
                  <a:pt x="43910" y="871537"/>
                </a:lnTo>
                <a:lnTo>
                  <a:pt x="49994" y="875585"/>
                </a:lnTo>
                <a:lnTo>
                  <a:pt x="57150" y="877062"/>
                </a:lnTo>
                <a:lnTo>
                  <a:pt x="64627" y="875585"/>
                </a:lnTo>
                <a:lnTo>
                  <a:pt x="70675" y="871537"/>
                </a:lnTo>
                <a:lnTo>
                  <a:pt x="74723" y="865489"/>
                </a:lnTo>
                <a:lnTo>
                  <a:pt x="76200" y="858012"/>
                </a:lnTo>
                <a:close/>
              </a:path>
              <a:path w="114300" h="2097404">
                <a:moveTo>
                  <a:pt x="76200" y="934212"/>
                </a:moveTo>
                <a:lnTo>
                  <a:pt x="74723" y="926734"/>
                </a:lnTo>
                <a:lnTo>
                  <a:pt x="70675" y="920686"/>
                </a:lnTo>
                <a:lnTo>
                  <a:pt x="64627" y="916638"/>
                </a:lnTo>
                <a:lnTo>
                  <a:pt x="57150" y="915162"/>
                </a:lnTo>
                <a:lnTo>
                  <a:pt x="49994" y="916638"/>
                </a:lnTo>
                <a:lnTo>
                  <a:pt x="43910" y="920686"/>
                </a:lnTo>
                <a:lnTo>
                  <a:pt x="39683" y="926734"/>
                </a:lnTo>
                <a:lnTo>
                  <a:pt x="38100" y="934212"/>
                </a:lnTo>
                <a:lnTo>
                  <a:pt x="39683" y="941689"/>
                </a:lnTo>
                <a:lnTo>
                  <a:pt x="43910" y="947737"/>
                </a:lnTo>
                <a:lnTo>
                  <a:pt x="49994" y="951785"/>
                </a:lnTo>
                <a:lnTo>
                  <a:pt x="57150" y="953262"/>
                </a:lnTo>
                <a:lnTo>
                  <a:pt x="64627" y="951785"/>
                </a:lnTo>
                <a:lnTo>
                  <a:pt x="70675" y="947737"/>
                </a:lnTo>
                <a:lnTo>
                  <a:pt x="74723" y="941689"/>
                </a:lnTo>
                <a:lnTo>
                  <a:pt x="76200" y="934212"/>
                </a:lnTo>
                <a:close/>
              </a:path>
              <a:path w="114300" h="2097404">
                <a:moveTo>
                  <a:pt x="76200" y="1010412"/>
                </a:moveTo>
                <a:lnTo>
                  <a:pt x="74723" y="1002934"/>
                </a:lnTo>
                <a:lnTo>
                  <a:pt x="70675" y="996886"/>
                </a:lnTo>
                <a:lnTo>
                  <a:pt x="64627" y="992838"/>
                </a:lnTo>
                <a:lnTo>
                  <a:pt x="57150" y="991362"/>
                </a:lnTo>
                <a:lnTo>
                  <a:pt x="49994" y="992838"/>
                </a:lnTo>
                <a:lnTo>
                  <a:pt x="43910" y="996886"/>
                </a:lnTo>
                <a:lnTo>
                  <a:pt x="39683" y="1002934"/>
                </a:lnTo>
                <a:lnTo>
                  <a:pt x="38100" y="1010412"/>
                </a:lnTo>
                <a:lnTo>
                  <a:pt x="39683" y="1017889"/>
                </a:lnTo>
                <a:lnTo>
                  <a:pt x="43910" y="1023937"/>
                </a:lnTo>
                <a:lnTo>
                  <a:pt x="49994" y="1027985"/>
                </a:lnTo>
                <a:lnTo>
                  <a:pt x="57150" y="1029462"/>
                </a:lnTo>
                <a:lnTo>
                  <a:pt x="64627" y="1027985"/>
                </a:lnTo>
                <a:lnTo>
                  <a:pt x="70675" y="1023937"/>
                </a:lnTo>
                <a:lnTo>
                  <a:pt x="74723" y="1017889"/>
                </a:lnTo>
                <a:lnTo>
                  <a:pt x="76200" y="1010412"/>
                </a:lnTo>
                <a:close/>
              </a:path>
              <a:path w="114300" h="2097404">
                <a:moveTo>
                  <a:pt x="76200" y="1086612"/>
                </a:moveTo>
                <a:lnTo>
                  <a:pt x="74723" y="1079134"/>
                </a:lnTo>
                <a:lnTo>
                  <a:pt x="70675" y="1073086"/>
                </a:lnTo>
                <a:lnTo>
                  <a:pt x="64627" y="1069038"/>
                </a:lnTo>
                <a:lnTo>
                  <a:pt x="57150" y="1067562"/>
                </a:lnTo>
                <a:lnTo>
                  <a:pt x="49994" y="1069038"/>
                </a:lnTo>
                <a:lnTo>
                  <a:pt x="43910" y="1073086"/>
                </a:lnTo>
                <a:lnTo>
                  <a:pt x="39683" y="1079134"/>
                </a:lnTo>
                <a:lnTo>
                  <a:pt x="38100" y="1086612"/>
                </a:lnTo>
                <a:lnTo>
                  <a:pt x="39683" y="1094089"/>
                </a:lnTo>
                <a:lnTo>
                  <a:pt x="43910" y="1100137"/>
                </a:lnTo>
                <a:lnTo>
                  <a:pt x="49994" y="1104185"/>
                </a:lnTo>
                <a:lnTo>
                  <a:pt x="57150" y="1105662"/>
                </a:lnTo>
                <a:lnTo>
                  <a:pt x="64627" y="1104185"/>
                </a:lnTo>
                <a:lnTo>
                  <a:pt x="70675" y="1100137"/>
                </a:lnTo>
                <a:lnTo>
                  <a:pt x="74723" y="1094089"/>
                </a:lnTo>
                <a:lnTo>
                  <a:pt x="76200" y="1086612"/>
                </a:lnTo>
                <a:close/>
              </a:path>
              <a:path w="114300" h="2097404">
                <a:moveTo>
                  <a:pt x="76200" y="1162812"/>
                </a:moveTo>
                <a:lnTo>
                  <a:pt x="74723" y="1155334"/>
                </a:lnTo>
                <a:lnTo>
                  <a:pt x="70675" y="1149286"/>
                </a:lnTo>
                <a:lnTo>
                  <a:pt x="64627" y="1145238"/>
                </a:lnTo>
                <a:lnTo>
                  <a:pt x="57150" y="1143762"/>
                </a:lnTo>
                <a:lnTo>
                  <a:pt x="49994" y="1145238"/>
                </a:lnTo>
                <a:lnTo>
                  <a:pt x="43910" y="1149286"/>
                </a:lnTo>
                <a:lnTo>
                  <a:pt x="39683" y="1155334"/>
                </a:lnTo>
                <a:lnTo>
                  <a:pt x="38100" y="1162812"/>
                </a:lnTo>
                <a:lnTo>
                  <a:pt x="39683" y="1170289"/>
                </a:lnTo>
                <a:lnTo>
                  <a:pt x="43910" y="1176337"/>
                </a:lnTo>
                <a:lnTo>
                  <a:pt x="49994" y="1180385"/>
                </a:lnTo>
                <a:lnTo>
                  <a:pt x="57150" y="1181862"/>
                </a:lnTo>
                <a:lnTo>
                  <a:pt x="64627" y="1180385"/>
                </a:lnTo>
                <a:lnTo>
                  <a:pt x="70675" y="1176337"/>
                </a:lnTo>
                <a:lnTo>
                  <a:pt x="74723" y="1170289"/>
                </a:lnTo>
                <a:lnTo>
                  <a:pt x="76200" y="1162812"/>
                </a:lnTo>
                <a:close/>
              </a:path>
              <a:path w="114300" h="2097404">
                <a:moveTo>
                  <a:pt x="76200" y="1239012"/>
                </a:moveTo>
                <a:lnTo>
                  <a:pt x="74723" y="1231534"/>
                </a:lnTo>
                <a:lnTo>
                  <a:pt x="70675" y="1225486"/>
                </a:lnTo>
                <a:lnTo>
                  <a:pt x="64627" y="1221438"/>
                </a:lnTo>
                <a:lnTo>
                  <a:pt x="57150" y="1219962"/>
                </a:lnTo>
                <a:lnTo>
                  <a:pt x="49994" y="1221438"/>
                </a:lnTo>
                <a:lnTo>
                  <a:pt x="43910" y="1225486"/>
                </a:lnTo>
                <a:lnTo>
                  <a:pt x="39683" y="1231534"/>
                </a:lnTo>
                <a:lnTo>
                  <a:pt x="38100" y="1239012"/>
                </a:lnTo>
                <a:lnTo>
                  <a:pt x="39683" y="1246489"/>
                </a:lnTo>
                <a:lnTo>
                  <a:pt x="43910" y="1252537"/>
                </a:lnTo>
                <a:lnTo>
                  <a:pt x="49994" y="1256585"/>
                </a:lnTo>
                <a:lnTo>
                  <a:pt x="57150" y="1258062"/>
                </a:lnTo>
                <a:lnTo>
                  <a:pt x="64627" y="1256585"/>
                </a:lnTo>
                <a:lnTo>
                  <a:pt x="70675" y="1252537"/>
                </a:lnTo>
                <a:lnTo>
                  <a:pt x="74723" y="1246489"/>
                </a:lnTo>
                <a:lnTo>
                  <a:pt x="76200" y="1239012"/>
                </a:lnTo>
                <a:close/>
              </a:path>
              <a:path w="114300" h="2097404">
                <a:moveTo>
                  <a:pt x="76200" y="1315212"/>
                </a:moveTo>
                <a:lnTo>
                  <a:pt x="74723" y="1307734"/>
                </a:lnTo>
                <a:lnTo>
                  <a:pt x="70675" y="1301686"/>
                </a:lnTo>
                <a:lnTo>
                  <a:pt x="64627" y="1297638"/>
                </a:lnTo>
                <a:lnTo>
                  <a:pt x="57150" y="1296162"/>
                </a:lnTo>
                <a:lnTo>
                  <a:pt x="49994" y="1297638"/>
                </a:lnTo>
                <a:lnTo>
                  <a:pt x="43910" y="1301686"/>
                </a:lnTo>
                <a:lnTo>
                  <a:pt x="39683" y="1307734"/>
                </a:lnTo>
                <a:lnTo>
                  <a:pt x="38100" y="1315212"/>
                </a:lnTo>
                <a:lnTo>
                  <a:pt x="39683" y="1322689"/>
                </a:lnTo>
                <a:lnTo>
                  <a:pt x="43910" y="1328737"/>
                </a:lnTo>
                <a:lnTo>
                  <a:pt x="49994" y="1332785"/>
                </a:lnTo>
                <a:lnTo>
                  <a:pt x="57150" y="1334262"/>
                </a:lnTo>
                <a:lnTo>
                  <a:pt x="64627" y="1332785"/>
                </a:lnTo>
                <a:lnTo>
                  <a:pt x="70675" y="1328737"/>
                </a:lnTo>
                <a:lnTo>
                  <a:pt x="74723" y="1322689"/>
                </a:lnTo>
                <a:lnTo>
                  <a:pt x="76200" y="1315212"/>
                </a:lnTo>
                <a:close/>
              </a:path>
              <a:path w="114300" h="2097404">
                <a:moveTo>
                  <a:pt x="76200" y="1391412"/>
                </a:moveTo>
                <a:lnTo>
                  <a:pt x="74723" y="1384256"/>
                </a:lnTo>
                <a:lnTo>
                  <a:pt x="70675" y="1378172"/>
                </a:lnTo>
                <a:lnTo>
                  <a:pt x="64627" y="1373945"/>
                </a:lnTo>
                <a:lnTo>
                  <a:pt x="57150" y="1372362"/>
                </a:lnTo>
                <a:lnTo>
                  <a:pt x="49994" y="1373945"/>
                </a:lnTo>
                <a:lnTo>
                  <a:pt x="43910" y="1378172"/>
                </a:lnTo>
                <a:lnTo>
                  <a:pt x="39683" y="1384256"/>
                </a:lnTo>
                <a:lnTo>
                  <a:pt x="38100" y="1391412"/>
                </a:lnTo>
                <a:lnTo>
                  <a:pt x="39683" y="1398889"/>
                </a:lnTo>
                <a:lnTo>
                  <a:pt x="43910" y="1404937"/>
                </a:lnTo>
                <a:lnTo>
                  <a:pt x="49994" y="1408985"/>
                </a:lnTo>
                <a:lnTo>
                  <a:pt x="57150" y="1410462"/>
                </a:lnTo>
                <a:lnTo>
                  <a:pt x="64627" y="1408985"/>
                </a:lnTo>
                <a:lnTo>
                  <a:pt x="70675" y="1404937"/>
                </a:lnTo>
                <a:lnTo>
                  <a:pt x="74723" y="1398889"/>
                </a:lnTo>
                <a:lnTo>
                  <a:pt x="76200" y="1391412"/>
                </a:lnTo>
                <a:close/>
              </a:path>
              <a:path w="114300" h="2097404">
                <a:moveTo>
                  <a:pt x="76200" y="1467612"/>
                </a:moveTo>
                <a:lnTo>
                  <a:pt x="74723" y="1460456"/>
                </a:lnTo>
                <a:lnTo>
                  <a:pt x="70675" y="1454372"/>
                </a:lnTo>
                <a:lnTo>
                  <a:pt x="64627" y="1450145"/>
                </a:lnTo>
                <a:lnTo>
                  <a:pt x="57150" y="1448562"/>
                </a:lnTo>
                <a:lnTo>
                  <a:pt x="49994" y="1450145"/>
                </a:lnTo>
                <a:lnTo>
                  <a:pt x="43910" y="1454372"/>
                </a:lnTo>
                <a:lnTo>
                  <a:pt x="39683" y="1460456"/>
                </a:lnTo>
                <a:lnTo>
                  <a:pt x="38100" y="1467612"/>
                </a:lnTo>
                <a:lnTo>
                  <a:pt x="39683" y="1475089"/>
                </a:lnTo>
                <a:lnTo>
                  <a:pt x="43910" y="1481137"/>
                </a:lnTo>
                <a:lnTo>
                  <a:pt x="49994" y="1485185"/>
                </a:lnTo>
                <a:lnTo>
                  <a:pt x="57150" y="1486662"/>
                </a:lnTo>
                <a:lnTo>
                  <a:pt x="64627" y="1485185"/>
                </a:lnTo>
                <a:lnTo>
                  <a:pt x="70675" y="1481137"/>
                </a:lnTo>
                <a:lnTo>
                  <a:pt x="74723" y="1475089"/>
                </a:lnTo>
                <a:lnTo>
                  <a:pt x="76200" y="1467612"/>
                </a:lnTo>
                <a:close/>
              </a:path>
              <a:path w="114300" h="2097404">
                <a:moveTo>
                  <a:pt x="76200" y="1543812"/>
                </a:moveTo>
                <a:lnTo>
                  <a:pt x="74723" y="1536656"/>
                </a:lnTo>
                <a:lnTo>
                  <a:pt x="70675" y="1530572"/>
                </a:lnTo>
                <a:lnTo>
                  <a:pt x="64627" y="1526345"/>
                </a:lnTo>
                <a:lnTo>
                  <a:pt x="57150" y="1524762"/>
                </a:lnTo>
                <a:lnTo>
                  <a:pt x="49994" y="1526345"/>
                </a:lnTo>
                <a:lnTo>
                  <a:pt x="43910" y="1530572"/>
                </a:lnTo>
                <a:lnTo>
                  <a:pt x="39683" y="1536656"/>
                </a:lnTo>
                <a:lnTo>
                  <a:pt x="38100" y="1543812"/>
                </a:lnTo>
                <a:lnTo>
                  <a:pt x="39683" y="1551289"/>
                </a:lnTo>
                <a:lnTo>
                  <a:pt x="43910" y="1557337"/>
                </a:lnTo>
                <a:lnTo>
                  <a:pt x="49994" y="1561385"/>
                </a:lnTo>
                <a:lnTo>
                  <a:pt x="57150" y="1562862"/>
                </a:lnTo>
                <a:lnTo>
                  <a:pt x="64627" y="1561385"/>
                </a:lnTo>
                <a:lnTo>
                  <a:pt x="70675" y="1557337"/>
                </a:lnTo>
                <a:lnTo>
                  <a:pt x="74723" y="1551289"/>
                </a:lnTo>
                <a:lnTo>
                  <a:pt x="76200" y="1543812"/>
                </a:lnTo>
                <a:close/>
              </a:path>
              <a:path w="114300" h="2097404">
                <a:moveTo>
                  <a:pt x="76200" y="1620774"/>
                </a:moveTo>
                <a:lnTo>
                  <a:pt x="76200" y="1620012"/>
                </a:lnTo>
                <a:lnTo>
                  <a:pt x="74723" y="1612856"/>
                </a:lnTo>
                <a:lnTo>
                  <a:pt x="70675" y="1606772"/>
                </a:lnTo>
                <a:lnTo>
                  <a:pt x="64627" y="1602545"/>
                </a:lnTo>
                <a:lnTo>
                  <a:pt x="57150" y="1600962"/>
                </a:lnTo>
                <a:lnTo>
                  <a:pt x="49994" y="1602545"/>
                </a:lnTo>
                <a:lnTo>
                  <a:pt x="43910" y="1606772"/>
                </a:lnTo>
                <a:lnTo>
                  <a:pt x="39683" y="1612856"/>
                </a:lnTo>
                <a:lnTo>
                  <a:pt x="38100" y="1620012"/>
                </a:lnTo>
                <a:lnTo>
                  <a:pt x="38100" y="1620774"/>
                </a:lnTo>
                <a:lnTo>
                  <a:pt x="39683" y="1627929"/>
                </a:lnTo>
                <a:lnTo>
                  <a:pt x="43910" y="1634013"/>
                </a:lnTo>
                <a:lnTo>
                  <a:pt x="49994" y="1638240"/>
                </a:lnTo>
                <a:lnTo>
                  <a:pt x="57150" y="1639824"/>
                </a:lnTo>
                <a:lnTo>
                  <a:pt x="64627" y="1638240"/>
                </a:lnTo>
                <a:lnTo>
                  <a:pt x="70675" y="1634013"/>
                </a:lnTo>
                <a:lnTo>
                  <a:pt x="74723" y="1627929"/>
                </a:lnTo>
                <a:lnTo>
                  <a:pt x="76200" y="1620774"/>
                </a:lnTo>
                <a:close/>
              </a:path>
              <a:path w="114300" h="2097404">
                <a:moveTo>
                  <a:pt x="76200" y="1696974"/>
                </a:moveTo>
                <a:lnTo>
                  <a:pt x="74723" y="1689496"/>
                </a:lnTo>
                <a:lnTo>
                  <a:pt x="70675" y="1683448"/>
                </a:lnTo>
                <a:lnTo>
                  <a:pt x="64627" y="1679400"/>
                </a:lnTo>
                <a:lnTo>
                  <a:pt x="57150" y="1677924"/>
                </a:lnTo>
                <a:lnTo>
                  <a:pt x="49994" y="1679400"/>
                </a:lnTo>
                <a:lnTo>
                  <a:pt x="43910" y="1683448"/>
                </a:lnTo>
                <a:lnTo>
                  <a:pt x="39683" y="1689496"/>
                </a:lnTo>
                <a:lnTo>
                  <a:pt x="38100" y="1696974"/>
                </a:lnTo>
                <a:lnTo>
                  <a:pt x="39683" y="1704129"/>
                </a:lnTo>
                <a:lnTo>
                  <a:pt x="43910" y="1710213"/>
                </a:lnTo>
                <a:lnTo>
                  <a:pt x="49994" y="1714440"/>
                </a:lnTo>
                <a:lnTo>
                  <a:pt x="57150" y="1716024"/>
                </a:lnTo>
                <a:lnTo>
                  <a:pt x="64627" y="1714440"/>
                </a:lnTo>
                <a:lnTo>
                  <a:pt x="70675" y="1710213"/>
                </a:lnTo>
                <a:lnTo>
                  <a:pt x="74723" y="1704129"/>
                </a:lnTo>
                <a:lnTo>
                  <a:pt x="76200" y="1696974"/>
                </a:lnTo>
                <a:close/>
              </a:path>
              <a:path w="114300" h="2097404">
                <a:moveTo>
                  <a:pt x="76200" y="1773174"/>
                </a:moveTo>
                <a:lnTo>
                  <a:pt x="74723" y="1765696"/>
                </a:lnTo>
                <a:lnTo>
                  <a:pt x="70675" y="1759648"/>
                </a:lnTo>
                <a:lnTo>
                  <a:pt x="64627" y="1755600"/>
                </a:lnTo>
                <a:lnTo>
                  <a:pt x="57150" y="1754124"/>
                </a:lnTo>
                <a:lnTo>
                  <a:pt x="49994" y="1755600"/>
                </a:lnTo>
                <a:lnTo>
                  <a:pt x="43910" y="1759648"/>
                </a:lnTo>
                <a:lnTo>
                  <a:pt x="39683" y="1765696"/>
                </a:lnTo>
                <a:lnTo>
                  <a:pt x="38100" y="1773174"/>
                </a:lnTo>
                <a:lnTo>
                  <a:pt x="39683" y="1780329"/>
                </a:lnTo>
                <a:lnTo>
                  <a:pt x="43910" y="1786413"/>
                </a:lnTo>
                <a:lnTo>
                  <a:pt x="49994" y="1790640"/>
                </a:lnTo>
                <a:lnTo>
                  <a:pt x="57150" y="1792224"/>
                </a:lnTo>
                <a:lnTo>
                  <a:pt x="64627" y="1790640"/>
                </a:lnTo>
                <a:lnTo>
                  <a:pt x="70675" y="1786413"/>
                </a:lnTo>
                <a:lnTo>
                  <a:pt x="74723" y="1780329"/>
                </a:lnTo>
                <a:lnTo>
                  <a:pt x="76200" y="1773174"/>
                </a:lnTo>
                <a:close/>
              </a:path>
              <a:path w="114300" h="2097404">
                <a:moveTo>
                  <a:pt x="76200" y="1849374"/>
                </a:moveTo>
                <a:lnTo>
                  <a:pt x="74723" y="1841896"/>
                </a:lnTo>
                <a:lnTo>
                  <a:pt x="70675" y="1835848"/>
                </a:lnTo>
                <a:lnTo>
                  <a:pt x="64627" y="1831800"/>
                </a:lnTo>
                <a:lnTo>
                  <a:pt x="57150" y="1830324"/>
                </a:lnTo>
                <a:lnTo>
                  <a:pt x="49994" y="1831800"/>
                </a:lnTo>
                <a:lnTo>
                  <a:pt x="43910" y="1835848"/>
                </a:lnTo>
                <a:lnTo>
                  <a:pt x="39683" y="1841896"/>
                </a:lnTo>
                <a:lnTo>
                  <a:pt x="38100" y="1849374"/>
                </a:lnTo>
                <a:lnTo>
                  <a:pt x="39683" y="1856529"/>
                </a:lnTo>
                <a:lnTo>
                  <a:pt x="43910" y="1862613"/>
                </a:lnTo>
                <a:lnTo>
                  <a:pt x="49994" y="1866840"/>
                </a:lnTo>
                <a:lnTo>
                  <a:pt x="57150" y="1868424"/>
                </a:lnTo>
                <a:lnTo>
                  <a:pt x="64627" y="1866840"/>
                </a:lnTo>
                <a:lnTo>
                  <a:pt x="70675" y="1862613"/>
                </a:lnTo>
                <a:lnTo>
                  <a:pt x="74723" y="1856529"/>
                </a:lnTo>
                <a:lnTo>
                  <a:pt x="76200" y="1849374"/>
                </a:lnTo>
                <a:close/>
              </a:path>
              <a:path w="114300" h="2097404">
                <a:moveTo>
                  <a:pt x="76200" y="1925574"/>
                </a:moveTo>
                <a:lnTo>
                  <a:pt x="74723" y="1918096"/>
                </a:lnTo>
                <a:lnTo>
                  <a:pt x="70675" y="1912048"/>
                </a:lnTo>
                <a:lnTo>
                  <a:pt x="64627" y="1908000"/>
                </a:lnTo>
                <a:lnTo>
                  <a:pt x="57150" y="1906524"/>
                </a:lnTo>
                <a:lnTo>
                  <a:pt x="49994" y="1908000"/>
                </a:lnTo>
                <a:lnTo>
                  <a:pt x="43910" y="1912048"/>
                </a:lnTo>
                <a:lnTo>
                  <a:pt x="39683" y="1918096"/>
                </a:lnTo>
                <a:lnTo>
                  <a:pt x="38100" y="1925574"/>
                </a:lnTo>
                <a:lnTo>
                  <a:pt x="39683" y="1933051"/>
                </a:lnTo>
                <a:lnTo>
                  <a:pt x="43910" y="1939099"/>
                </a:lnTo>
                <a:lnTo>
                  <a:pt x="49994" y="1943147"/>
                </a:lnTo>
                <a:lnTo>
                  <a:pt x="57150" y="1944624"/>
                </a:lnTo>
                <a:lnTo>
                  <a:pt x="64627" y="1943147"/>
                </a:lnTo>
                <a:lnTo>
                  <a:pt x="70675" y="1939099"/>
                </a:lnTo>
                <a:lnTo>
                  <a:pt x="74723" y="1933051"/>
                </a:lnTo>
                <a:lnTo>
                  <a:pt x="76200" y="1925574"/>
                </a:lnTo>
                <a:close/>
              </a:path>
              <a:path w="114300" h="2097404">
                <a:moveTo>
                  <a:pt x="76200" y="2001774"/>
                </a:moveTo>
                <a:lnTo>
                  <a:pt x="74723" y="1994296"/>
                </a:lnTo>
                <a:lnTo>
                  <a:pt x="70675" y="1988248"/>
                </a:lnTo>
                <a:lnTo>
                  <a:pt x="64627" y="1984200"/>
                </a:lnTo>
                <a:lnTo>
                  <a:pt x="57150" y="1982724"/>
                </a:lnTo>
                <a:lnTo>
                  <a:pt x="49994" y="1984200"/>
                </a:lnTo>
                <a:lnTo>
                  <a:pt x="43910" y="1988248"/>
                </a:lnTo>
                <a:lnTo>
                  <a:pt x="39683" y="1994296"/>
                </a:lnTo>
                <a:lnTo>
                  <a:pt x="38100" y="2001774"/>
                </a:lnTo>
                <a:lnTo>
                  <a:pt x="39683" y="2009251"/>
                </a:lnTo>
                <a:lnTo>
                  <a:pt x="43910" y="2015299"/>
                </a:lnTo>
                <a:lnTo>
                  <a:pt x="49994" y="2019347"/>
                </a:lnTo>
                <a:lnTo>
                  <a:pt x="57150" y="2020824"/>
                </a:lnTo>
                <a:lnTo>
                  <a:pt x="64627" y="2019347"/>
                </a:lnTo>
                <a:lnTo>
                  <a:pt x="70675" y="2015299"/>
                </a:lnTo>
                <a:lnTo>
                  <a:pt x="74723" y="2009251"/>
                </a:lnTo>
                <a:lnTo>
                  <a:pt x="76200" y="2001774"/>
                </a:lnTo>
                <a:close/>
              </a:path>
              <a:path w="114300" h="2097404">
                <a:moveTo>
                  <a:pt x="76200" y="2077974"/>
                </a:moveTo>
                <a:lnTo>
                  <a:pt x="74723" y="2070496"/>
                </a:lnTo>
                <a:lnTo>
                  <a:pt x="70675" y="2064448"/>
                </a:lnTo>
                <a:lnTo>
                  <a:pt x="64627" y="2060400"/>
                </a:lnTo>
                <a:lnTo>
                  <a:pt x="57150" y="2058924"/>
                </a:lnTo>
                <a:lnTo>
                  <a:pt x="49994" y="2060400"/>
                </a:lnTo>
                <a:lnTo>
                  <a:pt x="43910" y="2064448"/>
                </a:lnTo>
                <a:lnTo>
                  <a:pt x="39683" y="2070496"/>
                </a:lnTo>
                <a:lnTo>
                  <a:pt x="38100" y="2077974"/>
                </a:lnTo>
                <a:lnTo>
                  <a:pt x="39683" y="2085451"/>
                </a:lnTo>
                <a:lnTo>
                  <a:pt x="43910" y="2091499"/>
                </a:lnTo>
                <a:lnTo>
                  <a:pt x="49994" y="2095547"/>
                </a:lnTo>
                <a:lnTo>
                  <a:pt x="57150" y="2097024"/>
                </a:lnTo>
                <a:lnTo>
                  <a:pt x="64627" y="2095547"/>
                </a:lnTo>
                <a:lnTo>
                  <a:pt x="70675" y="2091499"/>
                </a:lnTo>
                <a:lnTo>
                  <a:pt x="74723" y="2085451"/>
                </a:lnTo>
                <a:lnTo>
                  <a:pt x="76200" y="2077974"/>
                </a:lnTo>
                <a:close/>
              </a:path>
            </a:pathLst>
          </a:custGeom>
          <a:solidFill>
            <a:srgbClr val="3333CC"/>
          </a:solidFill>
        </p:spPr>
        <p:txBody>
          <a:bodyPr wrap="square" lIns="0" tIns="0" rIns="0" bIns="0" rtlCol="0"/>
          <a:lstStyle/>
          <a:p>
            <a:endParaRPr/>
          </a:p>
        </p:txBody>
      </p:sp>
      <p:sp>
        <p:nvSpPr>
          <p:cNvPr id="24" name="object 24"/>
          <p:cNvSpPr/>
          <p:nvPr/>
        </p:nvSpPr>
        <p:spPr>
          <a:xfrm>
            <a:off x="8032877" y="2387345"/>
            <a:ext cx="114300" cy="3219450"/>
          </a:xfrm>
          <a:custGeom>
            <a:avLst/>
            <a:gdLst/>
            <a:ahLst/>
            <a:cxnLst/>
            <a:rect l="l" t="t" r="r" b="b"/>
            <a:pathLst>
              <a:path w="114300" h="3219450">
                <a:moveTo>
                  <a:pt x="76200" y="19812"/>
                </a:moveTo>
                <a:lnTo>
                  <a:pt x="76200" y="19050"/>
                </a:lnTo>
                <a:lnTo>
                  <a:pt x="74723" y="11894"/>
                </a:lnTo>
                <a:lnTo>
                  <a:pt x="70675" y="5810"/>
                </a:lnTo>
                <a:lnTo>
                  <a:pt x="64627" y="1583"/>
                </a:lnTo>
                <a:lnTo>
                  <a:pt x="57150" y="0"/>
                </a:lnTo>
                <a:lnTo>
                  <a:pt x="49994" y="1583"/>
                </a:lnTo>
                <a:lnTo>
                  <a:pt x="43910" y="5810"/>
                </a:lnTo>
                <a:lnTo>
                  <a:pt x="39683" y="11894"/>
                </a:lnTo>
                <a:lnTo>
                  <a:pt x="38100" y="19050"/>
                </a:lnTo>
                <a:lnTo>
                  <a:pt x="38100" y="19812"/>
                </a:lnTo>
                <a:lnTo>
                  <a:pt x="39683" y="26967"/>
                </a:lnTo>
                <a:lnTo>
                  <a:pt x="43910" y="33051"/>
                </a:lnTo>
                <a:lnTo>
                  <a:pt x="49994" y="37278"/>
                </a:lnTo>
                <a:lnTo>
                  <a:pt x="57150" y="38862"/>
                </a:lnTo>
                <a:lnTo>
                  <a:pt x="64627" y="37278"/>
                </a:lnTo>
                <a:lnTo>
                  <a:pt x="70675" y="33051"/>
                </a:lnTo>
                <a:lnTo>
                  <a:pt x="74723" y="26967"/>
                </a:lnTo>
                <a:lnTo>
                  <a:pt x="76200" y="19812"/>
                </a:lnTo>
                <a:close/>
              </a:path>
              <a:path w="114300" h="3219450">
                <a:moveTo>
                  <a:pt x="76200" y="96012"/>
                </a:moveTo>
                <a:lnTo>
                  <a:pt x="74723" y="88534"/>
                </a:lnTo>
                <a:lnTo>
                  <a:pt x="70675" y="82486"/>
                </a:lnTo>
                <a:lnTo>
                  <a:pt x="64627" y="78438"/>
                </a:lnTo>
                <a:lnTo>
                  <a:pt x="57150" y="76962"/>
                </a:lnTo>
                <a:lnTo>
                  <a:pt x="49994" y="78438"/>
                </a:lnTo>
                <a:lnTo>
                  <a:pt x="43910" y="82486"/>
                </a:lnTo>
                <a:lnTo>
                  <a:pt x="39683" y="88534"/>
                </a:lnTo>
                <a:lnTo>
                  <a:pt x="38100" y="96012"/>
                </a:lnTo>
                <a:lnTo>
                  <a:pt x="39683" y="103167"/>
                </a:lnTo>
                <a:lnTo>
                  <a:pt x="43910" y="109251"/>
                </a:lnTo>
                <a:lnTo>
                  <a:pt x="49994" y="113478"/>
                </a:lnTo>
                <a:lnTo>
                  <a:pt x="57150" y="115062"/>
                </a:lnTo>
                <a:lnTo>
                  <a:pt x="64627" y="113478"/>
                </a:lnTo>
                <a:lnTo>
                  <a:pt x="70675" y="109251"/>
                </a:lnTo>
                <a:lnTo>
                  <a:pt x="74723" y="103167"/>
                </a:lnTo>
                <a:lnTo>
                  <a:pt x="76200" y="96012"/>
                </a:lnTo>
                <a:close/>
              </a:path>
              <a:path w="114300" h="3219450">
                <a:moveTo>
                  <a:pt x="76200" y="172212"/>
                </a:moveTo>
                <a:lnTo>
                  <a:pt x="74723" y="164734"/>
                </a:lnTo>
                <a:lnTo>
                  <a:pt x="70675" y="158686"/>
                </a:lnTo>
                <a:lnTo>
                  <a:pt x="64627" y="154638"/>
                </a:lnTo>
                <a:lnTo>
                  <a:pt x="57150" y="153162"/>
                </a:lnTo>
                <a:lnTo>
                  <a:pt x="49994" y="154638"/>
                </a:lnTo>
                <a:lnTo>
                  <a:pt x="43910" y="158686"/>
                </a:lnTo>
                <a:lnTo>
                  <a:pt x="39683" y="164734"/>
                </a:lnTo>
                <a:lnTo>
                  <a:pt x="38100" y="172212"/>
                </a:lnTo>
                <a:lnTo>
                  <a:pt x="39683" y="179367"/>
                </a:lnTo>
                <a:lnTo>
                  <a:pt x="43910" y="185451"/>
                </a:lnTo>
                <a:lnTo>
                  <a:pt x="49994" y="189678"/>
                </a:lnTo>
                <a:lnTo>
                  <a:pt x="57150" y="191262"/>
                </a:lnTo>
                <a:lnTo>
                  <a:pt x="64627" y="189678"/>
                </a:lnTo>
                <a:lnTo>
                  <a:pt x="70675" y="185451"/>
                </a:lnTo>
                <a:lnTo>
                  <a:pt x="74723" y="179367"/>
                </a:lnTo>
                <a:lnTo>
                  <a:pt x="76200" y="172212"/>
                </a:lnTo>
                <a:close/>
              </a:path>
              <a:path w="114300" h="3219450">
                <a:moveTo>
                  <a:pt x="76200" y="248411"/>
                </a:moveTo>
                <a:lnTo>
                  <a:pt x="74723" y="240934"/>
                </a:lnTo>
                <a:lnTo>
                  <a:pt x="70675" y="234886"/>
                </a:lnTo>
                <a:lnTo>
                  <a:pt x="64627" y="230838"/>
                </a:lnTo>
                <a:lnTo>
                  <a:pt x="57150" y="229361"/>
                </a:lnTo>
                <a:lnTo>
                  <a:pt x="49994" y="230838"/>
                </a:lnTo>
                <a:lnTo>
                  <a:pt x="43910" y="234886"/>
                </a:lnTo>
                <a:lnTo>
                  <a:pt x="39683" y="240934"/>
                </a:lnTo>
                <a:lnTo>
                  <a:pt x="38100" y="248411"/>
                </a:lnTo>
                <a:lnTo>
                  <a:pt x="39683" y="255567"/>
                </a:lnTo>
                <a:lnTo>
                  <a:pt x="43910" y="261651"/>
                </a:lnTo>
                <a:lnTo>
                  <a:pt x="49994" y="265878"/>
                </a:lnTo>
                <a:lnTo>
                  <a:pt x="57150" y="267462"/>
                </a:lnTo>
                <a:lnTo>
                  <a:pt x="64627" y="265878"/>
                </a:lnTo>
                <a:lnTo>
                  <a:pt x="70675" y="261651"/>
                </a:lnTo>
                <a:lnTo>
                  <a:pt x="74723" y="255567"/>
                </a:lnTo>
                <a:lnTo>
                  <a:pt x="76200" y="248411"/>
                </a:lnTo>
                <a:close/>
              </a:path>
              <a:path w="114300" h="3219450">
                <a:moveTo>
                  <a:pt x="76200" y="324612"/>
                </a:moveTo>
                <a:lnTo>
                  <a:pt x="74723" y="317134"/>
                </a:lnTo>
                <a:lnTo>
                  <a:pt x="70675" y="311086"/>
                </a:lnTo>
                <a:lnTo>
                  <a:pt x="64627" y="307038"/>
                </a:lnTo>
                <a:lnTo>
                  <a:pt x="57150" y="305562"/>
                </a:lnTo>
                <a:lnTo>
                  <a:pt x="49994" y="307038"/>
                </a:lnTo>
                <a:lnTo>
                  <a:pt x="43910" y="311086"/>
                </a:lnTo>
                <a:lnTo>
                  <a:pt x="39683" y="317134"/>
                </a:lnTo>
                <a:lnTo>
                  <a:pt x="38100" y="324612"/>
                </a:lnTo>
                <a:lnTo>
                  <a:pt x="39683" y="332089"/>
                </a:lnTo>
                <a:lnTo>
                  <a:pt x="43910" y="338137"/>
                </a:lnTo>
                <a:lnTo>
                  <a:pt x="49994" y="342185"/>
                </a:lnTo>
                <a:lnTo>
                  <a:pt x="57150" y="343662"/>
                </a:lnTo>
                <a:lnTo>
                  <a:pt x="64627" y="342185"/>
                </a:lnTo>
                <a:lnTo>
                  <a:pt x="70675" y="338137"/>
                </a:lnTo>
                <a:lnTo>
                  <a:pt x="74723" y="332089"/>
                </a:lnTo>
                <a:lnTo>
                  <a:pt x="76200" y="324612"/>
                </a:lnTo>
                <a:close/>
              </a:path>
              <a:path w="114300" h="3219450">
                <a:moveTo>
                  <a:pt x="76200" y="400812"/>
                </a:moveTo>
                <a:lnTo>
                  <a:pt x="74723" y="393334"/>
                </a:lnTo>
                <a:lnTo>
                  <a:pt x="70675" y="387286"/>
                </a:lnTo>
                <a:lnTo>
                  <a:pt x="64627" y="383238"/>
                </a:lnTo>
                <a:lnTo>
                  <a:pt x="57150" y="381762"/>
                </a:lnTo>
                <a:lnTo>
                  <a:pt x="49994" y="383238"/>
                </a:lnTo>
                <a:lnTo>
                  <a:pt x="43910" y="387286"/>
                </a:lnTo>
                <a:lnTo>
                  <a:pt x="39683" y="393334"/>
                </a:lnTo>
                <a:lnTo>
                  <a:pt x="38100" y="400812"/>
                </a:lnTo>
                <a:lnTo>
                  <a:pt x="39683" y="408289"/>
                </a:lnTo>
                <a:lnTo>
                  <a:pt x="43910" y="414337"/>
                </a:lnTo>
                <a:lnTo>
                  <a:pt x="49994" y="418385"/>
                </a:lnTo>
                <a:lnTo>
                  <a:pt x="57150" y="419862"/>
                </a:lnTo>
                <a:lnTo>
                  <a:pt x="64627" y="418385"/>
                </a:lnTo>
                <a:lnTo>
                  <a:pt x="70675" y="414337"/>
                </a:lnTo>
                <a:lnTo>
                  <a:pt x="74723" y="408289"/>
                </a:lnTo>
                <a:lnTo>
                  <a:pt x="76200" y="400812"/>
                </a:lnTo>
                <a:close/>
              </a:path>
              <a:path w="114300" h="3219450">
                <a:moveTo>
                  <a:pt x="76200" y="477012"/>
                </a:moveTo>
                <a:lnTo>
                  <a:pt x="74723" y="469534"/>
                </a:lnTo>
                <a:lnTo>
                  <a:pt x="70675" y="463486"/>
                </a:lnTo>
                <a:lnTo>
                  <a:pt x="64627" y="459438"/>
                </a:lnTo>
                <a:lnTo>
                  <a:pt x="57150" y="457962"/>
                </a:lnTo>
                <a:lnTo>
                  <a:pt x="49994" y="459438"/>
                </a:lnTo>
                <a:lnTo>
                  <a:pt x="43910" y="463486"/>
                </a:lnTo>
                <a:lnTo>
                  <a:pt x="39683" y="469534"/>
                </a:lnTo>
                <a:lnTo>
                  <a:pt x="38100" y="477012"/>
                </a:lnTo>
                <a:lnTo>
                  <a:pt x="39683" y="484489"/>
                </a:lnTo>
                <a:lnTo>
                  <a:pt x="43910" y="490537"/>
                </a:lnTo>
                <a:lnTo>
                  <a:pt x="49994" y="494585"/>
                </a:lnTo>
                <a:lnTo>
                  <a:pt x="57150" y="496062"/>
                </a:lnTo>
                <a:lnTo>
                  <a:pt x="64627" y="494585"/>
                </a:lnTo>
                <a:lnTo>
                  <a:pt x="70675" y="490537"/>
                </a:lnTo>
                <a:lnTo>
                  <a:pt x="74723" y="484489"/>
                </a:lnTo>
                <a:lnTo>
                  <a:pt x="76200" y="477012"/>
                </a:lnTo>
                <a:close/>
              </a:path>
              <a:path w="114300" h="3219450">
                <a:moveTo>
                  <a:pt x="76200" y="553212"/>
                </a:moveTo>
                <a:lnTo>
                  <a:pt x="74723" y="545734"/>
                </a:lnTo>
                <a:lnTo>
                  <a:pt x="70675" y="539686"/>
                </a:lnTo>
                <a:lnTo>
                  <a:pt x="64627" y="535638"/>
                </a:lnTo>
                <a:lnTo>
                  <a:pt x="57150" y="534162"/>
                </a:lnTo>
                <a:lnTo>
                  <a:pt x="49994" y="535638"/>
                </a:lnTo>
                <a:lnTo>
                  <a:pt x="43910" y="539686"/>
                </a:lnTo>
                <a:lnTo>
                  <a:pt x="39683" y="545734"/>
                </a:lnTo>
                <a:lnTo>
                  <a:pt x="38100" y="553212"/>
                </a:lnTo>
                <a:lnTo>
                  <a:pt x="39683" y="560689"/>
                </a:lnTo>
                <a:lnTo>
                  <a:pt x="43910" y="566737"/>
                </a:lnTo>
                <a:lnTo>
                  <a:pt x="49994" y="570785"/>
                </a:lnTo>
                <a:lnTo>
                  <a:pt x="57150" y="572262"/>
                </a:lnTo>
                <a:lnTo>
                  <a:pt x="64627" y="570785"/>
                </a:lnTo>
                <a:lnTo>
                  <a:pt x="70675" y="566737"/>
                </a:lnTo>
                <a:lnTo>
                  <a:pt x="74723" y="560689"/>
                </a:lnTo>
                <a:lnTo>
                  <a:pt x="76200" y="553212"/>
                </a:lnTo>
                <a:close/>
              </a:path>
              <a:path w="114300" h="3219450">
                <a:moveTo>
                  <a:pt x="76200" y="629412"/>
                </a:moveTo>
                <a:lnTo>
                  <a:pt x="74723" y="621934"/>
                </a:lnTo>
                <a:lnTo>
                  <a:pt x="70675" y="615886"/>
                </a:lnTo>
                <a:lnTo>
                  <a:pt x="64627" y="611838"/>
                </a:lnTo>
                <a:lnTo>
                  <a:pt x="57150" y="610362"/>
                </a:lnTo>
                <a:lnTo>
                  <a:pt x="49994" y="611838"/>
                </a:lnTo>
                <a:lnTo>
                  <a:pt x="43910" y="615886"/>
                </a:lnTo>
                <a:lnTo>
                  <a:pt x="39683" y="621934"/>
                </a:lnTo>
                <a:lnTo>
                  <a:pt x="38100" y="629412"/>
                </a:lnTo>
                <a:lnTo>
                  <a:pt x="39683" y="636889"/>
                </a:lnTo>
                <a:lnTo>
                  <a:pt x="43910" y="642937"/>
                </a:lnTo>
                <a:lnTo>
                  <a:pt x="49994" y="646985"/>
                </a:lnTo>
                <a:lnTo>
                  <a:pt x="57150" y="648462"/>
                </a:lnTo>
                <a:lnTo>
                  <a:pt x="64627" y="646985"/>
                </a:lnTo>
                <a:lnTo>
                  <a:pt x="70675" y="642937"/>
                </a:lnTo>
                <a:lnTo>
                  <a:pt x="74723" y="636889"/>
                </a:lnTo>
                <a:lnTo>
                  <a:pt x="76200" y="629412"/>
                </a:lnTo>
                <a:close/>
              </a:path>
              <a:path w="114300" h="3219450">
                <a:moveTo>
                  <a:pt x="76200" y="705612"/>
                </a:moveTo>
                <a:lnTo>
                  <a:pt x="74723" y="698134"/>
                </a:lnTo>
                <a:lnTo>
                  <a:pt x="70675" y="692086"/>
                </a:lnTo>
                <a:lnTo>
                  <a:pt x="64627" y="688038"/>
                </a:lnTo>
                <a:lnTo>
                  <a:pt x="57150" y="686562"/>
                </a:lnTo>
                <a:lnTo>
                  <a:pt x="49994" y="688038"/>
                </a:lnTo>
                <a:lnTo>
                  <a:pt x="43910" y="692086"/>
                </a:lnTo>
                <a:lnTo>
                  <a:pt x="39683" y="698134"/>
                </a:lnTo>
                <a:lnTo>
                  <a:pt x="38100" y="705612"/>
                </a:lnTo>
                <a:lnTo>
                  <a:pt x="39683" y="713089"/>
                </a:lnTo>
                <a:lnTo>
                  <a:pt x="43910" y="719137"/>
                </a:lnTo>
                <a:lnTo>
                  <a:pt x="49994" y="723185"/>
                </a:lnTo>
                <a:lnTo>
                  <a:pt x="57150" y="724662"/>
                </a:lnTo>
                <a:lnTo>
                  <a:pt x="64627" y="723185"/>
                </a:lnTo>
                <a:lnTo>
                  <a:pt x="70675" y="719137"/>
                </a:lnTo>
                <a:lnTo>
                  <a:pt x="74723" y="713089"/>
                </a:lnTo>
                <a:lnTo>
                  <a:pt x="76200" y="705612"/>
                </a:lnTo>
                <a:close/>
              </a:path>
              <a:path w="114300" h="3219450">
                <a:moveTo>
                  <a:pt x="76200" y="781812"/>
                </a:moveTo>
                <a:lnTo>
                  <a:pt x="74723" y="774334"/>
                </a:lnTo>
                <a:lnTo>
                  <a:pt x="70675" y="768286"/>
                </a:lnTo>
                <a:lnTo>
                  <a:pt x="64627" y="764238"/>
                </a:lnTo>
                <a:lnTo>
                  <a:pt x="57150" y="762762"/>
                </a:lnTo>
                <a:lnTo>
                  <a:pt x="49994" y="764238"/>
                </a:lnTo>
                <a:lnTo>
                  <a:pt x="43910" y="768286"/>
                </a:lnTo>
                <a:lnTo>
                  <a:pt x="39683" y="774334"/>
                </a:lnTo>
                <a:lnTo>
                  <a:pt x="38100" y="781812"/>
                </a:lnTo>
                <a:lnTo>
                  <a:pt x="39683" y="789289"/>
                </a:lnTo>
                <a:lnTo>
                  <a:pt x="43910" y="795337"/>
                </a:lnTo>
                <a:lnTo>
                  <a:pt x="49994" y="799385"/>
                </a:lnTo>
                <a:lnTo>
                  <a:pt x="57150" y="800862"/>
                </a:lnTo>
                <a:lnTo>
                  <a:pt x="64627" y="799385"/>
                </a:lnTo>
                <a:lnTo>
                  <a:pt x="70675" y="795337"/>
                </a:lnTo>
                <a:lnTo>
                  <a:pt x="74723" y="789289"/>
                </a:lnTo>
                <a:lnTo>
                  <a:pt x="76200" y="781812"/>
                </a:lnTo>
                <a:close/>
              </a:path>
              <a:path w="114300" h="3219450">
                <a:moveTo>
                  <a:pt x="76200" y="858012"/>
                </a:moveTo>
                <a:lnTo>
                  <a:pt x="74723" y="850534"/>
                </a:lnTo>
                <a:lnTo>
                  <a:pt x="70675" y="844486"/>
                </a:lnTo>
                <a:lnTo>
                  <a:pt x="64627" y="840438"/>
                </a:lnTo>
                <a:lnTo>
                  <a:pt x="57150" y="838962"/>
                </a:lnTo>
                <a:lnTo>
                  <a:pt x="49994" y="840438"/>
                </a:lnTo>
                <a:lnTo>
                  <a:pt x="43910" y="844486"/>
                </a:lnTo>
                <a:lnTo>
                  <a:pt x="39683" y="850534"/>
                </a:lnTo>
                <a:lnTo>
                  <a:pt x="38100" y="858012"/>
                </a:lnTo>
                <a:lnTo>
                  <a:pt x="39683" y="865489"/>
                </a:lnTo>
                <a:lnTo>
                  <a:pt x="43910" y="871537"/>
                </a:lnTo>
                <a:lnTo>
                  <a:pt x="49994" y="875585"/>
                </a:lnTo>
                <a:lnTo>
                  <a:pt x="57150" y="877062"/>
                </a:lnTo>
                <a:lnTo>
                  <a:pt x="64627" y="875585"/>
                </a:lnTo>
                <a:lnTo>
                  <a:pt x="70675" y="871537"/>
                </a:lnTo>
                <a:lnTo>
                  <a:pt x="74723" y="865489"/>
                </a:lnTo>
                <a:lnTo>
                  <a:pt x="76200" y="858012"/>
                </a:lnTo>
                <a:close/>
              </a:path>
              <a:path w="114300" h="3219450">
                <a:moveTo>
                  <a:pt x="76200" y="934212"/>
                </a:moveTo>
                <a:lnTo>
                  <a:pt x="74723" y="926734"/>
                </a:lnTo>
                <a:lnTo>
                  <a:pt x="70675" y="920686"/>
                </a:lnTo>
                <a:lnTo>
                  <a:pt x="64627" y="916638"/>
                </a:lnTo>
                <a:lnTo>
                  <a:pt x="57150" y="915162"/>
                </a:lnTo>
                <a:lnTo>
                  <a:pt x="49994" y="916638"/>
                </a:lnTo>
                <a:lnTo>
                  <a:pt x="43910" y="920686"/>
                </a:lnTo>
                <a:lnTo>
                  <a:pt x="39683" y="926734"/>
                </a:lnTo>
                <a:lnTo>
                  <a:pt x="38100" y="934212"/>
                </a:lnTo>
                <a:lnTo>
                  <a:pt x="39683" y="941689"/>
                </a:lnTo>
                <a:lnTo>
                  <a:pt x="43910" y="947737"/>
                </a:lnTo>
                <a:lnTo>
                  <a:pt x="49994" y="951785"/>
                </a:lnTo>
                <a:lnTo>
                  <a:pt x="57150" y="953262"/>
                </a:lnTo>
                <a:lnTo>
                  <a:pt x="64627" y="951785"/>
                </a:lnTo>
                <a:lnTo>
                  <a:pt x="70675" y="947737"/>
                </a:lnTo>
                <a:lnTo>
                  <a:pt x="74723" y="941689"/>
                </a:lnTo>
                <a:lnTo>
                  <a:pt x="76200" y="934212"/>
                </a:lnTo>
                <a:close/>
              </a:path>
              <a:path w="114300" h="3219450">
                <a:moveTo>
                  <a:pt x="76200" y="1010412"/>
                </a:moveTo>
                <a:lnTo>
                  <a:pt x="74723" y="1002934"/>
                </a:lnTo>
                <a:lnTo>
                  <a:pt x="70675" y="996886"/>
                </a:lnTo>
                <a:lnTo>
                  <a:pt x="64627" y="992838"/>
                </a:lnTo>
                <a:lnTo>
                  <a:pt x="57150" y="991362"/>
                </a:lnTo>
                <a:lnTo>
                  <a:pt x="49994" y="992838"/>
                </a:lnTo>
                <a:lnTo>
                  <a:pt x="43910" y="996886"/>
                </a:lnTo>
                <a:lnTo>
                  <a:pt x="39683" y="1002934"/>
                </a:lnTo>
                <a:lnTo>
                  <a:pt x="38100" y="1010412"/>
                </a:lnTo>
                <a:lnTo>
                  <a:pt x="39683" y="1017889"/>
                </a:lnTo>
                <a:lnTo>
                  <a:pt x="43910" y="1023937"/>
                </a:lnTo>
                <a:lnTo>
                  <a:pt x="49994" y="1027985"/>
                </a:lnTo>
                <a:lnTo>
                  <a:pt x="57150" y="1029462"/>
                </a:lnTo>
                <a:lnTo>
                  <a:pt x="64627" y="1027985"/>
                </a:lnTo>
                <a:lnTo>
                  <a:pt x="70675" y="1023937"/>
                </a:lnTo>
                <a:lnTo>
                  <a:pt x="74723" y="1017889"/>
                </a:lnTo>
                <a:lnTo>
                  <a:pt x="76200" y="1010412"/>
                </a:lnTo>
                <a:close/>
              </a:path>
              <a:path w="114300" h="3219450">
                <a:moveTo>
                  <a:pt x="76200" y="1086612"/>
                </a:moveTo>
                <a:lnTo>
                  <a:pt x="74723" y="1079134"/>
                </a:lnTo>
                <a:lnTo>
                  <a:pt x="70675" y="1073086"/>
                </a:lnTo>
                <a:lnTo>
                  <a:pt x="64627" y="1069038"/>
                </a:lnTo>
                <a:lnTo>
                  <a:pt x="57150" y="1067562"/>
                </a:lnTo>
                <a:lnTo>
                  <a:pt x="49994" y="1069038"/>
                </a:lnTo>
                <a:lnTo>
                  <a:pt x="43910" y="1073086"/>
                </a:lnTo>
                <a:lnTo>
                  <a:pt x="39683" y="1079134"/>
                </a:lnTo>
                <a:lnTo>
                  <a:pt x="38100" y="1086612"/>
                </a:lnTo>
                <a:lnTo>
                  <a:pt x="39683" y="1094089"/>
                </a:lnTo>
                <a:lnTo>
                  <a:pt x="43910" y="1100137"/>
                </a:lnTo>
                <a:lnTo>
                  <a:pt x="49994" y="1104185"/>
                </a:lnTo>
                <a:lnTo>
                  <a:pt x="57150" y="1105662"/>
                </a:lnTo>
                <a:lnTo>
                  <a:pt x="64627" y="1104185"/>
                </a:lnTo>
                <a:lnTo>
                  <a:pt x="70675" y="1100137"/>
                </a:lnTo>
                <a:lnTo>
                  <a:pt x="74723" y="1094089"/>
                </a:lnTo>
                <a:lnTo>
                  <a:pt x="76200" y="1086612"/>
                </a:lnTo>
                <a:close/>
              </a:path>
              <a:path w="114300" h="3219450">
                <a:moveTo>
                  <a:pt x="76200" y="1162812"/>
                </a:moveTo>
                <a:lnTo>
                  <a:pt x="74723" y="1155334"/>
                </a:lnTo>
                <a:lnTo>
                  <a:pt x="70675" y="1149286"/>
                </a:lnTo>
                <a:lnTo>
                  <a:pt x="64627" y="1145238"/>
                </a:lnTo>
                <a:lnTo>
                  <a:pt x="57150" y="1143762"/>
                </a:lnTo>
                <a:lnTo>
                  <a:pt x="49994" y="1145238"/>
                </a:lnTo>
                <a:lnTo>
                  <a:pt x="43910" y="1149286"/>
                </a:lnTo>
                <a:lnTo>
                  <a:pt x="39683" y="1155334"/>
                </a:lnTo>
                <a:lnTo>
                  <a:pt x="38100" y="1162812"/>
                </a:lnTo>
                <a:lnTo>
                  <a:pt x="39683" y="1170289"/>
                </a:lnTo>
                <a:lnTo>
                  <a:pt x="43910" y="1176337"/>
                </a:lnTo>
                <a:lnTo>
                  <a:pt x="49994" y="1180385"/>
                </a:lnTo>
                <a:lnTo>
                  <a:pt x="57150" y="1181862"/>
                </a:lnTo>
                <a:lnTo>
                  <a:pt x="64627" y="1180385"/>
                </a:lnTo>
                <a:lnTo>
                  <a:pt x="70675" y="1176337"/>
                </a:lnTo>
                <a:lnTo>
                  <a:pt x="74723" y="1170289"/>
                </a:lnTo>
                <a:lnTo>
                  <a:pt x="76200" y="1162812"/>
                </a:lnTo>
                <a:close/>
              </a:path>
              <a:path w="114300" h="3219450">
                <a:moveTo>
                  <a:pt x="76200" y="1239012"/>
                </a:moveTo>
                <a:lnTo>
                  <a:pt x="74723" y="1231534"/>
                </a:lnTo>
                <a:lnTo>
                  <a:pt x="70675" y="1225486"/>
                </a:lnTo>
                <a:lnTo>
                  <a:pt x="64627" y="1221438"/>
                </a:lnTo>
                <a:lnTo>
                  <a:pt x="57150" y="1219962"/>
                </a:lnTo>
                <a:lnTo>
                  <a:pt x="49994" y="1221438"/>
                </a:lnTo>
                <a:lnTo>
                  <a:pt x="43910" y="1225486"/>
                </a:lnTo>
                <a:lnTo>
                  <a:pt x="39683" y="1231534"/>
                </a:lnTo>
                <a:lnTo>
                  <a:pt x="38100" y="1239012"/>
                </a:lnTo>
                <a:lnTo>
                  <a:pt x="39683" y="1246489"/>
                </a:lnTo>
                <a:lnTo>
                  <a:pt x="43910" y="1252537"/>
                </a:lnTo>
                <a:lnTo>
                  <a:pt x="49994" y="1256585"/>
                </a:lnTo>
                <a:lnTo>
                  <a:pt x="57150" y="1258062"/>
                </a:lnTo>
                <a:lnTo>
                  <a:pt x="64627" y="1256585"/>
                </a:lnTo>
                <a:lnTo>
                  <a:pt x="70675" y="1252537"/>
                </a:lnTo>
                <a:lnTo>
                  <a:pt x="74723" y="1246489"/>
                </a:lnTo>
                <a:lnTo>
                  <a:pt x="76200" y="1239012"/>
                </a:lnTo>
                <a:close/>
              </a:path>
              <a:path w="114300" h="3219450">
                <a:moveTo>
                  <a:pt x="76200" y="1315212"/>
                </a:moveTo>
                <a:lnTo>
                  <a:pt x="74723" y="1308056"/>
                </a:lnTo>
                <a:lnTo>
                  <a:pt x="70675" y="1301972"/>
                </a:lnTo>
                <a:lnTo>
                  <a:pt x="64627" y="1297745"/>
                </a:lnTo>
                <a:lnTo>
                  <a:pt x="57150" y="1296162"/>
                </a:lnTo>
                <a:lnTo>
                  <a:pt x="49994" y="1297745"/>
                </a:lnTo>
                <a:lnTo>
                  <a:pt x="43910" y="1301972"/>
                </a:lnTo>
                <a:lnTo>
                  <a:pt x="39683" y="1308056"/>
                </a:lnTo>
                <a:lnTo>
                  <a:pt x="38100" y="1315212"/>
                </a:lnTo>
                <a:lnTo>
                  <a:pt x="39683" y="1322689"/>
                </a:lnTo>
                <a:lnTo>
                  <a:pt x="43910" y="1328737"/>
                </a:lnTo>
                <a:lnTo>
                  <a:pt x="49994" y="1332785"/>
                </a:lnTo>
                <a:lnTo>
                  <a:pt x="57150" y="1334262"/>
                </a:lnTo>
                <a:lnTo>
                  <a:pt x="64627" y="1332785"/>
                </a:lnTo>
                <a:lnTo>
                  <a:pt x="70675" y="1328737"/>
                </a:lnTo>
                <a:lnTo>
                  <a:pt x="74723" y="1322689"/>
                </a:lnTo>
                <a:lnTo>
                  <a:pt x="76200" y="1315212"/>
                </a:lnTo>
                <a:close/>
              </a:path>
              <a:path w="114300" h="3219450">
                <a:moveTo>
                  <a:pt x="76200" y="1391412"/>
                </a:moveTo>
                <a:lnTo>
                  <a:pt x="74723" y="1384256"/>
                </a:lnTo>
                <a:lnTo>
                  <a:pt x="70675" y="1378172"/>
                </a:lnTo>
                <a:lnTo>
                  <a:pt x="64627" y="1373945"/>
                </a:lnTo>
                <a:lnTo>
                  <a:pt x="57150" y="1372362"/>
                </a:lnTo>
                <a:lnTo>
                  <a:pt x="49994" y="1373945"/>
                </a:lnTo>
                <a:lnTo>
                  <a:pt x="43910" y="1378172"/>
                </a:lnTo>
                <a:lnTo>
                  <a:pt x="39683" y="1384256"/>
                </a:lnTo>
                <a:lnTo>
                  <a:pt x="38100" y="1391412"/>
                </a:lnTo>
                <a:lnTo>
                  <a:pt x="39683" y="1398889"/>
                </a:lnTo>
                <a:lnTo>
                  <a:pt x="43910" y="1404937"/>
                </a:lnTo>
                <a:lnTo>
                  <a:pt x="49994" y="1408985"/>
                </a:lnTo>
                <a:lnTo>
                  <a:pt x="57150" y="1410462"/>
                </a:lnTo>
                <a:lnTo>
                  <a:pt x="64627" y="1408985"/>
                </a:lnTo>
                <a:lnTo>
                  <a:pt x="70675" y="1404937"/>
                </a:lnTo>
                <a:lnTo>
                  <a:pt x="74723" y="1398889"/>
                </a:lnTo>
                <a:lnTo>
                  <a:pt x="76200" y="1391412"/>
                </a:lnTo>
                <a:close/>
              </a:path>
              <a:path w="114300" h="3219450">
                <a:moveTo>
                  <a:pt x="76200" y="1467612"/>
                </a:moveTo>
                <a:lnTo>
                  <a:pt x="74723" y="1460456"/>
                </a:lnTo>
                <a:lnTo>
                  <a:pt x="70675" y="1454372"/>
                </a:lnTo>
                <a:lnTo>
                  <a:pt x="64627" y="1450145"/>
                </a:lnTo>
                <a:lnTo>
                  <a:pt x="57150" y="1448562"/>
                </a:lnTo>
                <a:lnTo>
                  <a:pt x="49994" y="1450145"/>
                </a:lnTo>
                <a:lnTo>
                  <a:pt x="43910" y="1454372"/>
                </a:lnTo>
                <a:lnTo>
                  <a:pt x="39683" y="1460456"/>
                </a:lnTo>
                <a:lnTo>
                  <a:pt x="38100" y="1467612"/>
                </a:lnTo>
                <a:lnTo>
                  <a:pt x="39683" y="1475089"/>
                </a:lnTo>
                <a:lnTo>
                  <a:pt x="43910" y="1481137"/>
                </a:lnTo>
                <a:lnTo>
                  <a:pt x="49994" y="1485185"/>
                </a:lnTo>
                <a:lnTo>
                  <a:pt x="57150" y="1486662"/>
                </a:lnTo>
                <a:lnTo>
                  <a:pt x="64627" y="1485185"/>
                </a:lnTo>
                <a:lnTo>
                  <a:pt x="70675" y="1481137"/>
                </a:lnTo>
                <a:lnTo>
                  <a:pt x="74723" y="1475089"/>
                </a:lnTo>
                <a:lnTo>
                  <a:pt x="76200" y="1467612"/>
                </a:lnTo>
                <a:close/>
              </a:path>
              <a:path w="114300" h="3219450">
                <a:moveTo>
                  <a:pt x="76200" y="1544574"/>
                </a:moveTo>
                <a:lnTo>
                  <a:pt x="76200" y="1543812"/>
                </a:lnTo>
                <a:lnTo>
                  <a:pt x="74723" y="1536656"/>
                </a:lnTo>
                <a:lnTo>
                  <a:pt x="70675" y="1530572"/>
                </a:lnTo>
                <a:lnTo>
                  <a:pt x="64627" y="1526345"/>
                </a:lnTo>
                <a:lnTo>
                  <a:pt x="57150" y="1524762"/>
                </a:lnTo>
                <a:lnTo>
                  <a:pt x="49994" y="1526345"/>
                </a:lnTo>
                <a:lnTo>
                  <a:pt x="43910" y="1530572"/>
                </a:lnTo>
                <a:lnTo>
                  <a:pt x="39683" y="1536656"/>
                </a:lnTo>
                <a:lnTo>
                  <a:pt x="38100" y="1543812"/>
                </a:lnTo>
                <a:lnTo>
                  <a:pt x="38100" y="1544574"/>
                </a:lnTo>
                <a:lnTo>
                  <a:pt x="39683" y="1551729"/>
                </a:lnTo>
                <a:lnTo>
                  <a:pt x="43910" y="1557813"/>
                </a:lnTo>
                <a:lnTo>
                  <a:pt x="49994" y="1562040"/>
                </a:lnTo>
                <a:lnTo>
                  <a:pt x="57150" y="1563624"/>
                </a:lnTo>
                <a:lnTo>
                  <a:pt x="64627" y="1562040"/>
                </a:lnTo>
                <a:lnTo>
                  <a:pt x="70675" y="1557813"/>
                </a:lnTo>
                <a:lnTo>
                  <a:pt x="74723" y="1551729"/>
                </a:lnTo>
                <a:lnTo>
                  <a:pt x="76200" y="1544574"/>
                </a:lnTo>
                <a:close/>
              </a:path>
              <a:path w="114300" h="3219450">
                <a:moveTo>
                  <a:pt x="76200" y="1620774"/>
                </a:moveTo>
                <a:lnTo>
                  <a:pt x="74723" y="1613296"/>
                </a:lnTo>
                <a:lnTo>
                  <a:pt x="70675" y="1607248"/>
                </a:lnTo>
                <a:lnTo>
                  <a:pt x="64627" y="1603200"/>
                </a:lnTo>
                <a:lnTo>
                  <a:pt x="57150" y="1601724"/>
                </a:lnTo>
                <a:lnTo>
                  <a:pt x="49994" y="1603200"/>
                </a:lnTo>
                <a:lnTo>
                  <a:pt x="43910" y="1607248"/>
                </a:lnTo>
                <a:lnTo>
                  <a:pt x="39683" y="1613296"/>
                </a:lnTo>
                <a:lnTo>
                  <a:pt x="38100" y="1620774"/>
                </a:lnTo>
                <a:lnTo>
                  <a:pt x="39683" y="1627929"/>
                </a:lnTo>
                <a:lnTo>
                  <a:pt x="43910" y="1634013"/>
                </a:lnTo>
                <a:lnTo>
                  <a:pt x="49994" y="1638240"/>
                </a:lnTo>
                <a:lnTo>
                  <a:pt x="57150" y="1639824"/>
                </a:lnTo>
                <a:lnTo>
                  <a:pt x="64627" y="1638240"/>
                </a:lnTo>
                <a:lnTo>
                  <a:pt x="70675" y="1634013"/>
                </a:lnTo>
                <a:lnTo>
                  <a:pt x="74723" y="1627929"/>
                </a:lnTo>
                <a:lnTo>
                  <a:pt x="76200" y="1620774"/>
                </a:lnTo>
                <a:close/>
              </a:path>
              <a:path w="114300" h="3219450">
                <a:moveTo>
                  <a:pt x="76200" y="1696974"/>
                </a:moveTo>
                <a:lnTo>
                  <a:pt x="74723" y="1689496"/>
                </a:lnTo>
                <a:lnTo>
                  <a:pt x="70675" y="1683448"/>
                </a:lnTo>
                <a:lnTo>
                  <a:pt x="64627" y="1679400"/>
                </a:lnTo>
                <a:lnTo>
                  <a:pt x="57150" y="1677924"/>
                </a:lnTo>
                <a:lnTo>
                  <a:pt x="49994" y="1679400"/>
                </a:lnTo>
                <a:lnTo>
                  <a:pt x="43910" y="1683448"/>
                </a:lnTo>
                <a:lnTo>
                  <a:pt x="39683" y="1689496"/>
                </a:lnTo>
                <a:lnTo>
                  <a:pt x="38100" y="1696974"/>
                </a:lnTo>
                <a:lnTo>
                  <a:pt x="39683" y="1704129"/>
                </a:lnTo>
                <a:lnTo>
                  <a:pt x="43910" y="1710213"/>
                </a:lnTo>
                <a:lnTo>
                  <a:pt x="49994" y="1714440"/>
                </a:lnTo>
                <a:lnTo>
                  <a:pt x="57150" y="1716024"/>
                </a:lnTo>
                <a:lnTo>
                  <a:pt x="64627" y="1714440"/>
                </a:lnTo>
                <a:lnTo>
                  <a:pt x="70675" y="1710213"/>
                </a:lnTo>
                <a:lnTo>
                  <a:pt x="74723" y="1704129"/>
                </a:lnTo>
                <a:lnTo>
                  <a:pt x="76200" y="1696974"/>
                </a:lnTo>
                <a:close/>
              </a:path>
              <a:path w="114300" h="3219450">
                <a:moveTo>
                  <a:pt x="76200" y="1773174"/>
                </a:moveTo>
                <a:lnTo>
                  <a:pt x="74723" y="1765696"/>
                </a:lnTo>
                <a:lnTo>
                  <a:pt x="70675" y="1759648"/>
                </a:lnTo>
                <a:lnTo>
                  <a:pt x="64627" y="1755600"/>
                </a:lnTo>
                <a:lnTo>
                  <a:pt x="57150" y="1754124"/>
                </a:lnTo>
                <a:lnTo>
                  <a:pt x="49994" y="1755600"/>
                </a:lnTo>
                <a:lnTo>
                  <a:pt x="43910" y="1759648"/>
                </a:lnTo>
                <a:lnTo>
                  <a:pt x="39683" y="1765696"/>
                </a:lnTo>
                <a:lnTo>
                  <a:pt x="38100" y="1773174"/>
                </a:lnTo>
                <a:lnTo>
                  <a:pt x="39683" y="1780329"/>
                </a:lnTo>
                <a:lnTo>
                  <a:pt x="43910" y="1786413"/>
                </a:lnTo>
                <a:lnTo>
                  <a:pt x="49994" y="1790640"/>
                </a:lnTo>
                <a:lnTo>
                  <a:pt x="57150" y="1792224"/>
                </a:lnTo>
                <a:lnTo>
                  <a:pt x="64627" y="1790640"/>
                </a:lnTo>
                <a:lnTo>
                  <a:pt x="70675" y="1786413"/>
                </a:lnTo>
                <a:lnTo>
                  <a:pt x="74723" y="1780329"/>
                </a:lnTo>
                <a:lnTo>
                  <a:pt x="76200" y="1773174"/>
                </a:lnTo>
                <a:close/>
              </a:path>
              <a:path w="114300" h="3219450">
                <a:moveTo>
                  <a:pt x="76200" y="1849374"/>
                </a:moveTo>
                <a:lnTo>
                  <a:pt x="74723" y="1841896"/>
                </a:lnTo>
                <a:lnTo>
                  <a:pt x="70675" y="1835848"/>
                </a:lnTo>
                <a:lnTo>
                  <a:pt x="64627" y="1831800"/>
                </a:lnTo>
                <a:lnTo>
                  <a:pt x="57150" y="1830324"/>
                </a:lnTo>
                <a:lnTo>
                  <a:pt x="49994" y="1831800"/>
                </a:lnTo>
                <a:lnTo>
                  <a:pt x="43910" y="1835848"/>
                </a:lnTo>
                <a:lnTo>
                  <a:pt x="39683" y="1841896"/>
                </a:lnTo>
                <a:lnTo>
                  <a:pt x="38100" y="1849374"/>
                </a:lnTo>
                <a:lnTo>
                  <a:pt x="39683" y="1856851"/>
                </a:lnTo>
                <a:lnTo>
                  <a:pt x="43910" y="1862899"/>
                </a:lnTo>
                <a:lnTo>
                  <a:pt x="49994" y="1866947"/>
                </a:lnTo>
                <a:lnTo>
                  <a:pt x="57150" y="1868424"/>
                </a:lnTo>
                <a:lnTo>
                  <a:pt x="64627" y="1866947"/>
                </a:lnTo>
                <a:lnTo>
                  <a:pt x="70675" y="1862899"/>
                </a:lnTo>
                <a:lnTo>
                  <a:pt x="74723" y="1856851"/>
                </a:lnTo>
                <a:lnTo>
                  <a:pt x="76200" y="1849374"/>
                </a:lnTo>
                <a:close/>
              </a:path>
              <a:path w="114300" h="3219450">
                <a:moveTo>
                  <a:pt x="76200" y="1925574"/>
                </a:moveTo>
                <a:lnTo>
                  <a:pt x="74723" y="1918096"/>
                </a:lnTo>
                <a:lnTo>
                  <a:pt x="70675" y="1912048"/>
                </a:lnTo>
                <a:lnTo>
                  <a:pt x="64627" y="1908000"/>
                </a:lnTo>
                <a:lnTo>
                  <a:pt x="57150" y="1906524"/>
                </a:lnTo>
                <a:lnTo>
                  <a:pt x="49994" y="1908000"/>
                </a:lnTo>
                <a:lnTo>
                  <a:pt x="43910" y="1912048"/>
                </a:lnTo>
                <a:lnTo>
                  <a:pt x="39683" y="1918096"/>
                </a:lnTo>
                <a:lnTo>
                  <a:pt x="38100" y="1925574"/>
                </a:lnTo>
                <a:lnTo>
                  <a:pt x="39683" y="1933051"/>
                </a:lnTo>
                <a:lnTo>
                  <a:pt x="43910" y="1939099"/>
                </a:lnTo>
                <a:lnTo>
                  <a:pt x="49994" y="1943147"/>
                </a:lnTo>
                <a:lnTo>
                  <a:pt x="57150" y="1944624"/>
                </a:lnTo>
                <a:lnTo>
                  <a:pt x="64627" y="1943147"/>
                </a:lnTo>
                <a:lnTo>
                  <a:pt x="70675" y="1939099"/>
                </a:lnTo>
                <a:lnTo>
                  <a:pt x="74723" y="1933051"/>
                </a:lnTo>
                <a:lnTo>
                  <a:pt x="76200" y="1925574"/>
                </a:lnTo>
                <a:close/>
              </a:path>
              <a:path w="114300" h="3219450">
                <a:moveTo>
                  <a:pt x="76200" y="2001774"/>
                </a:moveTo>
                <a:lnTo>
                  <a:pt x="74723" y="1994296"/>
                </a:lnTo>
                <a:lnTo>
                  <a:pt x="70675" y="1988248"/>
                </a:lnTo>
                <a:lnTo>
                  <a:pt x="64627" y="1984200"/>
                </a:lnTo>
                <a:lnTo>
                  <a:pt x="57150" y="1982724"/>
                </a:lnTo>
                <a:lnTo>
                  <a:pt x="49994" y="1984200"/>
                </a:lnTo>
                <a:lnTo>
                  <a:pt x="43910" y="1988248"/>
                </a:lnTo>
                <a:lnTo>
                  <a:pt x="39683" y="1994296"/>
                </a:lnTo>
                <a:lnTo>
                  <a:pt x="38100" y="2001774"/>
                </a:lnTo>
                <a:lnTo>
                  <a:pt x="39683" y="2009251"/>
                </a:lnTo>
                <a:lnTo>
                  <a:pt x="43910" y="2015299"/>
                </a:lnTo>
                <a:lnTo>
                  <a:pt x="49994" y="2019347"/>
                </a:lnTo>
                <a:lnTo>
                  <a:pt x="57150" y="2020824"/>
                </a:lnTo>
                <a:lnTo>
                  <a:pt x="64627" y="2019347"/>
                </a:lnTo>
                <a:lnTo>
                  <a:pt x="70675" y="2015299"/>
                </a:lnTo>
                <a:lnTo>
                  <a:pt x="74723" y="2009251"/>
                </a:lnTo>
                <a:lnTo>
                  <a:pt x="76200" y="2001774"/>
                </a:lnTo>
                <a:close/>
              </a:path>
              <a:path w="114300" h="3219450">
                <a:moveTo>
                  <a:pt x="76200" y="2077974"/>
                </a:moveTo>
                <a:lnTo>
                  <a:pt x="74723" y="2070496"/>
                </a:lnTo>
                <a:lnTo>
                  <a:pt x="70675" y="2064448"/>
                </a:lnTo>
                <a:lnTo>
                  <a:pt x="64627" y="2060400"/>
                </a:lnTo>
                <a:lnTo>
                  <a:pt x="57150" y="2058924"/>
                </a:lnTo>
                <a:lnTo>
                  <a:pt x="49994" y="2060400"/>
                </a:lnTo>
                <a:lnTo>
                  <a:pt x="43910" y="2064448"/>
                </a:lnTo>
                <a:lnTo>
                  <a:pt x="39683" y="2070496"/>
                </a:lnTo>
                <a:lnTo>
                  <a:pt x="38100" y="2077974"/>
                </a:lnTo>
                <a:lnTo>
                  <a:pt x="39683" y="2085451"/>
                </a:lnTo>
                <a:lnTo>
                  <a:pt x="43910" y="2091499"/>
                </a:lnTo>
                <a:lnTo>
                  <a:pt x="49994" y="2095547"/>
                </a:lnTo>
                <a:lnTo>
                  <a:pt x="57150" y="2097024"/>
                </a:lnTo>
                <a:lnTo>
                  <a:pt x="64627" y="2095547"/>
                </a:lnTo>
                <a:lnTo>
                  <a:pt x="70675" y="2091499"/>
                </a:lnTo>
                <a:lnTo>
                  <a:pt x="74723" y="2085451"/>
                </a:lnTo>
                <a:lnTo>
                  <a:pt x="76200" y="2077974"/>
                </a:lnTo>
                <a:close/>
              </a:path>
              <a:path w="114300" h="3219450">
                <a:moveTo>
                  <a:pt x="76200" y="2154174"/>
                </a:moveTo>
                <a:lnTo>
                  <a:pt x="74723" y="2146696"/>
                </a:lnTo>
                <a:lnTo>
                  <a:pt x="70675" y="2140648"/>
                </a:lnTo>
                <a:lnTo>
                  <a:pt x="64627" y="2136600"/>
                </a:lnTo>
                <a:lnTo>
                  <a:pt x="57150" y="2135124"/>
                </a:lnTo>
                <a:lnTo>
                  <a:pt x="49994" y="2136600"/>
                </a:lnTo>
                <a:lnTo>
                  <a:pt x="43910" y="2140648"/>
                </a:lnTo>
                <a:lnTo>
                  <a:pt x="39683" y="2146696"/>
                </a:lnTo>
                <a:lnTo>
                  <a:pt x="38100" y="2154174"/>
                </a:lnTo>
                <a:lnTo>
                  <a:pt x="39683" y="2161651"/>
                </a:lnTo>
                <a:lnTo>
                  <a:pt x="43910" y="2167699"/>
                </a:lnTo>
                <a:lnTo>
                  <a:pt x="49994" y="2171747"/>
                </a:lnTo>
                <a:lnTo>
                  <a:pt x="57150" y="2173224"/>
                </a:lnTo>
                <a:lnTo>
                  <a:pt x="64627" y="2171747"/>
                </a:lnTo>
                <a:lnTo>
                  <a:pt x="70675" y="2167699"/>
                </a:lnTo>
                <a:lnTo>
                  <a:pt x="74723" y="2161651"/>
                </a:lnTo>
                <a:lnTo>
                  <a:pt x="76200" y="2154174"/>
                </a:lnTo>
                <a:close/>
              </a:path>
              <a:path w="114300" h="3219450">
                <a:moveTo>
                  <a:pt x="76200" y="2230374"/>
                </a:moveTo>
                <a:lnTo>
                  <a:pt x="74723" y="2222896"/>
                </a:lnTo>
                <a:lnTo>
                  <a:pt x="70675" y="2216848"/>
                </a:lnTo>
                <a:lnTo>
                  <a:pt x="64627" y="2212800"/>
                </a:lnTo>
                <a:lnTo>
                  <a:pt x="57150" y="2211324"/>
                </a:lnTo>
                <a:lnTo>
                  <a:pt x="49994" y="2212800"/>
                </a:lnTo>
                <a:lnTo>
                  <a:pt x="43910" y="2216848"/>
                </a:lnTo>
                <a:lnTo>
                  <a:pt x="39683" y="2222896"/>
                </a:lnTo>
                <a:lnTo>
                  <a:pt x="38100" y="2230374"/>
                </a:lnTo>
                <a:lnTo>
                  <a:pt x="39683" y="2237851"/>
                </a:lnTo>
                <a:lnTo>
                  <a:pt x="43910" y="2243899"/>
                </a:lnTo>
                <a:lnTo>
                  <a:pt x="49994" y="2247947"/>
                </a:lnTo>
                <a:lnTo>
                  <a:pt x="57150" y="2249424"/>
                </a:lnTo>
                <a:lnTo>
                  <a:pt x="64627" y="2247947"/>
                </a:lnTo>
                <a:lnTo>
                  <a:pt x="70675" y="2243899"/>
                </a:lnTo>
                <a:lnTo>
                  <a:pt x="74723" y="2237851"/>
                </a:lnTo>
                <a:lnTo>
                  <a:pt x="76200" y="2230374"/>
                </a:lnTo>
                <a:close/>
              </a:path>
              <a:path w="114300" h="3219450">
                <a:moveTo>
                  <a:pt x="76200" y="2306574"/>
                </a:moveTo>
                <a:lnTo>
                  <a:pt x="74723" y="2299096"/>
                </a:lnTo>
                <a:lnTo>
                  <a:pt x="70675" y="2293048"/>
                </a:lnTo>
                <a:lnTo>
                  <a:pt x="64627" y="2289000"/>
                </a:lnTo>
                <a:lnTo>
                  <a:pt x="57150" y="2287524"/>
                </a:lnTo>
                <a:lnTo>
                  <a:pt x="49994" y="2289000"/>
                </a:lnTo>
                <a:lnTo>
                  <a:pt x="43910" y="2293048"/>
                </a:lnTo>
                <a:lnTo>
                  <a:pt x="39683" y="2299096"/>
                </a:lnTo>
                <a:lnTo>
                  <a:pt x="38100" y="2306574"/>
                </a:lnTo>
                <a:lnTo>
                  <a:pt x="39683" y="2314051"/>
                </a:lnTo>
                <a:lnTo>
                  <a:pt x="43910" y="2320099"/>
                </a:lnTo>
                <a:lnTo>
                  <a:pt x="49994" y="2324147"/>
                </a:lnTo>
                <a:lnTo>
                  <a:pt x="57150" y="2325624"/>
                </a:lnTo>
                <a:lnTo>
                  <a:pt x="64627" y="2324147"/>
                </a:lnTo>
                <a:lnTo>
                  <a:pt x="70675" y="2320099"/>
                </a:lnTo>
                <a:lnTo>
                  <a:pt x="74723" y="2314051"/>
                </a:lnTo>
                <a:lnTo>
                  <a:pt x="76200" y="2306574"/>
                </a:lnTo>
                <a:close/>
              </a:path>
              <a:path w="114300" h="3219450">
                <a:moveTo>
                  <a:pt x="76200" y="2382774"/>
                </a:moveTo>
                <a:lnTo>
                  <a:pt x="74723" y="2375296"/>
                </a:lnTo>
                <a:lnTo>
                  <a:pt x="70675" y="2369248"/>
                </a:lnTo>
                <a:lnTo>
                  <a:pt x="64627" y="2365200"/>
                </a:lnTo>
                <a:lnTo>
                  <a:pt x="57150" y="2363724"/>
                </a:lnTo>
                <a:lnTo>
                  <a:pt x="49994" y="2365200"/>
                </a:lnTo>
                <a:lnTo>
                  <a:pt x="43910" y="2369248"/>
                </a:lnTo>
                <a:lnTo>
                  <a:pt x="39683" y="2375296"/>
                </a:lnTo>
                <a:lnTo>
                  <a:pt x="38100" y="2382774"/>
                </a:lnTo>
                <a:lnTo>
                  <a:pt x="39683" y="2390251"/>
                </a:lnTo>
                <a:lnTo>
                  <a:pt x="43910" y="2396299"/>
                </a:lnTo>
                <a:lnTo>
                  <a:pt x="49994" y="2400347"/>
                </a:lnTo>
                <a:lnTo>
                  <a:pt x="57150" y="2401824"/>
                </a:lnTo>
                <a:lnTo>
                  <a:pt x="64627" y="2400347"/>
                </a:lnTo>
                <a:lnTo>
                  <a:pt x="70675" y="2396299"/>
                </a:lnTo>
                <a:lnTo>
                  <a:pt x="74723" y="2390251"/>
                </a:lnTo>
                <a:lnTo>
                  <a:pt x="76200" y="2382774"/>
                </a:lnTo>
                <a:close/>
              </a:path>
              <a:path w="114300" h="3219450">
                <a:moveTo>
                  <a:pt x="76200" y="2458974"/>
                </a:moveTo>
                <a:lnTo>
                  <a:pt x="74723" y="2451496"/>
                </a:lnTo>
                <a:lnTo>
                  <a:pt x="70675" y="2445448"/>
                </a:lnTo>
                <a:lnTo>
                  <a:pt x="64627" y="2441400"/>
                </a:lnTo>
                <a:lnTo>
                  <a:pt x="57150" y="2439924"/>
                </a:lnTo>
                <a:lnTo>
                  <a:pt x="49994" y="2441400"/>
                </a:lnTo>
                <a:lnTo>
                  <a:pt x="43910" y="2445448"/>
                </a:lnTo>
                <a:lnTo>
                  <a:pt x="39683" y="2451496"/>
                </a:lnTo>
                <a:lnTo>
                  <a:pt x="38100" y="2458974"/>
                </a:lnTo>
                <a:lnTo>
                  <a:pt x="39683" y="2466451"/>
                </a:lnTo>
                <a:lnTo>
                  <a:pt x="43910" y="2472499"/>
                </a:lnTo>
                <a:lnTo>
                  <a:pt x="49994" y="2476547"/>
                </a:lnTo>
                <a:lnTo>
                  <a:pt x="57150" y="2478024"/>
                </a:lnTo>
                <a:lnTo>
                  <a:pt x="64627" y="2476547"/>
                </a:lnTo>
                <a:lnTo>
                  <a:pt x="70675" y="2472499"/>
                </a:lnTo>
                <a:lnTo>
                  <a:pt x="74723" y="2466451"/>
                </a:lnTo>
                <a:lnTo>
                  <a:pt x="76200" y="2458974"/>
                </a:lnTo>
                <a:close/>
              </a:path>
              <a:path w="114300" h="3219450">
                <a:moveTo>
                  <a:pt x="76200" y="2535174"/>
                </a:moveTo>
                <a:lnTo>
                  <a:pt x="74723" y="2527696"/>
                </a:lnTo>
                <a:lnTo>
                  <a:pt x="70675" y="2521648"/>
                </a:lnTo>
                <a:lnTo>
                  <a:pt x="64627" y="2517600"/>
                </a:lnTo>
                <a:lnTo>
                  <a:pt x="57150" y="2516124"/>
                </a:lnTo>
                <a:lnTo>
                  <a:pt x="49994" y="2517600"/>
                </a:lnTo>
                <a:lnTo>
                  <a:pt x="43910" y="2521648"/>
                </a:lnTo>
                <a:lnTo>
                  <a:pt x="39683" y="2527696"/>
                </a:lnTo>
                <a:lnTo>
                  <a:pt x="38100" y="2535174"/>
                </a:lnTo>
                <a:lnTo>
                  <a:pt x="39683" y="2542651"/>
                </a:lnTo>
                <a:lnTo>
                  <a:pt x="43910" y="2548699"/>
                </a:lnTo>
                <a:lnTo>
                  <a:pt x="49994" y="2552747"/>
                </a:lnTo>
                <a:lnTo>
                  <a:pt x="57150" y="2554224"/>
                </a:lnTo>
                <a:lnTo>
                  <a:pt x="64627" y="2552747"/>
                </a:lnTo>
                <a:lnTo>
                  <a:pt x="70675" y="2548699"/>
                </a:lnTo>
                <a:lnTo>
                  <a:pt x="74723" y="2542651"/>
                </a:lnTo>
                <a:lnTo>
                  <a:pt x="76200" y="2535174"/>
                </a:lnTo>
                <a:close/>
              </a:path>
              <a:path w="114300" h="3219450">
                <a:moveTo>
                  <a:pt x="76200" y="2611374"/>
                </a:moveTo>
                <a:lnTo>
                  <a:pt x="74723" y="2603896"/>
                </a:lnTo>
                <a:lnTo>
                  <a:pt x="70675" y="2597848"/>
                </a:lnTo>
                <a:lnTo>
                  <a:pt x="64627" y="2593800"/>
                </a:lnTo>
                <a:lnTo>
                  <a:pt x="57150" y="2592324"/>
                </a:lnTo>
                <a:lnTo>
                  <a:pt x="49994" y="2593800"/>
                </a:lnTo>
                <a:lnTo>
                  <a:pt x="43910" y="2597848"/>
                </a:lnTo>
                <a:lnTo>
                  <a:pt x="39683" y="2603896"/>
                </a:lnTo>
                <a:lnTo>
                  <a:pt x="38100" y="2611374"/>
                </a:lnTo>
                <a:lnTo>
                  <a:pt x="39683" y="2618851"/>
                </a:lnTo>
                <a:lnTo>
                  <a:pt x="43910" y="2624899"/>
                </a:lnTo>
                <a:lnTo>
                  <a:pt x="49994" y="2628947"/>
                </a:lnTo>
                <a:lnTo>
                  <a:pt x="57150" y="2630424"/>
                </a:lnTo>
                <a:lnTo>
                  <a:pt x="64627" y="2628947"/>
                </a:lnTo>
                <a:lnTo>
                  <a:pt x="70675" y="2624899"/>
                </a:lnTo>
                <a:lnTo>
                  <a:pt x="74723" y="2618851"/>
                </a:lnTo>
                <a:lnTo>
                  <a:pt x="76200" y="2611374"/>
                </a:lnTo>
                <a:close/>
              </a:path>
              <a:path w="114300" h="3219450">
                <a:moveTo>
                  <a:pt x="76200" y="2687574"/>
                </a:moveTo>
                <a:lnTo>
                  <a:pt x="74723" y="2680096"/>
                </a:lnTo>
                <a:lnTo>
                  <a:pt x="70675" y="2674048"/>
                </a:lnTo>
                <a:lnTo>
                  <a:pt x="64627" y="2670000"/>
                </a:lnTo>
                <a:lnTo>
                  <a:pt x="57150" y="2668524"/>
                </a:lnTo>
                <a:lnTo>
                  <a:pt x="49994" y="2670000"/>
                </a:lnTo>
                <a:lnTo>
                  <a:pt x="43910" y="2674048"/>
                </a:lnTo>
                <a:lnTo>
                  <a:pt x="39683" y="2680096"/>
                </a:lnTo>
                <a:lnTo>
                  <a:pt x="38100" y="2687574"/>
                </a:lnTo>
                <a:lnTo>
                  <a:pt x="39683" y="2695051"/>
                </a:lnTo>
                <a:lnTo>
                  <a:pt x="43910" y="2701099"/>
                </a:lnTo>
                <a:lnTo>
                  <a:pt x="49994" y="2705147"/>
                </a:lnTo>
                <a:lnTo>
                  <a:pt x="57150" y="2706624"/>
                </a:lnTo>
                <a:lnTo>
                  <a:pt x="64627" y="2705147"/>
                </a:lnTo>
                <a:lnTo>
                  <a:pt x="70675" y="2701099"/>
                </a:lnTo>
                <a:lnTo>
                  <a:pt x="74723" y="2695051"/>
                </a:lnTo>
                <a:lnTo>
                  <a:pt x="76200" y="2687574"/>
                </a:lnTo>
                <a:close/>
              </a:path>
              <a:path w="114300" h="3219450">
                <a:moveTo>
                  <a:pt x="76200" y="2763774"/>
                </a:moveTo>
                <a:lnTo>
                  <a:pt x="74723" y="2756296"/>
                </a:lnTo>
                <a:lnTo>
                  <a:pt x="70675" y="2750248"/>
                </a:lnTo>
                <a:lnTo>
                  <a:pt x="64627" y="2746200"/>
                </a:lnTo>
                <a:lnTo>
                  <a:pt x="57150" y="2744724"/>
                </a:lnTo>
                <a:lnTo>
                  <a:pt x="49994" y="2746200"/>
                </a:lnTo>
                <a:lnTo>
                  <a:pt x="43910" y="2750248"/>
                </a:lnTo>
                <a:lnTo>
                  <a:pt x="39683" y="2756296"/>
                </a:lnTo>
                <a:lnTo>
                  <a:pt x="38100" y="2763774"/>
                </a:lnTo>
                <a:lnTo>
                  <a:pt x="39683" y="2771251"/>
                </a:lnTo>
                <a:lnTo>
                  <a:pt x="43910" y="2777299"/>
                </a:lnTo>
                <a:lnTo>
                  <a:pt x="49994" y="2781347"/>
                </a:lnTo>
                <a:lnTo>
                  <a:pt x="57150" y="2782824"/>
                </a:lnTo>
                <a:lnTo>
                  <a:pt x="64627" y="2781347"/>
                </a:lnTo>
                <a:lnTo>
                  <a:pt x="70675" y="2777299"/>
                </a:lnTo>
                <a:lnTo>
                  <a:pt x="74723" y="2771251"/>
                </a:lnTo>
                <a:lnTo>
                  <a:pt x="76200" y="2763774"/>
                </a:lnTo>
                <a:close/>
              </a:path>
              <a:path w="114300" h="3219450">
                <a:moveTo>
                  <a:pt x="76200" y="2839974"/>
                </a:moveTo>
                <a:lnTo>
                  <a:pt x="74723" y="2832818"/>
                </a:lnTo>
                <a:lnTo>
                  <a:pt x="70675" y="2826734"/>
                </a:lnTo>
                <a:lnTo>
                  <a:pt x="64627" y="2822507"/>
                </a:lnTo>
                <a:lnTo>
                  <a:pt x="57150" y="2820924"/>
                </a:lnTo>
                <a:lnTo>
                  <a:pt x="49994" y="2822507"/>
                </a:lnTo>
                <a:lnTo>
                  <a:pt x="43910" y="2826734"/>
                </a:lnTo>
                <a:lnTo>
                  <a:pt x="39683" y="2832818"/>
                </a:lnTo>
                <a:lnTo>
                  <a:pt x="38100" y="2839974"/>
                </a:lnTo>
                <a:lnTo>
                  <a:pt x="39683" y="2847451"/>
                </a:lnTo>
                <a:lnTo>
                  <a:pt x="43910" y="2853499"/>
                </a:lnTo>
                <a:lnTo>
                  <a:pt x="49994" y="2857547"/>
                </a:lnTo>
                <a:lnTo>
                  <a:pt x="57150" y="2859024"/>
                </a:lnTo>
                <a:lnTo>
                  <a:pt x="64627" y="2857547"/>
                </a:lnTo>
                <a:lnTo>
                  <a:pt x="70675" y="2853499"/>
                </a:lnTo>
                <a:lnTo>
                  <a:pt x="74723" y="2847451"/>
                </a:lnTo>
                <a:lnTo>
                  <a:pt x="76200" y="2839974"/>
                </a:lnTo>
                <a:close/>
              </a:path>
              <a:path w="114300" h="3219450">
                <a:moveTo>
                  <a:pt x="76200" y="2916174"/>
                </a:moveTo>
                <a:lnTo>
                  <a:pt x="74723" y="2909018"/>
                </a:lnTo>
                <a:lnTo>
                  <a:pt x="70675" y="2902934"/>
                </a:lnTo>
                <a:lnTo>
                  <a:pt x="64627" y="2898707"/>
                </a:lnTo>
                <a:lnTo>
                  <a:pt x="57150" y="2897124"/>
                </a:lnTo>
                <a:lnTo>
                  <a:pt x="49994" y="2898707"/>
                </a:lnTo>
                <a:lnTo>
                  <a:pt x="43910" y="2902934"/>
                </a:lnTo>
                <a:lnTo>
                  <a:pt x="39683" y="2909018"/>
                </a:lnTo>
                <a:lnTo>
                  <a:pt x="38100" y="2916174"/>
                </a:lnTo>
                <a:lnTo>
                  <a:pt x="39683" y="2923651"/>
                </a:lnTo>
                <a:lnTo>
                  <a:pt x="43910" y="2929699"/>
                </a:lnTo>
                <a:lnTo>
                  <a:pt x="49994" y="2933747"/>
                </a:lnTo>
                <a:lnTo>
                  <a:pt x="57150" y="2935224"/>
                </a:lnTo>
                <a:lnTo>
                  <a:pt x="64627" y="2933747"/>
                </a:lnTo>
                <a:lnTo>
                  <a:pt x="70675" y="2929699"/>
                </a:lnTo>
                <a:lnTo>
                  <a:pt x="74723" y="2923651"/>
                </a:lnTo>
                <a:lnTo>
                  <a:pt x="76200" y="2916174"/>
                </a:lnTo>
                <a:close/>
              </a:path>
              <a:path w="114300" h="3219450">
                <a:moveTo>
                  <a:pt x="76200" y="2992374"/>
                </a:moveTo>
                <a:lnTo>
                  <a:pt x="74723" y="2985218"/>
                </a:lnTo>
                <a:lnTo>
                  <a:pt x="70675" y="2979134"/>
                </a:lnTo>
                <a:lnTo>
                  <a:pt x="64627" y="2974907"/>
                </a:lnTo>
                <a:lnTo>
                  <a:pt x="57150" y="2973324"/>
                </a:lnTo>
                <a:lnTo>
                  <a:pt x="49994" y="2974907"/>
                </a:lnTo>
                <a:lnTo>
                  <a:pt x="43910" y="2979134"/>
                </a:lnTo>
                <a:lnTo>
                  <a:pt x="39683" y="2985218"/>
                </a:lnTo>
                <a:lnTo>
                  <a:pt x="38100" y="2992374"/>
                </a:lnTo>
                <a:lnTo>
                  <a:pt x="39683" y="2999851"/>
                </a:lnTo>
                <a:lnTo>
                  <a:pt x="43910" y="3005899"/>
                </a:lnTo>
                <a:lnTo>
                  <a:pt x="49994" y="3009947"/>
                </a:lnTo>
                <a:lnTo>
                  <a:pt x="57150" y="3011424"/>
                </a:lnTo>
                <a:lnTo>
                  <a:pt x="64627" y="3009947"/>
                </a:lnTo>
                <a:lnTo>
                  <a:pt x="70675" y="3005899"/>
                </a:lnTo>
                <a:lnTo>
                  <a:pt x="74723" y="2999851"/>
                </a:lnTo>
                <a:lnTo>
                  <a:pt x="76200" y="2992374"/>
                </a:lnTo>
                <a:close/>
              </a:path>
              <a:path w="114300" h="3219450">
                <a:moveTo>
                  <a:pt x="76200" y="3069336"/>
                </a:moveTo>
                <a:lnTo>
                  <a:pt x="76200" y="3068574"/>
                </a:lnTo>
                <a:lnTo>
                  <a:pt x="74723" y="3061418"/>
                </a:lnTo>
                <a:lnTo>
                  <a:pt x="70675" y="3055334"/>
                </a:lnTo>
                <a:lnTo>
                  <a:pt x="64627" y="3051107"/>
                </a:lnTo>
                <a:lnTo>
                  <a:pt x="57150" y="3049524"/>
                </a:lnTo>
                <a:lnTo>
                  <a:pt x="49994" y="3051107"/>
                </a:lnTo>
                <a:lnTo>
                  <a:pt x="43910" y="3055334"/>
                </a:lnTo>
                <a:lnTo>
                  <a:pt x="39683" y="3061418"/>
                </a:lnTo>
                <a:lnTo>
                  <a:pt x="38100" y="3068574"/>
                </a:lnTo>
                <a:lnTo>
                  <a:pt x="38100" y="3069336"/>
                </a:lnTo>
                <a:lnTo>
                  <a:pt x="39683" y="3076491"/>
                </a:lnTo>
                <a:lnTo>
                  <a:pt x="43910" y="3082575"/>
                </a:lnTo>
                <a:lnTo>
                  <a:pt x="49994" y="3086802"/>
                </a:lnTo>
                <a:lnTo>
                  <a:pt x="57150" y="3088386"/>
                </a:lnTo>
                <a:lnTo>
                  <a:pt x="64627" y="3086802"/>
                </a:lnTo>
                <a:lnTo>
                  <a:pt x="70675" y="3082575"/>
                </a:lnTo>
                <a:lnTo>
                  <a:pt x="74723" y="3076491"/>
                </a:lnTo>
                <a:lnTo>
                  <a:pt x="76200" y="3069336"/>
                </a:lnTo>
                <a:close/>
              </a:path>
              <a:path w="114300" h="3219450">
                <a:moveTo>
                  <a:pt x="114300" y="3105150"/>
                </a:moveTo>
                <a:lnTo>
                  <a:pt x="0" y="3105150"/>
                </a:lnTo>
                <a:lnTo>
                  <a:pt x="57150" y="3219450"/>
                </a:lnTo>
                <a:lnTo>
                  <a:pt x="114300" y="3105150"/>
                </a:lnTo>
                <a:close/>
              </a:path>
            </a:pathLst>
          </a:custGeom>
          <a:solidFill>
            <a:srgbClr val="3333CC"/>
          </a:solidFill>
        </p:spPr>
        <p:txBody>
          <a:bodyPr wrap="square" lIns="0" tIns="0" rIns="0" bIns="0" rtlCol="0"/>
          <a:lstStyle/>
          <a:p>
            <a:endParaRPr/>
          </a:p>
        </p:txBody>
      </p:sp>
      <p:sp>
        <p:nvSpPr>
          <p:cNvPr id="25" name="object 25"/>
          <p:cNvSpPr/>
          <p:nvPr/>
        </p:nvSpPr>
        <p:spPr>
          <a:xfrm>
            <a:off x="4737227" y="5549646"/>
            <a:ext cx="3371850" cy="114300"/>
          </a:xfrm>
          <a:custGeom>
            <a:avLst/>
            <a:gdLst/>
            <a:ahLst/>
            <a:cxnLst/>
            <a:rect l="l" t="t" r="r" b="b"/>
            <a:pathLst>
              <a:path w="3371850" h="114300">
                <a:moveTo>
                  <a:pt x="3371850" y="57149"/>
                </a:moveTo>
                <a:lnTo>
                  <a:pt x="3370373" y="49994"/>
                </a:lnTo>
                <a:lnTo>
                  <a:pt x="3366325" y="43910"/>
                </a:lnTo>
                <a:lnTo>
                  <a:pt x="3360277" y="39683"/>
                </a:lnTo>
                <a:lnTo>
                  <a:pt x="3352800" y="38099"/>
                </a:lnTo>
                <a:lnTo>
                  <a:pt x="3345644" y="39683"/>
                </a:lnTo>
                <a:lnTo>
                  <a:pt x="3339560" y="43910"/>
                </a:lnTo>
                <a:lnTo>
                  <a:pt x="3335333" y="49994"/>
                </a:lnTo>
                <a:lnTo>
                  <a:pt x="3333750" y="57149"/>
                </a:lnTo>
                <a:lnTo>
                  <a:pt x="3335333" y="64627"/>
                </a:lnTo>
                <a:lnTo>
                  <a:pt x="3339560" y="70675"/>
                </a:lnTo>
                <a:lnTo>
                  <a:pt x="3345644" y="74723"/>
                </a:lnTo>
                <a:lnTo>
                  <a:pt x="3352800" y="76199"/>
                </a:lnTo>
                <a:lnTo>
                  <a:pt x="3360277" y="74723"/>
                </a:lnTo>
                <a:lnTo>
                  <a:pt x="3366325" y="70675"/>
                </a:lnTo>
                <a:lnTo>
                  <a:pt x="3370373" y="64627"/>
                </a:lnTo>
                <a:lnTo>
                  <a:pt x="3371850" y="57149"/>
                </a:lnTo>
                <a:close/>
              </a:path>
              <a:path w="3371850" h="114300">
                <a:moveTo>
                  <a:pt x="3295650" y="57149"/>
                </a:moveTo>
                <a:lnTo>
                  <a:pt x="3294173" y="49994"/>
                </a:lnTo>
                <a:lnTo>
                  <a:pt x="3290125" y="43910"/>
                </a:lnTo>
                <a:lnTo>
                  <a:pt x="3284077" y="39683"/>
                </a:lnTo>
                <a:lnTo>
                  <a:pt x="3276600" y="38099"/>
                </a:lnTo>
                <a:lnTo>
                  <a:pt x="3269444" y="39683"/>
                </a:lnTo>
                <a:lnTo>
                  <a:pt x="3263360" y="43910"/>
                </a:lnTo>
                <a:lnTo>
                  <a:pt x="3259133" y="49994"/>
                </a:lnTo>
                <a:lnTo>
                  <a:pt x="3257550" y="57149"/>
                </a:lnTo>
                <a:lnTo>
                  <a:pt x="3259133" y="64627"/>
                </a:lnTo>
                <a:lnTo>
                  <a:pt x="3263360" y="70675"/>
                </a:lnTo>
                <a:lnTo>
                  <a:pt x="3269444" y="74723"/>
                </a:lnTo>
                <a:lnTo>
                  <a:pt x="3276600" y="76199"/>
                </a:lnTo>
                <a:lnTo>
                  <a:pt x="3284077" y="74723"/>
                </a:lnTo>
                <a:lnTo>
                  <a:pt x="3290125" y="70675"/>
                </a:lnTo>
                <a:lnTo>
                  <a:pt x="3294173" y="64627"/>
                </a:lnTo>
                <a:lnTo>
                  <a:pt x="3295650" y="57149"/>
                </a:lnTo>
                <a:close/>
              </a:path>
              <a:path w="3371850" h="114300">
                <a:moveTo>
                  <a:pt x="3219450" y="57149"/>
                </a:moveTo>
                <a:lnTo>
                  <a:pt x="3217973" y="49994"/>
                </a:lnTo>
                <a:lnTo>
                  <a:pt x="3213925" y="43910"/>
                </a:lnTo>
                <a:lnTo>
                  <a:pt x="3207877" y="39683"/>
                </a:lnTo>
                <a:lnTo>
                  <a:pt x="3200400" y="38099"/>
                </a:lnTo>
                <a:lnTo>
                  <a:pt x="3193244" y="39683"/>
                </a:lnTo>
                <a:lnTo>
                  <a:pt x="3187160" y="43910"/>
                </a:lnTo>
                <a:lnTo>
                  <a:pt x="3182933" y="49994"/>
                </a:lnTo>
                <a:lnTo>
                  <a:pt x="3181350" y="57149"/>
                </a:lnTo>
                <a:lnTo>
                  <a:pt x="3182933" y="64627"/>
                </a:lnTo>
                <a:lnTo>
                  <a:pt x="3187160" y="70675"/>
                </a:lnTo>
                <a:lnTo>
                  <a:pt x="3193244" y="74723"/>
                </a:lnTo>
                <a:lnTo>
                  <a:pt x="3200400" y="76199"/>
                </a:lnTo>
                <a:lnTo>
                  <a:pt x="3207877" y="74723"/>
                </a:lnTo>
                <a:lnTo>
                  <a:pt x="3213925" y="70675"/>
                </a:lnTo>
                <a:lnTo>
                  <a:pt x="3217973" y="64627"/>
                </a:lnTo>
                <a:lnTo>
                  <a:pt x="3219450" y="57149"/>
                </a:lnTo>
                <a:close/>
              </a:path>
              <a:path w="3371850" h="114300">
                <a:moveTo>
                  <a:pt x="3143250" y="57149"/>
                </a:moveTo>
                <a:lnTo>
                  <a:pt x="3141773" y="49994"/>
                </a:lnTo>
                <a:lnTo>
                  <a:pt x="3137725" y="43910"/>
                </a:lnTo>
                <a:lnTo>
                  <a:pt x="3131677" y="39683"/>
                </a:lnTo>
                <a:lnTo>
                  <a:pt x="3124200" y="38099"/>
                </a:lnTo>
                <a:lnTo>
                  <a:pt x="3116722" y="39683"/>
                </a:lnTo>
                <a:lnTo>
                  <a:pt x="3110674" y="43910"/>
                </a:lnTo>
                <a:lnTo>
                  <a:pt x="3106626" y="49994"/>
                </a:lnTo>
                <a:lnTo>
                  <a:pt x="3105150" y="57149"/>
                </a:lnTo>
                <a:lnTo>
                  <a:pt x="3106626" y="64627"/>
                </a:lnTo>
                <a:lnTo>
                  <a:pt x="3110674" y="70675"/>
                </a:lnTo>
                <a:lnTo>
                  <a:pt x="3116722" y="74723"/>
                </a:lnTo>
                <a:lnTo>
                  <a:pt x="3124200" y="76199"/>
                </a:lnTo>
                <a:lnTo>
                  <a:pt x="3131677" y="74723"/>
                </a:lnTo>
                <a:lnTo>
                  <a:pt x="3137725" y="70675"/>
                </a:lnTo>
                <a:lnTo>
                  <a:pt x="3141773" y="64627"/>
                </a:lnTo>
                <a:lnTo>
                  <a:pt x="3143250" y="57149"/>
                </a:lnTo>
                <a:close/>
              </a:path>
              <a:path w="3371850" h="114300">
                <a:moveTo>
                  <a:pt x="3067050" y="57149"/>
                </a:moveTo>
                <a:lnTo>
                  <a:pt x="3065573" y="49994"/>
                </a:lnTo>
                <a:lnTo>
                  <a:pt x="3061525" y="43910"/>
                </a:lnTo>
                <a:lnTo>
                  <a:pt x="3055477" y="39683"/>
                </a:lnTo>
                <a:lnTo>
                  <a:pt x="3048000" y="38099"/>
                </a:lnTo>
                <a:lnTo>
                  <a:pt x="3040522" y="39683"/>
                </a:lnTo>
                <a:lnTo>
                  <a:pt x="3034474" y="43910"/>
                </a:lnTo>
                <a:lnTo>
                  <a:pt x="3030426" y="49994"/>
                </a:lnTo>
                <a:lnTo>
                  <a:pt x="3028950" y="57149"/>
                </a:lnTo>
                <a:lnTo>
                  <a:pt x="3030426" y="64627"/>
                </a:lnTo>
                <a:lnTo>
                  <a:pt x="3034474" y="70675"/>
                </a:lnTo>
                <a:lnTo>
                  <a:pt x="3040522" y="74723"/>
                </a:lnTo>
                <a:lnTo>
                  <a:pt x="3048000" y="76199"/>
                </a:lnTo>
                <a:lnTo>
                  <a:pt x="3055477" y="74723"/>
                </a:lnTo>
                <a:lnTo>
                  <a:pt x="3061525" y="70675"/>
                </a:lnTo>
                <a:lnTo>
                  <a:pt x="3065573" y="64627"/>
                </a:lnTo>
                <a:lnTo>
                  <a:pt x="3067050" y="57149"/>
                </a:lnTo>
                <a:close/>
              </a:path>
              <a:path w="3371850" h="114300">
                <a:moveTo>
                  <a:pt x="2990850" y="57149"/>
                </a:moveTo>
                <a:lnTo>
                  <a:pt x="2989373" y="49994"/>
                </a:lnTo>
                <a:lnTo>
                  <a:pt x="2985325" y="43910"/>
                </a:lnTo>
                <a:lnTo>
                  <a:pt x="2979277" y="39683"/>
                </a:lnTo>
                <a:lnTo>
                  <a:pt x="2971800" y="38099"/>
                </a:lnTo>
                <a:lnTo>
                  <a:pt x="2964322" y="39683"/>
                </a:lnTo>
                <a:lnTo>
                  <a:pt x="2958274" y="43910"/>
                </a:lnTo>
                <a:lnTo>
                  <a:pt x="2954226" y="49994"/>
                </a:lnTo>
                <a:lnTo>
                  <a:pt x="2952750" y="57149"/>
                </a:lnTo>
                <a:lnTo>
                  <a:pt x="2954226" y="64627"/>
                </a:lnTo>
                <a:lnTo>
                  <a:pt x="2958274" y="70675"/>
                </a:lnTo>
                <a:lnTo>
                  <a:pt x="2964322" y="74723"/>
                </a:lnTo>
                <a:lnTo>
                  <a:pt x="2971800" y="76199"/>
                </a:lnTo>
                <a:lnTo>
                  <a:pt x="2979277" y="74723"/>
                </a:lnTo>
                <a:lnTo>
                  <a:pt x="2985325" y="70675"/>
                </a:lnTo>
                <a:lnTo>
                  <a:pt x="2989373" y="64627"/>
                </a:lnTo>
                <a:lnTo>
                  <a:pt x="2990850" y="57149"/>
                </a:lnTo>
                <a:close/>
              </a:path>
              <a:path w="3371850" h="114300">
                <a:moveTo>
                  <a:pt x="2914650" y="57149"/>
                </a:moveTo>
                <a:lnTo>
                  <a:pt x="2913173" y="49994"/>
                </a:lnTo>
                <a:lnTo>
                  <a:pt x="2909125" y="43910"/>
                </a:lnTo>
                <a:lnTo>
                  <a:pt x="2903077" y="39683"/>
                </a:lnTo>
                <a:lnTo>
                  <a:pt x="2895600" y="38099"/>
                </a:lnTo>
                <a:lnTo>
                  <a:pt x="2888122" y="39683"/>
                </a:lnTo>
                <a:lnTo>
                  <a:pt x="2882074" y="43910"/>
                </a:lnTo>
                <a:lnTo>
                  <a:pt x="2878026" y="49994"/>
                </a:lnTo>
                <a:lnTo>
                  <a:pt x="2876550" y="57149"/>
                </a:lnTo>
                <a:lnTo>
                  <a:pt x="2878026" y="64627"/>
                </a:lnTo>
                <a:lnTo>
                  <a:pt x="2882074" y="70675"/>
                </a:lnTo>
                <a:lnTo>
                  <a:pt x="2888122" y="74723"/>
                </a:lnTo>
                <a:lnTo>
                  <a:pt x="2895600" y="76199"/>
                </a:lnTo>
                <a:lnTo>
                  <a:pt x="2903077" y="74723"/>
                </a:lnTo>
                <a:lnTo>
                  <a:pt x="2909125" y="70675"/>
                </a:lnTo>
                <a:lnTo>
                  <a:pt x="2913173" y="64627"/>
                </a:lnTo>
                <a:lnTo>
                  <a:pt x="2914650" y="57149"/>
                </a:lnTo>
                <a:close/>
              </a:path>
              <a:path w="3371850" h="114300">
                <a:moveTo>
                  <a:pt x="2838450" y="57149"/>
                </a:moveTo>
                <a:lnTo>
                  <a:pt x="2836973" y="49994"/>
                </a:lnTo>
                <a:lnTo>
                  <a:pt x="2832925" y="43910"/>
                </a:lnTo>
                <a:lnTo>
                  <a:pt x="2826877" y="39683"/>
                </a:lnTo>
                <a:lnTo>
                  <a:pt x="2819400" y="38099"/>
                </a:lnTo>
                <a:lnTo>
                  <a:pt x="2811922" y="39683"/>
                </a:lnTo>
                <a:lnTo>
                  <a:pt x="2805874" y="43910"/>
                </a:lnTo>
                <a:lnTo>
                  <a:pt x="2801826" y="49994"/>
                </a:lnTo>
                <a:lnTo>
                  <a:pt x="2800350" y="57149"/>
                </a:lnTo>
                <a:lnTo>
                  <a:pt x="2801826" y="64627"/>
                </a:lnTo>
                <a:lnTo>
                  <a:pt x="2805874" y="70675"/>
                </a:lnTo>
                <a:lnTo>
                  <a:pt x="2811922" y="74723"/>
                </a:lnTo>
                <a:lnTo>
                  <a:pt x="2819400" y="76199"/>
                </a:lnTo>
                <a:lnTo>
                  <a:pt x="2826877" y="74723"/>
                </a:lnTo>
                <a:lnTo>
                  <a:pt x="2832925" y="70675"/>
                </a:lnTo>
                <a:lnTo>
                  <a:pt x="2836973" y="64627"/>
                </a:lnTo>
                <a:lnTo>
                  <a:pt x="2838450" y="57149"/>
                </a:lnTo>
                <a:close/>
              </a:path>
              <a:path w="3371850" h="114300">
                <a:moveTo>
                  <a:pt x="2762250" y="57149"/>
                </a:moveTo>
                <a:lnTo>
                  <a:pt x="2760773" y="49994"/>
                </a:lnTo>
                <a:lnTo>
                  <a:pt x="2756725" y="43910"/>
                </a:lnTo>
                <a:lnTo>
                  <a:pt x="2750677" y="39683"/>
                </a:lnTo>
                <a:lnTo>
                  <a:pt x="2743200" y="38099"/>
                </a:lnTo>
                <a:lnTo>
                  <a:pt x="2735722" y="39683"/>
                </a:lnTo>
                <a:lnTo>
                  <a:pt x="2729674" y="43910"/>
                </a:lnTo>
                <a:lnTo>
                  <a:pt x="2725626" y="49994"/>
                </a:lnTo>
                <a:lnTo>
                  <a:pt x="2724150" y="57149"/>
                </a:lnTo>
                <a:lnTo>
                  <a:pt x="2725626" y="64627"/>
                </a:lnTo>
                <a:lnTo>
                  <a:pt x="2729674" y="70675"/>
                </a:lnTo>
                <a:lnTo>
                  <a:pt x="2735722" y="74723"/>
                </a:lnTo>
                <a:lnTo>
                  <a:pt x="2743200" y="76199"/>
                </a:lnTo>
                <a:lnTo>
                  <a:pt x="2750677" y="74723"/>
                </a:lnTo>
                <a:lnTo>
                  <a:pt x="2756725" y="70675"/>
                </a:lnTo>
                <a:lnTo>
                  <a:pt x="2760773" y="64627"/>
                </a:lnTo>
                <a:lnTo>
                  <a:pt x="2762250" y="57149"/>
                </a:lnTo>
                <a:close/>
              </a:path>
              <a:path w="3371850" h="114300">
                <a:moveTo>
                  <a:pt x="2686050" y="57149"/>
                </a:moveTo>
                <a:lnTo>
                  <a:pt x="2684573" y="49994"/>
                </a:lnTo>
                <a:lnTo>
                  <a:pt x="2680525" y="43910"/>
                </a:lnTo>
                <a:lnTo>
                  <a:pt x="2674477" y="39683"/>
                </a:lnTo>
                <a:lnTo>
                  <a:pt x="2667000" y="38099"/>
                </a:lnTo>
                <a:lnTo>
                  <a:pt x="2659522" y="39683"/>
                </a:lnTo>
                <a:lnTo>
                  <a:pt x="2653474" y="43910"/>
                </a:lnTo>
                <a:lnTo>
                  <a:pt x="2649426" y="49994"/>
                </a:lnTo>
                <a:lnTo>
                  <a:pt x="2647950" y="57149"/>
                </a:lnTo>
                <a:lnTo>
                  <a:pt x="2649426" y="64627"/>
                </a:lnTo>
                <a:lnTo>
                  <a:pt x="2653474" y="70675"/>
                </a:lnTo>
                <a:lnTo>
                  <a:pt x="2659522" y="74723"/>
                </a:lnTo>
                <a:lnTo>
                  <a:pt x="2667000" y="76199"/>
                </a:lnTo>
                <a:lnTo>
                  <a:pt x="2674477" y="74723"/>
                </a:lnTo>
                <a:lnTo>
                  <a:pt x="2680525" y="70675"/>
                </a:lnTo>
                <a:lnTo>
                  <a:pt x="2684573" y="64627"/>
                </a:lnTo>
                <a:lnTo>
                  <a:pt x="2686050" y="57149"/>
                </a:lnTo>
                <a:close/>
              </a:path>
              <a:path w="3371850" h="114300">
                <a:moveTo>
                  <a:pt x="2609850" y="57149"/>
                </a:moveTo>
                <a:lnTo>
                  <a:pt x="2608373" y="49994"/>
                </a:lnTo>
                <a:lnTo>
                  <a:pt x="2604325" y="43910"/>
                </a:lnTo>
                <a:lnTo>
                  <a:pt x="2598277" y="39683"/>
                </a:lnTo>
                <a:lnTo>
                  <a:pt x="2590800" y="38099"/>
                </a:lnTo>
                <a:lnTo>
                  <a:pt x="2583322" y="39683"/>
                </a:lnTo>
                <a:lnTo>
                  <a:pt x="2577274" y="43910"/>
                </a:lnTo>
                <a:lnTo>
                  <a:pt x="2573226" y="49994"/>
                </a:lnTo>
                <a:lnTo>
                  <a:pt x="2571750" y="57149"/>
                </a:lnTo>
                <a:lnTo>
                  <a:pt x="2573226" y="64627"/>
                </a:lnTo>
                <a:lnTo>
                  <a:pt x="2577274" y="70675"/>
                </a:lnTo>
                <a:lnTo>
                  <a:pt x="2583322" y="74723"/>
                </a:lnTo>
                <a:lnTo>
                  <a:pt x="2590800" y="76199"/>
                </a:lnTo>
                <a:lnTo>
                  <a:pt x="2598277" y="74723"/>
                </a:lnTo>
                <a:lnTo>
                  <a:pt x="2604325" y="70675"/>
                </a:lnTo>
                <a:lnTo>
                  <a:pt x="2608373" y="64627"/>
                </a:lnTo>
                <a:lnTo>
                  <a:pt x="2609850" y="57149"/>
                </a:lnTo>
                <a:close/>
              </a:path>
              <a:path w="3371850" h="114300">
                <a:moveTo>
                  <a:pt x="2533650" y="57149"/>
                </a:moveTo>
                <a:lnTo>
                  <a:pt x="2532173" y="49994"/>
                </a:lnTo>
                <a:lnTo>
                  <a:pt x="2528125" y="43910"/>
                </a:lnTo>
                <a:lnTo>
                  <a:pt x="2522077" y="39683"/>
                </a:lnTo>
                <a:lnTo>
                  <a:pt x="2514600" y="38099"/>
                </a:lnTo>
                <a:lnTo>
                  <a:pt x="2507122" y="39683"/>
                </a:lnTo>
                <a:lnTo>
                  <a:pt x="2501074" y="43910"/>
                </a:lnTo>
                <a:lnTo>
                  <a:pt x="2497026" y="49994"/>
                </a:lnTo>
                <a:lnTo>
                  <a:pt x="2495550" y="57149"/>
                </a:lnTo>
                <a:lnTo>
                  <a:pt x="2497026" y="64627"/>
                </a:lnTo>
                <a:lnTo>
                  <a:pt x="2501074" y="70675"/>
                </a:lnTo>
                <a:lnTo>
                  <a:pt x="2507122" y="74723"/>
                </a:lnTo>
                <a:lnTo>
                  <a:pt x="2514600" y="76199"/>
                </a:lnTo>
                <a:lnTo>
                  <a:pt x="2522077" y="74723"/>
                </a:lnTo>
                <a:lnTo>
                  <a:pt x="2528125" y="70675"/>
                </a:lnTo>
                <a:lnTo>
                  <a:pt x="2532173" y="64627"/>
                </a:lnTo>
                <a:lnTo>
                  <a:pt x="2533650" y="57149"/>
                </a:lnTo>
                <a:close/>
              </a:path>
              <a:path w="3371850" h="114300">
                <a:moveTo>
                  <a:pt x="2457450" y="57149"/>
                </a:moveTo>
                <a:lnTo>
                  <a:pt x="2455973" y="49994"/>
                </a:lnTo>
                <a:lnTo>
                  <a:pt x="2451925" y="43910"/>
                </a:lnTo>
                <a:lnTo>
                  <a:pt x="2445877" y="39683"/>
                </a:lnTo>
                <a:lnTo>
                  <a:pt x="2438400" y="38099"/>
                </a:lnTo>
                <a:lnTo>
                  <a:pt x="2430922" y="39683"/>
                </a:lnTo>
                <a:lnTo>
                  <a:pt x="2424874" y="43910"/>
                </a:lnTo>
                <a:lnTo>
                  <a:pt x="2420826" y="49994"/>
                </a:lnTo>
                <a:lnTo>
                  <a:pt x="2419350" y="57149"/>
                </a:lnTo>
                <a:lnTo>
                  <a:pt x="2420826" y="64627"/>
                </a:lnTo>
                <a:lnTo>
                  <a:pt x="2424874" y="70675"/>
                </a:lnTo>
                <a:lnTo>
                  <a:pt x="2430922" y="74723"/>
                </a:lnTo>
                <a:lnTo>
                  <a:pt x="2438400" y="76199"/>
                </a:lnTo>
                <a:lnTo>
                  <a:pt x="2445877" y="74723"/>
                </a:lnTo>
                <a:lnTo>
                  <a:pt x="2451925" y="70675"/>
                </a:lnTo>
                <a:lnTo>
                  <a:pt x="2455973" y="64627"/>
                </a:lnTo>
                <a:lnTo>
                  <a:pt x="2457450" y="57149"/>
                </a:lnTo>
                <a:close/>
              </a:path>
              <a:path w="3371850" h="114300">
                <a:moveTo>
                  <a:pt x="2381250" y="57149"/>
                </a:moveTo>
                <a:lnTo>
                  <a:pt x="2379773" y="49994"/>
                </a:lnTo>
                <a:lnTo>
                  <a:pt x="2375725" y="43910"/>
                </a:lnTo>
                <a:lnTo>
                  <a:pt x="2369677" y="39683"/>
                </a:lnTo>
                <a:lnTo>
                  <a:pt x="2362200" y="38099"/>
                </a:lnTo>
                <a:lnTo>
                  <a:pt x="2354722" y="39683"/>
                </a:lnTo>
                <a:lnTo>
                  <a:pt x="2348674" y="43910"/>
                </a:lnTo>
                <a:lnTo>
                  <a:pt x="2344626" y="49994"/>
                </a:lnTo>
                <a:lnTo>
                  <a:pt x="2343150" y="57149"/>
                </a:lnTo>
                <a:lnTo>
                  <a:pt x="2344626" y="64627"/>
                </a:lnTo>
                <a:lnTo>
                  <a:pt x="2348674" y="70675"/>
                </a:lnTo>
                <a:lnTo>
                  <a:pt x="2354722" y="74723"/>
                </a:lnTo>
                <a:lnTo>
                  <a:pt x="2362200" y="76199"/>
                </a:lnTo>
                <a:lnTo>
                  <a:pt x="2369677" y="74723"/>
                </a:lnTo>
                <a:lnTo>
                  <a:pt x="2375725" y="70675"/>
                </a:lnTo>
                <a:lnTo>
                  <a:pt x="2379773" y="64627"/>
                </a:lnTo>
                <a:lnTo>
                  <a:pt x="2381250" y="57149"/>
                </a:lnTo>
                <a:close/>
              </a:path>
              <a:path w="3371850" h="114300">
                <a:moveTo>
                  <a:pt x="2305050" y="57149"/>
                </a:moveTo>
                <a:lnTo>
                  <a:pt x="2303573" y="49994"/>
                </a:lnTo>
                <a:lnTo>
                  <a:pt x="2299525" y="43910"/>
                </a:lnTo>
                <a:lnTo>
                  <a:pt x="2293477" y="39683"/>
                </a:lnTo>
                <a:lnTo>
                  <a:pt x="2286000" y="38099"/>
                </a:lnTo>
                <a:lnTo>
                  <a:pt x="2278522" y="39683"/>
                </a:lnTo>
                <a:lnTo>
                  <a:pt x="2272474" y="43910"/>
                </a:lnTo>
                <a:lnTo>
                  <a:pt x="2268426" y="49994"/>
                </a:lnTo>
                <a:lnTo>
                  <a:pt x="2266950" y="57149"/>
                </a:lnTo>
                <a:lnTo>
                  <a:pt x="2268426" y="64627"/>
                </a:lnTo>
                <a:lnTo>
                  <a:pt x="2272474" y="70675"/>
                </a:lnTo>
                <a:lnTo>
                  <a:pt x="2278522" y="74723"/>
                </a:lnTo>
                <a:lnTo>
                  <a:pt x="2286000" y="76199"/>
                </a:lnTo>
                <a:lnTo>
                  <a:pt x="2293477" y="74723"/>
                </a:lnTo>
                <a:lnTo>
                  <a:pt x="2299525" y="70675"/>
                </a:lnTo>
                <a:lnTo>
                  <a:pt x="2303573" y="64627"/>
                </a:lnTo>
                <a:lnTo>
                  <a:pt x="2305050" y="57149"/>
                </a:lnTo>
                <a:close/>
              </a:path>
              <a:path w="3371850" h="114300">
                <a:moveTo>
                  <a:pt x="2228850" y="57149"/>
                </a:moveTo>
                <a:lnTo>
                  <a:pt x="2227373" y="49994"/>
                </a:lnTo>
                <a:lnTo>
                  <a:pt x="2223325" y="43910"/>
                </a:lnTo>
                <a:lnTo>
                  <a:pt x="2217277" y="39683"/>
                </a:lnTo>
                <a:lnTo>
                  <a:pt x="2209800" y="38099"/>
                </a:lnTo>
                <a:lnTo>
                  <a:pt x="2202322" y="39683"/>
                </a:lnTo>
                <a:lnTo>
                  <a:pt x="2196274" y="43910"/>
                </a:lnTo>
                <a:lnTo>
                  <a:pt x="2192226" y="49994"/>
                </a:lnTo>
                <a:lnTo>
                  <a:pt x="2190750" y="57149"/>
                </a:lnTo>
                <a:lnTo>
                  <a:pt x="2192226" y="64627"/>
                </a:lnTo>
                <a:lnTo>
                  <a:pt x="2196274" y="70675"/>
                </a:lnTo>
                <a:lnTo>
                  <a:pt x="2202322" y="74723"/>
                </a:lnTo>
                <a:lnTo>
                  <a:pt x="2209800" y="76199"/>
                </a:lnTo>
                <a:lnTo>
                  <a:pt x="2217277" y="74723"/>
                </a:lnTo>
                <a:lnTo>
                  <a:pt x="2223325" y="70675"/>
                </a:lnTo>
                <a:lnTo>
                  <a:pt x="2227373" y="64627"/>
                </a:lnTo>
                <a:lnTo>
                  <a:pt x="2228850" y="57149"/>
                </a:lnTo>
                <a:close/>
              </a:path>
              <a:path w="3371850" h="114300">
                <a:moveTo>
                  <a:pt x="2152650" y="57149"/>
                </a:moveTo>
                <a:lnTo>
                  <a:pt x="2151066" y="49994"/>
                </a:lnTo>
                <a:lnTo>
                  <a:pt x="2146839" y="43910"/>
                </a:lnTo>
                <a:lnTo>
                  <a:pt x="2140755" y="39683"/>
                </a:lnTo>
                <a:lnTo>
                  <a:pt x="2133600" y="38099"/>
                </a:lnTo>
                <a:lnTo>
                  <a:pt x="2126122" y="39683"/>
                </a:lnTo>
                <a:lnTo>
                  <a:pt x="2120074" y="43910"/>
                </a:lnTo>
                <a:lnTo>
                  <a:pt x="2116026" y="49994"/>
                </a:lnTo>
                <a:lnTo>
                  <a:pt x="2114550" y="57149"/>
                </a:lnTo>
                <a:lnTo>
                  <a:pt x="2116026" y="64627"/>
                </a:lnTo>
                <a:lnTo>
                  <a:pt x="2120074" y="70675"/>
                </a:lnTo>
                <a:lnTo>
                  <a:pt x="2126122" y="74723"/>
                </a:lnTo>
                <a:lnTo>
                  <a:pt x="2133600" y="76199"/>
                </a:lnTo>
                <a:lnTo>
                  <a:pt x="2140755" y="74723"/>
                </a:lnTo>
                <a:lnTo>
                  <a:pt x="2146839" y="70675"/>
                </a:lnTo>
                <a:lnTo>
                  <a:pt x="2151066" y="64627"/>
                </a:lnTo>
                <a:lnTo>
                  <a:pt x="2152650" y="57149"/>
                </a:lnTo>
                <a:close/>
              </a:path>
              <a:path w="3371850" h="114300">
                <a:moveTo>
                  <a:pt x="2076450" y="57149"/>
                </a:moveTo>
                <a:lnTo>
                  <a:pt x="2074866" y="49994"/>
                </a:lnTo>
                <a:lnTo>
                  <a:pt x="2070639" y="43910"/>
                </a:lnTo>
                <a:lnTo>
                  <a:pt x="2064555" y="39683"/>
                </a:lnTo>
                <a:lnTo>
                  <a:pt x="2057400" y="38099"/>
                </a:lnTo>
                <a:lnTo>
                  <a:pt x="2049922" y="39683"/>
                </a:lnTo>
                <a:lnTo>
                  <a:pt x="2043874" y="43910"/>
                </a:lnTo>
                <a:lnTo>
                  <a:pt x="2039826" y="49994"/>
                </a:lnTo>
                <a:lnTo>
                  <a:pt x="2038350" y="57149"/>
                </a:lnTo>
                <a:lnTo>
                  <a:pt x="2039826" y="64627"/>
                </a:lnTo>
                <a:lnTo>
                  <a:pt x="2043874" y="70675"/>
                </a:lnTo>
                <a:lnTo>
                  <a:pt x="2049922" y="74723"/>
                </a:lnTo>
                <a:lnTo>
                  <a:pt x="2057400" y="76199"/>
                </a:lnTo>
                <a:lnTo>
                  <a:pt x="2064555" y="74723"/>
                </a:lnTo>
                <a:lnTo>
                  <a:pt x="2070639" y="70675"/>
                </a:lnTo>
                <a:lnTo>
                  <a:pt x="2074866" y="64627"/>
                </a:lnTo>
                <a:lnTo>
                  <a:pt x="2076450" y="57149"/>
                </a:lnTo>
                <a:close/>
              </a:path>
              <a:path w="3371850" h="114300">
                <a:moveTo>
                  <a:pt x="2000250" y="57149"/>
                </a:moveTo>
                <a:lnTo>
                  <a:pt x="1998666" y="49994"/>
                </a:lnTo>
                <a:lnTo>
                  <a:pt x="1994439" y="43910"/>
                </a:lnTo>
                <a:lnTo>
                  <a:pt x="1988355" y="39683"/>
                </a:lnTo>
                <a:lnTo>
                  <a:pt x="1981200" y="38099"/>
                </a:lnTo>
                <a:lnTo>
                  <a:pt x="1973722" y="39683"/>
                </a:lnTo>
                <a:lnTo>
                  <a:pt x="1967674" y="43910"/>
                </a:lnTo>
                <a:lnTo>
                  <a:pt x="1963626" y="49994"/>
                </a:lnTo>
                <a:lnTo>
                  <a:pt x="1962150" y="57149"/>
                </a:lnTo>
                <a:lnTo>
                  <a:pt x="1963626" y="64627"/>
                </a:lnTo>
                <a:lnTo>
                  <a:pt x="1967674" y="70675"/>
                </a:lnTo>
                <a:lnTo>
                  <a:pt x="1973722" y="74723"/>
                </a:lnTo>
                <a:lnTo>
                  <a:pt x="1981200" y="76199"/>
                </a:lnTo>
                <a:lnTo>
                  <a:pt x="1988355" y="74723"/>
                </a:lnTo>
                <a:lnTo>
                  <a:pt x="1994439" y="70675"/>
                </a:lnTo>
                <a:lnTo>
                  <a:pt x="1998666" y="64627"/>
                </a:lnTo>
                <a:lnTo>
                  <a:pt x="2000250" y="57149"/>
                </a:lnTo>
                <a:close/>
              </a:path>
              <a:path w="3371850" h="114300">
                <a:moveTo>
                  <a:pt x="1924050" y="57149"/>
                </a:moveTo>
                <a:lnTo>
                  <a:pt x="1922466" y="49994"/>
                </a:lnTo>
                <a:lnTo>
                  <a:pt x="1918239" y="43910"/>
                </a:lnTo>
                <a:lnTo>
                  <a:pt x="1912155" y="39683"/>
                </a:lnTo>
                <a:lnTo>
                  <a:pt x="1905000" y="38099"/>
                </a:lnTo>
                <a:lnTo>
                  <a:pt x="1904238" y="38099"/>
                </a:lnTo>
                <a:lnTo>
                  <a:pt x="1897082" y="39683"/>
                </a:lnTo>
                <a:lnTo>
                  <a:pt x="1890998" y="43910"/>
                </a:lnTo>
                <a:lnTo>
                  <a:pt x="1886771" y="49994"/>
                </a:lnTo>
                <a:lnTo>
                  <a:pt x="1885188" y="57149"/>
                </a:lnTo>
                <a:lnTo>
                  <a:pt x="1886771" y="64627"/>
                </a:lnTo>
                <a:lnTo>
                  <a:pt x="1890998" y="70675"/>
                </a:lnTo>
                <a:lnTo>
                  <a:pt x="1897082" y="74723"/>
                </a:lnTo>
                <a:lnTo>
                  <a:pt x="1904238" y="76199"/>
                </a:lnTo>
                <a:lnTo>
                  <a:pt x="1905000" y="76199"/>
                </a:lnTo>
                <a:lnTo>
                  <a:pt x="1912155" y="74723"/>
                </a:lnTo>
                <a:lnTo>
                  <a:pt x="1918239" y="70675"/>
                </a:lnTo>
                <a:lnTo>
                  <a:pt x="1922466" y="64627"/>
                </a:lnTo>
                <a:lnTo>
                  <a:pt x="1924050" y="57149"/>
                </a:lnTo>
                <a:close/>
              </a:path>
              <a:path w="3371850" h="114300">
                <a:moveTo>
                  <a:pt x="1847088" y="57149"/>
                </a:moveTo>
                <a:lnTo>
                  <a:pt x="1845611" y="49994"/>
                </a:lnTo>
                <a:lnTo>
                  <a:pt x="1841563" y="43910"/>
                </a:lnTo>
                <a:lnTo>
                  <a:pt x="1835515" y="39683"/>
                </a:lnTo>
                <a:lnTo>
                  <a:pt x="1828038" y="38099"/>
                </a:lnTo>
                <a:lnTo>
                  <a:pt x="1820882" y="39683"/>
                </a:lnTo>
                <a:lnTo>
                  <a:pt x="1814798" y="43910"/>
                </a:lnTo>
                <a:lnTo>
                  <a:pt x="1810571" y="49994"/>
                </a:lnTo>
                <a:lnTo>
                  <a:pt x="1808988" y="57149"/>
                </a:lnTo>
                <a:lnTo>
                  <a:pt x="1810571" y="64627"/>
                </a:lnTo>
                <a:lnTo>
                  <a:pt x="1814798" y="70675"/>
                </a:lnTo>
                <a:lnTo>
                  <a:pt x="1820882" y="74723"/>
                </a:lnTo>
                <a:lnTo>
                  <a:pt x="1828038" y="76199"/>
                </a:lnTo>
                <a:lnTo>
                  <a:pt x="1835515" y="74723"/>
                </a:lnTo>
                <a:lnTo>
                  <a:pt x="1841563" y="70675"/>
                </a:lnTo>
                <a:lnTo>
                  <a:pt x="1845611" y="64627"/>
                </a:lnTo>
                <a:lnTo>
                  <a:pt x="1847088" y="57149"/>
                </a:lnTo>
                <a:close/>
              </a:path>
              <a:path w="3371850" h="114300">
                <a:moveTo>
                  <a:pt x="1770888" y="57149"/>
                </a:moveTo>
                <a:lnTo>
                  <a:pt x="1769411" y="49994"/>
                </a:lnTo>
                <a:lnTo>
                  <a:pt x="1765363" y="43910"/>
                </a:lnTo>
                <a:lnTo>
                  <a:pt x="1759315" y="39683"/>
                </a:lnTo>
                <a:lnTo>
                  <a:pt x="1751838" y="38099"/>
                </a:lnTo>
                <a:lnTo>
                  <a:pt x="1744682" y="39683"/>
                </a:lnTo>
                <a:lnTo>
                  <a:pt x="1738598" y="43910"/>
                </a:lnTo>
                <a:lnTo>
                  <a:pt x="1734371" y="49994"/>
                </a:lnTo>
                <a:lnTo>
                  <a:pt x="1732788" y="57149"/>
                </a:lnTo>
                <a:lnTo>
                  <a:pt x="1734371" y="64627"/>
                </a:lnTo>
                <a:lnTo>
                  <a:pt x="1738598" y="70675"/>
                </a:lnTo>
                <a:lnTo>
                  <a:pt x="1744682" y="74723"/>
                </a:lnTo>
                <a:lnTo>
                  <a:pt x="1751838" y="76199"/>
                </a:lnTo>
                <a:lnTo>
                  <a:pt x="1759315" y="74723"/>
                </a:lnTo>
                <a:lnTo>
                  <a:pt x="1765363" y="70675"/>
                </a:lnTo>
                <a:lnTo>
                  <a:pt x="1769411" y="64627"/>
                </a:lnTo>
                <a:lnTo>
                  <a:pt x="1770888" y="57149"/>
                </a:lnTo>
                <a:close/>
              </a:path>
              <a:path w="3371850" h="114300">
                <a:moveTo>
                  <a:pt x="1694688" y="57149"/>
                </a:moveTo>
                <a:lnTo>
                  <a:pt x="1693211" y="49994"/>
                </a:lnTo>
                <a:lnTo>
                  <a:pt x="1689163" y="43910"/>
                </a:lnTo>
                <a:lnTo>
                  <a:pt x="1683115" y="39683"/>
                </a:lnTo>
                <a:lnTo>
                  <a:pt x="1675638" y="38099"/>
                </a:lnTo>
                <a:lnTo>
                  <a:pt x="1668482" y="39683"/>
                </a:lnTo>
                <a:lnTo>
                  <a:pt x="1662398" y="43910"/>
                </a:lnTo>
                <a:lnTo>
                  <a:pt x="1658171" y="49994"/>
                </a:lnTo>
                <a:lnTo>
                  <a:pt x="1656588" y="57149"/>
                </a:lnTo>
                <a:lnTo>
                  <a:pt x="1658171" y="64627"/>
                </a:lnTo>
                <a:lnTo>
                  <a:pt x="1662398" y="70675"/>
                </a:lnTo>
                <a:lnTo>
                  <a:pt x="1668482" y="74723"/>
                </a:lnTo>
                <a:lnTo>
                  <a:pt x="1675638" y="76199"/>
                </a:lnTo>
                <a:lnTo>
                  <a:pt x="1683115" y="74723"/>
                </a:lnTo>
                <a:lnTo>
                  <a:pt x="1689163" y="70675"/>
                </a:lnTo>
                <a:lnTo>
                  <a:pt x="1693211" y="64627"/>
                </a:lnTo>
                <a:lnTo>
                  <a:pt x="1694688" y="57149"/>
                </a:lnTo>
                <a:close/>
              </a:path>
              <a:path w="3371850" h="114300">
                <a:moveTo>
                  <a:pt x="1618488" y="57149"/>
                </a:moveTo>
                <a:lnTo>
                  <a:pt x="1617011" y="49994"/>
                </a:lnTo>
                <a:lnTo>
                  <a:pt x="1612963" y="43910"/>
                </a:lnTo>
                <a:lnTo>
                  <a:pt x="1606915" y="39683"/>
                </a:lnTo>
                <a:lnTo>
                  <a:pt x="1599438" y="38099"/>
                </a:lnTo>
                <a:lnTo>
                  <a:pt x="1591960" y="39683"/>
                </a:lnTo>
                <a:lnTo>
                  <a:pt x="1585912" y="43910"/>
                </a:lnTo>
                <a:lnTo>
                  <a:pt x="1581864" y="49994"/>
                </a:lnTo>
                <a:lnTo>
                  <a:pt x="1580388" y="57149"/>
                </a:lnTo>
                <a:lnTo>
                  <a:pt x="1581864" y="64627"/>
                </a:lnTo>
                <a:lnTo>
                  <a:pt x="1585912" y="70675"/>
                </a:lnTo>
                <a:lnTo>
                  <a:pt x="1591960" y="74723"/>
                </a:lnTo>
                <a:lnTo>
                  <a:pt x="1599438" y="76199"/>
                </a:lnTo>
                <a:lnTo>
                  <a:pt x="1606915" y="74723"/>
                </a:lnTo>
                <a:lnTo>
                  <a:pt x="1612963" y="70675"/>
                </a:lnTo>
                <a:lnTo>
                  <a:pt x="1617011" y="64627"/>
                </a:lnTo>
                <a:lnTo>
                  <a:pt x="1618488" y="57149"/>
                </a:lnTo>
                <a:close/>
              </a:path>
              <a:path w="3371850" h="114300">
                <a:moveTo>
                  <a:pt x="1542288" y="57149"/>
                </a:moveTo>
                <a:lnTo>
                  <a:pt x="1540811" y="49994"/>
                </a:lnTo>
                <a:lnTo>
                  <a:pt x="1536763" y="43910"/>
                </a:lnTo>
                <a:lnTo>
                  <a:pt x="1530715" y="39683"/>
                </a:lnTo>
                <a:lnTo>
                  <a:pt x="1523238" y="38099"/>
                </a:lnTo>
                <a:lnTo>
                  <a:pt x="1515760" y="39683"/>
                </a:lnTo>
                <a:lnTo>
                  <a:pt x="1509712" y="43910"/>
                </a:lnTo>
                <a:lnTo>
                  <a:pt x="1505664" y="49994"/>
                </a:lnTo>
                <a:lnTo>
                  <a:pt x="1504188" y="57149"/>
                </a:lnTo>
                <a:lnTo>
                  <a:pt x="1505664" y="64627"/>
                </a:lnTo>
                <a:lnTo>
                  <a:pt x="1509712" y="70675"/>
                </a:lnTo>
                <a:lnTo>
                  <a:pt x="1515760" y="74723"/>
                </a:lnTo>
                <a:lnTo>
                  <a:pt x="1523238" y="76199"/>
                </a:lnTo>
                <a:lnTo>
                  <a:pt x="1530715" y="74723"/>
                </a:lnTo>
                <a:lnTo>
                  <a:pt x="1536763" y="70675"/>
                </a:lnTo>
                <a:lnTo>
                  <a:pt x="1540811" y="64627"/>
                </a:lnTo>
                <a:lnTo>
                  <a:pt x="1542288" y="57149"/>
                </a:lnTo>
                <a:close/>
              </a:path>
              <a:path w="3371850" h="114300">
                <a:moveTo>
                  <a:pt x="1466088" y="57149"/>
                </a:moveTo>
                <a:lnTo>
                  <a:pt x="1464611" y="49994"/>
                </a:lnTo>
                <a:lnTo>
                  <a:pt x="1460563" y="43910"/>
                </a:lnTo>
                <a:lnTo>
                  <a:pt x="1454515" y="39683"/>
                </a:lnTo>
                <a:lnTo>
                  <a:pt x="1447038" y="38099"/>
                </a:lnTo>
                <a:lnTo>
                  <a:pt x="1439560" y="39683"/>
                </a:lnTo>
                <a:lnTo>
                  <a:pt x="1433512" y="43910"/>
                </a:lnTo>
                <a:lnTo>
                  <a:pt x="1429464" y="49994"/>
                </a:lnTo>
                <a:lnTo>
                  <a:pt x="1427988" y="57149"/>
                </a:lnTo>
                <a:lnTo>
                  <a:pt x="1429464" y="64627"/>
                </a:lnTo>
                <a:lnTo>
                  <a:pt x="1433512" y="70675"/>
                </a:lnTo>
                <a:lnTo>
                  <a:pt x="1439560" y="74723"/>
                </a:lnTo>
                <a:lnTo>
                  <a:pt x="1447038" y="76199"/>
                </a:lnTo>
                <a:lnTo>
                  <a:pt x="1454515" y="74723"/>
                </a:lnTo>
                <a:lnTo>
                  <a:pt x="1460563" y="70675"/>
                </a:lnTo>
                <a:lnTo>
                  <a:pt x="1464611" y="64627"/>
                </a:lnTo>
                <a:lnTo>
                  <a:pt x="1466088" y="57149"/>
                </a:lnTo>
                <a:close/>
              </a:path>
              <a:path w="3371850" h="114300">
                <a:moveTo>
                  <a:pt x="1389888" y="57149"/>
                </a:moveTo>
                <a:lnTo>
                  <a:pt x="1388411" y="49994"/>
                </a:lnTo>
                <a:lnTo>
                  <a:pt x="1384363" y="43910"/>
                </a:lnTo>
                <a:lnTo>
                  <a:pt x="1378315" y="39683"/>
                </a:lnTo>
                <a:lnTo>
                  <a:pt x="1370838" y="38099"/>
                </a:lnTo>
                <a:lnTo>
                  <a:pt x="1363360" y="39683"/>
                </a:lnTo>
                <a:lnTo>
                  <a:pt x="1357312" y="43910"/>
                </a:lnTo>
                <a:lnTo>
                  <a:pt x="1353264" y="49994"/>
                </a:lnTo>
                <a:lnTo>
                  <a:pt x="1351788" y="57149"/>
                </a:lnTo>
                <a:lnTo>
                  <a:pt x="1353264" y="64627"/>
                </a:lnTo>
                <a:lnTo>
                  <a:pt x="1357312" y="70675"/>
                </a:lnTo>
                <a:lnTo>
                  <a:pt x="1363360" y="74723"/>
                </a:lnTo>
                <a:lnTo>
                  <a:pt x="1370838" y="76199"/>
                </a:lnTo>
                <a:lnTo>
                  <a:pt x="1378315" y="74723"/>
                </a:lnTo>
                <a:lnTo>
                  <a:pt x="1384363" y="70675"/>
                </a:lnTo>
                <a:lnTo>
                  <a:pt x="1388411" y="64627"/>
                </a:lnTo>
                <a:lnTo>
                  <a:pt x="1389888" y="57149"/>
                </a:lnTo>
                <a:close/>
              </a:path>
              <a:path w="3371850" h="114300">
                <a:moveTo>
                  <a:pt x="1313688" y="57149"/>
                </a:moveTo>
                <a:lnTo>
                  <a:pt x="1312211" y="49994"/>
                </a:lnTo>
                <a:lnTo>
                  <a:pt x="1308163" y="43910"/>
                </a:lnTo>
                <a:lnTo>
                  <a:pt x="1302115" y="39683"/>
                </a:lnTo>
                <a:lnTo>
                  <a:pt x="1294638" y="38099"/>
                </a:lnTo>
                <a:lnTo>
                  <a:pt x="1287160" y="39683"/>
                </a:lnTo>
                <a:lnTo>
                  <a:pt x="1281112" y="43910"/>
                </a:lnTo>
                <a:lnTo>
                  <a:pt x="1277064" y="49994"/>
                </a:lnTo>
                <a:lnTo>
                  <a:pt x="1275588" y="57149"/>
                </a:lnTo>
                <a:lnTo>
                  <a:pt x="1277064" y="64627"/>
                </a:lnTo>
                <a:lnTo>
                  <a:pt x="1281112" y="70675"/>
                </a:lnTo>
                <a:lnTo>
                  <a:pt x="1287160" y="74723"/>
                </a:lnTo>
                <a:lnTo>
                  <a:pt x="1294638" y="76199"/>
                </a:lnTo>
                <a:lnTo>
                  <a:pt x="1302115" y="74723"/>
                </a:lnTo>
                <a:lnTo>
                  <a:pt x="1308163" y="70675"/>
                </a:lnTo>
                <a:lnTo>
                  <a:pt x="1312211" y="64627"/>
                </a:lnTo>
                <a:lnTo>
                  <a:pt x="1313688" y="57149"/>
                </a:lnTo>
                <a:close/>
              </a:path>
              <a:path w="3371850" h="114300">
                <a:moveTo>
                  <a:pt x="1237488" y="57149"/>
                </a:moveTo>
                <a:lnTo>
                  <a:pt x="1236011" y="49994"/>
                </a:lnTo>
                <a:lnTo>
                  <a:pt x="1231963" y="43910"/>
                </a:lnTo>
                <a:lnTo>
                  <a:pt x="1225915" y="39683"/>
                </a:lnTo>
                <a:lnTo>
                  <a:pt x="1218438" y="38099"/>
                </a:lnTo>
                <a:lnTo>
                  <a:pt x="1210960" y="39683"/>
                </a:lnTo>
                <a:lnTo>
                  <a:pt x="1204912" y="43910"/>
                </a:lnTo>
                <a:lnTo>
                  <a:pt x="1200864" y="49994"/>
                </a:lnTo>
                <a:lnTo>
                  <a:pt x="1199388" y="57149"/>
                </a:lnTo>
                <a:lnTo>
                  <a:pt x="1200864" y="64627"/>
                </a:lnTo>
                <a:lnTo>
                  <a:pt x="1204912" y="70675"/>
                </a:lnTo>
                <a:lnTo>
                  <a:pt x="1210960" y="74723"/>
                </a:lnTo>
                <a:lnTo>
                  <a:pt x="1218438" y="76199"/>
                </a:lnTo>
                <a:lnTo>
                  <a:pt x="1225915" y="74723"/>
                </a:lnTo>
                <a:lnTo>
                  <a:pt x="1231963" y="70675"/>
                </a:lnTo>
                <a:lnTo>
                  <a:pt x="1236011" y="64627"/>
                </a:lnTo>
                <a:lnTo>
                  <a:pt x="1237488" y="57149"/>
                </a:lnTo>
                <a:close/>
              </a:path>
              <a:path w="3371850" h="114300">
                <a:moveTo>
                  <a:pt x="1161288" y="57149"/>
                </a:moveTo>
                <a:lnTo>
                  <a:pt x="1159811" y="49994"/>
                </a:lnTo>
                <a:lnTo>
                  <a:pt x="1155763" y="43910"/>
                </a:lnTo>
                <a:lnTo>
                  <a:pt x="1149715" y="39683"/>
                </a:lnTo>
                <a:lnTo>
                  <a:pt x="1142238" y="38099"/>
                </a:lnTo>
                <a:lnTo>
                  <a:pt x="1134760" y="39683"/>
                </a:lnTo>
                <a:lnTo>
                  <a:pt x="1128712" y="43910"/>
                </a:lnTo>
                <a:lnTo>
                  <a:pt x="1124664" y="49994"/>
                </a:lnTo>
                <a:lnTo>
                  <a:pt x="1123188" y="57149"/>
                </a:lnTo>
                <a:lnTo>
                  <a:pt x="1124664" y="64627"/>
                </a:lnTo>
                <a:lnTo>
                  <a:pt x="1128712" y="70675"/>
                </a:lnTo>
                <a:lnTo>
                  <a:pt x="1134760" y="74723"/>
                </a:lnTo>
                <a:lnTo>
                  <a:pt x="1142238" y="76199"/>
                </a:lnTo>
                <a:lnTo>
                  <a:pt x="1149715" y="74723"/>
                </a:lnTo>
                <a:lnTo>
                  <a:pt x="1155763" y="70675"/>
                </a:lnTo>
                <a:lnTo>
                  <a:pt x="1159811" y="64627"/>
                </a:lnTo>
                <a:lnTo>
                  <a:pt x="1161288" y="57149"/>
                </a:lnTo>
                <a:close/>
              </a:path>
              <a:path w="3371850" h="114300">
                <a:moveTo>
                  <a:pt x="1085088" y="57149"/>
                </a:moveTo>
                <a:lnTo>
                  <a:pt x="1083611" y="49994"/>
                </a:lnTo>
                <a:lnTo>
                  <a:pt x="1079563" y="43910"/>
                </a:lnTo>
                <a:lnTo>
                  <a:pt x="1073515" y="39683"/>
                </a:lnTo>
                <a:lnTo>
                  <a:pt x="1066038" y="38099"/>
                </a:lnTo>
                <a:lnTo>
                  <a:pt x="1058560" y="39683"/>
                </a:lnTo>
                <a:lnTo>
                  <a:pt x="1052512" y="43910"/>
                </a:lnTo>
                <a:lnTo>
                  <a:pt x="1048464" y="49994"/>
                </a:lnTo>
                <a:lnTo>
                  <a:pt x="1046988" y="57149"/>
                </a:lnTo>
                <a:lnTo>
                  <a:pt x="1048464" y="64627"/>
                </a:lnTo>
                <a:lnTo>
                  <a:pt x="1052512" y="70675"/>
                </a:lnTo>
                <a:lnTo>
                  <a:pt x="1058560" y="74723"/>
                </a:lnTo>
                <a:lnTo>
                  <a:pt x="1066038" y="76199"/>
                </a:lnTo>
                <a:lnTo>
                  <a:pt x="1073515" y="74723"/>
                </a:lnTo>
                <a:lnTo>
                  <a:pt x="1079563" y="70675"/>
                </a:lnTo>
                <a:lnTo>
                  <a:pt x="1083611" y="64627"/>
                </a:lnTo>
                <a:lnTo>
                  <a:pt x="1085088" y="57149"/>
                </a:lnTo>
                <a:close/>
              </a:path>
              <a:path w="3371850" h="114300">
                <a:moveTo>
                  <a:pt x="1008888" y="57149"/>
                </a:moveTo>
                <a:lnTo>
                  <a:pt x="1007411" y="49994"/>
                </a:lnTo>
                <a:lnTo>
                  <a:pt x="1003363" y="43910"/>
                </a:lnTo>
                <a:lnTo>
                  <a:pt x="997315" y="39683"/>
                </a:lnTo>
                <a:lnTo>
                  <a:pt x="989838" y="38099"/>
                </a:lnTo>
                <a:lnTo>
                  <a:pt x="982360" y="39683"/>
                </a:lnTo>
                <a:lnTo>
                  <a:pt x="976312" y="43910"/>
                </a:lnTo>
                <a:lnTo>
                  <a:pt x="972264" y="49994"/>
                </a:lnTo>
                <a:lnTo>
                  <a:pt x="970788" y="57149"/>
                </a:lnTo>
                <a:lnTo>
                  <a:pt x="972264" y="64627"/>
                </a:lnTo>
                <a:lnTo>
                  <a:pt x="976312" y="70675"/>
                </a:lnTo>
                <a:lnTo>
                  <a:pt x="982360" y="74723"/>
                </a:lnTo>
                <a:lnTo>
                  <a:pt x="989838" y="76199"/>
                </a:lnTo>
                <a:lnTo>
                  <a:pt x="997315" y="74723"/>
                </a:lnTo>
                <a:lnTo>
                  <a:pt x="1003363" y="70675"/>
                </a:lnTo>
                <a:lnTo>
                  <a:pt x="1007411" y="64627"/>
                </a:lnTo>
                <a:lnTo>
                  <a:pt x="1008888" y="57149"/>
                </a:lnTo>
                <a:close/>
              </a:path>
              <a:path w="3371850" h="114300">
                <a:moveTo>
                  <a:pt x="932688" y="57149"/>
                </a:moveTo>
                <a:lnTo>
                  <a:pt x="931211" y="49994"/>
                </a:lnTo>
                <a:lnTo>
                  <a:pt x="927163" y="43910"/>
                </a:lnTo>
                <a:lnTo>
                  <a:pt x="921115" y="39683"/>
                </a:lnTo>
                <a:lnTo>
                  <a:pt x="913638" y="38099"/>
                </a:lnTo>
                <a:lnTo>
                  <a:pt x="906160" y="39683"/>
                </a:lnTo>
                <a:lnTo>
                  <a:pt x="900112" y="43910"/>
                </a:lnTo>
                <a:lnTo>
                  <a:pt x="896064" y="49994"/>
                </a:lnTo>
                <a:lnTo>
                  <a:pt x="894588" y="57149"/>
                </a:lnTo>
                <a:lnTo>
                  <a:pt x="896064" y="64627"/>
                </a:lnTo>
                <a:lnTo>
                  <a:pt x="900112" y="70675"/>
                </a:lnTo>
                <a:lnTo>
                  <a:pt x="906160" y="74723"/>
                </a:lnTo>
                <a:lnTo>
                  <a:pt x="913638" y="76199"/>
                </a:lnTo>
                <a:lnTo>
                  <a:pt x="921115" y="74723"/>
                </a:lnTo>
                <a:lnTo>
                  <a:pt x="927163" y="70675"/>
                </a:lnTo>
                <a:lnTo>
                  <a:pt x="931211" y="64627"/>
                </a:lnTo>
                <a:lnTo>
                  <a:pt x="932688" y="57149"/>
                </a:lnTo>
                <a:close/>
              </a:path>
              <a:path w="3371850" h="114300">
                <a:moveTo>
                  <a:pt x="856488" y="57149"/>
                </a:moveTo>
                <a:lnTo>
                  <a:pt x="855011" y="49994"/>
                </a:lnTo>
                <a:lnTo>
                  <a:pt x="850963" y="43910"/>
                </a:lnTo>
                <a:lnTo>
                  <a:pt x="844915" y="39683"/>
                </a:lnTo>
                <a:lnTo>
                  <a:pt x="837438" y="38099"/>
                </a:lnTo>
                <a:lnTo>
                  <a:pt x="829960" y="39683"/>
                </a:lnTo>
                <a:lnTo>
                  <a:pt x="823912" y="43910"/>
                </a:lnTo>
                <a:lnTo>
                  <a:pt x="819864" y="49994"/>
                </a:lnTo>
                <a:lnTo>
                  <a:pt x="818388" y="57149"/>
                </a:lnTo>
                <a:lnTo>
                  <a:pt x="819864" y="64627"/>
                </a:lnTo>
                <a:lnTo>
                  <a:pt x="823912" y="70675"/>
                </a:lnTo>
                <a:lnTo>
                  <a:pt x="829960" y="74723"/>
                </a:lnTo>
                <a:lnTo>
                  <a:pt x="837438" y="76199"/>
                </a:lnTo>
                <a:lnTo>
                  <a:pt x="844915" y="74723"/>
                </a:lnTo>
                <a:lnTo>
                  <a:pt x="850963" y="70675"/>
                </a:lnTo>
                <a:lnTo>
                  <a:pt x="855011" y="64627"/>
                </a:lnTo>
                <a:lnTo>
                  <a:pt x="856488" y="57149"/>
                </a:lnTo>
                <a:close/>
              </a:path>
              <a:path w="3371850" h="114300">
                <a:moveTo>
                  <a:pt x="780288" y="57149"/>
                </a:moveTo>
                <a:lnTo>
                  <a:pt x="778811" y="49994"/>
                </a:lnTo>
                <a:lnTo>
                  <a:pt x="774763" y="43910"/>
                </a:lnTo>
                <a:lnTo>
                  <a:pt x="768715" y="39683"/>
                </a:lnTo>
                <a:lnTo>
                  <a:pt x="761238" y="38099"/>
                </a:lnTo>
                <a:lnTo>
                  <a:pt x="753760" y="39683"/>
                </a:lnTo>
                <a:lnTo>
                  <a:pt x="747712" y="43910"/>
                </a:lnTo>
                <a:lnTo>
                  <a:pt x="743664" y="49994"/>
                </a:lnTo>
                <a:lnTo>
                  <a:pt x="742188" y="57149"/>
                </a:lnTo>
                <a:lnTo>
                  <a:pt x="743664" y="64627"/>
                </a:lnTo>
                <a:lnTo>
                  <a:pt x="747712" y="70675"/>
                </a:lnTo>
                <a:lnTo>
                  <a:pt x="753760" y="74723"/>
                </a:lnTo>
                <a:lnTo>
                  <a:pt x="761238" y="76199"/>
                </a:lnTo>
                <a:lnTo>
                  <a:pt x="768715" y="74723"/>
                </a:lnTo>
                <a:lnTo>
                  <a:pt x="774763" y="70675"/>
                </a:lnTo>
                <a:lnTo>
                  <a:pt x="778811" y="64627"/>
                </a:lnTo>
                <a:lnTo>
                  <a:pt x="780288" y="57149"/>
                </a:lnTo>
                <a:close/>
              </a:path>
              <a:path w="3371850" h="114300">
                <a:moveTo>
                  <a:pt x="704088" y="57149"/>
                </a:moveTo>
                <a:lnTo>
                  <a:pt x="702611" y="49994"/>
                </a:lnTo>
                <a:lnTo>
                  <a:pt x="698563" y="43910"/>
                </a:lnTo>
                <a:lnTo>
                  <a:pt x="692515" y="39683"/>
                </a:lnTo>
                <a:lnTo>
                  <a:pt x="685038" y="38099"/>
                </a:lnTo>
                <a:lnTo>
                  <a:pt x="677560" y="39683"/>
                </a:lnTo>
                <a:lnTo>
                  <a:pt x="671512" y="43910"/>
                </a:lnTo>
                <a:lnTo>
                  <a:pt x="667464" y="49994"/>
                </a:lnTo>
                <a:lnTo>
                  <a:pt x="665988" y="57149"/>
                </a:lnTo>
                <a:lnTo>
                  <a:pt x="667464" y="64627"/>
                </a:lnTo>
                <a:lnTo>
                  <a:pt x="671512" y="70675"/>
                </a:lnTo>
                <a:lnTo>
                  <a:pt x="677560" y="74723"/>
                </a:lnTo>
                <a:lnTo>
                  <a:pt x="685038" y="76199"/>
                </a:lnTo>
                <a:lnTo>
                  <a:pt x="692515" y="74723"/>
                </a:lnTo>
                <a:lnTo>
                  <a:pt x="698563" y="70675"/>
                </a:lnTo>
                <a:lnTo>
                  <a:pt x="702611" y="64627"/>
                </a:lnTo>
                <a:lnTo>
                  <a:pt x="704088" y="57149"/>
                </a:lnTo>
                <a:close/>
              </a:path>
              <a:path w="3371850" h="114300">
                <a:moveTo>
                  <a:pt x="627888" y="57149"/>
                </a:moveTo>
                <a:lnTo>
                  <a:pt x="626304" y="49994"/>
                </a:lnTo>
                <a:lnTo>
                  <a:pt x="622077" y="43910"/>
                </a:lnTo>
                <a:lnTo>
                  <a:pt x="615993" y="39683"/>
                </a:lnTo>
                <a:lnTo>
                  <a:pt x="608838" y="38099"/>
                </a:lnTo>
                <a:lnTo>
                  <a:pt x="601360" y="39683"/>
                </a:lnTo>
                <a:lnTo>
                  <a:pt x="595312" y="43910"/>
                </a:lnTo>
                <a:lnTo>
                  <a:pt x="591264" y="49994"/>
                </a:lnTo>
                <a:lnTo>
                  <a:pt x="589788" y="57149"/>
                </a:lnTo>
                <a:lnTo>
                  <a:pt x="591264" y="64627"/>
                </a:lnTo>
                <a:lnTo>
                  <a:pt x="595312" y="70675"/>
                </a:lnTo>
                <a:lnTo>
                  <a:pt x="601360" y="74723"/>
                </a:lnTo>
                <a:lnTo>
                  <a:pt x="608838" y="76199"/>
                </a:lnTo>
                <a:lnTo>
                  <a:pt x="615993" y="74723"/>
                </a:lnTo>
                <a:lnTo>
                  <a:pt x="622077" y="70675"/>
                </a:lnTo>
                <a:lnTo>
                  <a:pt x="626304" y="64627"/>
                </a:lnTo>
                <a:lnTo>
                  <a:pt x="627888" y="57149"/>
                </a:lnTo>
                <a:close/>
              </a:path>
              <a:path w="3371850" h="114300">
                <a:moveTo>
                  <a:pt x="551688" y="57149"/>
                </a:moveTo>
                <a:lnTo>
                  <a:pt x="550104" y="49994"/>
                </a:lnTo>
                <a:lnTo>
                  <a:pt x="545877" y="43910"/>
                </a:lnTo>
                <a:lnTo>
                  <a:pt x="539793" y="39683"/>
                </a:lnTo>
                <a:lnTo>
                  <a:pt x="532638" y="38099"/>
                </a:lnTo>
                <a:lnTo>
                  <a:pt x="525160" y="39683"/>
                </a:lnTo>
                <a:lnTo>
                  <a:pt x="519112" y="43910"/>
                </a:lnTo>
                <a:lnTo>
                  <a:pt x="515064" y="49994"/>
                </a:lnTo>
                <a:lnTo>
                  <a:pt x="513588" y="57149"/>
                </a:lnTo>
                <a:lnTo>
                  <a:pt x="515064" y="64627"/>
                </a:lnTo>
                <a:lnTo>
                  <a:pt x="519112" y="70675"/>
                </a:lnTo>
                <a:lnTo>
                  <a:pt x="525160" y="74723"/>
                </a:lnTo>
                <a:lnTo>
                  <a:pt x="532638" y="76199"/>
                </a:lnTo>
                <a:lnTo>
                  <a:pt x="539793" y="74723"/>
                </a:lnTo>
                <a:lnTo>
                  <a:pt x="545877" y="70675"/>
                </a:lnTo>
                <a:lnTo>
                  <a:pt x="550104" y="64627"/>
                </a:lnTo>
                <a:lnTo>
                  <a:pt x="551688" y="57149"/>
                </a:lnTo>
                <a:close/>
              </a:path>
              <a:path w="3371850" h="114300">
                <a:moveTo>
                  <a:pt x="475488" y="57149"/>
                </a:moveTo>
                <a:lnTo>
                  <a:pt x="473904" y="49994"/>
                </a:lnTo>
                <a:lnTo>
                  <a:pt x="469677" y="43910"/>
                </a:lnTo>
                <a:lnTo>
                  <a:pt x="463593" y="39683"/>
                </a:lnTo>
                <a:lnTo>
                  <a:pt x="456438" y="38099"/>
                </a:lnTo>
                <a:lnTo>
                  <a:pt x="448960" y="39683"/>
                </a:lnTo>
                <a:lnTo>
                  <a:pt x="442912" y="43910"/>
                </a:lnTo>
                <a:lnTo>
                  <a:pt x="438864" y="49994"/>
                </a:lnTo>
                <a:lnTo>
                  <a:pt x="437388" y="57149"/>
                </a:lnTo>
                <a:lnTo>
                  <a:pt x="438864" y="64627"/>
                </a:lnTo>
                <a:lnTo>
                  <a:pt x="442912" y="70675"/>
                </a:lnTo>
                <a:lnTo>
                  <a:pt x="448960" y="74723"/>
                </a:lnTo>
                <a:lnTo>
                  <a:pt x="456438" y="76199"/>
                </a:lnTo>
                <a:lnTo>
                  <a:pt x="463593" y="74723"/>
                </a:lnTo>
                <a:lnTo>
                  <a:pt x="469677" y="70675"/>
                </a:lnTo>
                <a:lnTo>
                  <a:pt x="473904" y="64627"/>
                </a:lnTo>
                <a:lnTo>
                  <a:pt x="475488" y="57149"/>
                </a:lnTo>
                <a:close/>
              </a:path>
              <a:path w="3371850" h="114300">
                <a:moveTo>
                  <a:pt x="399288" y="57149"/>
                </a:moveTo>
                <a:lnTo>
                  <a:pt x="397704" y="49994"/>
                </a:lnTo>
                <a:lnTo>
                  <a:pt x="393477" y="43910"/>
                </a:lnTo>
                <a:lnTo>
                  <a:pt x="387393" y="39683"/>
                </a:lnTo>
                <a:lnTo>
                  <a:pt x="380238" y="38099"/>
                </a:lnTo>
                <a:lnTo>
                  <a:pt x="379475" y="38099"/>
                </a:lnTo>
                <a:lnTo>
                  <a:pt x="372320" y="39683"/>
                </a:lnTo>
                <a:lnTo>
                  <a:pt x="366236" y="43910"/>
                </a:lnTo>
                <a:lnTo>
                  <a:pt x="362009" y="49994"/>
                </a:lnTo>
                <a:lnTo>
                  <a:pt x="360425" y="57149"/>
                </a:lnTo>
                <a:lnTo>
                  <a:pt x="362009" y="64627"/>
                </a:lnTo>
                <a:lnTo>
                  <a:pt x="366236" y="70675"/>
                </a:lnTo>
                <a:lnTo>
                  <a:pt x="372320" y="74723"/>
                </a:lnTo>
                <a:lnTo>
                  <a:pt x="379475" y="76199"/>
                </a:lnTo>
                <a:lnTo>
                  <a:pt x="380238" y="76199"/>
                </a:lnTo>
                <a:lnTo>
                  <a:pt x="387393" y="74723"/>
                </a:lnTo>
                <a:lnTo>
                  <a:pt x="393477" y="70675"/>
                </a:lnTo>
                <a:lnTo>
                  <a:pt x="397704" y="64627"/>
                </a:lnTo>
                <a:lnTo>
                  <a:pt x="399288" y="57149"/>
                </a:lnTo>
                <a:close/>
              </a:path>
              <a:path w="3371850" h="114300">
                <a:moveTo>
                  <a:pt x="322325" y="57149"/>
                </a:moveTo>
                <a:lnTo>
                  <a:pt x="320849" y="49994"/>
                </a:lnTo>
                <a:lnTo>
                  <a:pt x="316801" y="43910"/>
                </a:lnTo>
                <a:lnTo>
                  <a:pt x="310753" y="39683"/>
                </a:lnTo>
                <a:lnTo>
                  <a:pt x="303275" y="38099"/>
                </a:lnTo>
                <a:lnTo>
                  <a:pt x="296120" y="39683"/>
                </a:lnTo>
                <a:lnTo>
                  <a:pt x="290036" y="43910"/>
                </a:lnTo>
                <a:lnTo>
                  <a:pt x="285809" y="49994"/>
                </a:lnTo>
                <a:lnTo>
                  <a:pt x="284225" y="57149"/>
                </a:lnTo>
                <a:lnTo>
                  <a:pt x="285809" y="64627"/>
                </a:lnTo>
                <a:lnTo>
                  <a:pt x="290036" y="70675"/>
                </a:lnTo>
                <a:lnTo>
                  <a:pt x="296120" y="74723"/>
                </a:lnTo>
                <a:lnTo>
                  <a:pt x="303275" y="76199"/>
                </a:lnTo>
                <a:lnTo>
                  <a:pt x="310753" y="74723"/>
                </a:lnTo>
                <a:lnTo>
                  <a:pt x="316801" y="70675"/>
                </a:lnTo>
                <a:lnTo>
                  <a:pt x="320849" y="64627"/>
                </a:lnTo>
                <a:lnTo>
                  <a:pt x="322325" y="57149"/>
                </a:lnTo>
                <a:close/>
              </a:path>
              <a:path w="3371850" h="114300">
                <a:moveTo>
                  <a:pt x="246125" y="57149"/>
                </a:moveTo>
                <a:lnTo>
                  <a:pt x="244649" y="49994"/>
                </a:lnTo>
                <a:lnTo>
                  <a:pt x="240601" y="43910"/>
                </a:lnTo>
                <a:lnTo>
                  <a:pt x="234553" y="39683"/>
                </a:lnTo>
                <a:lnTo>
                  <a:pt x="227075" y="38099"/>
                </a:lnTo>
                <a:lnTo>
                  <a:pt x="219920" y="39683"/>
                </a:lnTo>
                <a:lnTo>
                  <a:pt x="213836" y="43910"/>
                </a:lnTo>
                <a:lnTo>
                  <a:pt x="209609" y="49994"/>
                </a:lnTo>
                <a:lnTo>
                  <a:pt x="208025" y="57149"/>
                </a:lnTo>
                <a:lnTo>
                  <a:pt x="209609" y="64627"/>
                </a:lnTo>
                <a:lnTo>
                  <a:pt x="213836" y="70675"/>
                </a:lnTo>
                <a:lnTo>
                  <a:pt x="219920" y="74723"/>
                </a:lnTo>
                <a:lnTo>
                  <a:pt x="227075" y="76199"/>
                </a:lnTo>
                <a:lnTo>
                  <a:pt x="234553" y="74723"/>
                </a:lnTo>
                <a:lnTo>
                  <a:pt x="240601" y="70675"/>
                </a:lnTo>
                <a:lnTo>
                  <a:pt x="244649" y="64627"/>
                </a:lnTo>
                <a:lnTo>
                  <a:pt x="246125" y="57149"/>
                </a:lnTo>
                <a:close/>
              </a:path>
              <a:path w="3371850" h="114300">
                <a:moveTo>
                  <a:pt x="169925" y="57149"/>
                </a:moveTo>
                <a:lnTo>
                  <a:pt x="168449" y="49994"/>
                </a:lnTo>
                <a:lnTo>
                  <a:pt x="164401" y="43910"/>
                </a:lnTo>
                <a:lnTo>
                  <a:pt x="158353" y="39683"/>
                </a:lnTo>
                <a:lnTo>
                  <a:pt x="150875" y="38099"/>
                </a:lnTo>
                <a:lnTo>
                  <a:pt x="143720" y="39683"/>
                </a:lnTo>
                <a:lnTo>
                  <a:pt x="137636" y="43910"/>
                </a:lnTo>
                <a:lnTo>
                  <a:pt x="133409" y="49994"/>
                </a:lnTo>
                <a:lnTo>
                  <a:pt x="131825" y="57149"/>
                </a:lnTo>
                <a:lnTo>
                  <a:pt x="133409" y="64627"/>
                </a:lnTo>
                <a:lnTo>
                  <a:pt x="137636" y="70675"/>
                </a:lnTo>
                <a:lnTo>
                  <a:pt x="143720" y="74723"/>
                </a:lnTo>
                <a:lnTo>
                  <a:pt x="150875" y="76199"/>
                </a:lnTo>
                <a:lnTo>
                  <a:pt x="158353" y="74723"/>
                </a:lnTo>
                <a:lnTo>
                  <a:pt x="164401" y="70675"/>
                </a:lnTo>
                <a:lnTo>
                  <a:pt x="168449" y="64627"/>
                </a:lnTo>
                <a:lnTo>
                  <a:pt x="169925" y="57149"/>
                </a:lnTo>
                <a:close/>
              </a:path>
              <a:path w="3371850" h="114300">
                <a:moveTo>
                  <a:pt x="114300" y="114299"/>
                </a:moveTo>
                <a:lnTo>
                  <a:pt x="114300" y="0"/>
                </a:lnTo>
                <a:lnTo>
                  <a:pt x="0" y="57149"/>
                </a:lnTo>
                <a:lnTo>
                  <a:pt x="114300" y="114299"/>
                </a:lnTo>
                <a:close/>
              </a:path>
            </a:pathLst>
          </a:custGeom>
          <a:solidFill>
            <a:srgbClr val="3333CC"/>
          </a:solidFill>
        </p:spPr>
        <p:txBody>
          <a:bodyPr wrap="square" lIns="0" tIns="0" rIns="0" bIns="0" rtlCol="0"/>
          <a:lstStyle/>
          <a:p>
            <a:endParaRPr/>
          </a:p>
        </p:txBody>
      </p:sp>
      <p:sp>
        <p:nvSpPr>
          <p:cNvPr id="26" name="object 26"/>
          <p:cNvSpPr/>
          <p:nvPr/>
        </p:nvSpPr>
        <p:spPr>
          <a:xfrm>
            <a:off x="4680089" y="4692396"/>
            <a:ext cx="114300" cy="933450"/>
          </a:xfrm>
          <a:custGeom>
            <a:avLst/>
            <a:gdLst/>
            <a:ahLst/>
            <a:cxnLst/>
            <a:rect l="l" t="t" r="r" b="b"/>
            <a:pathLst>
              <a:path w="114300" h="933450">
                <a:moveTo>
                  <a:pt x="76200" y="914400"/>
                </a:moveTo>
                <a:lnTo>
                  <a:pt x="74723" y="907244"/>
                </a:lnTo>
                <a:lnTo>
                  <a:pt x="70675" y="901160"/>
                </a:lnTo>
                <a:lnTo>
                  <a:pt x="64627" y="896933"/>
                </a:lnTo>
                <a:lnTo>
                  <a:pt x="57150" y="895350"/>
                </a:lnTo>
                <a:lnTo>
                  <a:pt x="49994" y="896933"/>
                </a:lnTo>
                <a:lnTo>
                  <a:pt x="43910" y="901160"/>
                </a:lnTo>
                <a:lnTo>
                  <a:pt x="39683" y="907244"/>
                </a:lnTo>
                <a:lnTo>
                  <a:pt x="38100" y="914400"/>
                </a:lnTo>
                <a:lnTo>
                  <a:pt x="39683" y="921877"/>
                </a:lnTo>
                <a:lnTo>
                  <a:pt x="43910" y="927925"/>
                </a:lnTo>
                <a:lnTo>
                  <a:pt x="49994" y="931973"/>
                </a:lnTo>
                <a:lnTo>
                  <a:pt x="57150" y="933450"/>
                </a:lnTo>
                <a:lnTo>
                  <a:pt x="64627" y="931973"/>
                </a:lnTo>
                <a:lnTo>
                  <a:pt x="70675" y="927925"/>
                </a:lnTo>
                <a:lnTo>
                  <a:pt x="74723" y="921877"/>
                </a:lnTo>
                <a:lnTo>
                  <a:pt x="76200" y="914400"/>
                </a:lnTo>
                <a:close/>
              </a:path>
              <a:path w="114300" h="933450">
                <a:moveTo>
                  <a:pt x="76200" y="838200"/>
                </a:moveTo>
                <a:lnTo>
                  <a:pt x="74723" y="831044"/>
                </a:lnTo>
                <a:lnTo>
                  <a:pt x="70675" y="824960"/>
                </a:lnTo>
                <a:lnTo>
                  <a:pt x="64627" y="820733"/>
                </a:lnTo>
                <a:lnTo>
                  <a:pt x="57150" y="819150"/>
                </a:lnTo>
                <a:lnTo>
                  <a:pt x="49994" y="820733"/>
                </a:lnTo>
                <a:lnTo>
                  <a:pt x="43910" y="824960"/>
                </a:lnTo>
                <a:lnTo>
                  <a:pt x="39683" y="831044"/>
                </a:lnTo>
                <a:lnTo>
                  <a:pt x="38099" y="838200"/>
                </a:lnTo>
                <a:lnTo>
                  <a:pt x="39683" y="845677"/>
                </a:lnTo>
                <a:lnTo>
                  <a:pt x="43910" y="851725"/>
                </a:lnTo>
                <a:lnTo>
                  <a:pt x="49994" y="855773"/>
                </a:lnTo>
                <a:lnTo>
                  <a:pt x="57150" y="857250"/>
                </a:lnTo>
                <a:lnTo>
                  <a:pt x="64627" y="855773"/>
                </a:lnTo>
                <a:lnTo>
                  <a:pt x="70675" y="851725"/>
                </a:lnTo>
                <a:lnTo>
                  <a:pt x="74723" y="845677"/>
                </a:lnTo>
                <a:lnTo>
                  <a:pt x="76200" y="838200"/>
                </a:lnTo>
                <a:close/>
              </a:path>
              <a:path w="114300" h="933450">
                <a:moveTo>
                  <a:pt x="76199" y="762000"/>
                </a:moveTo>
                <a:lnTo>
                  <a:pt x="74723" y="754844"/>
                </a:lnTo>
                <a:lnTo>
                  <a:pt x="70675" y="748760"/>
                </a:lnTo>
                <a:lnTo>
                  <a:pt x="64627" y="744533"/>
                </a:lnTo>
                <a:lnTo>
                  <a:pt x="57149" y="742950"/>
                </a:lnTo>
                <a:lnTo>
                  <a:pt x="49994" y="744533"/>
                </a:lnTo>
                <a:lnTo>
                  <a:pt x="43910" y="748760"/>
                </a:lnTo>
                <a:lnTo>
                  <a:pt x="39683" y="754844"/>
                </a:lnTo>
                <a:lnTo>
                  <a:pt x="38099" y="762000"/>
                </a:lnTo>
                <a:lnTo>
                  <a:pt x="39683" y="769477"/>
                </a:lnTo>
                <a:lnTo>
                  <a:pt x="43910" y="775525"/>
                </a:lnTo>
                <a:lnTo>
                  <a:pt x="49994" y="779573"/>
                </a:lnTo>
                <a:lnTo>
                  <a:pt x="57149" y="781050"/>
                </a:lnTo>
                <a:lnTo>
                  <a:pt x="64627" y="779573"/>
                </a:lnTo>
                <a:lnTo>
                  <a:pt x="70675" y="775525"/>
                </a:lnTo>
                <a:lnTo>
                  <a:pt x="74723" y="769477"/>
                </a:lnTo>
                <a:lnTo>
                  <a:pt x="76199" y="762000"/>
                </a:lnTo>
                <a:close/>
              </a:path>
              <a:path w="114300" h="933450">
                <a:moveTo>
                  <a:pt x="76199" y="685800"/>
                </a:moveTo>
                <a:lnTo>
                  <a:pt x="74723" y="678322"/>
                </a:lnTo>
                <a:lnTo>
                  <a:pt x="70675" y="672274"/>
                </a:lnTo>
                <a:lnTo>
                  <a:pt x="64627" y="668226"/>
                </a:lnTo>
                <a:lnTo>
                  <a:pt x="57149" y="666750"/>
                </a:lnTo>
                <a:lnTo>
                  <a:pt x="49994" y="668226"/>
                </a:lnTo>
                <a:lnTo>
                  <a:pt x="43910" y="672274"/>
                </a:lnTo>
                <a:lnTo>
                  <a:pt x="39683" y="678322"/>
                </a:lnTo>
                <a:lnTo>
                  <a:pt x="38099" y="685800"/>
                </a:lnTo>
                <a:lnTo>
                  <a:pt x="39683" y="693277"/>
                </a:lnTo>
                <a:lnTo>
                  <a:pt x="43910" y="699325"/>
                </a:lnTo>
                <a:lnTo>
                  <a:pt x="49994" y="703373"/>
                </a:lnTo>
                <a:lnTo>
                  <a:pt x="57149" y="704850"/>
                </a:lnTo>
                <a:lnTo>
                  <a:pt x="64627" y="703373"/>
                </a:lnTo>
                <a:lnTo>
                  <a:pt x="70675" y="699325"/>
                </a:lnTo>
                <a:lnTo>
                  <a:pt x="74723" y="693277"/>
                </a:lnTo>
                <a:lnTo>
                  <a:pt x="76199" y="685800"/>
                </a:lnTo>
                <a:close/>
              </a:path>
              <a:path w="114300" h="933450">
                <a:moveTo>
                  <a:pt x="76199" y="609600"/>
                </a:moveTo>
                <a:lnTo>
                  <a:pt x="74723" y="602122"/>
                </a:lnTo>
                <a:lnTo>
                  <a:pt x="70675" y="596074"/>
                </a:lnTo>
                <a:lnTo>
                  <a:pt x="64627" y="592026"/>
                </a:lnTo>
                <a:lnTo>
                  <a:pt x="57149" y="590550"/>
                </a:lnTo>
                <a:lnTo>
                  <a:pt x="49994" y="592026"/>
                </a:lnTo>
                <a:lnTo>
                  <a:pt x="43910" y="596074"/>
                </a:lnTo>
                <a:lnTo>
                  <a:pt x="39683" y="602122"/>
                </a:lnTo>
                <a:lnTo>
                  <a:pt x="38099" y="609600"/>
                </a:lnTo>
                <a:lnTo>
                  <a:pt x="39683" y="617077"/>
                </a:lnTo>
                <a:lnTo>
                  <a:pt x="43910" y="623125"/>
                </a:lnTo>
                <a:lnTo>
                  <a:pt x="49994" y="627173"/>
                </a:lnTo>
                <a:lnTo>
                  <a:pt x="57149" y="628650"/>
                </a:lnTo>
                <a:lnTo>
                  <a:pt x="64627" y="627173"/>
                </a:lnTo>
                <a:lnTo>
                  <a:pt x="70675" y="623125"/>
                </a:lnTo>
                <a:lnTo>
                  <a:pt x="74723" y="617077"/>
                </a:lnTo>
                <a:lnTo>
                  <a:pt x="76199" y="609600"/>
                </a:lnTo>
                <a:close/>
              </a:path>
              <a:path w="114300" h="933450">
                <a:moveTo>
                  <a:pt x="76199" y="533400"/>
                </a:moveTo>
                <a:lnTo>
                  <a:pt x="74723" y="525922"/>
                </a:lnTo>
                <a:lnTo>
                  <a:pt x="70675" y="519874"/>
                </a:lnTo>
                <a:lnTo>
                  <a:pt x="64627" y="515826"/>
                </a:lnTo>
                <a:lnTo>
                  <a:pt x="57149" y="514350"/>
                </a:lnTo>
                <a:lnTo>
                  <a:pt x="49994" y="515826"/>
                </a:lnTo>
                <a:lnTo>
                  <a:pt x="43910" y="519874"/>
                </a:lnTo>
                <a:lnTo>
                  <a:pt x="39683" y="525922"/>
                </a:lnTo>
                <a:lnTo>
                  <a:pt x="38099" y="533400"/>
                </a:lnTo>
                <a:lnTo>
                  <a:pt x="39683" y="540877"/>
                </a:lnTo>
                <a:lnTo>
                  <a:pt x="43910" y="546925"/>
                </a:lnTo>
                <a:lnTo>
                  <a:pt x="49994" y="550973"/>
                </a:lnTo>
                <a:lnTo>
                  <a:pt x="57149" y="552450"/>
                </a:lnTo>
                <a:lnTo>
                  <a:pt x="64627" y="550973"/>
                </a:lnTo>
                <a:lnTo>
                  <a:pt x="70675" y="546925"/>
                </a:lnTo>
                <a:lnTo>
                  <a:pt x="74723" y="540877"/>
                </a:lnTo>
                <a:lnTo>
                  <a:pt x="76199" y="533400"/>
                </a:lnTo>
                <a:close/>
              </a:path>
              <a:path w="114300" h="933450">
                <a:moveTo>
                  <a:pt x="76199" y="457200"/>
                </a:moveTo>
                <a:lnTo>
                  <a:pt x="74723" y="449722"/>
                </a:lnTo>
                <a:lnTo>
                  <a:pt x="70675" y="443674"/>
                </a:lnTo>
                <a:lnTo>
                  <a:pt x="64627" y="439626"/>
                </a:lnTo>
                <a:lnTo>
                  <a:pt x="57149" y="438150"/>
                </a:lnTo>
                <a:lnTo>
                  <a:pt x="49994" y="439626"/>
                </a:lnTo>
                <a:lnTo>
                  <a:pt x="43910" y="443674"/>
                </a:lnTo>
                <a:lnTo>
                  <a:pt x="39683" y="449722"/>
                </a:lnTo>
                <a:lnTo>
                  <a:pt x="38099" y="457200"/>
                </a:lnTo>
                <a:lnTo>
                  <a:pt x="39683" y="464677"/>
                </a:lnTo>
                <a:lnTo>
                  <a:pt x="43910" y="470725"/>
                </a:lnTo>
                <a:lnTo>
                  <a:pt x="49994" y="474773"/>
                </a:lnTo>
                <a:lnTo>
                  <a:pt x="57149" y="476250"/>
                </a:lnTo>
                <a:lnTo>
                  <a:pt x="64627" y="474773"/>
                </a:lnTo>
                <a:lnTo>
                  <a:pt x="70675" y="470725"/>
                </a:lnTo>
                <a:lnTo>
                  <a:pt x="74723" y="464677"/>
                </a:lnTo>
                <a:lnTo>
                  <a:pt x="76199" y="457200"/>
                </a:lnTo>
                <a:close/>
              </a:path>
              <a:path w="114300" h="933450">
                <a:moveTo>
                  <a:pt x="76199" y="381000"/>
                </a:moveTo>
                <a:lnTo>
                  <a:pt x="74723" y="373522"/>
                </a:lnTo>
                <a:lnTo>
                  <a:pt x="70675" y="367474"/>
                </a:lnTo>
                <a:lnTo>
                  <a:pt x="64627" y="363426"/>
                </a:lnTo>
                <a:lnTo>
                  <a:pt x="57149" y="361950"/>
                </a:lnTo>
                <a:lnTo>
                  <a:pt x="49994" y="363426"/>
                </a:lnTo>
                <a:lnTo>
                  <a:pt x="43910" y="367474"/>
                </a:lnTo>
                <a:lnTo>
                  <a:pt x="39683" y="373522"/>
                </a:lnTo>
                <a:lnTo>
                  <a:pt x="38099" y="381000"/>
                </a:lnTo>
                <a:lnTo>
                  <a:pt x="39683" y="388477"/>
                </a:lnTo>
                <a:lnTo>
                  <a:pt x="43910" y="394525"/>
                </a:lnTo>
                <a:lnTo>
                  <a:pt x="49994" y="398573"/>
                </a:lnTo>
                <a:lnTo>
                  <a:pt x="57149" y="400050"/>
                </a:lnTo>
                <a:lnTo>
                  <a:pt x="64627" y="398573"/>
                </a:lnTo>
                <a:lnTo>
                  <a:pt x="70675" y="394525"/>
                </a:lnTo>
                <a:lnTo>
                  <a:pt x="74723" y="388477"/>
                </a:lnTo>
                <a:lnTo>
                  <a:pt x="76199" y="381000"/>
                </a:lnTo>
                <a:close/>
              </a:path>
              <a:path w="114300" h="933450">
                <a:moveTo>
                  <a:pt x="76199" y="304800"/>
                </a:moveTo>
                <a:lnTo>
                  <a:pt x="74723" y="297322"/>
                </a:lnTo>
                <a:lnTo>
                  <a:pt x="70675" y="291274"/>
                </a:lnTo>
                <a:lnTo>
                  <a:pt x="64627" y="287226"/>
                </a:lnTo>
                <a:lnTo>
                  <a:pt x="57149" y="285750"/>
                </a:lnTo>
                <a:lnTo>
                  <a:pt x="49994" y="287226"/>
                </a:lnTo>
                <a:lnTo>
                  <a:pt x="43910" y="291274"/>
                </a:lnTo>
                <a:lnTo>
                  <a:pt x="39683" y="297322"/>
                </a:lnTo>
                <a:lnTo>
                  <a:pt x="38099" y="304800"/>
                </a:lnTo>
                <a:lnTo>
                  <a:pt x="39683" y="312277"/>
                </a:lnTo>
                <a:lnTo>
                  <a:pt x="43910" y="318325"/>
                </a:lnTo>
                <a:lnTo>
                  <a:pt x="49994" y="322373"/>
                </a:lnTo>
                <a:lnTo>
                  <a:pt x="57149" y="323850"/>
                </a:lnTo>
                <a:lnTo>
                  <a:pt x="64627" y="322373"/>
                </a:lnTo>
                <a:lnTo>
                  <a:pt x="70675" y="318325"/>
                </a:lnTo>
                <a:lnTo>
                  <a:pt x="74723" y="312277"/>
                </a:lnTo>
                <a:lnTo>
                  <a:pt x="76199" y="304800"/>
                </a:lnTo>
                <a:close/>
              </a:path>
              <a:path w="114300" h="933450">
                <a:moveTo>
                  <a:pt x="76199" y="228600"/>
                </a:moveTo>
                <a:lnTo>
                  <a:pt x="74723" y="221122"/>
                </a:lnTo>
                <a:lnTo>
                  <a:pt x="70675" y="215074"/>
                </a:lnTo>
                <a:lnTo>
                  <a:pt x="64627" y="211026"/>
                </a:lnTo>
                <a:lnTo>
                  <a:pt x="57149" y="209550"/>
                </a:lnTo>
                <a:lnTo>
                  <a:pt x="49994" y="211026"/>
                </a:lnTo>
                <a:lnTo>
                  <a:pt x="43910" y="215074"/>
                </a:lnTo>
                <a:lnTo>
                  <a:pt x="39683" y="221122"/>
                </a:lnTo>
                <a:lnTo>
                  <a:pt x="38099" y="228600"/>
                </a:lnTo>
                <a:lnTo>
                  <a:pt x="39683" y="236077"/>
                </a:lnTo>
                <a:lnTo>
                  <a:pt x="43910" y="242125"/>
                </a:lnTo>
                <a:lnTo>
                  <a:pt x="49994" y="246173"/>
                </a:lnTo>
                <a:lnTo>
                  <a:pt x="57149" y="247650"/>
                </a:lnTo>
                <a:lnTo>
                  <a:pt x="64627" y="246173"/>
                </a:lnTo>
                <a:lnTo>
                  <a:pt x="70675" y="242125"/>
                </a:lnTo>
                <a:lnTo>
                  <a:pt x="74723" y="236077"/>
                </a:lnTo>
                <a:lnTo>
                  <a:pt x="76199" y="228600"/>
                </a:lnTo>
                <a:close/>
              </a:path>
              <a:path w="114300" h="933450">
                <a:moveTo>
                  <a:pt x="76199" y="152400"/>
                </a:moveTo>
                <a:lnTo>
                  <a:pt x="74723" y="144922"/>
                </a:lnTo>
                <a:lnTo>
                  <a:pt x="70675" y="138874"/>
                </a:lnTo>
                <a:lnTo>
                  <a:pt x="64627" y="134826"/>
                </a:lnTo>
                <a:lnTo>
                  <a:pt x="57149" y="133350"/>
                </a:lnTo>
                <a:lnTo>
                  <a:pt x="49994" y="134826"/>
                </a:lnTo>
                <a:lnTo>
                  <a:pt x="43910" y="138874"/>
                </a:lnTo>
                <a:lnTo>
                  <a:pt x="39683" y="144922"/>
                </a:lnTo>
                <a:lnTo>
                  <a:pt x="38099" y="152400"/>
                </a:lnTo>
                <a:lnTo>
                  <a:pt x="39683" y="159877"/>
                </a:lnTo>
                <a:lnTo>
                  <a:pt x="43910" y="165925"/>
                </a:lnTo>
                <a:lnTo>
                  <a:pt x="49994" y="169973"/>
                </a:lnTo>
                <a:lnTo>
                  <a:pt x="57149" y="171450"/>
                </a:lnTo>
                <a:lnTo>
                  <a:pt x="64627" y="169973"/>
                </a:lnTo>
                <a:lnTo>
                  <a:pt x="70675" y="165925"/>
                </a:lnTo>
                <a:lnTo>
                  <a:pt x="74723" y="159877"/>
                </a:lnTo>
                <a:lnTo>
                  <a:pt x="76199" y="152400"/>
                </a:lnTo>
                <a:close/>
              </a:path>
              <a:path w="114300" h="933450">
                <a:moveTo>
                  <a:pt x="114299" y="114300"/>
                </a:moveTo>
                <a:lnTo>
                  <a:pt x="57149" y="0"/>
                </a:lnTo>
                <a:lnTo>
                  <a:pt x="0" y="114300"/>
                </a:lnTo>
                <a:lnTo>
                  <a:pt x="114299" y="114300"/>
                </a:lnTo>
                <a:close/>
              </a:path>
            </a:pathLst>
          </a:custGeom>
          <a:solidFill>
            <a:srgbClr val="3333CC"/>
          </a:solidFill>
        </p:spPr>
        <p:txBody>
          <a:bodyPr wrap="square" lIns="0" tIns="0" rIns="0" bIns="0" rtlCol="0"/>
          <a:lstStyle/>
          <a:p>
            <a:endParaRPr/>
          </a:p>
        </p:txBody>
      </p:sp>
      <p:sp>
        <p:nvSpPr>
          <p:cNvPr id="27" name="object 27"/>
          <p:cNvSpPr/>
          <p:nvPr/>
        </p:nvSpPr>
        <p:spPr>
          <a:xfrm>
            <a:off x="8032877" y="5587746"/>
            <a:ext cx="114300" cy="857250"/>
          </a:xfrm>
          <a:custGeom>
            <a:avLst/>
            <a:gdLst/>
            <a:ahLst/>
            <a:cxnLst/>
            <a:rect l="l" t="t" r="r" b="b"/>
            <a:pathLst>
              <a:path w="114300" h="857250">
                <a:moveTo>
                  <a:pt x="76200" y="19812"/>
                </a:moveTo>
                <a:lnTo>
                  <a:pt x="76200" y="19050"/>
                </a:lnTo>
                <a:lnTo>
                  <a:pt x="74723" y="11894"/>
                </a:lnTo>
                <a:lnTo>
                  <a:pt x="70675" y="5810"/>
                </a:lnTo>
                <a:lnTo>
                  <a:pt x="64627" y="1583"/>
                </a:lnTo>
                <a:lnTo>
                  <a:pt x="57150" y="0"/>
                </a:lnTo>
                <a:lnTo>
                  <a:pt x="49994" y="1583"/>
                </a:lnTo>
                <a:lnTo>
                  <a:pt x="43910" y="5810"/>
                </a:lnTo>
                <a:lnTo>
                  <a:pt x="39683" y="11894"/>
                </a:lnTo>
                <a:lnTo>
                  <a:pt x="38100" y="19050"/>
                </a:lnTo>
                <a:lnTo>
                  <a:pt x="38100" y="19812"/>
                </a:lnTo>
                <a:lnTo>
                  <a:pt x="39683" y="26967"/>
                </a:lnTo>
                <a:lnTo>
                  <a:pt x="43910" y="33051"/>
                </a:lnTo>
                <a:lnTo>
                  <a:pt x="49994" y="37278"/>
                </a:lnTo>
                <a:lnTo>
                  <a:pt x="57150" y="38862"/>
                </a:lnTo>
                <a:lnTo>
                  <a:pt x="64627" y="37278"/>
                </a:lnTo>
                <a:lnTo>
                  <a:pt x="70675" y="33051"/>
                </a:lnTo>
                <a:lnTo>
                  <a:pt x="74723" y="26967"/>
                </a:lnTo>
                <a:lnTo>
                  <a:pt x="76200" y="19812"/>
                </a:lnTo>
                <a:close/>
              </a:path>
              <a:path w="114300" h="857250">
                <a:moveTo>
                  <a:pt x="76200" y="96012"/>
                </a:moveTo>
                <a:lnTo>
                  <a:pt x="74723" y="88534"/>
                </a:lnTo>
                <a:lnTo>
                  <a:pt x="70675" y="82486"/>
                </a:lnTo>
                <a:lnTo>
                  <a:pt x="64627" y="78438"/>
                </a:lnTo>
                <a:lnTo>
                  <a:pt x="57150" y="76962"/>
                </a:lnTo>
                <a:lnTo>
                  <a:pt x="49994" y="78438"/>
                </a:lnTo>
                <a:lnTo>
                  <a:pt x="43910" y="82486"/>
                </a:lnTo>
                <a:lnTo>
                  <a:pt x="39683" y="88534"/>
                </a:lnTo>
                <a:lnTo>
                  <a:pt x="38100" y="96012"/>
                </a:lnTo>
                <a:lnTo>
                  <a:pt x="39683" y="103167"/>
                </a:lnTo>
                <a:lnTo>
                  <a:pt x="43910" y="109251"/>
                </a:lnTo>
                <a:lnTo>
                  <a:pt x="49994" y="113478"/>
                </a:lnTo>
                <a:lnTo>
                  <a:pt x="57150" y="115062"/>
                </a:lnTo>
                <a:lnTo>
                  <a:pt x="64627" y="113478"/>
                </a:lnTo>
                <a:lnTo>
                  <a:pt x="70675" y="109251"/>
                </a:lnTo>
                <a:lnTo>
                  <a:pt x="74723" y="103167"/>
                </a:lnTo>
                <a:lnTo>
                  <a:pt x="76200" y="96012"/>
                </a:lnTo>
                <a:close/>
              </a:path>
              <a:path w="114300" h="857250">
                <a:moveTo>
                  <a:pt x="76200" y="172212"/>
                </a:moveTo>
                <a:lnTo>
                  <a:pt x="74723" y="164734"/>
                </a:lnTo>
                <a:lnTo>
                  <a:pt x="70675" y="158686"/>
                </a:lnTo>
                <a:lnTo>
                  <a:pt x="64627" y="154638"/>
                </a:lnTo>
                <a:lnTo>
                  <a:pt x="57150" y="153162"/>
                </a:lnTo>
                <a:lnTo>
                  <a:pt x="49994" y="154638"/>
                </a:lnTo>
                <a:lnTo>
                  <a:pt x="43910" y="158686"/>
                </a:lnTo>
                <a:lnTo>
                  <a:pt x="39683" y="164734"/>
                </a:lnTo>
                <a:lnTo>
                  <a:pt x="38100" y="172212"/>
                </a:lnTo>
                <a:lnTo>
                  <a:pt x="39683" y="179367"/>
                </a:lnTo>
                <a:lnTo>
                  <a:pt x="43910" y="185451"/>
                </a:lnTo>
                <a:lnTo>
                  <a:pt x="49994" y="189678"/>
                </a:lnTo>
                <a:lnTo>
                  <a:pt x="57150" y="191262"/>
                </a:lnTo>
                <a:lnTo>
                  <a:pt x="64627" y="189678"/>
                </a:lnTo>
                <a:lnTo>
                  <a:pt x="70675" y="185451"/>
                </a:lnTo>
                <a:lnTo>
                  <a:pt x="74723" y="179367"/>
                </a:lnTo>
                <a:lnTo>
                  <a:pt x="76200" y="172212"/>
                </a:lnTo>
                <a:close/>
              </a:path>
              <a:path w="114300" h="857250">
                <a:moveTo>
                  <a:pt x="76200" y="248411"/>
                </a:moveTo>
                <a:lnTo>
                  <a:pt x="74723" y="240934"/>
                </a:lnTo>
                <a:lnTo>
                  <a:pt x="70675" y="234886"/>
                </a:lnTo>
                <a:lnTo>
                  <a:pt x="64627" y="230838"/>
                </a:lnTo>
                <a:lnTo>
                  <a:pt x="57150" y="229361"/>
                </a:lnTo>
                <a:lnTo>
                  <a:pt x="49994" y="230838"/>
                </a:lnTo>
                <a:lnTo>
                  <a:pt x="43910" y="234886"/>
                </a:lnTo>
                <a:lnTo>
                  <a:pt x="39683" y="240934"/>
                </a:lnTo>
                <a:lnTo>
                  <a:pt x="38100" y="248411"/>
                </a:lnTo>
                <a:lnTo>
                  <a:pt x="39683" y="255567"/>
                </a:lnTo>
                <a:lnTo>
                  <a:pt x="43910" y="261651"/>
                </a:lnTo>
                <a:lnTo>
                  <a:pt x="49994" y="265878"/>
                </a:lnTo>
                <a:lnTo>
                  <a:pt x="57150" y="267462"/>
                </a:lnTo>
                <a:lnTo>
                  <a:pt x="64627" y="265878"/>
                </a:lnTo>
                <a:lnTo>
                  <a:pt x="70675" y="261651"/>
                </a:lnTo>
                <a:lnTo>
                  <a:pt x="74723" y="255567"/>
                </a:lnTo>
                <a:lnTo>
                  <a:pt x="76200" y="248411"/>
                </a:lnTo>
                <a:close/>
              </a:path>
              <a:path w="114300" h="857250">
                <a:moveTo>
                  <a:pt x="76200" y="324612"/>
                </a:moveTo>
                <a:lnTo>
                  <a:pt x="74723" y="317134"/>
                </a:lnTo>
                <a:lnTo>
                  <a:pt x="70675" y="311086"/>
                </a:lnTo>
                <a:lnTo>
                  <a:pt x="64627" y="307038"/>
                </a:lnTo>
                <a:lnTo>
                  <a:pt x="57150" y="305562"/>
                </a:lnTo>
                <a:lnTo>
                  <a:pt x="49994" y="307038"/>
                </a:lnTo>
                <a:lnTo>
                  <a:pt x="43910" y="311086"/>
                </a:lnTo>
                <a:lnTo>
                  <a:pt x="39683" y="317134"/>
                </a:lnTo>
                <a:lnTo>
                  <a:pt x="38100" y="324612"/>
                </a:lnTo>
                <a:lnTo>
                  <a:pt x="39683" y="332089"/>
                </a:lnTo>
                <a:lnTo>
                  <a:pt x="43910" y="338137"/>
                </a:lnTo>
                <a:lnTo>
                  <a:pt x="49994" y="342185"/>
                </a:lnTo>
                <a:lnTo>
                  <a:pt x="57150" y="343662"/>
                </a:lnTo>
                <a:lnTo>
                  <a:pt x="64627" y="342185"/>
                </a:lnTo>
                <a:lnTo>
                  <a:pt x="70675" y="338137"/>
                </a:lnTo>
                <a:lnTo>
                  <a:pt x="74723" y="332089"/>
                </a:lnTo>
                <a:lnTo>
                  <a:pt x="76200" y="324612"/>
                </a:lnTo>
                <a:close/>
              </a:path>
              <a:path w="114300" h="857250">
                <a:moveTo>
                  <a:pt x="76200" y="400812"/>
                </a:moveTo>
                <a:lnTo>
                  <a:pt x="74723" y="393334"/>
                </a:lnTo>
                <a:lnTo>
                  <a:pt x="70675" y="387286"/>
                </a:lnTo>
                <a:lnTo>
                  <a:pt x="64627" y="383238"/>
                </a:lnTo>
                <a:lnTo>
                  <a:pt x="57150" y="381762"/>
                </a:lnTo>
                <a:lnTo>
                  <a:pt x="49994" y="383238"/>
                </a:lnTo>
                <a:lnTo>
                  <a:pt x="43910" y="387286"/>
                </a:lnTo>
                <a:lnTo>
                  <a:pt x="39683" y="393334"/>
                </a:lnTo>
                <a:lnTo>
                  <a:pt x="38100" y="400812"/>
                </a:lnTo>
                <a:lnTo>
                  <a:pt x="39683" y="408289"/>
                </a:lnTo>
                <a:lnTo>
                  <a:pt x="43910" y="414337"/>
                </a:lnTo>
                <a:lnTo>
                  <a:pt x="49994" y="418385"/>
                </a:lnTo>
                <a:lnTo>
                  <a:pt x="57150" y="419862"/>
                </a:lnTo>
                <a:lnTo>
                  <a:pt x="64627" y="418385"/>
                </a:lnTo>
                <a:lnTo>
                  <a:pt x="70675" y="414337"/>
                </a:lnTo>
                <a:lnTo>
                  <a:pt x="74723" y="408289"/>
                </a:lnTo>
                <a:lnTo>
                  <a:pt x="76200" y="400812"/>
                </a:lnTo>
                <a:close/>
              </a:path>
              <a:path w="114300" h="857250">
                <a:moveTo>
                  <a:pt x="76200" y="477012"/>
                </a:moveTo>
                <a:lnTo>
                  <a:pt x="74723" y="469534"/>
                </a:lnTo>
                <a:lnTo>
                  <a:pt x="70675" y="463486"/>
                </a:lnTo>
                <a:lnTo>
                  <a:pt x="64627" y="459438"/>
                </a:lnTo>
                <a:lnTo>
                  <a:pt x="57150" y="457962"/>
                </a:lnTo>
                <a:lnTo>
                  <a:pt x="49994" y="459438"/>
                </a:lnTo>
                <a:lnTo>
                  <a:pt x="43910" y="463486"/>
                </a:lnTo>
                <a:lnTo>
                  <a:pt x="39683" y="469534"/>
                </a:lnTo>
                <a:lnTo>
                  <a:pt x="38100" y="477012"/>
                </a:lnTo>
                <a:lnTo>
                  <a:pt x="39683" y="484489"/>
                </a:lnTo>
                <a:lnTo>
                  <a:pt x="43910" y="490537"/>
                </a:lnTo>
                <a:lnTo>
                  <a:pt x="49994" y="494585"/>
                </a:lnTo>
                <a:lnTo>
                  <a:pt x="57150" y="496062"/>
                </a:lnTo>
                <a:lnTo>
                  <a:pt x="64627" y="494585"/>
                </a:lnTo>
                <a:lnTo>
                  <a:pt x="70675" y="490537"/>
                </a:lnTo>
                <a:lnTo>
                  <a:pt x="74723" y="484489"/>
                </a:lnTo>
                <a:lnTo>
                  <a:pt x="76200" y="477012"/>
                </a:lnTo>
                <a:close/>
              </a:path>
              <a:path w="114300" h="857250">
                <a:moveTo>
                  <a:pt x="76200" y="553212"/>
                </a:moveTo>
                <a:lnTo>
                  <a:pt x="74723" y="545734"/>
                </a:lnTo>
                <a:lnTo>
                  <a:pt x="70675" y="539686"/>
                </a:lnTo>
                <a:lnTo>
                  <a:pt x="64627" y="535638"/>
                </a:lnTo>
                <a:lnTo>
                  <a:pt x="57150" y="534162"/>
                </a:lnTo>
                <a:lnTo>
                  <a:pt x="49994" y="535638"/>
                </a:lnTo>
                <a:lnTo>
                  <a:pt x="43910" y="539686"/>
                </a:lnTo>
                <a:lnTo>
                  <a:pt x="39683" y="545734"/>
                </a:lnTo>
                <a:lnTo>
                  <a:pt x="38100" y="553212"/>
                </a:lnTo>
                <a:lnTo>
                  <a:pt x="39683" y="560689"/>
                </a:lnTo>
                <a:lnTo>
                  <a:pt x="43910" y="566737"/>
                </a:lnTo>
                <a:lnTo>
                  <a:pt x="49994" y="570785"/>
                </a:lnTo>
                <a:lnTo>
                  <a:pt x="57150" y="572262"/>
                </a:lnTo>
                <a:lnTo>
                  <a:pt x="64627" y="570785"/>
                </a:lnTo>
                <a:lnTo>
                  <a:pt x="70675" y="566737"/>
                </a:lnTo>
                <a:lnTo>
                  <a:pt x="74723" y="560689"/>
                </a:lnTo>
                <a:lnTo>
                  <a:pt x="76200" y="553212"/>
                </a:lnTo>
                <a:close/>
              </a:path>
              <a:path w="114300" h="857250">
                <a:moveTo>
                  <a:pt x="76200" y="629412"/>
                </a:moveTo>
                <a:lnTo>
                  <a:pt x="74723" y="621934"/>
                </a:lnTo>
                <a:lnTo>
                  <a:pt x="70675" y="615886"/>
                </a:lnTo>
                <a:lnTo>
                  <a:pt x="64627" y="611838"/>
                </a:lnTo>
                <a:lnTo>
                  <a:pt x="57150" y="610362"/>
                </a:lnTo>
                <a:lnTo>
                  <a:pt x="49994" y="611838"/>
                </a:lnTo>
                <a:lnTo>
                  <a:pt x="43910" y="615886"/>
                </a:lnTo>
                <a:lnTo>
                  <a:pt x="39683" y="621934"/>
                </a:lnTo>
                <a:lnTo>
                  <a:pt x="38100" y="629412"/>
                </a:lnTo>
                <a:lnTo>
                  <a:pt x="39683" y="636889"/>
                </a:lnTo>
                <a:lnTo>
                  <a:pt x="43910" y="642937"/>
                </a:lnTo>
                <a:lnTo>
                  <a:pt x="49994" y="646985"/>
                </a:lnTo>
                <a:lnTo>
                  <a:pt x="57150" y="648462"/>
                </a:lnTo>
                <a:lnTo>
                  <a:pt x="64627" y="646985"/>
                </a:lnTo>
                <a:lnTo>
                  <a:pt x="70675" y="642937"/>
                </a:lnTo>
                <a:lnTo>
                  <a:pt x="74723" y="636889"/>
                </a:lnTo>
                <a:lnTo>
                  <a:pt x="76200" y="629412"/>
                </a:lnTo>
                <a:close/>
              </a:path>
              <a:path w="114300" h="857250">
                <a:moveTo>
                  <a:pt x="76200" y="705612"/>
                </a:moveTo>
                <a:lnTo>
                  <a:pt x="74723" y="698134"/>
                </a:lnTo>
                <a:lnTo>
                  <a:pt x="70675" y="692086"/>
                </a:lnTo>
                <a:lnTo>
                  <a:pt x="64627" y="688038"/>
                </a:lnTo>
                <a:lnTo>
                  <a:pt x="57150" y="686562"/>
                </a:lnTo>
                <a:lnTo>
                  <a:pt x="49994" y="688038"/>
                </a:lnTo>
                <a:lnTo>
                  <a:pt x="43910" y="692086"/>
                </a:lnTo>
                <a:lnTo>
                  <a:pt x="39683" y="698134"/>
                </a:lnTo>
                <a:lnTo>
                  <a:pt x="38100" y="705612"/>
                </a:lnTo>
                <a:lnTo>
                  <a:pt x="39683" y="713089"/>
                </a:lnTo>
                <a:lnTo>
                  <a:pt x="43910" y="719137"/>
                </a:lnTo>
                <a:lnTo>
                  <a:pt x="49994" y="723185"/>
                </a:lnTo>
                <a:lnTo>
                  <a:pt x="57150" y="724662"/>
                </a:lnTo>
                <a:lnTo>
                  <a:pt x="64627" y="723185"/>
                </a:lnTo>
                <a:lnTo>
                  <a:pt x="70675" y="719137"/>
                </a:lnTo>
                <a:lnTo>
                  <a:pt x="74723" y="713089"/>
                </a:lnTo>
                <a:lnTo>
                  <a:pt x="76200" y="705612"/>
                </a:lnTo>
                <a:close/>
              </a:path>
              <a:path w="114300" h="857250">
                <a:moveTo>
                  <a:pt x="114300" y="742950"/>
                </a:moveTo>
                <a:lnTo>
                  <a:pt x="0" y="742950"/>
                </a:lnTo>
                <a:lnTo>
                  <a:pt x="57150" y="857250"/>
                </a:lnTo>
                <a:lnTo>
                  <a:pt x="114300" y="742950"/>
                </a:lnTo>
                <a:close/>
              </a:path>
            </a:pathLst>
          </a:custGeom>
          <a:solidFill>
            <a:srgbClr val="3333CC"/>
          </a:solidFill>
        </p:spPr>
        <p:txBody>
          <a:bodyPr wrap="square" lIns="0" tIns="0" rIns="0" bIns="0" rtlCol="0"/>
          <a:lstStyle/>
          <a:p>
            <a:endParaRPr/>
          </a:p>
        </p:txBody>
      </p:sp>
      <p:sp>
        <p:nvSpPr>
          <p:cNvPr id="28" name="object 28"/>
          <p:cNvSpPr/>
          <p:nvPr/>
        </p:nvSpPr>
        <p:spPr>
          <a:xfrm>
            <a:off x="3060826" y="6387846"/>
            <a:ext cx="5048250" cy="114300"/>
          </a:xfrm>
          <a:custGeom>
            <a:avLst/>
            <a:gdLst/>
            <a:ahLst/>
            <a:cxnLst/>
            <a:rect l="l" t="t" r="r" b="b"/>
            <a:pathLst>
              <a:path w="5048250" h="114300">
                <a:moveTo>
                  <a:pt x="5048250" y="57149"/>
                </a:moveTo>
                <a:lnTo>
                  <a:pt x="5046773" y="49994"/>
                </a:lnTo>
                <a:lnTo>
                  <a:pt x="5042725" y="43910"/>
                </a:lnTo>
                <a:lnTo>
                  <a:pt x="5036677" y="39683"/>
                </a:lnTo>
                <a:lnTo>
                  <a:pt x="5029200" y="38099"/>
                </a:lnTo>
                <a:lnTo>
                  <a:pt x="5022044" y="39683"/>
                </a:lnTo>
                <a:lnTo>
                  <a:pt x="5015960" y="43910"/>
                </a:lnTo>
                <a:lnTo>
                  <a:pt x="5011733" y="49994"/>
                </a:lnTo>
                <a:lnTo>
                  <a:pt x="5010150" y="57149"/>
                </a:lnTo>
                <a:lnTo>
                  <a:pt x="5011733" y="64627"/>
                </a:lnTo>
                <a:lnTo>
                  <a:pt x="5015960" y="70675"/>
                </a:lnTo>
                <a:lnTo>
                  <a:pt x="5022044" y="74723"/>
                </a:lnTo>
                <a:lnTo>
                  <a:pt x="5029200" y="76199"/>
                </a:lnTo>
                <a:lnTo>
                  <a:pt x="5036677" y="74723"/>
                </a:lnTo>
                <a:lnTo>
                  <a:pt x="5042725" y="70675"/>
                </a:lnTo>
                <a:lnTo>
                  <a:pt x="5046773" y="64627"/>
                </a:lnTo>
                <a:lnTo>
                  <a:pt x="5048250" y="57149"/>
                </a:lnTo>
                <a:close/>
              </a:path>
              <a:path w="5048250" h="114300">
                <a:moveTo>
                  <a:pt x="4972050" y="57149"/>
                </a:moveTo>
                <a:lnTo>
                  <a:pt x="4970573" y="49994"/>
                </a:lnTo>
                <a:lnTo>
                  <a:pt x="4966525" y="43910"/>
                </a:lnTo>
                <a:lnTo>
                  <a:pt x="4960477" y="39683"/>
                </a:lnTo>
                <a:lnTo>
                  <a:pt x="4953000" y="38099"/>
                </a:lnTo>
                <a:lnTo>
                  <a:pt x="4945844" y="39683"/>
                </a:lnTo>
                <a:lnTo>
                  <a:pt x="4939760" y="43910"/>
                </a:lnTo>
                <a:lnTo>
                  <a:pt x="4935533" y="49994"/>
                </a:lnTo>
                <a:lnTo>
                  <a:pt x="4933950" y="57149"/>
                </a:lnTo>
                <a:lnTo>
                  <a:pt x="4935533" y="64627"/>
                </a:lnTo>
                <a:lnTo>
                  <a:pt x="4939760" y="70675"/>
                </a:lnTo>
                <a:lnTo>
                  <a:pt x="4945844" y="74723"/>
                </a:lnTo>
                <a:lnTo>
                  <a:pt x="4953000" y="76199"/>
                </a:lnTo>
                <a:lnTo>
                  <a:pt x="4960477" y="74723"/>
                </a:lnTo>
                <a:lnTo>
                  <a:pt x="4966525" y="70675"/>
                </a:lnTo>
                <a:lnTo>
                  <a:pt x="4970573" y="64627"/>
                </a:lnTo>
                <a:lnTo>
                  <a:pt x="4972050" y="57149"/>
                </a:lnTo>
                <a:close/>
              </a:path>
              <a:path w="5048250" h="114300">
                <a:moveTo>
                  <a:pt x="4895850" y="57149"/>
                </a:moveTo>
                <a:lnTo>
                  <a:pt x="4894373" y="49994"/>
                </a:lnTo>
                <a:lnTo>
                  <a:pt x="4890325" y="43910"/>
                </a:lnTo>
                <a:lnTo>
                  <a:pt x="4884277" y="39683"/>
                </a:lnTo>
                <a:lnTo>
                  <a:pt x="4876800" y="38099"/>
                </a:lnTo>
                <a:lnTo>
                  <a:pt x="4869644" y="39683"/>
                </a:lnTo>
                <a:lnTo>
                  <a:pt x="4863560" y="43910"/>
                </a:lnTo>
                <a:lnTo>
                  <a:pt x="4859333" y="49994"/>
                </a:lnTo>
                <a:lnTo>
                  <a:pt x="4857750" y="57149"/>
                </a:lnTo>
                <a:lnTo>
                  <a:pt x="4859333" y="64627"/>
                </a:lnTo>
                <a:lnTo>
                  <a:pt x="4863560" y="70675"/>
                </a:lnTo>
                <a:lnTo>
                  <a:pt x="4869644" y="74723"/>
                </a:lnTo>
                <a:lnTo>
                  <a:pt x="4876800" y="76199"/>
                </a:lnTo>
                <a:lnTo>
                  <a:pt x="4884277" y="74723"/>
                </a:lnTo>
                <a:lnTo>
                  <a:pt x="4890325" y="70675"/>
                </a:lnTo>
                <a:lnTo>
                  <a:pt x="4894373" y="64627"/>
                </a:lnTo>
                <a:lnTo>
                  <a:pt x="4895850" y="57149"/>
                </a:lnTo>
                <a:close/>
              </a:path>
              <a:path w="5048250" h="114300">
                <a:moveTo>
                  <a:pt x="4819650" y="57149"/>
                </a:moveTo>
                <a:lnTo>
                  <a:pt x="4818173" y="49994"/>
                </a:lnTo>
                <a:lnTo>
                  <a:pt x="4814125" y="43910"/>
                </a:lnTo>
                <a:lnTo>
                  <a:pt x="4808077" y="39683"/>
                </a:lnTo>
                <a:lnTo>
                  <a:pt x="4800600" y="38099"/>
                </a:lnTo>
                <a:lnTo>
                  <a:pt x="4793122" y="39683"/>
                </a:lnTo>
                <a:lnTo>
                  <a:pt x="4787074" y="43910"/>
                </a:lnTo>
                <a:lnTo>
                  <a:pt x="4783026" y="49994"/>
                </a:lnTo>
                <a:lnTo>
                  <a:pt x="4781550" y="57149"/>
                </a:lnTo>
                <a:lnTo>
                  <a:pt x="4783026" y="64627"/>
                </a:lnTo>
                <a:lnTo>
                  <a:pt x="4787074" y="70675"/>
                </a:lnTo>
                <a:lnTo>
                  <a:pt x="4793122" y="74723"/>
                </a:lnTo>
                <a:lnTo>
                  <a:pt x="4800600" y="76199"/>
                </a:lnTo>
                <a:lnTo>
                  <a:pt x="4808077" y="74723"/>
                </a:lnTo>
                <a:lnTo>
                  <a:pt x="4814125" y="70675"/>
                </a:lnTo>
                <a:lnTo>
                  <a:pt x="4818173" y="64627"/>
                </a:lnTo>
                <a:lnTo>
                  <a:pt x="4819650" y="57149"/>
                </a:lnTo>
                <a:close/>
              </a:path>
              <a:path w="5048250" h="114300">
                <a:moveTo>
                  <a:pt x="4743450" y="57149"/>
                </a:moveTo>
                <a:lnTo>
                  <a:pt x="4741973" y="49994"/>
                </a:lnTo>
                <a:lnTo>
                  <a:pt x="4737925" y="43910"/>
                </a:lnTo>
                <a:lnTo>
                  <a:pt x="4731877" y="39683"/>
                </a:lnTo>
                <a:lnTo>
                  <a:pt x="4724400" y="38099"/>
                </a:lnTo>
                <a:lnTo>
                  <a:pt x="4716922" y="39683"/>
                </a:lnTo>
                <a:lnTo>
                  <a:pt x="4710874" y="43910"/>
                </a:lnTo>
                <a:lnTo>
                  <a:pt x="4706826" y="49994"/>
                </a:lnTo>
                <a:lnTo>
                  <a:pt x="4705350" y="57149"/>
                </a:lnTo>
                <a:lnTo>
                  <a:pt x="4706826" y="64627"/>
                </a:lnTo>
                <a:lnTo>
                  <a:pt x="4710874" y="70675"/>
                </a:lnTo>
                <a:lnTo>
                  <a:pt x="4716922" y="74723"/>
                </a:lnTo>
                <a:lnTo>
                  <a:pt x="4724400" y="76199"/>
                </a:lnTo>
                <a:lnTo>
                  <a:pt x="4731877" y="74723"/>
                </a:lnTo>
                <a:lnTo>
                  <a:pt x="4737925" y="70675"/>
                </a:lnTo>
                <a:lnTo>
                  <a:pt x="4741973" y="64627"/>
                </a:lnTo>
                <a:lnTo>
                  <a:pt x="4743450" y="57149"/>
                </a:lnTo>
                <a:close/>
              </a:path>
              <a:path w="5048250" h="114300">
                <a:moveTo>
                  <a:pt x="4667250" y="57149"/>
                </a:moveTo>
                <a:lnTo>
                  <a:pt x="4665773" y="49994"/>
                </a:lnTo>
                <a:lnTo>
                  <a:pt x="4661725" y="43910"/>
                </a:lnTo>
                <a:lnTo>
                  <a:pt x="4655677" y="39683"/>
                </a:lnTo>
                <a:lnTo>
                  <a:pt x="4648200" y="38099"/>
                </a:lnTo>
                <a:lnTo>
                  <a:pt x="4640722" y="39683"/>
                </a:lnTo>
                <a:lnTo>
                  <a:pt x="4634674" y="43910"/>
                </a:lnTo>
                <a:lnTo>
                  <a:pt x="4630626" y="49994"/>
                </a:lnTo>
                <a:lnTo>
                  <a:pt x="4629150" y="57149"/>
                </a:lnTo>
                <a:lnTo>
                  <a:pt x="4630626" y="64627"/>
                </a:lnTo>
                <a:lnTo>
                  <a:pt x="4634674" y="70675"/>
                </a:lnTo>
                <a:lnTo>
                  <a:pt x="4640722" y="74723"/>
                </a:lnTo>
                <a:lnTo>
                  <a:pt x="4648200" y="76199"/>
                </a:lnTo>
                <a:lnTo>
                  <a:pt x="4655677" y="74723"/>
                </a:lnTo>
                <a:lnTo>
                  <a:pt x="4661725" y="70675"/>
                </a:lnTo>
                <a:lnTo>
                  <a:pt x="4665773" y="64627"/>
                </a:lnTo>
                <a:lnTo>
                  <a:pt x="4667250" y="57149"/>
                </a:lnTo>
                <a:close/>
              </a:path>
              <a:path w="5048250" h="114300">
                <a:moveTo>
                  <a:pt x="4591050" y="57149"/>
                </a:moveTo>
                <a:lnTo>
                  <a:pt x="4589573" y="49994"/>
                </a:lnTo>
                <a:lnTo>
                  <a:pt x="4585525" y="43910"/>
                </a:lnTo>
                <a:lnTo>
                  <a:pt x="4579477" y="39683"/>
                </a:lnTo>
                <a:lnTo>
                  <a:pt x="4572000" y="38099"/>
                </a:lnTo>
                <a:lnTo>
                  <a:pt x="4564522" y="39683"/>
                </a:lnTo>
                <a:lnTo>
                  <a:pt x="4558474" y="43910"/>
                </a:lnTo>
                <a:lnTo>
                  <a:pt x="4554426" y="49994"/>
                </a:lnTo>
                <a:lnTo>
                  <a:pt x="4552950" y="57149"/>
                </a:lnTo>
                <a:lnTo>
                  <a:pt x="4554426" y="64627"/>
                </a:lnTo>
                <a:lnTo>
                  <a:pt x="4558474" y="70675"/>
                </a:lnTo>
                <a:lnTo>
                  <a:pt x="4564522" y="74723"/>
                </a:lnTo>
                <a:lnTo>
                  <a:pt x="4572000" y="76199"/>
                </a:lnTo>
                <a:lnTo>
                  <a:pt x="4579477" y="74723"/>
                </a:lnTo>
                <a:lnTo>
                  <a:pt x="4585525" y="70675"/>
                </a:lnTo>
                <a:lnTo>
                  <a:pt x="4589573" y="64627"/>
                </a:lnTo>
                <a:lnTo>
                  <a:pt x="4591050" y="57149"/>
                </a:lnTo>
                <a:close/>
              </a:path>
              <a:path w="5048250" h="114300">
                <a:moveTo>
                  <a:pt x="4514850" y="57149"/>
                </a:moveTo>
                <a:lnTo>
                  <a:pt x="4513373" y="49994"/>
                </a:lnTo>
                <a:lnTo>
                  <a:pt x="4509325" y="43910"/>
                </a:lnTo>
                <a:lnTo>
                  <a:pt x="4503277" y="39683"/>
                </a:lnTo>
                <a:lnTo>
                  <a:pt x="4495800" y="38099"/>
                </a:lnTo>
                <a:lnTo>
                  <a:pt x="4488322" y="39683"/>
                </a:lnTo>
                <a:lnTo>
                  <a:pt x="4482274" y="43910"/>
                </a:lnTo>
                <a:lnTo>
                  <a:pt x="4478226" y="49994"/>
                </a:lnTo>
                <a:lnTo>
                  <a:pt x="4476750" y="57149"/>
                </a:lnTo>
                <a:lnTo>
                  <a:pt x="4478226" y="64627"/>
                </a:lnTo>
                <a:lnTo>
                  <a:pt x="4482274" y="70675"/>
                </a:lnTo>
                <a:lnTo>
                  <a:pt x="4488322" y="74723"/>
                </a:lnTo>
                <a:lnTo>
                  <a:pt x="4495800" y="76199"/>
                </a:lnTo>
                <a:lnTo>
                  <a:pt x="4503277" y="74723"/>
                </a:lnTo>
                <a:lnTo>
                  <a:pt x="4509325" y="70675"/>
                </a:lnTo>
                <a:lnTo>
                  <a:pt x="4513373" y="64627"/>
                </a:lnTo>
                <a:lnTo>
                  <a:pt x="4514850" y="57149"/>
                </a:lnTo>
                <a:close/>
              </a:path>
              <a:path w="5048250" h="114300">
                <a:moveTo>
                  <a:pt x="4438650" y="57149"/>
                </a:moveTo>
                <a:lnTo>
                  <a:pt x="4437173" y="49994"/>
                </a:lnTo>
                <a:lnTo>
                  <a:pt x="4433125" y="43910"/>
                </a:lnTo>
                <a:lnTo>
                  <a:pt x="4427077" y="39683"/>
                </a:lnTo>
                <a:lnTo>
                  <a:pt x="4419600" y="38099"/>
                </a:lnTo>
                <a:lnTo>
                  <a:pt x="4412122" y="39683"/>
                </a:lnTo>
                <a:lnTo>
                  <a:pt x="4406074" y="43910"/>
                </a:lnTo>
                <a:lnTo>
                  <a:pt x="4402026" y="49994"/>
                </a:lnTo>
                <a:lnTo>
                  <a:pt x="4400550" y="57149"/>
                </a:lnTo>
                <a:lnTo>
                  <a:pt x="4402026" y="64627"/>
                </a:lnTo>
                <a:lnTo>
                  <a:pt x="4406074" y="70675"/>
                </a:lnTo>
                <a:lnTo>
                  <a:pt x="4412122" y="74723"/>
                </a:lnTo>
                <a:lnTo>
                  <a:pt x="4419600" y="76199"/>
                </a:lnTo>
                <a:lnTo>
                  <a:pt x="4427077" y="74723"/>
                </a:lnTo>
                <a:lnTo>
                  <a:pt x="4433125" y="70675"/>
                </a:lnTo>
                <a:lnTo>
                  <a:pt x="4437173" y="64627"/>
                </a:lnTo>
                <a:lnTo>
                  <a:pt x="4438650" y="57149"/>
                </a:lnTo>
                <a:close/>
              </a:path>
              <a:path w="5048250" h="114300">
                <a:moveTo>
                  <a:pt x="4362450" y="57149"/>
                </a:moveTo>
                <a:lnTo>
                  <a:pt x="4360973" y="49994"/>
                </a:lnTo>
                <a:lnTo>
                  <a:pt x="4356925" y="43910"/>
                </a:lnTo>
                <a:lnTo>
                  <a:pt x="4350877" y="39683"/>
                </a:lnTo>
                <a:lnTo>
                  <a:pt x="4343400" y="38099"/>
                </a:lnTo>
                <a:lnTo>
                  <a:pt x="4335922" y="39683"/>
                </a:lnTo>
                <a:lnTo>
                  <a:pt x="4329874" y="43910"/>
                </a:lnTo>
                <a:lnTo>
                  <a:pt x="4325826" y="49994"/>
                </a:lnTo>
                <a:lnTo>
                  <a:pt x="4324350" y="57149"/>
                </a:lnTo>
                <a:lnTo>
                  <a:pt x="4325826" y="64627"/>
                </a:lnTo>
                <a:lnTo>
                  <a:pt x="4329874" y="70675"/>
                </a:lnTo>
                <a:lnTo>
                  <a:pt x="4335922" y="74723"/>
                </a:lnTo>
                <a:lnTo>
                  <a:pt x="4343400" y="76199"/>
                </a:lnTo>
                <a:lnTo>
                  <a:pt x="4350877" y="74723"/>
                </a:lnTo>
                <a:lnTo>
                  <a:pt x="4356925" y="70675"/>
                </a:lnTo>
                <a:lnTo>
                  <a:pt x="4360973" y="64627"/>
                </a:lnTo>
                <a:lnTo>
                  <a:pt x="4362450" y="57149"/>
                </a:lnTo>
                <a:close/>
              </a:path>
              <a:path w="5048250" h="114300">
                <a:moveTo>
                  <a:pt x="4286250" y="57149"/>
                </a:moveTo>
                <a:lnTo>
                  <a:pt x="4284773" y="49994"/>
                </a:lnTo>
                <a:lnTo>
                  <a:pt x="4280725" y="43910"/>
                </a:lnTo>
                <a:lnTo>
                  <a:pt x="4274677" y="39683"/>
                </a:lnTo>
                <a:lnTo>
                  <a:pt x="4267200" y="38099"/>
                </a:lnTo>
                <a:lnTo>
                  <a:pt x="4259722" y="39683"/>
                </a:lnTo>
                <a:lnTo>
                  <a:pt x="4253674" y="43910"/>
                </a:lnTo>
                <a:lnTo>
                  <a:pt x="4249626" y="49994"/>
                </a:lnTo>
                <a:lnTo>
                  <a:pt x="4248150" y="57149"/>
                </a:lnTo>
                <a:lnTo>
                  <a:pt x="4249626" y="64627"/>
                </a:lnTo>
                <a:lnTo>
                  <a:pt x="4253674" y="70675"/>
                </a:lnTo>
                <a:lnTo>
                  <a:pt x="4259722" y="74723"/>
                </a:lnTo>
                <a:lnTo>
                  <a:pt x="4267200" y="76199"/>
                </a:lnTo>
                <a:lnTo>
                  <a:pt x="4274677" y="74723"/>
                </a:lnTo>
                <a:lnTo>
                  <a:pt x="4280725" y="70675"/>
                </a:lnTo>
                <a:lnTo>
                  <a:pt x="4284773" y="64627"/>
                </a:lnTo>
                <a:lnTo>
                  <a:pt x="4286250" y="57149"/>
                </a:lnTo>
                <a:close/>
              </a:path>
              <a:path w="5048250" h="114300">
                <a:moveTo>
                  <a:pt x="4210050" y="57149"/>
                </a:moveTo>
                <a:lnTo>
                  <a:pt x="4208573" y="49994"/>
                </a:lnTo>
                <a:lnTo>
                  <a:pt x="4204525" y="43910"/>
                </a:lnTo>
                <a:lnTo>
                  <a:pt x="4198477" y="39683"/>
                </a:lnTo>
                <a:lnTo>
                  <a:pt x="4191000" y="38099"/>
                </a:lnTo>
                <a:lnTo>
                  <a:pt x="4183522" y="39683"/>
                </a:lnTo>
                <a:lnTo>
                  <a:pt x="4177474" y="43910"/>
                </a:lnTo>
                <a:lnTo>
                  <a:pt x="4173426" y="49994"/>
                </a:lnTo>
                <a:lnTo>
                  <a:pt x="4171950" y="57149"/>
                </a:lnTo>
                <a:lnTo>
                  <a:pt x="4173426" y="64627"/>
                </a:lnTo>
                <a:lnTo>
                  <a:pt x="4177474" y="70675"/>
                </a:lnTo>
                <a:lnTo>
                  <a:pt x="4183522" y="74723"/>
                </a:lnTo>
                <a:lnTo>
                  <a:pt x="4191000" y="76199"/>
                </a:lnTo>
                <a:lnTo>
                  <a:pt x="4198477" y="74723"/>
                </a:lnTo>
                <a:lnTo>
                  <a:pt x="4204525" y="70675"/>
                </a:lnTo>
                <a:lnTo>
                  <a:pt x="4208573" y="64627"/>
                </a:lnTo>
                <a:lnTo>
                  <a:pt x="4210050" y="57149"/>
                </a:lnTo>
                <a:close/>
              </a:path>
              <a:path w="5048250" h="114300">
                <a:moveTo>
                  <a:pt x="4133850" y="57149"/>
                </a:moveTo>
                <a:lnTo>
                  <a:pt x="4132373" y="49994"/>
                </a:lnTo>
                <a:lnTo>
                  <a:pt x="4128325" y="43910"/>
                </a:lnTo>
                <a:lnTo>
                  <a:pt x="4122277" y="39683"/>
                </a:lnTo>
                <a:lnTo>
                  <a:pt x="4114800" y="38099"/>
                </a:lnTo>
                <a:lnTo>
                  <a:pt x="4107322" y="39683"/>
                </a:lnTo>
                <a:lnTo>
                  <a:pt x="4101274" y="43910"/>
                </a:lnTo>
                <a:lnTo>
                  <a:pt x="4097226" y="49994"/>
                </a:lnTo>
                <a:lnTo>
                  <a:pt x="4095750" y="57149"/>
                </a:lnTo>
                <a:lnTo>
                  <a:pt x="4097226" y="64627"/>
                </a:lnTo>
                <a:lnTo>
                  <a:pt x="4101274" y="70675"/>
                </a:lnTo>
                <a:lnTo>
                  <a:pt x="4107322" y="74723"/>
                </a:lnTo>
                <a:lnTo>
                  <a:pt x="4114800" y="76199"/>
                </a:lnTo>
                <a:lnTo>
                  <a:pt x="4122277" y="74723"/>
                </a:lnTo>
                <a:lnTo>
                  <a:pt x="4128325" y="70675"/>
                </a:lnTo>
                <a:lnTo>
                  <a:pt x="4132373" y="64627"/>
                </a:lnTo>
                <a:lnTo>
                  <a:pt x="4133850" y="57149"/>
                </a:lnTo>
                <a:close/>
              </a:path>
              <a:path w="5048250" h="114300">
                <a:moveTo>
                  <a:pt x="4057650" y="57149"/>
                </a:moveTo>
                <a:lnTo>
                  <a:pt x="4056173" y="49994"/>
                </a:lnTo>
                <a:lnTo>
                  <a:pt x="4052125" y="43910"/>
                </a:lnTo>
                <a:lnTo>
                  <a:pt x="4046077" y="39683"/>
                </a:lnTo>
                <a:lnTo>
                  <a:pt x="4038600" y="38099"/>
                </a:lnTo>
                <a:lnTo>
                  <a:pt x="4031122" y="39683"/>
                </a:lnTo>
                <a:lnTo>
                  <a:pt x="4025074" y="43910"/>
                </a:lnTo>
                <a:lnTo>
                  <a:pt x="4021026" y="49994"/>
                </a:lnTo>
                <a:lnTo>
                  <a:pt x="4019550" y="57149"/>
                </a:lnTo>
                <a:lnTo>
                  <a:pt x="4021026" y="64627"/>
                </a:lnTo>
                <a:lnTo>
                  <a:pt x="4025074" y="70675"/>
                </a:lnTo>
                <a:lnTo>
                  <a:pt x="4031122" y="74723"/>
                </a:lnTo>
                <a:lnTo>
                  <a:pt x="4038600" y="76199"/>
                </a:lnTo>
                <a:lnTo>
                  <a:pt x="4046077" y="74723"/>
                </a:lnTo>
                <a:lnTo>
                  <a:pt x="4052125" y="70675"/>
                </a:lnTo>
                <a:lnTo>
                  <a:pt x="4056173" y="64627"/>
                </a:lnTo>
                <a:lnTo>
                  <a:pt x="4057650" y="57149"/>
                </a:lnTo>
                <a:close/>
              </a:path>
              <a:path w="5048250" h="114300">
                <a:moveTo>
                  <a:pt x="3981450" y="57149"/>
                </a:moveTo>
                <a:lnTo>
                  <a:pt x="3979973" y="49994"/>
                </a:lnTo>
                <a:lnTo>
                  <a:pt x="3975925" y="43910"/>
                </a:lnTo>
                <a:lnTo>
                  <a:pt x="3969877" y="39683"/>
                </a:lnTo>
                <a:lnTo>
                  <a:pt x="3962400" y="38099"/>
                </a:lnTo>
                <a:lnTo>
                  <a:pt x="3954922" y="39683"/>
                </a:lnTo>
                <a:lnTo>
                  <a:pt x="3948874" y="43910"/>
                </a:lnTo>
                <a:lnTo>
                  <a:pt x="3944826" y="49994"/>
                </a:lnTo>
                <a:lnTo>
                  <a:pt x="3943350" y="57149"/>
                </a:lnTo>
                <a:lnTo>
                  <a:pt x="3944826" y="64627"/>
                </a:lnTo>
                <a:lnTo>
                  <a:pt x="3948874" y="70675"/>
                </a:lnTo>
                <a:lnTo>
                  <a:pt x="3954922" y="74723"/>
                </a:lnTo>
                <a:lnTo>
                  <a:pt x="3962400" y="76199"/>
                </a:lnTo>
                <a:lnTo>
                  <a:pt x="3969877" y="74723"/>
                </a:lnTo>
                <a:lnTo>
                  <a:pt x="3975925" y="70675"/>
                </a:lnTo>
                <a:lnTo>
                  <a:pt x="3979973" y="64627"/>
                </a:lnTo>
                <a:lnTo>
                  <a:pt x="3981450" y="57149"/>
                </a:lnTo>
                <a:close/>
              </a:path>
              <a:path w="5048250" h="114300">
                <a:moveTo>
                  <a:pt x="3905250" y="57149"/>
                </a:moveTo>
                <a:lnTo>
                  <a:pt x="3903773" y="49994"/>
                </a:lnTo>
                <a:lnTo>
                  <a:pt x="3899725" y="43910"/>
                </a:lnTo>
                <a:lnTo>
                  <a:pt x="3893677" y="39683"/>
                </a:lnTo>
                <a:lnTo>
                  <a:pt x="3886200" y="38099"/>
                </a:lnTo>
                <a:lnTo>
                  <a:pt x="3878722" y="39683"/>
                </a:lnTo>
                <a:lnTo>
                  <a:pt x="3872674" y="43910"/>
                </a:lnTo>
                <a:lnTo>
                  <a:pt x="3868626" y="49994"/>
                </a:lnTo>
                <a:lnTo>
                  <a:pt x="3867150" y="57149"/>
                </a:lnTo>
                <a:lnTo>
                  <a:pt x="3868626" y="64627"/>
                </a:lnTo>
                <a:lnTo>
                  <a:pt x="3872674" y="70675"/>
                </a:lnTo>
                <a:lnTo>
                  <a:pt x="3878722" y="74723"/>
                </a:lnTo>
                <a:lnTo>
                  <a:pt x="3886200" y="76199"/>
                </a:lnTo>
                <a:lnTo>
                  <a:pt x="3893677" y="74723"/>
                </a:lnTo>
                <a:lnTo>
                  <a:pt x="3899725" y="70675"/>
                </a:lnTo>
                <a:lnTo>
                  <a:pt x="3903773" y="64627"/>
                </a:lnTo>
                <a:lnTo>
                  <a:pt x="3905250" y="57149"/>
                </a:lnTo>
                <a:close/>
              </a:path>
              <a:path w="5048250" h="114300">
                <a:moveTo>
                  <a:pt x="3829050" y="57149"/>
                </a:moveTo>
                <a:lnTo>
                  <a:pt x="3827466" y="49994"/>
                </a:lnTo>
                <a:lnTo>
                  <a:pt x="3823239" y="43910"/>
                </a:lnTo>
                <a:lnTo>
                  <a:pt x="3817155" y="39683"/>
                </a:lnTo>
                <a:lnTo>
                  <a:pt x="3810000" y="38099"/>
                </a:lnTo>
                <a:lnTo>
                  <a:pt x="3802522" y="39683"/>
                </a:lnTo>
                <a:lnTo>
                  <a:pt x="3796474" y="43910"/>
                </a:lnTo>
                <a:lnTo>
                  <a:pt x="3792426" y="49994"/>
                </a:lnTo>
                <a:lnTo>
                  <a:pt x="3790950" y="57149"/>
                </a:lnTo>
                <a:lnTo>
                  <a:pt x="3792426" y="64627"/>
                </a:lnTo>
                <a:lnTo>
                  <a:pt x="3796474" y="70675"/>
                </a:lnTo>
                <a:lnTo>
                  <a:pt x="3802522" y="74723"/>
                </a:lnTo>
                <a:lnTo>
                  <a:pt x="3810000" y="76199"/>
                </a:lnTo>
                <a:lnTo>
                  <a:pt x="3817155" y="74723"/>
                </a:lnTo>
                <a:lnTo>
                  <a:pt x="3823239" y="70675"/>
                </a:lnTo>
                <a:lnTo>
                  <a:pt x="3827466" y="64627"/>
                </a:lnTo>
                <a:lnTo>
                  <a:pt x="3829050" y="57149"/>
                </a:lnTo>
                <a:close/>
              </a:path>
              <a:path w="5048250" h="114300">
                <a:moveTo>
                  <a:pt x="3752850" y="57149"/>
                </a:moveTo>
                <a:lnTo>
                  <a:pt x="3751266" y="49994"/>
                </a:lnTo>
                <a:lnTo>
                  <a:pt x="3747039" y="43910"/>
                </a:lnTo>
                <a:lnTo>
                  <a:pt x="3740955" y="39683"/>
                </a:lnTo>
                <a:lnTo>
                  <a:pt x="3733800" y="38099"/>
                </a:lnTo>
                <a:lnTo>
                  <a:pt x="3726322" y="39683"/>
                </a:lnTo>
                <a:lnTo>
                  <a:pt x="3720274" y="43910"/>
                </a:lnTo>
                <a:lnTo>
                  <a:pt x="3716226" y="49994"/>
                </a:lnTo>
                <a:lnTo>
                  <a:pt x="3714750" y="57149"/>
                </a:lnTo>
                <a:lnTo>
                  <a:pt x="3716226" y="64627"/>
                </a:lnTo>
                <a:lnTo>
                  <a:pt x="3720274" y="70675"/>
                </a:lnTo>
                <a:lnTo>
                  <a:pt x="3726322" y="74723"/>
                </a:lnTo>
                <a:lnTo>
                  <a:pt x="3733800" y="76199"/>
                </a:lnTo>
                <a:lnTo>
                  <a:pt x="3740955" y="74723"/>
                </a:lnTo>
                <a:lnTo>
                  <a:pt x="3747039" y="70675"/>
                </a:lnTo>
                <a:lnTo>
                  <a:pt x="3751266" y="64627"/>
                </a:lnTo>
                <a:lnTo>
                  <a:pt x="3752850" y="57149"/>
                </a:lnTo>
                <a:close/>
              </a:path>
              <a:path w="5048250" h="114300">
                <a:moveTo>
                  <a:pt x="3676650" y="57149"/>
                </a:moveTo>
                <a:lnTo>
                  <a:pt x="3675066" y="49994"/>
                </a:lnTo>
                <a:lnTo>
                  <a:pt x="3670839" y="43910"/>
                </a:lnTo>
                <a:lnTo>
                  <a:pt x="3664755" y="39683"/>
                </a:lnTo>
                <a:lnTo>
                  <a:pt x="3657600" y="38099"/>
                </a:lnTo>
                <a:lnTo>
                  <a:pt x="3650122" y="39683"/>
                </a:lnTo>
                <a:lnTo>
                  <a:pt x="3644074" y="43910"/>
                </a:lnTo>
                <a:lnTo>
                  <a:pt x="3640026" y="49994"/>
                </a:lnTo>
                <a:lnTo>
                  <a:pt x="3638550" y="57149"/>
                </a:lnTo>
                <a:lnTo>
                  <a:pt x="3640026" y="64627"/>
                </a:lnTo>
                <a:lnTo>
                  <a:pt x="3644074" y="70675"/>
                </a:lnTo>
                <a:lnTo>
                  <a:pt x="3650122" y="74723"/>
                </a:lnTo>
                <a:lnTo>
                  <a:pt x="3657600" y="76199"/>
                </a:lnTo>
                <a:lnTo>
                  <a:pt x="3664755" y="74723"/>
                </a:lnTo>
                <a:lnTo>
                  <a:pt x="3670839" y="70675"/>
                </a:lnTo>
                <a:lnTo>
                  <a:pt x="3675066" y="64627"/>
                </a:lnTo>
                <a:lnTo>
                  <a:pt x="3676650" y="57149"/>
                </a:lnTo>
                <a:close/>
              </a:path>
              <a:path w="5048250" h="114300">
                <a:moveTo>
                  <a:pt x="3600450" y="57149"/>
                </a:moveTo>
                <a:lnTo>
                  <a:pt x="3598866" y="49994"/>
                </a:lnTo>
                <a:lnTo>
                  <a:pt x="3594639" y="43910"/>
                </a:lnTo>
                <a:lnTo>
                  <a:pt x="3588555" y="39683"/>
                </a:lnTo>
                <a:lnTo>
                  <a:pt x="3581400" y="38099"/>
                </a:lnTo>
                <a:lnTo>
                  <a:pt x="3580638" y="38099"/>
                </a:lnTo>
                <a:lnTo>
                  <a:pt x="3573482" y="39683"/>
                </a:lnTo>
                <a:lnTo>
                  <a:pt x="3567398" y="43910"/>
                </a:lnTo>
                <a:lnTo>
                  <a:pt x="3563171" y="49994"/>
                </a:lnTo>
                <a:lnTo>
                  <a:pt x="3561588" y="57149"/>
                </a:lnTo>
                <a:lnTo>
                  <a:pt x="3563171" y="64627"/>
                </a:lnTo>
                <a:lnTo>
                  <a:pt x="3567398" y="70675"/>
                </a:lnTo>
                <a:lnTo>
                  <a:pt x="3573482" y="74723"/>
                </a:lnTo>
                <a:lnTo>
                  <a:pt x="3580638" y="76199"/>
                </a:lnTo>
                <a:lnTo>
                  <a:pt x="3581400" y="76199"/>
                </a:lnTo>
                <a:lnTo>
                  <a:pt x="3588555" y="74723"/>
                </a:lnTo>
                <a:lnTo>
                  <a:pt x="3594639" y="70675"/>
                </a:lnTo>
                <a:lnTo>
                  <a:pt x="3598866" y="64627"/>
                </a:lnTo>
                <a:lnTo>
                  <a:pt x="3600450" y="57149"/>
                </a:lnTo>
                <a:close/>
              </a:path>
              <a:path w="5048250" h="114300">
                <a:moveTo>
                  <a:pt x="3523488" y="57149"/>
                </a:moveTo>
                <a:lnTo>
                  <a:pt x="3522011" y="49994"/>
                </a:lnTo>
                <a:lnTo>
                  <a:pt x="3517963" y="43910"/>
                </a:lnTo>
                <a:lnTo>
                  <a:pt x="3511915" y="39683"/>
                </a:lnTo>
                <a:lnTo>
                  <a:pt x="3504438" y="38099"/>
                </a:lnTo>
                <a:lnTo>
                  <a:pt x="3497282" y="39683"/>
                </a:lnTo>
                <a:lnTo>
                  <a:pt x="3491198" y="43910"/>
                </a:lnTo>
                <a:lnTo>
                  <a:pt x="3486971" y="49994"/>
                </a:lnTo>
                <a:lnTo>
                  <a:pt x="3485388" y="57149"/>
                </a:lnTo>
                <a:lnTo>
                  <a:pt x="3486971" y="64627"/>
                </a:lnTo>
                <a:lnTo>
                  <a:pt x="3491198" y="70675"/>
                </a:lnTo>
                <a:lnTo>
                  <a:pt x="3497282" y="74723"/>
                </a:lnTo>
                <a:lnTo>
                  <a:pt x="3504438" y="76199"/>
                </a:lnTo>
                <a:lnTo>
                  <a:pt x="3511915" y="74723"/>
                </a:lnTo>
                <a:lnTo>
                  <a:pt x="3517963" y="70675"/>
                </a:lnTo>
                <a:lnTo>
                  <a:pt x="3522011" y="64627"/>
                </a:lnTo>
                <a:lnTo>
                  <a:pt x="3523488" y="57149"/>
                </a:lnTo>
                <a:close/>
              </a:path>
              <a:path w="5048250" h="114300">
                <a:moveTo>
                  <a:pt x="3447288" y="57149"/>
                </a:moveTo>
                <a:lnTo>
                  <a:pt x="3445811" y="49994"/>
                </a:lnTo>
                <a:lnTo>
                  <a:pt x="3441763" y="43910"/>
                </a:lnTo>
                <a:lnTo>
                  <a:pt x="3435715" y="39683"/>
                </a:lnTo>
                <a:lnTo>
                  <a:pt x="3428238" y="38099"/>
                </a:lnTo>
                <a:lnTo>
                  <a:pt x="3421082" y="39683"/>
                </a:lnTo>
                <a:lnTo>
                  <a:pt x="3414998" y="43910"/>
                </a:lnTo>
                <a:lnTo>
                  <a:pt x="3410771" y="49994"/>
                </a:lnTo>
                <a:lnTo>
                  <a:pt x="3409188" y="57149"/>
                </a:lnTo>
                <a:lnTo>
                  <a:pt x="3410771" y="64627"/>
                </a:lnTo>
                <a:lnTo>
                  <a:pt x="3414998" y="70675"/>
                </a:lnTo>
                <a:lnTo>
                  <a:pt x="3421082" y="74723"/>
                </a:lnTo>
                <a:lnTo>
                  <a:pt x="3428238" y="76199"/>
                </a:lnTo>
                <a:lnTo>
                  <a:pt x="3435715" y="74723"/>
                </a:lnTo>
                <a:lnTo>
                  <a:pt x="3441763" y="70675"/>
                </a:lnTo>
                <a:lnTo>
                  <a:pt x="3445811" y="64627"/>
                </a:lnTo>
                <a:lnTo>
                  <a:pt x="3447288" y="57149"/>
                </a:lnTo>
                <a:close/>
              </a:path>
              <a:path w="5048250" h="114300">
                <a:moveTo>
                  <a:pt x="3371088" y="57149"/>
                </a:moveTo>
                <a:lnTo>
                  <a:pt x="3369611" y="49994"/>
                </a:lnTo>
                <a:lnTo>
                  <a:pt x="3365563" y="43910"/>
                </a:lnTo>
                <a:lnTo>
                  <a:pt x="3359515" y="39683"/>
                </a:lnTo>
                <a:lnTo>
                  <a:pt x="3352038" y="38099"/>
                </a:lnTo>
                <a:lnTo>
                  <a:pt x="3344882" y="39683"/>
                </a:lnTo>
                <a:lnTo>
                  <a:pt x="3338798" y="43910"/>
                </a:lnTo>
                <a:lnTo>
                  <a:pt x="3334571" y="49994"/>
                </a:lnTo>
                <a:lnTo>
                  <a:pt x="3332988" y="57149"/>
                </a:lnTo>
                <a:lnTo>
                  <a:pt x="3334571" y="64627"/>
                </a:lnTo>
                <a:lnTo>
                  <a:pt x="3338798" y="70675"/>
                </a:lnTo>
                <a:lnTo>
                  <a:pt x="3344882" y="74723"/>
                </a:lnTo>
                <a:lnTo>
                  <a:pt x="3352038" y="76199"/>
                </a:lnTo>
                <a:lnTo>
                  <a:pt x="3359515" y="74723"/>
                </a:lnTo>
                <a:lnTo>
                  <a:pt x="3365563" y="70675"/>
                </a:lnTo>
                <a:lnTo>
                  <a:pt x="3369611" y="64627"/>
                </a:lnTo>
                <a:lnTo>
                  <a:pt x="3371088" y="57149"/>
                </a:lnTo>
                <a:close/>
              </a:path>
              <a:path w="5048250" h="114300">
                <a:moveTo>
                  <a:pt x="3294888" y="57149"/>
                </a:moveTo>
                <a:lnTo>
                  <a:pt x="3293411" y="49994"/>
                </a:lnTo>
                <a:lnTo>
                  <a:pt x="3289363" y="43910"/>
                </a:lnTo>
                <a:lnTo>
                  <a:pt x="3283315" y="39683"/>
                </a:lnTo>
                <a:lnTo>
                  <a:pt x="3275838" y="38099"/>
                </a:lnTo>
                <a:lnTo>
                  <a:pt x="3268360" y="39683"/>
                </a:lnTo>
                <a:lnTo>
                  <a:pt x="3262312" y="43910"/>
                </a:lnTo>
                <a:lnTo>
                  <a:pt x="3258264" y="49994"/>
                </a:lnTo>
                <a:lnTo>
                  <a:pt x="3256788" y="57149"/>
                </a:lnTo>
                <a:lnTo>
                  <a:pt x="3258264" y="64627"/>
                </a:lnTo>
                <a:lnTo>
                  <a:pt x="3262312" y="70675"/>
                </a:lnTo>
                <a:lnTo>
                  <a:pt x="3268360" y="74723"/>
                </a:lnTo>
                <a:lnTo>
                  <a:pt x="3275838" y="76199"/>
                </a:lnTo>
                <a:lnTo>
                  <a:pt x="3283315" y="74723"/>
                </a:lnTo>
                <a:lnTo>
                  <a:pt x="3289363" y="70675"/>
                </a:lnTo>
                <a:lnTo>
                  <a:pt x="3293411" y="64627"/>
                </a:lnTo>
                <a:lnTo>
                  <a:pt x="3294888" y="57149"/>
                </a:lnTo>
                <a:close/>
              </a:path>
              <a:path w="5048250" h="114300">
                <a:moveTo>
                  <a:pt x="3218688" y="57149"/>
                </a:moveTo>
                <a:lnTo>
                  <a:pt x="3217211" y="49994"/>
                </a:lnTo>
                <a:lnTo>
                  <a:pt x="3213163" y="43910"/>
                </a:lnTo>
                <a:lnTo>
                  <a:pt x="3207115" y="39683"/>
                </a:lnTo>
                <a:lnTo>
                  <a:pt x="3199638" y="38099"/>
                </a:lnTo>
                <a:lnTo>
                  <a:pt x="3192160" y="39683"/>
                </a:lnTo>
                <a:lnTo>
                  <a:pt x="3186112" y="43910"/>
                </a:lnTo>
                <a:lnTo>
                  <a:pt x="3182064" y="49994"/>
                </a:lnTo>
                <a:lnTo>
                  <a:pt x="3180588" y="57149"/>
                </a:lnTo>
                <a:lnTo>
                  <a:pt x="3182064" y="64627"/>
                </a:lnTo>
                <a:lnTo>
                  <a:pt x="3186112" y="70675"/>
                </a:lnTo>
                <a:lnTo>
                  <a:pt x="3192160" y="74723"/>
                </a:lnTo>
                <a:lnTo>
                  <a:pt x="3199638" y="76199"/>
                </a:lnTo>
                <a:lnTo>
                  <a:pt x="3207115" y="74723"/>
                </a:lnTo>
                <a:lnTo>
                  <a:pt x="3213163" y="70675"/>
                </a:lnTo>
                <a:lnTo>
                  <a:pt x="3217211" y="64627"/>
                </a:lnTo>
                <a:lnTo>
                  <a:pt x="3218688" y="57149"/>
                </a:lnTo>
                <a:close/>
              </a:path>
              <a:path w="5048250" h="114300">
                <a:moveTo>
                  <a:pt x="3142488" y="57149"/>
                </a:moveTo>
                <a:lnTo>
                  <a:pt x="3141011" y="49994"/>
                </a:lnTo>
                <a:lnTo>
                  <a:pt x="3136963" y="43910"/>
                </a:lnTo>
                <a:lnTo>
                  <a:pt x="3130915" y="39683"/>
                </a:lnTo>
                <a:lnTo>
                  <a:pt x="3123438" y="38099"/>
                </a:lnTo>
                <a:lnTo>
                  <a:pt x="3115960" y="39683"/>
                </a:lnTo>
                <a:lnTo>
                  <a:pt x="3109912" y="43910"/>
                </a:lnTo>
                <a:lnTo>
                  <a:pt x="3105864" y="49994"/>
                </a:lnTo>
                <a:lnTo>
                  <a:pt x="3104388" y="57149"/>
                </a:lnTo>
                <a:lnTo>
                  <a:pt x="3105864" y="64627"/>
                </a:lnTo>
                <a:lnTo>
                  <a:pt x="3109912" y="70675"/>
                </a:lnTo>
                <a:lnTo>
                  <a:pt x="3115960" y="74723"/>
                </a:lnTo>
                <a:lnTo>
                  <a:pt x="3123438" y="76199"/>
                </a:lnTo>
                <a:lnTo>
                  <a:pt x="3130915" y="74723"/>
                </a:lnTo>
                <a:lnTo>
                  <a:pt x="3136963" y="70675"/>
                </a:lnTo>
                <a:lnTo>
                  <a:pt x="3141011" y="64627"/>
                </a:lnTo>
                <a:lnTo>
                  <a:pt x="3142488" y="57149"/>
                </a:lnTo>
                <a:close/>
              </a:path>
              <a:path w="5048250" h="114300">
                <a:moveTo>
                  <a:pt x="3066288" y="57149"/>
                </a:moveTo>
                <a:lnTo>
                  <a:pt x="3064811" y="49994"/>
                </a:lnTo>
                <a:lnTo>
                  <a:pt x="3060763" y="43910"/>
                </a:lnTo>
                <a:lnTo>
                  <a:pt x="3054715" y="39683"/>
                </a:lnTo>
                <a:lnTo>
                  <a:pt x="3047238" y="38099"/>
                </a:lnTo>
                <a:lnTo>
                  <a:pt x="3039760" y="39683"/>
                </a:lnTo>
                <a:lnTo>
                  <a:pt x="3033712" y="43910"/>
                </a:lnTo>
                <a:lnTo>
                  <a:pt x="3029664" y="49994"/>
                </a:lnTo>
                <a:lnTo>
                  <a:pt x="3028188" y="57149"/>
                </a:lnTo>
                <a:lnTo>
                  <a:pt x="3029664" y="64627"/>
                </a:lnTo>
                <a:lnTo>
                  <a:pt x="3033712" y="70675"/>
                </a:lnTo>
                <a:lnTo>
                  <a:pt x="3039760" y="74723"/>
                </a:lnTo>
                <a:lnTo>
                  <a:pt x="3047238" y="76199"/>
                </a:lnTo>
                <a:lnTo>
                  <a:pt x="3054715" y="74723"/>
                </a:lnTo>
                <a:lnTo>
                  <a:pt x="3060763" y="70675"/>
                </a:lnTo>
                <a:lnTo>
                  <a:pt x="3064811" y="64627"/>
                </a:lnTo>
                <a:lnTo>
                  <a:pt x="3066288" y="57149"/>
                </a:lnTo>
                <a:close/>
              </a:path>
              <a:path w="5048250" h="114300">
                <a:moveTo>
                  <a:pt x="2990088" y="57149"/>
                </a:moveTo>
                <a:lnTo>
                  <a:pt x="2988611" y="49994"/>
                </a:lnTo>
                <a:lnTo>
                  <a:pt x="2984563" y="43910"/>
                </a:lnTo>
                <a:lnTo>
                  <a:pt x="2978515" y="39683"/>
                </a:lnTo>
                <a:lnTo>
                  <a:pt x="2971038" y="38099"/>
                </a:lnTo>
                <a:lnTo>
                  <a:pt x="2963560" y="39683"/>
                </a:lnTo>
                <a:lnTo>
                  <a:pt x="2957512" y="43910"/>
                </a:lnTo>
                <a:lnTo>
                  <a:pt x="2953464" y="49994"/>
                </a:lnTo>
                <a:lnTo>
                  <a:pt x="2951988" y="57149"/>
                </a:lnTo>
                <a:lnTo>
                  <a:pt x="2953464" y="64627"/>
                </a:lnTo>
                <a:lnTo>
                  <a:pt x="2957512" y="70675"/>
                </a:lnTo>
                <a:lnTo>
                  <a:pt x="2963560" y="74723"/>
                </a:lnTo>
                <a:lnTo>
                  <a:pt x="2971038" y="76199"/>
                </a:lnTo>
                <a:lnTo>
                  <a:pt x="2978515" y="74723"/>
                </a:lnTo>
                <a:lnTo>
                  <a:pt x="2984563" y="70675"/>
                </a:lnTo>
                <a:lnTo>
                  <a:pt x="2988611" y="64627"/>
                </a:lnTo>
                <a:lnTo>
                  <a:pt x="2990088" y="57149"/>
                </a:lnTo>
                <a:close/>
              </a:path>
              <a:path w="5048250" h="114300">
                <a:moveTo>
                  <a:pt x="2913888" y="57149"/>
                </a:moveTo>
                <a:lnTo>
                  <a:pt x="2912411" y="49994"/>
                </a:lnTo>
                <a:lnTo>
                  <a:pt x="2908363" y="43910"/>
                </a:lnTo>
                <a:lnTo>
                  <a:pt x="2902315" y="39683"/>
                </a:lnTo>
                <a:lnTo>
                  <a:pt x="2894838" y="38099"/>
                </a:lnTo>
                <a:lnTo>
                  <a:pt x="2887360" y="39683"/>
                </a:lnTo>
                <a:lnTo>
                  <a:pt x="2881312" y="43910"/>
                </a:lnTo>
                <a:lnTo>
                  <a:pt x="2877264" y="49994"/>
                </a:lnTo>
                <a:lnTo>
                  <a:pt x="2875788" y="57149"/>
                </a:lnTo>
                <a:lnTo>
                  <a:pt x="2877264" y="64627"/>
                </a:lnTo>
                <a:lnTo>
                  <a:pt x="2881312" y="70675"/>
                </a:lnTo>
                <a:lnTo>
                  <a:pt x="2887360" y="74723"/>
                </a:lnTo>
                <a:lnTo>
                  <a:pt x="2894838" y="76199"/>
                </a:lnTo>
                <a:lnTo>
                  <a:pt x="2902315" y="74723"/>
                </a:lnTo>
                <a:lnTo>
                  <a:pt x="2908363" y="70675"/>
                </a:lnTo>
                <a:lnTo>
                  <a:pt x="2912411" y="64627"/>
                </a:lnTo>
                <a:lnTo>
                  <a:pt x="2913888" y="57149"/>
                </a:lnTo>
                <a:close/>
              </a:path>
              <a:path w="5048250" h="114300">
                <a:moveTo>
                  <a:pt x="2837688" y="57149"/>
                </a:moveTo>
                <a:lnTo>
                  <a:pt x="2836211" y="49994"/>
                </a:lnTo>
                <a:lnTo>
                  <a:pt x="2832163" y="43910"/>
                </a:lnTo>
                <a:lnTo>
                  <a:pt x="2826115" y="39683"/>
                </a:lnTo>
                <a:lnTo>
                  <a:pt x="2818638" y="38099"/>
                </a:lnTo>
                <a:lnTo>
                  <a:pt x="2811160" y="39683"/>
                </a:lnTo>
                <a:lnTo>
                  <a:pt x="2805112" y="43910"/>
                </a:lnTo>
                <a:lnTo>
                  <a:pt x="2801064" y="49994"/>
                </a:lnTo>
                <a:lnTo>
                  <a:pt x="2799588" y="57149"/>
                </a:lnTo>
                <a:lnTo>
                  <a:pt x="2801064" y="64627"/>
                </a:lnTo>
                <a:lnTo>
                  <a:pt x="2805112" y="70675"/>
                </a:lnTo>
                <a:lnTo>
                  <a:pt x="2811160" y="74723"/>
                </a:lnTo>
                <a:lnTo>
                  <a:pt x="2818638" y="76199"/>
                </a:lnTo>
                <a:lnTo>
                  <a:pt x="2826115" y="74723"/>
                </a:lnTo>
                <a:lnTo>
                  <a:pt x="2832163" y="70675"/>
                </a:lnTo>
                <a:lnTo>
                  <a:pt x="2836211" y="64627"/>
                </a:lnTo>
                <a:lnTo>
                  <a:pt x="2837688" y="57149"/>
                </a:lnTo>
                <a:close/>
              </a:path>
              <a:path w="5048250" h="114300">
                <a:moveTo>
                  <a:pt x="2761488" y="57149"/>
                </a:moveTo>
                <a:lnTo>
                  <a:pt x="2760011" y="49994"/>
                </a:lnTo>
                <a:lnTo>
                  <a:pt x="2755963" y="43910"/>
                </a:lnTo>
                <a:lnTo>
                  <a:pt x="2749915" y="39683"/>
                </a:lnTo>
                <a:lnTo>
                  <a:pt x="2742438" y="38099"/>
                </a:lnTo>
                <a:lnTo>
                  <a:pt x="2734960" y="39683"/>
                </a:lnTo>
                <a:lnTo>
                  <a:pt x="2728912" y="43910"/>
                </a:lnTo>
                <a:lnTo>
                  <a:pt x="2724864" y="49994"/>
                </a:lnTo>
                <a:lnTo>
                  <a:pt x="2723388" y="57149"/>
                </a:lnTo>
                <a:lnTo>
                  <a:pt x="2724864" y="64627"/>
                </a:lnTo>
                <a:lnTo>
                  <a:pt x="2728912" y="70675"/>
                </a:lnTo>
                <a:lnTo>
                  <a:pt x="2734960" y="74723"/>
                </a:lnTo>
                <a:lnTo>
                  <a:pt x="2742438" y="76199"/>
                </a:lnTo>
                <a:lnTo>
                  <a:pt x="2749915" y="74723"/>
                </a:lnTo>
                <a:lnTo>
                  <a:pt x="2755963" y="70675"/>
                </a:lnTo>
                <a:lnTo>
                  <a:pt x="2760011" y="64627"/>
                </a:lnTo>
                <a:lnTo>
                  <a:pt x="2761488" y="57149"/>
                </a:lnTo>
                <a:close/>
              </a:path>
              <a:path w="5048250" h="114300">
                <a:moveTo>
                  <a:pt x="2685288" y="57149"/>
                </a:moveTo>
                <a:lnTo>
                  <a:pt x="2683811" y="49994"/>
                </a:lnTo>
                <a:lnTo>
                  <a:pt x="2679763" y="43910"/>
                </a:lnTo>
                <a:lnTo>
                  <a:pt x="2673715" y="39683"/>
                </a:lnTo>
                <a:lnTo>
                  <a:pt x="2666238" y="38099"/>
                </a:lnTo>
                <a:lnTo>
                  <a:pt x="2658760" y="39683"/>
                </a:lnTo>
                <a:lnTo>
                  <a:pt x="2652712" y="43910"/>
                </a:lnTo>
                <a:lnTo>
                  <a:pt x="2648664" y="49994"/>
                </a:lnTo>
                <a:lnTo>
                  <a:pt x="2647188" y="57149"/>
                </a:lnTo>
                <a:lnTo>
                  <a:pt x="2648664" y="64627"/>
                </a:lnTo>
                <a:lnTo>
                  <a:pt x="2652712" y="70675"/>
                </a:lnTo>
                <a:lnTo>
                  <a:pt x="2658760" y="74723"/>
                </a:lnTo>
                <a:lnTo>
                  <a:pt x="2666238" y="76199"/>
                </a:lnTo>
                <a:lnTo>
                  <a:pt x="2673715" y="74723"/>
                </a:lnTo>
                <a:lnTo>
                  <a:pt x="2679763" y="70675"/>
                </a:lnTo>
                <a:lnTo>
                  <a:pt x="2683811" y="64627"/>
                </a:lnTo>
                <a:lnTo>
                  <a:pt x="2685288" y="57149"/>
                </a:lnTo>
                <a:close/>
              </a:path>
              <a:path w="5048250" h="114300">
                <a:moveTo>
                  <a:pt x="2609088" y="57149"/>
                </a:moveTo>
                <a:lnTo>
                  <a:pt x="2607611" y="49994"/>
                </a:lnTo>
                <a:lnTo>
                  <a:pt x="2603563" y="43910"/>
                </a:lnTo>
                <a:lnTo>
                  <a:pt x="2597515" y="39683"/>
                </a:lnTo>
                <a:lnTo>
                  <a:pt x="2590038" y="38099"/>
                </a:lnTo>
                <a:lnTo>
                  <a:pt x="2582560" y="39683"/>
                </a:lnTo>
                <a:lnTo>
                  <a:pt x="2576512" y="43910"/>
                </a:lnTo>
                <a:lnTo>
                  <a:pt x="2572464" y="49994"/>
                </a:lnTo>
                <a:lnTo>
                  <a:pt x="2570988" y="57149"/>
                </a:lnTo>
                <a:lnTo>
                  <a:pt x="2572464" y="64627"/>
                </a:lnTo>
                <a:lnTo>
                  <a:pt x="2576512" y="70675"/>
                </a:lnTo>
                <a:lnTo>
                  <a:pt x="2582560" y="74723"/>
                </a:lnTo>
                <a:lnTo>
                  <a:pt x="2590038" y="76199"/>
                </a:lnTo>
                <a:lnTo>
                  <a:pt x="2597515" y="74723"/>
                </a:lnTo>
                <a:lnTo>
                  <a:pt x="2603563" y="70675"/>
                </a:lnTo>
                <a:lnTo>
                  <a:pt x="2607611" y="64627"/>
                </a:lnTo>
                <a:lnTo>
                  <a:pt x="2609088" y="57149"/>
                </a:lnTo>
                <a:close/>
              </a:path>
              <a:path w="5048250" h="114300">
                <a:moveTo>
                  <a:pt x="2532888" y="57149"/>
                </a:moveTo>
                <a:lnTo>
                  <a:pt x="2531411" y="49994"/>
                </a:lnTo>
                <a:lnTo>
                  <a:pt x="2527363" y="43910"/>
                </a:lnTo>
                <a:lnTo>
                  <a:pt x="2521315" y="39683"/>
                </a:lnTo>
                <a:lnTo>
                  <a:pt x="2513838" y="38099"/>
                </a:lnTo>
                <a:lnTo>
                  <a:pt x="2506360" y="39683"/>
                </a:lnTo>
                <a:lnTo>
                  <a:pt x="2500312" y="43910"/>
                </a:lnTo>
                <a:lnTo>
                  <a:pt x="2496264" y="49994"/>
                </a:lnTo>
                <a:lnTo>
                  <a:pt x="2494788" y="57149"/>
                </a:lnTo>
                <a:lnTo>
                  <a:pt x="2496264" y="64627"/>
                </a:lnTo>
                <a:lnTo>
                  <a:pt x="2500312" y="70675"/>
                </a:lnTo>
                <a:lnTo>
                  <a:pt x="2506360" y="74723"/>
                </a:lnTo>
                <a:lnTo>
                  <a:pt x="2513838" y="76199"/>
                </a:lnTo>
                <a:lnTo>
                  <a:pt x="2521315" y="74723"/>
                </a:lnTo>
                <a:lnTo>
                  <a:pt x="2527363" y="70675"/>
                </a:lnTo>
                <a:lnTo>
                  <a:pt x="2531411" y="64627"/>
                </a:lnTo>
                <a:lnTo>
                  <a:pt x="2532888" y="57149"/>
                </a:lnTo>
                <a:close/>
              </a:path>
              <a:path w="5048250" h="114300">
                <a:moveTo>
                  <a:pt x="2456688" y="57149"/>
                </a:moveTo>
                <a:lnTo>
                  <a:pt x="2455211" y="49994"/>
                </a:lnTo>
                <a:lnTo>
                  <a:pt x="2451163" y="43910"/>
                </a:lnTo>
                <a:lnTo>
                  <a:pt x="2445115" y="39683"/>
                </a:lnTo>
                <a:lnTo>
                  <a:pt x="2437638" y="38099"/>
                </a:lnTo>
                <a:lnTo>
                  <a:pt x="2430160" y="39683"/>
                </a:lnTo>
                <a:lnTo>
                  <a:pt x="2424112" y="43910"/>
                </a:lnTo>
                <a:lnTo>
                  <a:pt x="2420064" y="49994"/>
                </a:lnTo>
                <a:lnTo>
                  <a:pt x="2418588" y="57149"/>
                </a:lnTo>
                <a:lnTo>
                  <a:pt x="2420064" y="64627"/>
                </a:lnTo>
                <a:lnTo>
                  <a:pt x="2424112" y="70675"/>
                </a:lnTo>
                <a:lnTo>
                  <a:pt x="2430160" y="74723"/>
                </a:lnTo>
                <a:lnTo>
                  <a:pt x="2437638" y="76199"/>
                </a:lnTo>
                <a:lnTo>
                  <a:pt x="2445115" y="74723"/>
                </a:lnTo>
                <a:lnTo>
                  <a:pt x="2451163" y="70675"/>
                </a:lnTo>
                <a:lnTo>
                  <a:pt x="2455211" y="64627"/>
                </a:lnTo>
                <a:lnTo>
                  <a:pt x="2456688" y="57149"/>
                </a:lnTo>
                <a:close/>
              </a:path>
              <a:path w="5048250" h="114300">
                <a:moveTo>
                  <a:pt x="2380488" y="57149"/>
                </a:moveTo>
                <a:lnTo>
                  <a:pt x="2379011" y="49994"/>
                </a:lnTo>
                <a:lnTo>
                  <a:pt x="2374963" y="43910"/>
                </a:lnTo>
                <a:lnTo>
                  <a:pt x="2368915" y="39683"/>
                </a:lnTo>
                <a:lnTo>
                  <a:pt x="2361438" y="38099"/>
                </a:lnTo>
                <a:lnTo>
                  <a:pt x="2353960" y="39683"/>
                </a:lnTo>
                <a:lnTo>
                  <a:pt x="2347912" y="43910"/>
                </a:lnTo>
                <a:lnTo>
                  <a:pt x="2343864" y="49994"/>
                </a:lnTo>
                <a:lnTo>
                  <a:pt x="2342388" y="57149"/>
                </a:lnTo>
                <a:lnTo>
                  <a:pt x="2343864" y="64627"/>
                </a:lnTo>
                <a:lnTo>
                  <a:pt x="2347912" y="70675"/>
                </a:lnTo>
                <a:lnTo>
                  <a:pt x="2353960" y="74723"/>
                </a:lnTo>
                <a:lnTo>
                  <a:pt x="2361438" y="76199"/>
                </a:lnTo>
                <a:lnTo>
                  <a:pt x="2368915" y="74723"/>
                </a:lnTo>
                <a:lnTo>
                  <a:pt x="2374963" y="70675"/>
                </a:lnTo>
                <a:lnTo>
                  <a:pt x="2379011" y="64627"/>
                </a:lnTo>
                <a:lnTo>
                  <a:pt x="2380488" y="57149"/>
                </a:lnTo>
                <a:close/>
              </a:path>
              <a:path w="5048250" h="114300">
                <a:moveTo>
                  <a:pt x="2304288" y="57149"/>
                </a:moveTo>
                <a:lnTo>
                  <a:pt x="2302704" y="49994"/>
                </a:lnTo>
                <a:lnTo>
                  <a:pt x="2298477" y="43910"/>
                </a:lnTo>
                <a:lnTo>
                  <a:pt x="2292393" y="39683"/>
                </a:lnTo>
                <a:lnTo>
                  <a:pt x="2285238" y="38099"/>
                </a:lnTo>
                <a:lnTo>
                  <a:pt x="2277760" y="39683"/>
                </a:lnTo>
                <a:lnTo>
                  <a:pt x="2271712" y="43910"/>
                </a:lnTo>
                <a:lnTo>
                  <a:pt x="2267664" y="49994"/>
                </a:lnTo>
                <a:lnTo>
                  <a:pt x="2266188" y="57149"/>
                </a:lnTo>
                <a:lnTo>
                  <a:pt x="2267664" y="64627"/>
                </a:lnTo>
                <a:lnTo>
                  <a:pt x="2271712" y="70675"/>
                </a:lnTo>
                <a:lnTo>
                  <a:pt x="2277760" y="74723"/>
                </a:lnTo>
                <a:lnTo>
                  <a:pt x="2285238" y="76199"/>
                </a:lnTo>
                <a:lnTo>
                  <a:pt x="2292393" y="74723"/>
                </a:lnTo>
                <a:lnTo>
                  <a:pt x="2298477" y="70675"/>
                </a:lnTo>
                <a:lnTo>
                  <a:pt x="2302704" y="64627"/>
                </a:lnTo>
                <a:lnTo>
                  <a:pt x="2304288" y="57149"/>
                </a:lnTo>
                <a:close/>
              </a:path>
              <a:path w="5048250" h="114300">
                <a:moveTo>
                  <a:pt x="2228088" y="57149"/>
                </a:moveTo>
                <a:lnTo>
                  <a:pt x="2226504" y="49994"/>
                </a:lnTo>
                <a:lnTo>
                  <a:pt x="2222277" y="43910"/>
                </a:lnTo>
                <a:lnTo>
                  <a:pt x="2216193" y="39683"/>
                </a:lnTo>
                <a:lnTo>
                  <a:pt x="2209038" y="38099"/>
                </a:lnTo>
                <a:lnTo>
                  <a:pt x="2201560" y="39683"/>
                </a:lnTo>
                <a:lnTo>
                  <a:pt x="2195512" y="43910"/>
                </a:lnTo>
                <a:lnTo>
                  <a:pt x="2191464" y="49994"/>
                </a:lnTo>
                <a:lnTo>
                  <a:pt x="2189988" y="57149"/>
                </a:lnTo>
                <a:lnTo>
                  <a:pt x="2191464" y="64627"/>
                </a:lnTo>
                <a:lnTo>
                  <a:pt x="2195512" y="70675"/>
                </a:lnTo>
                <a:lnTo>
                  <a:pt x="2201560" y="74723"/>
                </a:lnTo>
                <a:lnTo>
                  <a:pt x="2209038" y="76199"/>
                </a:lnTo>
                <a:lnTo>
                  <a:pt x="2216193" y="74723"/>
                </a:lnTo>
                <a:lnTo>
                  <a:pt x="2222277" y="70675"/>
                </a:lnTo>
                <a:lnTo>
                  <a:pt x="2226504" y="64627"/>
                </a:lnTo>
                <a:lnTo>
                  <a:pt x="2228088" y="57149"/>
                </a:lnTo>
                <a:close/>
              </a:path>
              <a:path w="5048250" h="114300">
                <a:moveTo>
                  <a:pt x="2151888" y="57149"/>
                </a:moveTo>
                <a:lnTo>
                  <a:pt x="2150304" y="49994"/>
                </a:lnTo>
                <a:lnTo>
                  <a:pt x="2146077" y="43910"/>
                </a:lnTo>
                <a:lnTo>
                  <a:pt x="2139993" y="39683"/>
                </a:lnTo>
                <a:lnTo>
                  <a:pt x="2132838" y="38099"/>
                </a:lnTo>
                <a:lnTo>
                  <a:pt x="2125360" y="39683"/>
                </a:lnTo>
                <a:lnTo>
                  <a:pt x="2119312" y="43910"/>
                </a:lnTo>
                <a:lnTo>
                  <a:pt x="2115264" y="49994"/>
                </a:lnTo>
                <a:lnTo>
                  <a:pt x="2113788" y="57149"/>
                </a:lnTo>
                <a:lnTo>
                  <a:pt x="2115264" y="64627"/>
                </a:lnTo>
                <a:lnTo>
                  <a:pt x="2119312" y="70675"/>
                </a:lnTo>
                <a:lnTo>
                  <a:pt x="2125360" y="74723"/>
                </a:lnTo>
                <a:lnTo>
                  <a:pt x="2132838" y="76199"/>
                </a:lnTo>
                <a:lnTo>
                  <a:pt x="2139993" y="74723"/>
                </a:lnTo>
                <a:lnTo>
                  <a:pt x="2146077" y="70675"/>
                </a:lnTo>
                <a:lnTo>
                  <a:pt x="2150304" y="64627"/>
                </a:lnTo>
                <a:lnTo>
                  <a:pt x="2151888" y="57149"/>
                </a:lnTo>
                <a:close/>
              </a:path>
              <a:path w="5048250" h="114300">
                <a:moveTo>
                  <a:pt x="2075688" y="57149"/>
                </a:moveTo>
                <a:lnTo>
                  <a:pt x="2074104" y="49994"/>
                </a:lnTo>
                <a:lnTo>
                  <a:pt x="2069877" y="43910"/>
                </a:lnTo>
                <a:lnTo>
                  <a:pt x="2063793" y="39683"/>
                </a:lnTo>
                <a:lnTo>
                  <a:pt x="2056638" y="38099"/>
                </a:lnTo>
                <a:lnTo>
                  <a:pt x="2055876" y="38099"/>
                </a:lnTo>
                <a:lnTo>
                  <a:pt x="2048720" y="39683"/>
                </a:lnTo>
                <a:lnTo>
                  <a:pt x="2042636" y="43910"/>
                </a:lnTo>
                <a:lnTo>
                  <a:pt x="2038409" y="49994"/>
                </a:lnTo>
                <a:lnTo>
                  <a:pt x="2036826" y="57149"/>
                </a:lnTo>
                <a:lnTo>
                  <a:pt x="2038409" y="64627"/>
                </a:lnTo>
                <a:lnTo>
                  <a:pt x="2042636" y="70675"/>
                </a:lnTo>
                <a:lnTo>
                  <a:pt x="2048720" y="74723"/>
                </a:lnTo>
                <a:lnTo>
                  <a:pt x="2055876" y="76199"/>
                </a:lnTo>
                <a:lnTo>
                  <a:pt x="2056638" y="76199"/>
                </a:lnTo>
                <a:lnTo>
                  <a:pt x="2063793" y="74723"/>
                </a:lnTo>
                <a:lnTo>
                  <a:pt x="2069877" y="70675"/>
                </a:lnTo>
                <a:lnTo>
                  <a:pt x="2074104" y="64627"/>
                </a:lnTo>
                <a:lnTo>
                  <a:pt x="2075688" y="57149"/>
                </a:lnTo>
                <a:close/>
              </a:path>
              <a:path w="5048250" h="114300">
                <a:moveTo>
                  <a:pt x="1998726" y="57149"/>
                </a:moveTo>
                <a:lnTo>
                  <a:pt x="1997249" y="49994"/>
                </a:lnTo>
                <a:lnTo>
                  <a:pt x="1993201" y="43910"/>
                </a:lnTo>
                <a:lnTo>
                  <a:pt x="1987153" y="39683"/>
                </a:lnTo>
                <a:lnTo>
                  <a:pt x="1979676" y="38099"/>
                </a:lnTo>
                <a:lnTo>
                  <a:pt x="1972520" y="39683"/>
                </a:lnTo>
                <a:lnTo>
                  <a:pt x="1966436" y="43910"/>
                </a:lnTo>
                <a:lnTo>
                  <a:pt x="1962209" y="49994"/>
                </a:lnTo>
                <a:lnTo>
                  <a:pt x="1960626" y="57149"/>
                </a:lnTo>
                <a:lnTo>
                  <a:pt x="1962209" y="64627"/>
                </a:lnTo>
                <a:lnTo>
                  <a:pt x="1966436" y="70675"/>
                </a:lnTo>
                <a:lnTo>
                  <a:pt x="1972520" y="74723"/>
                </a:lnTo>
                <a:lnTo>
                  <a:pt x="1979676" y="76199"/>
                </a:lnTo>
                <a:lnTo>
                  <a:pt x="1987153" y="74723"/>
                </a:lnTo>
                <a:lnTo>
                  <a:pt x="1993201" y="70675"/>
                </a:lnTo>
                <a:lnTo>
                  <a:pt x="1997249" y="64627"/>
                </a:lnTo>
                <a:lnTo>
                  <a:pt x="1998726" y="57149"/>
                </a:lnTo>
                <a:close/>
              </a:path>
              <a:path w="5048250" h="114300">
                <a:moveTo>
                  <a:pt x="1922526" y="57149"/>
                </a:moveTo>
                <a:lnTo>
                  <a:pt x="1921049" y="49994"/>
                </a:lnTo>
                <a:lnTo>
                  <a:pt x="1917001" y="43910"/>
                </a:lnTo>
                <a:lnTo>
                  <a:pt x="1910953" y="39683"/>
                </a:lnTo>
                <a:lnTo>
                  <a:pt x="1903476" y="38099"/>
                </a:lnTo>
                <a:lnTo>
                  <a:pt x="1896320" y="39683"/>
                </a:lnTo>
                <a:lnTo>
                  <a:pt x="1890236" y="43910"/>
                </a:lnTo>
                <a:lnTo>
                  <a:pt x="1886009" y="49994"/>
                </a:lnTo>
                <a:lnTo>
                  <a:pt x="1884426" y="57149"/>
                </a:lnTo>
                <a:lnTo>
                  <a:pt x="1886009" y="64627"/>
                </a:lnTo>
                <a:lnTo>
                  <a:pt x="1890236" y="70675"/>
                </a:lnTo>
                <a:lnTo>
                  <a:pt x="1896320" y="74723"/>
                </a:lnTo>
                <a:lnTo>
                  <a:pt x="1903476" y="76199"/>
                </a:lnTo>
                <a:lnTo>
                  <a:pt x="1910953" y="74723"/>
                </a:lnTo>
                <a:lnTo>
                  <a:pt x="1917001" y="70675"/>
                </a:lnTo>
                <a:lnTo>
                  <a:pt x="1921049" y="64627"/>
                </a:lnTo>
                <a:lnTo>
                  <a:pt x="1922526" y="57149"/>
                </a:lnTo>
                <a:close/>
              </a:path>
              <a:path w="5048250" h="114300">
                <a:moveTo>
                  <a:pt x="1846326" y="57149"/>
                </a:moveTo>
                <a:lnTo>
                  <a:pt x="1844849" y="49994"/>
                </a:lnTo>
                <a:lnTo>
                  <a:pt x="1840801" y="43910"/>
                </a:lnTo>
                <a:lnTo>
                  <a:pt x="1834753" y="39683"/>
                </a:lnTo>
                <a:lnTo>
                  <a:pt x="1827276" y="38099"/>
                </a:lnTo>
                <a:lnTo>
                  <a:pt x="1820120" y="39683"/>
                </a:lnTo>
                <a:lnTo>
                  <a:pt x="1814036" y="43910"/>
                </a:lnTo>
                <a:lnTo>
                  <a:pt x="1809809" y="49994"/>
                </a:lnTo>
                <a:lnTo>
                  <a:pt x="1808226" y="57149"/>
                </a:lnTo>
                <a:lnTo>
                  <a:pt x="1809809" y="64627"/>
                </a:lnTo>
                <a:lnTo>
                  <a:pt x="1814036" y="70675"/>
                </a:lnTo>
                <a:lnTo>
                  <a:pt x="1820120" y="74723"/>
                </a:lnTo>
                <a:lnTo>
                  <a:pt x="1827276" y="76199"/>
                </a:lnTo>
                <a:lnTo>
                  <a:pt x="1834753" y="74723"/>
                </a:lnTo>
                <a:lnTo>
                  <a:pt x="1840801" y="70675"/>
                </a:lnTo>
                <a:lnTo>
                  <a:pt x="1844849" y="64627"/>
                </a:lnTo>
                <a:lnTo>
                  <a:pt x="1846326" y="57149"/>
                </a:lnTo>
                <a:close/>
              </a:path>
              <a:path w="5048250" h="114300">
                <a:moveTo>
                  <a:pt x="1770126" y="57149"/>
                </a:moveTo>
                <a:lnTo>
                  <a:pt x="1768649" y="49994"/>
                </a:lnTo>
                <a:lnTo>
                  <a:pt x="1764601" y="43910"/>
                </a:lnTo>
                <a:lnTo>
                  <a:pt x="1758553" y="39683"/>
                </a:lnTo>
                <a:lnTo>
                  <a:pt x="1751076" y="38099"/>
                </a:lnTo>
                <a:lnTo>
                  <a:pt x="1743598" y="39683"/>
                </a:lnTo>
                <a:lnTo>
                  <a:pt x="1737550" y="43910"/>
                </a:lnTo>
                <a:lnTo>
                  <a:pt x="1733502" y="49994"/>
                </a:lnTo>
                <a:lnTo>
                  <a:pt x="1732026" y="57149"/>
                </a:lnTo>
                <a:lnTo>
                  <a:pt x="1733502" y="64627"/>
                </a:lnTo>
                <a:lnTo>
                  <a:pt x="1737550" y="70675"/>
                </a:lnTo>
                <a:lnTo>
                  <a:pt x="1743598" y="74723"/>
                </a:lnTo>
                <a:lnTo>
                  <a:pt x="1751076" y="76199"/>
                </a:lnTo>
                <a:lnTo>
                  <a:pt x="1758553" y="74723"/>
                </a:lnTo>
                <a:lnTo>
                  <a:pt x="1764601" y="70675"/>
                </a:lnTo>
                <a:lnTo>
                  <a:pt x="1768649" y="64627"/>
                </a:lnTo>
                <a:lnTo>
                  <a:pt x="1770126" y="57149"/>
                </a:lnTo>
                <a:close/>
              </a:path>
              <a:path w="5048250" h="114300">
                <a:moveTo>
                  <a:pt x="1693926" y="57149"/>
                </a:moveTo>
                <a:lnTo>
                  <a:pt x="1692449" y="49994"/>
                </a:lnTo>
                <a:lnTo>
                  <a:pt x="1688401" y="43910"/>
                </a:lnTo>
                <a:lnTo>
                  <a:pt x="1682353" y="39683"/>
                </a:lnTo>
                <a:lnTo>
                  <a:pt x="1674876" y="38099"/>
                </a:lnTo>
                <a:lnTo>
                  <a:pt x="1667398" y="39683"/>
                </a:lnTo>
                <a:lnTo>
                  <a:pt x="1661350" y="43910"/>
                </a:lnTo>
                <a:lnTo>
                  <a:pt x="1657302" y="49994"/>
                </a:lnTo>
                <a:lnTo>
                  <a:pt x="1655826" y="57149"/>
                </a:lnTo>
                <a:lnTo>
                  <a:pt x="1657302" y="64627"/>
                </a:lnTo>
                <a:lnTo>
                  <a:pt x="1661350" y="70675"/>
                </a:lnTo>
                <a:lnTo>
                  <a:pt x="1667398" y="74723"/>
                </a:lnTo>
                <a:lnTo>
                  <a:pt x="1674876" y="76199"/>
                </a:lnTo>
                <a:lnTo>
                  <a:pt x="1682353" y="74723"/>
                </a:lnTo>
                <a:lnTo>
                  <a:pt x="1688401" y="70675"/>
                </a:lnTo>
                <a:lnTo>
                  <a:pt x="1692449" y="64627"/>
                </a:lnTo>
                <a:lnTo>
                  <a:pt x="1693926" y="57149"/>
                </a:lnTo>
                <a:close/>
              </a:path>
              <a:path w="5048250" h="114300">
                <a:moveTo>
                  <a:pt x="1617726" y="57149"/>
                </a:moveTo>
                <a:lnTo>
                  <a:pt x="1616249" y="49994"/>
                </a:lnTo>
                <a:lnTo>
                  <a:pt x="1612201" y="43910"/>
                </a:lnTo>
                <a:lnTo>
                  <a:pt x="1606153" y="39683"/>
                </a:lnTo>
                <a:lnTo>
                  <a:pt x="1598676" y="38099"/>
                </a:lnTo>
                <a:lnTo>
                  <a:pt x="1591198" y="39683"/>
                </a:lnTo>
                <a:lnTo>
                  <a:pt x="1585150" y="43910"/>
                </a:lnTo>
                <a:lnTo>
                  <a:pt x="1581102" y="49994"/>
                </a:lnTo>
                <a:lnTo>
                  <a:pt x="1579626" y="57149"/>
                </a:lnTo>
                <a:lnTo>
                  <a:pt x="1581102" y="64627"/>
                </a:lnTo>
                <a:lnTo>
                  <a:pt x="1585150" y="70675"/>
                </a:lnTo>
                <a:lnTo>
                  <a:pt x="1591198" y="74723"/>
                </a:lnTo>
                <a:lnTo>
                  <a:pt x="1598676" y="76199"/>
                </a:lnTo>
                <a:lnTo>
                  <a:pt x="1606153" y="74723"/>
                </a:lnTo>
                <a:lnTo>
                  <a:pt x="1612201" y="70675"/>
                </a:lnTo>
                <a:lnTo>
                  <a:pt x="1616249" y="64627"/>
                </a:lnTo>
                <a:lnTo>
                  <a:pt x="1617726" y="57149"/>
                </a:lnTo>
                <a:close/>
              </a:path>
              <a:path w="5048250" h="114300">
                <a:moveTo>
                  <a:pt x="1541526" y="57149"/>
                </a:moveTo>
                <a:lnTo>
                  <a:pt x="1540049" y="49994"/>
                </a:lnTo>
                <a:lnTo>
                  <a:pt x="1536001" y="43910"/>
                </a:lnTo>
                <a:lnTo>
                  <a:pt x="1529953" y="39683"/>
                </a:lnTo>
                <a:lnTo>
                  <a:pt x="1522476" y="38099"/>
                </a:lnTo>
                <a:lnTo>
                  <a:pt x="1514998" y="39683"/>
                </a:lnTo>
                <a:lnTo>
                  <a:pt x="1508950" y="43910"/>
                </a:lnTo>
                <a:lnTo>
                  <a:pt x="1504902" y="49994"/>
                </a:lnTo>
                <a:lnTo>
                  <a:pt x="1503426" y="57149"/>
                </a:lnTo>
                <a:lnTo>
                  <a:pt x="1504902" y="64627"/>
                </a:lnTo>
                <a:lnTo>
                  <a:pt x="1508950" y="70675"/>
                </a:lnTo>
                <a:lnTo>
                  <a:pt x="1514998" y="74723"/>
                </a:lnTo>
                <a:lnTo>
                  <a:pt x="1522476" y="76199"/>
                </a:lnTo>
                <a:lnTo>
                  <a:pt x="1529953" y="74723"/>
                </a:lnTo>
                <a:lnTo>
                  <a:pt x="1536001" y="70675"/>
                </a:lnTo>
                <a:lnTo>
                  <a:pt x="1540049" y="64627"/>
                </a:lnTo>
                <a:lnTo>
                  <a:pt x="1541526" y="57149"/>
                </a:lnTo>
                <a:close/>
              </a:path>
              <a:path w="5048250" h="114300">
                <a:moveTo>
                  <a:pt x="1465326" y="57149"/>
                </a:moveTo>
                <a:lnTo>
                  <a:pt x="1463849" y="49994"/>
                </a:lnTo>
                <a:lnTo>
                  <a:pt x="1459801" y="43910"/>
                </a:lnTo>
                <a:lnTo>
                  <a:pt x="1453753" y="39683"/>
                </a:lnTo>
                <a:lnTo>
                  <a:pt x="1446276" y="38099"/>
                </a:lnTo>
                <a:lnTo>
                  <a:pt x="1438798" y="39683"/>
                </a:lnTo>
                <a:lnTo>
                  <a:pt x="1432750" y="43910"/>
                </a:lnTo>
                <a:lnTo>
                  <a:pt x="1428702" y="49994"/>
                </a:lnTo>
                <a:lnTo>
                  <a:pt x="1427226" y="57149"/>
                </a:lnTo>
                <a:lnTo>
                  <a:pt x="1428702" y="64627"/>
                </a:lnTo>
                <a:lnTo>
                  <a:pt x="1432750" y="70675"/>
                </a:lnTo>
                <a:lnTo>
                  <a:pt x="1438798" y="74723"/>
                </a:lnTo>
                <a:lnTo>
                  <a:pt x="1446276" y="76199"/>
                </a:lnTo>
                <a:lnTo>
                  <a:pt x="1453753" y="74723"/>
                </a:lnTo>
                <a:lnTo>
                  <a:pt x="1459801" y="70675"/>
                </a:lnTo>
                <a:lnTo>
                  <a:pt x="1463849" y="64627"/>
                </a:lnTo>
                <a:lnTo>
                  <a:pt x="1465326" y="57149"/>
                </a:lnTo>
                <a:close/>
              </a:path>
              <a:path w="5048250" h="114300">
                <a:moveTo>
                  <a:pt x="1389126" y="57149"/>
                </a:moveTo>
                <a:lnTo>
                  <a:pt x="1387649" y="49994"/>
                </a:lnTo>
                <a:lnTo>
                  <a:pt x="1383601" y="43910"/>
                </a:lnTo>
                <a:lnTo>
                  <a:pt x="1377553" y="39683"/>
                </a:lnTo>
                <a:lnTo>
                  <a:pt x="1370076" y="38099"/>
                </a:lnTo>
                <a:lnTo>
                  <a:pt x="1362598" y="39683"/>
                </a:lnTo>
                <a:lnTo>
                  <a:pt x="1356550" y="43910"/>
                </a:lnTo>
                <a:lnTo>
                  <a:pt x="1352502" y="49994"/>
                </a:lnTo>
                <a:lnTo>
                  <a:pt x="1351026" y="57149"/>
                </a:lnTo>
                <a:lnTo>
                  <a:pt x="1352502" y="64627"/>
                </a:lnTo>
                <a:lnTo>
                  <a:pt x="1356550" y="70675"/>
                </a:lnTo>
                <a:lnTo>
                  <a:pt x="1362598" y="74723"/>
                </a:lnTo>
                <a:lnTo>
                  <a:pt x="1370076" y="76199"/>
                </a:lnTo>
                <a:lnTo>
                  <a:pt x="1377553" y="74723"/>
                </a:lnTo>
                <a:lnTo>
                  <a:pt x="1383601" y="70675"/>
                </a:lnTo>
                <a:lnTo>
                  <a:pt x="1387649" y="64627"/>
                </a:lnTo>
                <a:lnTo>
                  <a:pt x="1389126" y="57149"/>
                </a:lnTo>
                <a:close/>
              </a:path>
              <a:path w="5048250" h="114300">
                <a:moveTo>
                  <a:pt x="1312926" y="57149"/>
                </a:moveTo>
                <a:lnTo>
                  <a:pt x="1311449" y="49994"/>
                </a:lnTo>
                <a:lnTo>
                  <a:pt x="1307401" y="43910"/>
                </a:lnTo>
                <a:lnTo>
                  <a:pt x="1301353" y="39683"/>
                </a:lnTo>
                <a:lnTo>
                  <a:pt x="1293876" y="38099"/>
                </a:lnTo>
                <a:lnTo>
                  <a:pt x="1286398" y="39683"/>
                </a:lnTo>
                <a:lnTo>
                  <a:pt x="1280350" y="43910"/>
                </a:lnTo>
                <a:lnTo>
                  <a:pt x="1276302" y="49994"/>
                </a:lnTo>
                <a:lnTo>
                  <a:pt x="1274826" y="57149"/>
                </a:lnTo>
                <a:lnTo>
                  <a:pt x="1276302" y="64627"/>
                </a:lnTo>
                <a:lnTo>
                  <a:pt x="1280350" y="70675"/>
                </a:lnTo>
                <a:lnTo>
                  <a:pt x="1286398" y="74723"/>
                </a:lnTo>
                <a:lnTo>
                  <a:pt x="1293876" y="76199"/>
                </a:lnTo>
                <a:lnTo>
                  <a:pt x="1301353" y="74723"/>
                </a:lnTo>
                <a:lnTo>
                  <a:pt x="1307401" y="70675"/>
                </a:lnTo>
                <a:lnTo>
                  <a:pt x="1311449" y="64627"/>
                </a:lnTo>
                <a:lnTo>
                  <a:pt x="1312926" y="57149"/>
                </a:lnTo>
                <a:close/>
              </a:path>
              <a:path w="5048250" h="114300">
                <a:moveTo>
                  <a:pt x="1236726" y="57149"/>
                </a:moveTo>
                <a:lnTo>
                  <a:pt x="1235249" y="49994"/>
                </a:lnTo>
                <a:lnTo>
                  <a:pt x="1231201" y="43910"/>
                </a:lnTo>
                <a:lnTo>
                  <a:pt x="1225153" y="39683"/>
                </a:lnTo>
                <a:lnTo>
                  <a:pt x="1217676" y="38099"/>
                </a:lnTo>
                <a:lnTo>
                  <a:pt x="1210198" y="39683"/>
                </a:lnTo>
                <a:lnTo>
                  <a:pt x="1204150" y="43910"/>
                </a:lnTo>
                <a:lnTo>
                  <a:pt x="1200102" y="49994"/>
                </a:lnTo>
                <a:lnTo>
                  <a:pt x="1198626" y="57149"/>
                </a:lnTo>
                <a:lnTo>
                  <a:pt x="1200102" y="64627"/>
                </a:lnTo>
                <a:lnTo>
                  <a:pt x="1204150" y="70675"/>
                </a:lnTo>
                <a:lnTo>
                  <a:pt x="1210198" y="74723"/>
                </a:lnTo>
                <a:lnTo>
                  <a:pt x="1217676" y="76199"/>
                </a:lnTo>
                <a:lnTo>
                  <a:pt x="1225153" y="74723"/>
                </a:lnTo>
                <a:lnTo>
                  <a:pt x="1231201" y="70675"/>
                </a:lnTo>
                <a:lnTo>
                  <a:pt x="1235249" y="64627"/>
                </a:lnTo>
                <a:lnTo>
                  <a:pt x="1236726" y="57149"/>
                </a:lnTo>
                <a:close/>
              </a:path>
              <a:path w="5048250" h="114300">
                <a:moveTo>
                  <a:pt x="1160526" y="57149"/>
                </a:moveTo>
                <a:lnTo>
                  <a:pt x="1159049" y="49994"/>
                </a:lnTo>
                <a:lnTo>
                  <a:pt x="1155001" y="43910"/>
                </a:lnTo>
                <a:lnTo>
                  <a:pt x="1148953" y="39683"/>
                </a:lnTo>
                <a:lnTo>
                  <a:pt x="1141476" y="38099"/>
                </a:lnTo>
                <a:lnTo>
                  <a:pt x="1133998" y="39683"/>
                </a:lnTo>
                <a:lnTo>
                  <a:pt x="1127950" y="43910"/>
                </a:lnTo>
                <a:lnTo>
                  <a:pt x="1123902" y="49994"/>
                </a:lnTo>
                <a:lnTo>
                  <a:pt x="1122426" y="57149"/>
                </a:lnTo>
                <a:lnTo>
                  <a:pt x="1123902" y="64627"/>
                </a:lnTo>
                <a:lnTo>
                  <a:pt x="1127950" y="70675"/>
                </a:lnTo>
                <a:lnTo>
                  <a:pt x="1133998" y="74723"/>
                </a:lnTo>
                <a:lnTo>
                  <a:pt x="1141476" y="76199"/>
                </a:lnTo>
                <a:lnTo>
                  <a:pt x="1148953" y="74723"/>
                </a:lnTo>
                <a:lnTo>
                  <a:pt x="1155001" y="70675"/>
                </a:lnTo>
                <a:lnTo>
                  <a:pt x="1159049" y="64627"/>
                </a:lnTo>
                <a:lnTo>
                  <a:pt x="1160526" y="57149"/>
                </a:lnTo>
                <a:close/>
              </a:path>
              <a:path w="5048250" h="114300">
                <a:moveTo>
                  <a:pt x="1084326" y="57149"/>
                </a:moveTo>
                <a:lnTo>
                  <a:pt x="1082849" y="49994"/>
                </a:lnTo>
                <a:lnTo>
                  <a:pt x="1078801" y="43910"/>
                </a:lnTo>
                <a:lnTo>
                  <a:pt x="1072753" y="39683"/>
                </a:lnTo>
                <a:lnTo>
                  <a:pt x="1065276" y="38099"/>
                </a:lnTo>
                <a:lnTo>
                  <a:pt x="1057798" y="39683"/>
                </a:lnTo>
                <a:lnTo>
                  <a:pt x="1051750" y="43910"/>
                </a:lnTo>
                <a:lnTo>
                  <a:pt x="1047702" y="49994"/>
                </a:lnTo>
                <a:lnTo>
                  <a:pt x="1046226" y="57149"/>
                </a:lnTo>
                <a:lnTo>
                  <a:pt x="1047702" y="64627"/>
                </a:lnTo>
                <a:lnTo>
                  <a:pt x="1051750" y="70675"/>
                </a:lnTo>
                <a:lnTo>
                  <a:pt x="1057798" y="74723"/>
                </a:lnTo>
                <a:lnTo>
                  <a:pt x="1065276" y="76199"/>
                </a:lnTo>
                <a:lnTo>
                  <a:pt x="1072753" y="74723"/>
                </a:lnTo>
                <a:lnTo>
                  <a:pt x="1078801" y="70675"/>
                </a:lnTo>
                <a:lnTo>
                  <a:pt x="1082849" y="64627"/>
                </a:lnTo>
                <a:lnTo>
                  <a:pt x="1084326" y="57149"/>
                </a:lnTo>
                <a:close/>
              </a:path>
              <a:path w="5048250" h="114300">
                <a:moveTo>
                  <a:pt x="1008126" y="57149"/>
                </a:moveTo>
                <a:lnTo>
                  <a:pt x="1006649" y="49994"/>
                </a:lnTo>
                <a:lnTo>
                  <a:pt x="1002601" y="43910"/>
                </a:lnTo>
                <a:lnTo>
                  <a:pt x="996553" y="39683"/>
                </a:lnTo>
                <a:lnTo>
                  <a:pt x="989076" y="38099"/>
                </a:lnTo>
                <a:lnTo>
                  <a:pt x="981598" y="39683"/>
                </a:lnTo>
                <a:lnTo>
                  <a:pt x="975550" y="43910"/>
                </a:lnTo>
                <a:lnTo>
                  <a:pt x="971502" y="49994"/>
                </a:lnTo>
                <a:lnTo>
                  <a:pt x="970026" y="57149"/>
                </a:lnTo>
                <a:lnTo>
                  <a:pt x="971502" y="64627"/>
                </a:lnTo>
                <a:lnTo>
                  <a:pt x="975550" y="70675"/>
                </a:lnTo>
                <a:lnTo>
                  <a:pt x="981598" y="74723"/>
                </a:lnTo>
                <a:lnTo>
                  <a:pt x="989076" y="76199"/>
                </a:lnTo>
                <a:lnTo>
                  <a:pt x="996553" y="74723"/>
                </a:lnTo>
                <a:lnTo>
                  <a:pt x="1002601" y="70675"/>
                </a:lnTo>
                <a:lnTo>
                  <a:pt x="1006649" y="64627"/>
                </a:lnTo>
                <a:lnTo>
                  <a:pt x="1008126" y="57149"/>
                </a:lnTo>
                <a:close/>
              </a:path>
              <a:path w="5048250" h="114300">
                <a:moveTo>
                  <a:pt x="931926" y="57149"/>
                </a:moveTo>
                <a:lnTo>
                  <a:pt x="930449" y="49994"/>
                </a:lnTo>
                <a:lnTo>
                  <a:pt x="926401" y="43910"/>
                </a:lnTo>
                <a:lnTo>
                  <a:pt x="920353" y="39683"/>
                </a:lnTo>
                <a:lnTo>
                  <a:pt x="912876" y="38099"/>
                </a:lnTo>
                <a:lnTo>
                  <a:pt x="905398" y="39683"/>
                </a:lnTo>
                <a:lnTo>
                  <a:pt x="899350" y="43910"/>
                </a:lnTo>
                <a:lnTo>
                  <a:pt x="895302" y="49994"/>
                </a:lnTo>
                <a:lnTo>
                  <a:pt x="893826" y="57149"/>
                </a:lnTo>
                <a:lnTo>
                  <a:pt x="895302" y="64627"/>
                </a:lnTo>
                <a:lnTo>
                  <a:pt x="899350" y="70675"/>
                </a:lnTo>
                <a:lnTo>
                  <a:pt x="905398" y="74723"/>
                </a:lnTo>
                <a:lnTo>
                  <a:pt x="912876" y="76199"/>
                </a:lnTo>
                <a:lnTo>
                  <a:pt x="920353" y="74723"/>
                </a:lnTo>
                <a:lnTo>
                  <a:pt x="926401" y="70675"/>
                </a:lnTo>
                <a:lnTo>
                  <a:pt x="930449" y="64627"/>
                </a:lnTo>
                <a:lnTo>
                  <a:pt x="931926" y="57149"/>
                </a:lnTo>
                <a:close/>
              </a:path>
              <a:path w="5048250" h="114300">
                <a:moveTo>
                  <a:pt x="855726" y="57149"/>
                </a:moveTo>
                <a:lnTo>
                  <a:pt x="854249" y="49994"/>
                </a:lnTo>
                <a:lnTo>
                  <a:pt x="850201" y="43910"/>
                </a:lnTo>
                <a:lnTo>
                  <a:pt x="844153" y="39683"/>
                </a:lnTo>
                <a:lnTo>
                  <a:pt x="836676" y="38099"/>
                </a:lnTo>
                <a:lnTo>
                  <a:pt x="829198" y="39683"/>
                </a:lnTo>
                <a:lnTo>
                  <a:pt x="823150" y="43910"/>
                </a:lnTo>
                <a:lnTo>
                  <a:pt x="819102" y="49994"/>
                </a:lnTo>
                <a:lnTo>
                  <a:pt x="817626" y="57149"/>
                </a:lnTo>
                <a:lnTo>
                  <a:pt x="819102" y="64627"/>
                </a:lnTo>
                <a:lnTo>
                  <a:pt x="823150" y="70675"/>
                </a:lnTo>
                <a:lnTo>
                  <a:pt x="829198" y="74723"/>
                </a:lnTo>
                <a:lnTo>
                  <a:pt x="836676" y="76199"/>
                </a:lnTo>
                <a:lnTo>
                  <a:pt x="844153" y="74723"/>
                </a:lnTo>
                <a:lnTo>
                  <a:pt x="850201" y="70675"/>
                </a:lnTo>
                <a:lnTo>
                  <a:pt x="854249" y="64627"/>
                </a:lnTo>
                <a:lnTo>
                  <a:pt x="855726" y="57149"/>
                </a:lnTo>
                <a:close/>
              </a:path>
              <a:path w="5048250" h="114300">
                <a:moveTo>
                  <a:pt x="779526" y="57149"/>
                </a:moveTo>
                <a:lnTo>
                  <a:pt x="777942" y="49994"/>
                </a:lnTo>
                <a:lnTo>
                  <a:pt x="773715" y="43910"/>
                </a:lnTo>
                <a:lnTo>
                  <a:pt x="767631" y="39683"/>
                </a:lnTo>
                <a:lnTo>
                  <a:pt x="760476" y="38099"/>
                </a:lnTo>
                <a:lnTo>
                  <a:pt x="752998" y="39683"/>
                </a:lnTo>
                <a:lnTo>
                  <a:pt x="746950" y="43910"/>
                </a:lnTo>
                <a:lnTo>
                  <a:pt x="742902" y="49994"/>
                </a:lnTo>
                <a:lnTo>
                  <a:pt x="741426" y="57149"/>
                </a:lnTo>
                <a:lnTo>
                  <a:pt x="742902" y="64627"/>
                </a:lnTo>
                <a:lnTo>
                  <a:pt x="746950" y="70675"/>
                </a:lnTo>
                <a:lnTo>
                  <a:pt x="752998" y="74723"/>
                </a:lnTo>
                <a:lnTo>
                  <a:pt x="760476" y="76199"/>
                </a:lnTo>
                <a:lnTo>
                  <a:pt x="767631" y="74723"/>
                </a:lnTo>
                <a:lnTo>
                  <a:pt x="773715" y="70675"/>
                </a:lnTo>
                <a:lnTo>
                  <a:pt x="777942" y="64627"/>
                </a:lnTo>
                <a:lnTo>
                  <a:pt x="779526" y="57149"/>
                </a:lnTo>
                <a:close/>
              </a:path>
              <a:path w="5048250" h="114300">
                <a:moveTo>
                  <a:pt x="703326" y="57149"/>
                </a:moveTo>
                <a:lnTo>
                  <a:pt x="701742" y="49994"/>
                </a:lnTo>
                <a:lnTo>
                  <a:pt x="697515" y="43910"/>
                </a:lnTo>
                <a:lnTo>
                  <a:pt x="691431" y="39683"/>
                </a:lnTo>
                <a:lnTo>
                  <a:pt x="684276" y="38099"/>
                </a:lnTo>
                <a:lnTo>
                  <a:pt x="676798" y="39683"/>
                </a:lnTo>
                <a:lnTo>
                  <a:pt x="670750" y="43910"/>
                </a:lnTo>
                <a:lnTo>
                  <a:pt x="666702" y="49994"/>
                </a:lnTo>
                <a:lnTo>
                  <a:pt x="665226" y="57149"/>
                </a:lnTo>
                <a:lnTo>
                  <a:pt x="666702" y="64627"/>
                </a:lnTo>
                <a:lnTo>
                  <a:pt x="670750" y="70675"/>
                </a:lnTo>
                <a:lnTo>
                  <a:pt x="676798" y="74723"/>
                </a:lnTo>
                <a:lnTo>
                  <a:pt x="684276" y="76199"/>
                </a:lnTo>
                <a:lnTo>
                  <a:pt x="691431" y="74723"/>
                </a:lnTo>
                <a:lnTo>
                  <a:pt x="697515" y="70675"/>
                </a:lnTo>
                <a:lnTo>
                  <a:pt x="701742" y="64627"/>
                </a:lnTo>
                <a:lnTo>
                  <a:pt x="703326" y="57149"/>
                </a:lnTo>
                <a:close/>
              </a:path>
              <a:path w="5048250" h="114300">
                <a:moveTo>
                  <a:pt x="627126" y="57149"/>
                </a:moveTo>
                <a:lnTo>
                  <a:pt x="625542" y="49994"/>
                </a:lnTo>
                <a:lnTo>
                  <a:pt x="621315" y="43910"/>
                </a:lnTo>
                <a:lnTo>
                  <a:pt x="615231" y="39683"/>
                </a:lnTo>
                <a:lnTo>
                  <a:pt x="608076" y="38099"/>
                </a:lnTo>
                <a:lnTo>
                  <a:pt x="600598" y="39683"/>
                </a:lnTo>
                <a:lnTo>
                  <a:pt x="594550" y="43910"/>
                </a:lnTo>
                <a:lnTo>
                  <a:pt x="590502" y="49994"/>
                </a:lnTo>
                <a:lnTo>
                  <a:pt x="589026" y="57149"/>
                </a:lnTo>
                <a:lnTo>
                  <a:pt x="590502" y="64627"/>
                </a:lnTo>
                <a:lnTo>
                  <a:pt x="594550" y="70675"/>
                </a:lnTo>
                <a:lnTo>
                  <a:pt x="600598" y="74723"/>
                </a:lnTo>
                <a:lnTo>
                  <a:pt x="608076" y="76199"/>
                </a:lnTo>
                <a:lnTo>
                  <a:pt x="615231" y="74723"/>
                </a:lnTo>
                <a:lnTo>
                  <a:pt x="621315" y="70675"/>
                </a:lnTo>
                <a:lnTo>
                  <a:pt x="625542" y="64627"/>
                </a:lnTo>
                <a:lnTo>
                  <a:pt x="627126" y="57149"/>
                </a:lnTo>
                <a:close/>
              </a:path>
              <a:path w="5048250" h="114300">
                <a:moveTo>
                  <a:pt x="550926" y="57149"/>
                </a:moveTo>
                <a:lnTo>
                  <a:pt x="549342" y="49994"/>
                </a:lnTo>
                <a:lnTo>
                  <a:pt x="545115" y="43910"/>
                </a:lnTo>
                <a:lnTo>
                  <a:pt x="539031" y="39683"/>
                </a:lnTo>
                <a:lnTo>
                  <a:pt x="531876" y="38099"/>
                </a:lnTo>
                <a:lnTo>
                  <a:pt x="531113" y="38099"/>
                </a:lnTo>
                <a:lnTo>
                  <a:pt x="523958" y="39683"/>
                </a:lnTo>
                <a:lnTo>
                  <a:pt x="517874" y="43910"/>
                </a:lnTo>
                <a:lnTo>
                  <a:pt x="513647" y="49994"/>
                </a:lnTo>
                <a:lnTo>
                  <a:pt x="512063" y="57149"/>
                </a:lnTo>
                <a:lnTo>
                  <a:pt x="513647" y="64627"/>
                </a:lnTo>
                <a:lnTo>
                  <a:pt x="517874" y="70675"/>
                </a:lnTo>
                <a:lnTo>
                  <a:pt x="523958" y="74723"/>
                </a:lnTo>
                <a:lnTo>
                  <a:pt x="531113" y="76199"/>
                </a:lnTo>
                <a:lnTo>
                  <a:pt x="531876" y="76199"/>
                </a:lnTo>
                <a:lnTo>
                  <a:pt x="539031" y="74723"/>
                </a:lnTo>
                <a:lnTo>
                  <a:pt x="545115" y="70675"/>
                </a:lnTo>
                <a:lnTo>
                  <a:pt x="549342" y="64627"/>
                </a:lnTo>
                <a:lnTo>
                  <a:pt x="550926" y="57149"/>
                </a:lnTo>
                <a:close/>
              </a:path>
              <a:path w="5048250" h="114300">
                <a:moveTo>
                  <a:pt x="473963" y="57149"/>
                </a:moveTo>
                <a:lnTo>
                  <a:pt x="472487" y="49994"/>
                </a:lnTo>
                <a:lnTo>
                  <a:pt x="468439" y="43910"/>
                </a:lnTo>
                <a:lnTo>
                  <a:pt x="462391" y="39683"/>
                </a:lnTo>
                <a:lnTo>
                  <a:pt x="454913" y="38099"/>
                </a:lnTo>
                <a:lnTo>
                  <a:pt x="447758" y="39683"/>
                </a:lnTo>
                <a:lnTo>
                  <a:pt x="441674" y="43910"/>
                </a:lnTo>
                <a:lnTo>
                  <a:pt x="437447" y="49994"/>
                </a:lnTo>
                <a:lnTo>
                  <a:pt x="435863" y="57149"/>
                </a:lnTo>
                <a:lnTo>
                  <a:pt x="437447" y="64627"/>
                </a:lnTo>
                <a:lnTo>
                  <a:pt x="441674" y="70675"/>
                </a:lnTo>
                <a:lnTo>
                  <a:pt x="447758" y="74723"/>
                </a:lnTo>
                <a:lnTo>
                  <a:pt x="454913" y="76199"/>
                </a:lnTo>
                <a:lnTo>
                  <a:pt x="462391" y="74723"/>
                </a:lnTo>
                <a:lnTo>
                  <a:pt x="468439" y="70675"/>
                </a:lnTo>
                <a:lnTo>
                  <a:pt x="472487" y="64627"/>
                </a:lnTo>
                <a:lnTo>
                  <a:pt x="473963" y="57149"/>
                </a:lnTo>
                <a:close/>
              </a:path>
              <a:path w="5048250" h="114300">
                <a:moveTo>
                  <a:pt x="397763" y="57149"/>
                </a:moveTo>
                <a:lnTo>
                  <a:pt x="396287" y="49994"/>
                </a:lnTo>
                <a:lnTo>
                  <a:pt x="392239" y="43910"/>
                </a:lnTo>
                <a:lnTo>
                  <a:pt x="386191" y="39683"/>
                </a:lnTo>
                <a:lnTo>
                  <a:pt x="378713" y="38099"/>
                </a:lnTo>
                <a:lnTo>
                  <a:pt x="371558" y="39683"/>
                </a:lnTo>
                <a:lnTo>
                  <a:pt x="365474" y="43910"/>
                </a:lnTo>
                <a:lnTo>
                  <a:pt x="361247" y="49994"/>
                </a:lnTo>
                <a:lnTo>
                  <a:pt x="359663" y="57149"/>
                </a:lnTo>
                <a:lnTo>
                  <a:pt x="361247" y="64627"/>
                </a:lnTo>
                <a:lnTo>
                  <a:pt x="365474" y="70675"/>
                </a:lnTo>
                <a:lnTo>
                  <a:pt x="371558" y="74723"/>
                </a:lnTo>
                <a:lnTo>
                  <a:pt x="378713" y="76199"/>
                </a:lnTo>
                <a:lnTo>
                  <a:pt x="386191" y="74723"/>
                </a:lnTo>
                <a:lnTo>
                  <a:pt x="392239" y="70675"/>
                </a:lnTo>
                <a:lnTo>
                  <a:pt x="396287" y="64627"/>
                </a:lnTo>
                <a:lnTo>
                  <a:pt x="397763" y="57149"/>
                </a:lnTo>
                <a:close/>
              </a:path>
              <a:path w="5048250" h="114300">
                <a:moveTo>
                  <a:pt x="321563" y="57149"/>
                </a:moveTo>
                <a:lnTo>
                  <a:pt x="320087" y="49994"/>
                </a:lnTo>
                <a:lnTo>
                  <a:pt x="316039" y="43910"/>
                </a:lnTo>
                <a:lnTo>
                  <a:pt x="309991" y="39683"/>
                </a:lnTo>
                <a:lnTo>
                  <a:pt x="302513" y="38099"/>
                </a:lnTo>
                <a:lnTo>
                  <a:pt x="295358" y="39683"/>
                </a:lnTo>
                <a:lnTo>
                  <a:pt x="289274" y="43910"/>
                </a:lnTo>
                <a:lnTo>
                  <a:pt x="285047" y="49994"/>
                </a:lnTo>
                <a:lnTo>
                  <a:pt x="283463" y="57149"/>
                </a:lnTo>
                <a:lnTo>
                  <a:pt x="285047" y="64627"/>
                </a:lnTo>
                <a:lnTo>
                  <a:pt x="289274" y="70675"/>
                </a:lnTo>
                <a:lnTo>
                  <a:pt x="295358" y="74723"/>
                </a:lnTo>
                <a:lnTo>
                  <a:pt x="302513" y="76199"/>
                </a:lnTo>
                <a:lnTo>
                  <a:pt x="309991" y="74723"/>
                </a:lnTo>
                <a:lnTo>
                  <a:pt x="316039" y="70675"/>
                </a:lnTo>
                <a:lnTo>
                  <a:pt x="320087" y="64627"/>
                </a:lnTo>
                <a:lnTo>
                  <a:pt x="321563" y="57149"/>
                </a:lnTo>
                <a:close/>
              </a:path>
              <a:path w="5048250" h="114300">
                <a:moveTo>
                  <a:pt x="245363" y="57149"/>
                </a:moveTo>
                <a:lnTo>
                  <a:pt x="243887" y="49994"/>
                </a:lnTo>
                <a:lnTo>
                  <a:pt x="239839" y="43910"/>
                </a:lnTo>
                <a:lnTo>
                  <a:pt x="233791" y="39683"/>
                </a:lnTo>
                <a:lnTo>
                  <a:pt x="226313" y="38099"/>
                </a:lnTo>
                <a:lnTo>
                  <a:pt x="218836" y="39683"/>
                </a:lnTo>
                <a:lnTo>
                  <a:pt x="212788" y="43910"/>
                </a:lnTo>
                <a:lnTo>
                  <a:pt x="208740" y="49994"/>
                </a:lnTo>
                <a:lnTo>
                  <a:pt x="207263" y="57149"/>
                </a:lnTo>
                <a:lnTo>
                  <a:pt x="208740" y="64627"/>
                </a:lnTo>
                <a:lnTo>
                  <a:pt x="212788" y="70675"/>
                </a:lnTo>
                <a:lnTo>
                  <a:pt x="218836" y="74723"/>
                </a:lnTo>
                <a:lnTo>
                  <a:pt x="226313" y="76199"/>
                </a:lnTo>
                <a:lnTo>
                  <a:pt x="233791" y="74723"/>
                </a:lnTo>
                <a:lnTo>
                  <a:pt x="239839" y="70675"/>
                </a:lnTo>
                <a:lnTo>
                  <a:pt x="243887" y="64627"/>
                </a:lnTo>
                <a:lnTo>
                  <a:pt x="245363" y="57149"/>
                </a:lnTo>
                <a:close/>
              </a:path>
              <a:path w="5048250" h="114300">
                <a:moveTo>
                  <a:pt x="169163" y="57149"/>
                </a:moveTo>
                <a:lnTo>
                  <a:pt x="167687" y="49994"/>
                </a:lnTo>
                <a:lnTo>
                  <a:pt x="163639" y="43910"/>
                </a:lnTo>
                <a:lnTo>
                  <a:pt x="157591" y="39683"/>
                </a:lnTo>
                <a:lnTo>
                  <a:pt x="150113" y="38099"/>
                </a:lnTo>
                <a:lnTo>
                  <a:pt x="142636" y="39683"/>
                </a:lnTo>
                <a:lnTo>
                  <a:pt x="136588" y="43910"/>
                </a:lnTo>
                <a:lnTo>
                  <a:pt x="132540" y="49994"/>
                </a:lnTo>
                <a:lnTo>
                  <a:pt x="131063" y="57149"/>
                </a:lnTo>
                <a:lnTo>
                  <a:pt x="132540" y="64627"/>
                </a:lnTo>
                <a:lnTo>
                  <a:pt x="136588" y="70675"/>
                </a:lnTo>
                <a:lnTo>
                  <a:pt x="142636" y="74723"/>
                </a:lnTo>
                <a:lnTo>
                  <a:pt x="150113" y="76199"/>
                </a:lnTo>
                <a:lnTo>
                  <a:pt x="157591" y="74723"/>
                </a:lnTo>
                <a:lnTo>
                  <a:pt x="163639" y="70675"/>
                </a:lnTo>
                <a:lnTo>
                  <a:pt x="167687" y="64627"/>
                </a:lnTo>
                <a:lnTo>
                  <a:pt x="169163" y="57149"/>
                </a:lnTo>
                <a:close/>
              </a:path>
              <a:path w="5048250" h="114300">
                <a:moveTo>
                  <a:pt x="114300" y="114299"/>
                </a:moveTo>
                <a:lnTo>
                  <a:pt x="114300" y="0"/>
                </a:lnTo>
                <a:lnTo>
                  <a:pt x="0" y="57149"/>
                </a:lnTo>
                <a:lnTo>
                  <a:pt x="114300" y="114299"/>
                </a:lnTo>
                <a:close/>
              </a:path>
            </a:pathLst>
          </a:custGeom>
          <a:solidFill>
            <a:srgbClr val="3333CC"/>
          </a:solidFill>
        </p:spPr>
        <p:txBody>
          <a:bodyPr wrap="square" lIns="0" tIns="0" rIns="0" bIns="0" rtlCol="0"/>
          <a:lstStyle/>
          <a:p>
            <a:endParaRPr/>
          </a:p>
        </p:txBody>
      </p:sp>
      <p:sp>
        <p:nvSpPr>
          <p:cNvPr id="29" name="object 29"/>
          <p:cNvSpPr/>
          <p:nvPr/>
        </p:nvSpPr>
        <p:spPr>
          <a:xfrm>
            <a:off x="2679839" y="5759196"/>
            <a:ext cx="400685" cy="705485"/>
          </a:xfrm>
          <a:custGeom>
            <a:avLst/>
            <a:gdLst/>
            <a:ahLst/>
            <a:cxnLst/>
            <a:rect l="l" t="t" r="r" b="b"/>
            <a:pathLst>
              <a:path w="400685" h="705485">
                <a:moveTo>
                  <a:pt x="400228" y="683918"/>
                </a:moveTo>
                <a:lnTo>
                  <a:pt x="397764" y="676655"/>
                </a:lnTo>
                <a:lnTo>
                  <a:pt x="393072" y="670976"/>
                </a:lnTo>
                <a:lnTo>
                  <a:pt x="386524" y="667797"/>
                </a:lnTo>
                <a:lnTo>
                  <a:pt x="379118" y="667333"/>
                </a:lnTo>
                <a:lnTo>
                  <a:pt x="371856" y="669797"/>
                </a:lnTo>
                <a:lnTo>
                  <a:pt x="366176" y="674381"/>
                </a:lnTo>
                <a:lnTo>
                  <a:pt x="362997" y="680751"/>
                </a:lnTo>
                <a:lnTo>
                  <a:pt x="362533" y="688121"/>
                </a:lnTo>
                <a:lnTo>
                  <a:pt x="364998" y="695705"/>
                </a:lnTo>
                <a:lnTo>
                  <a:pt x="369689" y="701385"/>
                </a:lnTo>
                <a:lnTo>
                  <a:pt x="376237" y="704564"/>
                </a:lnTo>
                <a:lnTo>
                  <a:pt x="383643" y="705028"/>
                </a:lnTo>
                <a:lnTo>
                  <a:pt x="390906" y="702563"/>
                </a:lnTo>
                <a:lnTo>
                  <a:pt x="396585" y="697872"/>
                </a:lnTo>
                <a:lnTo>
                  <a:pt x="399764" y="691324"/>
                </a:lnTo>
                <a:lnTo>
                  <a:pt x="400228" y="683918"/>
                </a:lnTo>
                <a:close/>
              </a:path>
              <a:path w="400685" h="705485">
                <a:moveTo>
                  <a:pt x="363212" y="617517"/>
                </a:moveTo>
                <a:lnTo>
                  <a:pt x="361188" y="610361"/>
                </a:lnTo>
                <a:lnTo>
                  <a:pt x="356175" y="604563"/>
                </a:lnTo>
                <a:lnTo>
                  <a:pt x="349662" y="601122"/>
                </a:lnTo>
                <a:lnTo>
                  <a:pt x="342435" y="600396"/>
                </a:lnTo>
                <a:lnTo>
                  <a:pt x="335280" y="602741"/>
                </a:lnTo>
                <a:lnTo>
                  <a:pt x="329481" y="607754"/>
                </a:lnTo>
                <a:lnTo>
                  <a:pt x="326040" y="614267"/>
                </a:lnTo>
                <a:lnTo>
                  <a:pt x="325314" y="621494"/>
                </a:lnTo>
                <a:lnTo>
                  <a:pt x="327660" y="628649"/>
                </a:lnTo>
                <a:lnTo>
                  <a:pt x="332672" y="634448"/>
                </a:lnTo>
                <a:lnTo>
                  <a:pt x="339185" y="637889"/>
                </a:lnTo>
                <a:lnTo>
                  <a:pt x="346412" y="638615"/>
                </a:lnTo>
                <a:lnTo>
                  <a:pt x="353568" y="636269"/>
                </a:lnTo>
                <a:lnTo>
                  <a:pt x="359259" y="631257"/>
                </a:lnTo>
                <a:lnTo>
                  <a:pt x="362521" y="624744"/>
                </a:lnTo>
                <a:lnTo>
                  <a:pt x="363212" y="617517"/>
                </a:lnTo>
                <a:close/>
              </a:path>
              <a:path w="400685" h="705485">
                <a:moveTo>
                  <a:pt x="326302" y="550568"/>
                </a:moveTo>
                <a:lnTo>
                  <a:pt x="323850" y="543305"/>
                </a:lnTo>
                <a:lnTo>
                  <a:pt x="318837" y="537626"/>
                </a:lnTo>
                <a:lnTo>
                  <a:pt x="312324" y="534447"/>
                </a:lnTo>
                <a:lnTo>
                  <a:pt x="305097" y="533983"/>
                </a:lnTo>
                <a:lnTo>
                  <a:pt x="297942" y="536447"/>
                </a:lnTo>
                <a:lnTo>
                  <a:pt x="292250" y="541139"/>
                </a:lnTo>
                <a:lnTo>
                  <a:pt x="288988" y="547687"/>
                </a:lnTo>
                <a:lnTo>
                  <a:pt x="288297" y="555093"/>
                </a:lnTo>
                <a:lnTo>
                  <a:pt x="290322" y="562355"/>
                </a:lnTo>
                <a:lnTo>
                  <a:pt x="295334" y="568035"/>
                </a:lnTo>
                <a:lnTo>
                  <a:pt x="301847" y="571214"/>
                </a:lnTo>
                <a:lnTo>
                  <a:pt x="309074" y="571678"/>
                </a:lnTo>
                <a:lnTo>
                  <a:pt x="316230" y="569213"/>
                </a:lnTo>
                <a:lnTo>
                  <a:pt x="322349" y="564522"/>
                </a:lnTo>
                <a:lnTo>
                  <a:pt x="325755" y="557974"/>
                </a:lnTo>
                <a:lnTo>
                  <a:pt x="326302" y="550568"/>
                </a:lnTo>
                <a:close/>
              </a:path>
              <a:path w="400685" h="705485">
                <a:moveTo>
                  <a:pt x="289298" y="484167"/>
                </a:moveTo>
                <a:lnTo>
                  <a:pt x="287274" y="477011"/>
                </a:lnTo>
                <a:lnTo>
                  <a:pt x="282261" y="471213"/>
                </a:lnTo>
                <a:lnTo>
                  <a:pt x="275748" y="467772"/>
                </a:lnTo>
                <a:lnTo>
                  <a:pt x="268521" y="467046"/>
                </a:lnTo>
                <a:lnTo>
                  <a:pt x="261366" y="469391"/>
                </a:lnTo>
                <a:lnTo>
                  <a:pt x="255246" y="474404"/>
                </a:lnTo>
                <a:lnTo>
                  <a:pt x="251841" y="480917"/>
                </a:lnTo>
                <a:lnTo>
                  <a:pt x="251293" y="488144"/>
                </a:lnTo>
                <a:lnTo>
                  <a:pt x="253746" y="495299"/>
                </a:lnTo>
                <a:lnTo>
                  <a:pt x="258758" y="501098"/>
                </a:lnTo>
                <a:lnTo>
                  <a:pt x="265271" y="504539"/>
                </a:lnTo>
                <a:lnTo>
                  <a:pt x="272498" y="505265"/>
                </a:lnTo>
                <a:lnTo>
                  <a:pt x="279654" y="502919"/>
                </a:lnTo>
                <a:lnTo>
                  <a:pt x="285345" y="497907"/>
                </a:lnTo>
                <a:lnTo>
                  <a:pt x="288607" y="491394"/>
                </a:lnTo>
                <a:lnTo>
                  <a:pt x="289298" y="484167"/>
                </a:lnTo>
                <a:close/>
              </a:path>
              <a:path w="400685" h="705485">
                <a:moveTo>
                  <a:pt x="252281" y="417540"/>
                </a:moveTo>
                <a:lnTo>
                  <a:pt x="249936" y="409955"/>
                </a:lnTo>
                <a:lnTo>
                  <a:pt x="244923" y="404276"/>
                </a:lnTo>
                <a:lnTo>
                  <a:pt x="238410" y="401097"/>
                </a:lnTo>
                <a:lnTo>
                  <a:pt x="231183" y="400633"/>
                </a:lnTo>
                <a:lnTo>
                  <a:pt x="224028" y="403097"/>
                </a:lnTo>
                <a:lnTo>
                  <a:pt x="218336" y="407789"/>
                </a:lnTo>
                <a:lnTo>
                  <a:pt x="215074" y="414337"/>
                </a:lnTo>
                <a:lnTo>
                  <a:pt x="214383" y="421743"/>
                </a:lnTo>
                <a:lnTo>
                  <a:pt x="216408" y="429005"/>
                </a:lnTo>
                <a:lnTo>
                  <a:pt x="221420" y="434685"/>
                </a:lnTo>
                <a:lnTo>
                  <a:pt x="227933" y="437864"/>
                </a:lnTo>
                <a:lnTo>
                  <a:pt x="235160" y="438328"/>
                </a:lnTo>
                <a:lnTo>
                  <a:pt x="242316" y="435863"/>
                </a:lnTo>
                <a:lnTo>
                  <a:pt x="248114" y="431280"/>
                </a:lnTo>
                <a:lnTo>
                  <a:pt x="251555" y="424910"/>
                </a:lnTo>
                <a:lnTo>
                  <a:pt x="252281" y="417540"/>
                </a:lnTo>
                <a:close/>
              </a:path>
              <a:path w="400685" h="705485">
                <a:moveTo>
                  <a:pt x="215062" y="350817"/>
                </a:moveTo>
                <a:lnTo>
                  <a:pt x="212598" y="343661"/>
                </a:lnTo>
                <a:lnTo>
                  <a:pt x="207906" y="337970"/>
                </a:lnTo>
                <a:lnTo>
                  <a:pt x="201358" y="334708"/>
                </a:lnTo>
                <a:lnTo>
                  <a:pt x="193952" y="334017"/>
                </a:lnTo>
                <a:lnTo>
                  <a:pt x="186690" y="336041"/>
                </a:lnTo>
                <a:lnTo>
                  <a:pt x="181010" y="341054"/>
                </a:lnTo>
                <a:lnTo>
                  <a:pt x="177831" y="347567"/>
                </a:lnTo>
                <a:lnTo>
                  <a:pt x="177367" y="354794"/>
                </a:lnTo>
                <a:lnTo>
                  <a:pt x="179832" y="361949"/>
                </a:lnTo>
                <a:lnTo>
                  <a:pt x="184523" y="367748"/>
                </a:lnTo>
                <a:lnTo>
                  <a:pt x="191071" y="371189"/>
                </a:lnTo>
                <a:lnTo>
                  <a:pt x="198477" y="371915"/>
                </a:lnTo>
                <a:lnTo>
                  <a:pt x="205740" y="369569"/>
                </a:lnTo>
                <a:lnTo>
                  <a:pt x="211419" y="364557"/>
                </a:lnTo>
                <a:lnTo>
                  <a:pt x="214598" y="358044"/>
                </a:lnTo>
                <a:lnTo>
                  <a:pt x="215062" y="350817"/>
                </a:lnTo>
                <a:close/>
              </a:path>
              <a:path w="400685" h="705485">
                <a:moveTo>
                  <a:pt x="178046" y="284523"/>
                </a:moveTo>
                <a:lnTo>
                  <a:pt x="176022" y="277367"/>
                </a:lnTo>
                <a:lnTo>
                  <a:pt x="171009" y="271248"/>
                </a:lnTo>
                <a:lnTo>
                  <a:pt x="164496" y="267842"/>
                </a:lnTo>
                <a:lnTo>
                  <a:pt x="157269" y="267295"/>
                </a:lnTo>
                <a:lnTo>
                  <a:pt x="150114" y="269747"/>
                </a:lnTo>
                <a:lnTo>
                  <a:pt x="144315" y="274760"/>
                </a:lnTo>
                <a:lnTo>
                  <a:pt x="140874" y="281273"/>
                </a:lnTo>
                <a:lnTo>
                  <a:pt x="140148" y="288500"/>
                </a:lnTo>
                <a:lnTo>
                  <a:pt x="142494" y="295655"/>
                </a:lnTo>
                <a:lnTo>
                  <a:pt x="147506" y="301347"/>
                </a:lnTo>
                <a:lnTo>
                  <a:pt x="154019" y="304609"/>
                </a:lnTo>
                <a:lnTo>
                  <a:pt x="161246" y="305300"/>
                </a:lnTo>
                <a:lnTo>
                  <a:pt x="168402" y="303275"/>
                </a:lnTo>
                <a:lnTo>
                  <a:pt x="174093" y="298263"/>
                </a:lnTo>
                <a:lnTo>
                  <a:pt x="177355" y="291750"/>
                </a:lnTo>
                <a:lnTo>
                  <a:pt x="178046" y="284523"/>
                </a:lnTo>
                <a:close/>
              </a:path>
              <a:path w="400685" h="705485">
                <a:moveTo>
                  <a:pt x="141136" y="217467"/>
                </a:moveTo>
                <a:lnTo>
                  <a:pt x="138684" y="210311"/>
                </a:lnTo>
                <a:lnTo>
                  <a:pt x="133671" y="204620"/>
                </a:lnTo>
                <a:lnTo>
                  <a:pt x="127158" y="201358"/>
                </a:lnTo>
                <a:lnTo>
                  <a:pt x="119931" y="200667"/>
                </a:lnTo>
                <a:lnTo>
                  <a:pt x="112776" y="202691"/>
                </a:lnTo>
                <a:lnTo>
                  <a:pt x="107084" y="207704"/>
                </a:lnTo>
                <a:lnTo>
                  <a:pt x="103822" y="214217"/>
                </a:lnTo>
                <a:lnTo>
                  <a:pt x="103131" y="221444"/>
                </a:lnTo>
                <a:lnTo>
                  <a:pt x="105156" y="228599"/>
                </a:lnTo>
                <a:lnTo>
                  <a:pt x="110168" y="234398"/>
                </a:lnTo>
                <a:lnTo>
                  <a:pt x="116681" y="237839"/>
                </a:lnTo>
                <a:lnTo>
                  <a:pt x="123908" y="238565"/>
                </a:lnTo>
                <a:lnTo>
                  <a:pt x="131064" y="236219"/>
                </a:lnTo>
                <a:lnTo>
                  <a:pt x="137183" y="231207"/>
                </a:lnTo>
                <a:lnTo>
                  <a:pt x="140589" y="224694"/>
                </a:lnTo>
                <a:lnTo>
                  <a:pt x="141136" y="217467"/>
                </a:lnTo>
                <a:close/>
              </a:path>
              <a:path w="400685" h="705485">
                <a:moveTo>
                  <a:pt x="104132" y="151173"/>
                </a:moveTo>
                <a:lnTo>
                  <a:pt x="102108" y="144017"/>
                </a:lnTo>
                <a:lnTo>
                  <a:pt x="97095" y="138219"/>
                </a:lnTo>
                <a:lnTo>
                  <a:pt x="90582" y="134778"/>
                </a:lnTo>
                <a:lnTo>
                  <a:pt x="83355" y="134052"/>
                </a:lnTo>
                <a:lnTo>
                  <a:pt x="76200" y="136397"/>
                </a:lnTo>
                <a:lnTo>
                  <a:pt x="70401" y="141410"/>
                </a:lnTo>
                <a:lnTo>
                  <a:pt x="66960" y="147923"/>
                </a:lnTo>
                <a:lnTo>
                  <a:pt x="66234" y="155150"/>
                </a:lnTo>
                <a:lnTo>
                  <a:pt x="68580" y="162305"/>
                </a:lnTo>
                <a:lnTo>
                  <a:pt x="73592" y="167997"/>
                </a:lnTo>
                <a:lnTo>
                  <a:pt x="80105" y="171259"/>
                </a:lnTo>
                <a:lnTo>
                  <a:pt x="87332" y="171950"/>
                </a:lnTo>
                <a:lnTo>
                  <a:pt x="94488" y="169925"/>
                </a:lnTo>
                <a:lnTo>
                  <a:pt x="100179" y="164913"/>
                </a:lnTo>
                <a:lnTo>
                  <a:pt x="103441" y="158400"/>
                </a:lnTo>
                <a:lnTo>
                  <a:pt x="104132" y="151173"/>
                </a:lnTo>
                <a:close/>
              </a:path>
              <a:path w="400685" h="705485">
                <a:moveTo>
                  <a:pt x="105918" y="72389"/>
                </a:moveTo>
                <a:lnTo>
                  <a:pt x="0" y="0"/>
                </a:lnTo>
                <a:lnTo>
                  <a:pt x="6096" y="128015"/>
                </a:lnTo>
                <a:lnTo>
                  <a:pt x="29217" y="115131"/>
                </a:lnTo>
                <a:lnTo>
                  <a:pt x="29217" y="88094"/>
                </a:lnTo>
                <a:lnTo>
                  <a:pt x="29908" y="80867"/>
                </a:lnTo>
                <a:lnTo>
                  <a:pt x="33170" y="74354"/>
                </a:lnTo>
                <a:lnTo>
                  <a:pt x="38862" y="69341"/>
                </a:lnTo>
                <a:lnTo>
                  <a:pt x="46017" y="67317"/>
                </a:lnTo>
                <a:lnTo>
                  <a:pt x="53244" y="68008"/>
                </a:lnTo>
                <a:lnTo>
                  <a:pt x="59757" y="71270"/>
                </a:lnTo>
                <a:lnTo>
                  <a:pt x="64770" y="76961"/>
                </a:lnTo>
                <a:lnTo>
                  <a:pt x="67115" y="84117"/>
                </a:lnTo>
                <a:lnTo>
                  <a:pt x="67115" y="94012"/>
                </a:lnTo>
                <a:lnTo>
                  <a:pt x="105918" y="72389"/>
                </a:lnTo>
                <a:close/>
              </a:path>
              <a:path w="400685" h="705485">
                <a:moveTo>
                  <a:pt x="67115" y="84117"/>
                </a:moveTo>
                <a:lnTo>
                  <a:pt x="64770" y="76961"/>
                </a:lnTo>
                <a:lnTo>
                  <a:pt x="59757" y="71270"/>
                </a:lnTo>
                <a:lnTo>
                  <a:pt x="53244" y="68008"/>
                </a:lnTo>
                <a:lnTo>
                  <a:pt x="46017" y="67317"/>
                </a:lnTo>
                <a:lnTo>
                  <a:pt x="38862" y="69341"/>
                </a:lnTo>
                <a:lnTo>
                  <a:pt x="33170" y="74354"/>
                </a:lnTo>
                <a:lnTo>
                  <a:pt x="29908" y="80867"/>
                </a:lnTo>
                <a:lnTo>
                  <a:pt x="29217" y="88094"/>
                </a:lnTo>
                <a:lnTo>
                  <a:pt x="31242" y="95249"/>
                </a:lnTo>
                <a:lnTo>
                  <a:pt x="36254" y="101369"/>
                </a:lnTo>
                <a:lnTo>
                  <a:pt x="42767" y="104774"/>
                </a:lnTo>
                <a:lnTo>
                  <a:pt x="47199" y="105110"/>
                </a:lnTo>
                <a:lnTo>
                  <a:pt x="64088" y="95699"/>
                </a:lnTo>
                <a:lnTo>
                  <a:pt x="66389" y="91344"/>
                </a:lnTo>
                <a:lnTo>
                  <a:pt x="67115" y="84117"/>
                </a:lnTo>
                <a:close/>
              </a:path>
              <a:path w="400685" h="705485">
                <a:moveTo>
                  <a:pt x="47199" y="105110"/>
                </a:moveTo>
                <a:lnTo>
                  <a:pt x="42767" y="104774"/>
                </a:lnTo>
                <a:lnTo>
                  <a:pt x="36254" y="101369"/>
                </a:lnTo>
                <a:lnTo>
                  <a:pt x="31242" y="95249"/>
                </a:lnTo>
                <a:lnTo>
                  <a:pt x="29217" y="88094"/>
                </a:lnTo>
                <a:lnTo>
                  <a:pt x="29217" y="115131"/>
                </a:lnTo>
                <a:lnTo>
                  <a:pt x="47199" y="105110"/>
                </a:lnTo>
                <a:close/>
              </a:path>
              <a:path w="400685" h="705485">
                <a:moveTo>
                  <a:pt x="64088" y="95699"/>
                </a:moveTo>
                <a:lnTo>
                  <a:pt x="47199" y="105110"/>
                </a:lnTo>
                <a:lnTo>
                  <a:pt x="49994" y="105322"/>
                </a:lnTo>
                <a:lnTo>
                  <a:pt x="57150" y="102869"/>
                </a:lnTo>
                <a:lnTo>
                  <a:pt x="62948" y="97857"/>
                </a:lnTo>
                <a:lnTo>
                  <a:pt x="64088" y="95699"/>
                </a:lnTo>
                <a:close/>
              </a:path>
              <a:path w="400685" h="705485">
                <a:moveTo>
                  <a:pt x="67115" y="94012"/>
                </a:moveTo>
                <a:lnTo>
                  <a:pt x="67115" y="84117"/>
                </a:lnTo>
                <a:lnTo>
                  <a:pt x="66389" y="91344"/>
                </a:lnTo>
                <a:lnTo>
                  <a:pt x="64088" y="95699"/>
                </a:lnTo>
                <a:lnTo>
                  <a:pt x="67115" y="94012"/>
                </a:lnTo>
                <a:close/>
              </a:path>
            </a:pathLst>
          </a:custGeom>
          <a:solidFill>
            <a:srgbClr val="3333CC"/>
          </a:solidFill>
        </p:spPr>
        <p:txBody>
          <a:bodyPr wrap="square" lIns="0" tIns="0" rIns="0" bIns="0" rtlCol="0"/>
          <a:lstStyle/>
          <a:p>
            <a:endParaRPr/>
          </a:p>
        </p:txBody>
      </p:sp>
      <p:sp>
        <p:nvSpPr>
          <p:cNvPr id="30" name="object 30"/>
          <p:cNvSpPr/>
          <p:nvPr/>
        </p:nvSpPr>
        <p:spPr>
          <a:xfrm>
            <a:off x="1232039" y="5682996"/>
            <a:ext cx="609600" cy="762000"/>
          </a:xfrm>
          <a:custGeom>
            <a:avLst/>
            <a:gdLst/>
            <a:ahLst/>
            <a:cxnLst/>
            <a:rect l="l" t="t" r="r" b="b"/>
            <a:pathLst>
              <a:path w="609600" h="762000">
                <a:moveTo>
                  <a:pt x="609600" y="635507"/>
                </a:moveTo>
                <a:lnTo>
                  <a:pt x="609600" y="127253"/>
                </a:lnTo>
                <a:lnTo>
                  <a:pt x="603410" y="101658"/>
                </a:lnTo>
                <a:lnTo>
                  <a:pt x="557562" y="56182"/>
                </a:lnTo>
                <a:lnTo>
                  <a:pt x="520350" y="37337"/>
                </a:lnTo>
                <a:lnTo>
                  <a:pt x="475245" y="21779"/>
                </a:lnTo>
                <a:lnTo>
                  <a:pt x="423469" y="10025"/>
                </a:lnTo>
                <a:lnTo>
                  <a:pt x="366246" y="2592"/>
                </a:lnTo>
                <a:lnTo>
                  <a:pt x="304800" y="0"/>
                </a:lnTo>
                <a:lnTo>
                  <a:pt x="243572" y="2592"/>
                </a:lnTo>
                <a:lnTo>
                  <a:pt x="186451" y="10025"/>
                </a:lnTo>
                <a:lnTo>
                  <a:pt x="134689" y="21779"/>
                </a:lnTo>
                <a:lnTo>
                  <a:pt x="89535" y="37337"/>
                </a:lnTo>
                <a:lnTo>
                  <a:pt x="52238" y="56182"/>
                </a:lnTo>
                <a:lnTo>
                  <a:pt x="6221" y="101658"/>
                </a:lnTo>
                <a:lnTo>
                  <a:pt x="0" y="127253"/>
                </a:lnTo>
                <a:lnTo>
                  <a:pt x="0" y="635507"/>
                </a:lnTo>
                <a:lnTo>
                  <a:pt x="24050" y="684847"/>
                </a:lnTo>
                <a:lnTo>
                  <a:pt x="89535" y="725042"/>
                </a:lnTo>
                <a:lnTo>
                  <a:pt x="134689" y="740461"/>
                </a:lnTo>
                <a:lnTo>
                  <a:pt x="186451" y="752093"/>
                </a:lnTo>
                <a:lnTo>
                  <a:pt x="243572" y="759440"/>
                </a:lnTo>
                <a:lnTo>
                  <a:pt x="304800" y="761999"/>
                </a:lnTo>
                <a:lnTo>
                  <a:pt x="366246" y="759440"/>
                </a:lnTo>
                <a:lnTo>
                  <a:pt x="423469" y="752093"/>
                </a:lnTo>
                <a:lnTo>
                  <a:pt x="475245" y="740461"/>
                </a:lnTo>
                <a:lnTo>
                  <a:pt x="520350" y="725042"/>
                </a:lnTo>
                <a:lnTo>
                  <a:pt x="557562" y="706338"/>
                </a:lnTo>
                <a:lnTo>
                  <a:pt x="603410" y="661070"/>
                </a:lnTo>
                <a:lnTo>
                  <a:pt x="609600" y="635507"/>
                </a:lnTo>
                <a:close/>
              </a:path>
            </a:pathLst>
          </a:custGeom>
          <a:solidFill>
            <a:srgbClr val="18AE23"/>
          </a:solidFill>
        </p:spPr>
        <p:txBody>
          <a:bodyPr wrap="square" lIns="0" tIns="0" rIns="0" bIns="0" rtlCol="0"/>
          <a:lstStyle/>
          <a:p>
            <a:endParaRPr/>
          </a:p>
        </p:txBody>
      </p:sp>
      <p:sp>
        <p:nvSpPr>
          <p:cNvPr id="31" name="object 31"/>
          <p:cNvSpPr/>
          <p:nvPr/>
        </p:nvSpPr>
        <p:spPr>
          <a:xfrm>
            <a:off x="1227467" y="5810250"/>
            <a:ext cx="619760" cy="132080"/>
          </a:xfrm>
          <a:custGeom>
            <a:avLst/>
            <a:gdLst/>
            <a:ahLst/>
            <a:cxnLst/>
            <a:rect l="l" t="t" r="r" b="b"/>
            <a:pathLst>
              <a:path w="619760" h="132079">
                <a:moveTo>
                  <a:pt x="619506" y="762"/>
                </a:moveTo>
                <a:lnTo>
                  <a:pt x="609600" y="0"/>
                </a:lnTo>
                <a:lnTo>
                  <a:pt x="609600" y="6096"/>
                </a:lnTo>
                <a:lnTo>
                  <a:pt x="598450" y="31752"/>
                </a:lnTo>
                <a:lnTo>
                  <a:pt x="550223" y="73432"/>
                </a:lnTo>
                <a:lnTo>
                  <a:pt x="515558" y="89458"/>
                </a:lnTo>
                <a:lnTo>
                  <a:pt x="475465" y="102276"/>
                </a:lnTo>
                <a:lnTo>
                  <a:pt x="431151" y="111886"/>
                </a:lnTo>
                <a:lnTo>
                  <a:pt x="383821" y="118289"/>
                </a:lnTo>
                <a:lnTo>
                  <a:pt x="334682" y="121485"/>
                </a:lnTo>
                <a:lnTo>
                  <a:pt x="284937" y="121476"/>
                </a:lnTo>
                <a:lnTo>
                  <a:pt x="235794" y="118263"/>
                </a:lnTo>
                <a:lnTo>
                  <a:pt x="188458" y="111845"/>
                </a:lnTo>
                <a:lnTo>
                  <a:pt x="144135" y="102224"/>
                </a:lnTo>
                <a:lnTo>
                  <a:pt x="104030" y="89400"/>
                </a:lnTo>
                <a:lnTo>
                  <a:pt x="69349" y="73375"/>
                </a:lnTo>
                <a:lnTo>
                  <a:pt x="21081" y="31722"/>
                </a:lnTo>
                <a:lnTo>
                  <a:pt x="9906" y="6096"/>
                </a:lnTo>
                <a:lnTo>
                  <a:pt x="9906" y="0"/>
                </a:lnTo>
                <a:lnTo>
                  <a:pt x="0" y="762"/>
                </a:lnTo>
                <a:lnTo>
                  <a:pt x="29653" y="56584"/>
                </a:lnTo>
                <a:lnTo>
                  <a:pt x="88477" y="93311"/>
                </a:lnTo>
                <a:lnTo>
                  <a:pt x="126437" y="107083"/>
                </a:lnTo>
                <a:lnTo>
                  <a:pt x="168667" y="117791"/>
                </a:lnTo>
                <a:lnTo>
                  <a:pt x="214096" y="125434"/>
                </a:lnTo>
                <a:lnTo>
                  <a:pt x="261655" y="130011"/>
                </a:lnTo>
                <a:lnTo>
                  <a:pt x="310272" y="131521"/>
                </a:lnTo>
                <a:lnTo>
                  <a:pt x="358875" y="129962"/>
                </a:lnTo>
                <a:lnTo>
                  <a:pt x="406395" y="125333"/>
                </a:lnTo>
                <a:lnTo>
                  <a:pt x="451761" y="117633"/>
                </a:lnTo>
                <a:lnTo>
                  <a:pt x="493901" y="106860"/>
                </a:lnTo>
                <a:lnTo>
                  <a:pt x="531745" y="93013"/>
                </a:lnTo>
                <a:lnTo>
                  <a:pt x="590262" y="56091"/>
                </a:lnTo>
                <a:lnTo>
                  <a:pt x="618744" y="6858"/>
                </a:lnTo>
                <a:lnTo>
                  <a:pt x="619506" y="762"/>
                </a:lnTo>
                <a:close/>
              </a:path>
            </a:pathLst>
          </a:custGeom>
          <a:solidFill>
            <a:srgbClr val="000000"/>
          </a:solidFill>
        </p:spPr>
        <p:txBody>
          <a:bodyPr wrap="square" lIns="0" tIns="0" rIns="0" bIns="0" rtlCol="0"/>
          <a:lstStyle/>
          <a:p>
            <a:endParaRPr/>
          </a:p>
        </p:txBody>
      </p:sp>
      <p:sp>
        <p:nvSpPr>
          <p:cNvPr id="32" name="object 32"/>
          <p:cNvSpPr/>
          <p:nvPr/>
        </p:nvSpPr>
        <p:spPr>
          <a:xfrm>
            <a:off x="1227467" y="5679213"/>
            <a:ext cx="619760" cy="770255"/>
          </a:xfrm>
          <a:custGeom>
            <a:avLst/>
            <a:gdLst/>
            <a:ahLst/>
            <a:cxnLst/>
            <a:rect l="l" t="t" r="r" b="b"/>
            <a:pathLst>
              <a:path w="619760" h="770254">
                <a:moveTo>
                  <a:pt x="619506" y="639290"/>
                </a:moveTo>
                <a:lnTo>
                  <a:pt x="619506" y="131036"/>
                </a:lnTo>
                <a:lnTo>
                  <a:pt x="618744" y="123416"/>
                </a:lnTo>
                <a:lnTo>
                  <a:pt x="586613" y="72239"/>
                </a:lnTo>
                <a:lnTo>
                  <a:pt x="523031" y="34707"/>
                </a:lnTo>
                <a:lnTo>
                  <a:pt x="482425" y="21030"/>
                </a:lnTo>
                <a:lnTo>
                  <a:pt x="437531" y="10732"/>
                </a:lnTo>
                <a:lnTo>
                  <a:pt x="389541" y="3801"/>
                </a:lnTo>
                <a:lnTo>
                  <a:pt x="339647" y="227"/>
                </a:lnTo>
                <a:lnTo>
                  <a:pt x="289040" y="0"/>
                </a:lnTo>
                <a:lnTo>
                  <a:pt x="238911" y="3107"/>
                </a:lnTo>
                <a:lnTo>
                  <a:pt x="190454" y="9538"/>
                </a:lnTo>
                <a:lnTo>
                  <a:pt x="144858" y="19282"/>
                </a:lnTo>
                <a:lnTo>
                  <a:pt x="103317" y="32329"/>
                </a:lnTo>
                <a:lnTo>
                  <a:pt x="67021" y="48667"/>
                </a:lnTo>
                <a:lnTo>
                  <a:pt x="14933" y="91173"/>
                </a:lnTo>
                <a:lnTo>
                  <a:pt x="0" y="131036"/>
                </a:lnTo>
                <a:lnTo>
                  <a:pt x="0" y="639290"/>
                </a:lnTo>
                <a:lnTo>
                  <a:pt x="762" y="646910"/>
                </a:lnTo>
                <a:lnTo>
                  <a:pt x="2286" y="653768"/>
                </a:lnTo>
                <a:lnTo>
                  <a:pt x="9906" y="668943"/>
                </a:lnTo>
                <a:lnTo>
                  <a:pt x="9906" y="124940"/>
                </a:lnTo>
                <a:lnTo>
                  <a:pt x="11429" y="118844"/>
                </a:lnTo>
                <a:lnTo>
                  <a:pt x="36546" y="81390"/>
                </a:lnTo>
                <a:lnTo>
                  <a:pt x="73882" y="55992"/>
                </a:lnTo>
                <a:lnTo>
                  <a:pt x="120489" y="36725"/>
                </a:lnTo>
                <a:lnTo>
                  <a:pt x="171891" y="22995"/>
                </a:lnTo>
                <a:lnTo>
                  <a:pt x="223615" y="14211"/>
                </a:lnTo>
                <a:lnTo>
                  <a:pt x="271188" y="9782"/>
                </a:lnTo>
                <a:lnTo>
                  <a:pt x="310134" y="9116"/>
                </a:lnTo>
                <a:lnTo>
                  <a:pt x="325374" y="9116"/>
                </a:lnTo>
                <a:lnTo>
                  <a:pt x="376233" y="11843"/>
                </a:lnTo>
                <a:lnTo>
                  <a:pt x="421203" y="17862"/>
                </a:lnTo>
                <a:lnTo>
                  <a:pt x="470476" y="28421"/>
                </a:lnTo>
                <a:lnTo>
                  <a:pt x="519001" y="44001"/>
                </a:lnTo>
                <a:lnTo>
                  <a:pt x="561729" y="65085"/>
                </a:lnTo>
                <a:lnTo>
                  <a:pt x="593612" y="92158"/>
                </a:lnTo>
                <a:lnTo>
                  <a:pt x="609600" y="125702"/>
                </a:lnTo>
                <a:lnTo>
                  <a:pt x="609600" y="669280"/>
                </a:lnTo>
                <a:lnTo>
                  <a:pt x="610603" y="667931"/>
                </a:lnTo>
                <a:lnTo>
                  <a:pt x="619506" y="639290"/>
                </a:lnTo>
                <a:close/>
              </a:path>
              <a:path w="619760" h="770254">
                <a:moveTo>
                  <a:pt x="609600" y="669280"/>
                </a:moveTo>
                <a:lnTo>
                  <a:pt x="609600" y="645386"/>
                </a:lnTo>
                <a:lnTo>
                  <a:pt x="596934" y="672362"/>
                </a:lnTo>
                <a:lnTo>
                  <a:pt x="574561" y="695731"/>
                </a:lnTo>
                <a:lnTo>
                  <a:pt x="506188" y="731698"/>
                </a:lnTo>
                <a:lnTo>
                  <a:pt x="462935" y="744319"/>
                </a:lnTo>
                <a:lnTo>
                  <a:pt x="415470" y="753380"/>
                </a:lnTo>
                <a:lnTo>
                  <a:pt x="365168" y="758892"/>
                </a:lnTo>
                <a:lnTo>
                  <a:pt x="313401" y="760867"/>
                </a:lnTo>
                <a:lnTo>
                  <a:pt x="261543" y="759317"/>
                </a:lnTo>
                <a:lnTo>
                  <a:pt x="210970" y="754253"/>
                </a:lnTo>
                <a:lnTo>
                  <a:pt x="163054" y="745687"/>
                </a:lnTo>
                <a:lnTo>
                  <a:pt x="119170" y="733629"/>
                </a:lnTo>
                <a:lnTo>
                  <a:pt x="80692" y="718092"/>
                </a:lnTo>
                <a:lnTo>
                  <a:pt x="25448" y="676626"/>
                </a:lnTo>
                <a:lnTo>
                  <a:pt x="9906" y="644624"/>
                </a:lnTo>
                <a:lnTo>
                  <a:pt x="9906" y="668943"/>
                </a:lnTo>
                <a:lnTo>
                  <a:pt x="37798" y="702853"/>
                </a:lnTo>
                <a:lnTo>
                  <a:pt x="105115" y="738721"/>
                </a:lnTo>
                <a:lnTo>
                  <a:pt x="147540" y="751651"/>
                </a:lnTo>
                <a:lnTo>
                  <a:pt x="194124" y="761220"/>
                </a:lnTo>
                <a:lnTo>
                  <a:pt x="243602" y="767410"/>
                </a:lnTo>
                <a:lnTo>
                  <a:pt x="294711" y="770201"/>
                </a:lnTo>
                <a:lnTo>
                  <a:pt x="346187" y="769575"/>
                </a:lnTo>
                <a:lnTo>
                  <a:pt x="396766" y="765513"/>
                </a:lnTo>
                <a:lnTo>
                  <a:pt x="445183" y="757996"/>
                </a:lnTo>
                <a:lnTo>
                  <a:pt x="490174" y="747005"/>
                </a:lnTo>
                <a:lnTo>
                  <a:pt x="530476" y="732522"/>
                </a:lnTo>
                <a:lnTo>
                  <a:pt x="564824" y="714528"/>
                </a:lnTo>
                <a:lnTo>
                  <a:pt x="591954" y="693004"/>
                </a:lnTo>
                <a:lnTo>
                  <a:pt x="609600" y="669280"/>
                </a:lnTo>
                <a:close/>
              </a:path>
            </a:pathLst>
          </a:custGeom>
          <a:solidFill>
            <a:srgbClr val="000000"/>
          </a:solidFill>
        </p:spPr>
        <p:txBody>
          <a:bodyPr wrap="square" lIns="0" tIns="0" rIns="0" bIns="0" rtlCol="0"/>
          <a:lstStyle/>
          <a:p>
            <a:endParaRPr/>
          </a:p>
        </p:txBody>
      </p:sp>
      <p:sp>
        <p:nvSpPr>
          <p:cNvPr id="33" name="object 33"/>
          <p:cNvSpPr/>
          <p:nvPr/>
        </p:nvSpPr>
        <p:spPr>
          <a:xfrm>
            <a:off x="1765439" y="5984747"/>
            <a:ext cx="609600" cy="504190"/>
          </a:xfrm>
          <a:custGeom>
            <a:avLst/>
            <a:gdLst/>
            <a:ahLst/>
            <a:cxnLst/>
            <a:rect l="l" t="t" r="r" b="b"/>
            <a:pathLst>
              <a:path w="609600" h="504189">
                <a:moveTo>
                  <a:pt x="609600" y="419861"/>
                </a:moveTo>
                <a:lnTo>
                  <a:pt x="609600" y="83819"/>
                </a:lnTo>
                <a:lnTo>
                  <a:pt x="601553" y="64781"/>
                </a:lnTo>
                <a:lnTo>
                  <a:pt x="542659" y="31635"/>
                </a:lnTo>
                <a:lnTo>
                  <a:pt x="495464" y="18594"/>
                </a:lnTo>
                <a:lnTo>
                  <a:pt x="438872" y="8619"/>
                </a:lnTo>
                <a:lnTo>
                  <a:pt x="374708" y="2243"/>
                </a:lnTo>
                <a:lnTo>
                  <a:pt x="304800" y="0"/>
                </a:lnTo>
                <a:lnTo>
                  <a:pt x="235131" y="2243"/>
                </a:lnTo>
                <a:lnTo>
                  <a:pt x="171061" y="8619"/>
                </a:lnTo>
                <a:lnTo>
                  <a:pt x="114455" y="18594"/>
                </a:lnTo>
                <a:lnTo>
                  <a:pt x="67180" y="31635"/>
                </a:lnTo>
                <a:lnTo>
                  <a:pt x="31102" y="47208"/>
                </a:lnTo>
                <a:lnTo>
                  <a:pt x="0" y="83819"/>
                </a:lnTo>
                <a:lnTo>
                  <a:pt x="0" y="419861"/>
                </a:lnTo>
                <a:lnTo>
                  <a:pt x="31102" y="456473"/>
                </a:lnTo>
                <a:lnTo>
                  <a:pt x="67180" y="472046"/>
                </a:lnTo>
                <a:lnTo>
                  <a:pt x="114455" y="485087"/>
                </a:lnTo>
                <a:lnTo>
                  <a:pt x="171061" y="495062"/>
                </a:lnTo>
                <a:lnTo>
                  <a:pt x="235131" y="501438"/>
                </a:lnTo>
                <a:lnTo>
                  <a:pt x="304800" y="503681"/>
                </a:lnTo>
                <a:lnTo>
                  <a:pt x="374708" y="501438"/>
                </a:lnTo>
                <a:lnTo>
                  <a:pt x="438872" y="495062"/>
                </a:lnTo>
                <a:lnTo>
                  <a:pt x="495464" y="485087"/>
                </a:lnTo>
                <a:lnTo>
                  <a:pt x="542659" y="472046"/>
                </a:lnTo>
                <a:lnTo>
                  <a:pt x="578631" y="456473"/>
                </a:lnTo>
                <a:lnTo>
                  <a:pt x="609600" y="419861"/>
                </a:lnTo>
                <a:close/>
              </a:path>
            </a:pathLst>
          </a:custGeom>
          <a:solidFill>
            <a:srgbClr val="18AE23"/>
          </a:solidFill>
        </p:spPr>
        <p:txBody>
          <a:bodyPr wrap="square" lIns="0" tIns="0" rIns="0" bIns="0" rtlCol="0"/>
          <a:lstStyle/>
          <a:p>
            <a:endParaRPr/>
          </a:p>
        </p:txBody>
      </p:sp>
      <p:sp>
        <p:nvSpPr>
          <p:cNvPr id="34" name="object 34"/>
          <p:cNvSpPr/>
          <p:nvPr/>
        </p:nvSpPr>
        <p:spPr>
          <a:xfrm>
            <a:off x="1760867" y="6068567"/>
            <a:ext cx="619760" cy="88900"/>
          </a:xfrm>
          <a:custGeom>
            <a:avLst/>
            <a:gdLst/>
            <a:ahLst/>
            <a:cxnLst/>
            <a:rect l="l" t="t" r="r" b="b"/>
            <a:pathLst>
              <a:path w="619760" h="88900">
                <a:moveTo>
                  <a:pt x="11429" y="7620"/>
                </a:moveTo>
                <a:lnTo>
                  <a:pt x="9906" y="3048"/>
                </a:lnTo>
                <a:lnTo>
                  <a:pt x="9906" y="0"/>
                </a:lnTo>
                <a:lnTo>
                  <a:pt x="0" y="762"/>
                </a:lnTo>
                <a:lnTo>
                  <a:pt x="762" y="5334"/>
                </a:lnTo>
                <a:lnTo>
                  <a:pt x="762" y="6096"/>
                </a:lnTo>
                <a:lnTo>
                  <a:pt x="2285" y="9906"/>
                </a:lnTo>
                <a:lnTo>
                  <a:pt x="2285" y="10668"/>
                </a:lnTo>
                <a:lnTo>
                  <a:pt x="4571" y="16002"/>
                </a:lnTo>
                <a:lnTo>
                  <a:pt x="10668" y="21923"/>
                </a:lnTo>
                <a:lnTo>
                  <a:pt x="10668" y="6858"/>
                </a:lnTo>
                <a:lnTo>
                  <a:pt x="11429" y="7620"/>
                </a:lnTo>
                <a:close/>
              </a:path>
              <a:path w="619760" h="88900">
                <a:moveTo>
                  <a:pt x="608838" y="21991"/>
                </a:moveTo>
                <a:lnTo>
                  <a:pt x="608838" y="6858"/>
                </a:lnTo>
                <a:lnTo>
                  <a:pt x="606552" y="11430"/>
                </a:lnTo>
                <a:lnTo>
                  <a:pt x="586528" y="29418"/>
                </a:lnTo>
                <a:lnTo>
                  <a:pt x="517057" y="57095"/>
                </a:lnTo>
                <a:lnTo>
                  <a:pt x="471077" y="66778"/>
                </a:lnTo>
                <a:lnTo>
                  <a:pt x="419911" y="73687"/>
                </a:lnTo>
                <a:lnTo>
                  <a:pt x="365295" y="77821"/>
                </a:lnTo>
                <a:lnTo>
                  <a:pt x="308962" y="79176"/>
                </a:lnTo>
                <a:lnTo>
                  <a:pt x="252645" y="77751"/>
                </a:lnTo>
                <a:lnTo>
                  <a:pt x="198079" y="73542"/>
                </a:lnTo>
                <a:lnTo>
                  <a:pt x="146998" y="66548"/>
                </a:lnTo>
                <a:lnTo>
                  <a:pt x="101134" y="56766"/>
                </a:lnTo>
                <a:lnTo>
                  <a:pt x="62223" y="44193"/>
                </a:lnTo>
                <a:lnTo>
                  <a:pt x="12192" y="10668"/>
                </a:lnTo>
                <a:lnTo>
                  <a:pt x="10668" y="6858"/>
                </a:lnTo>
                <a:lnTo>
                  <a:pt x="10668" y="21923"/>
                </a:lnTo>
                <a:lnTo>
                  <a:pt x="55292" y="51629"/>
                </a:lnTo>
                <a:lnTo>
                  <a:pt x="95305" y="64992"/>
                </a:lnTo>
                <a:lnTo>
                  <a:pt x="142642" y="75383"/>
                </a:lnTo>
                <a:lnTo>
                  <a:pt x="195472" y="82800"/>
                </a:lnTo>
                <a:lnTo>
                  <a:pt x="251961" y="87241"/>
                </a:lnTo>
                <a:lnTo>
                  <a:pt x="310276" y="88701"/>
                </a:lnTo>
                <a:lnTo>
                  <a:pt x="368586" y="87179"/>
                </a:lnTo>
                <a:lnTo>
                  <a:pt x="425058" y="82670"/>
                </a:lnTo>
                <a:lnTo>
                  <a:pt x="477858" y="75173"/>
                </a:lnTo>
                <a:lnTo>
                  <a:pt x="525154" y="64684"/>
                </a:lnTo>
                <a:lnTo>
                  <a:pt x="565115" y="51201"/>
                </a:lnTo>
                <a:lnTo>
                  <a:pt x="595906" y="34721"/>
                </a:lnTo>
                <a:lnTo>
                  <a:pt x="608838" y="21991"/>
                </a:lnTo>
                <a:close/>
              </a:path>
              <a:path w="619760" h="88900">
                <a:moveTo>
                  <a:pt x="619506" y="762"/>
                </a:moveTo>
                <a:lnTo>
                  <a:pt x="609600" y="0"/>
                </a:lnTo>
                <a:lnTo>
                  <a:pt x="609600" y="3048"/>
                </a:lnTo>
                <a:lnTo>
                  <a:pt x="608076" y="7620"/>
                </a:lnTo>
                <a:lnTo>
                  <a:pt x="608838" y="6858"/>
                </a:lnTo>
                <a:lnTo>
                  <a:pt x="608838" y="21991"/>
                </a:lnTo>
                <a:lnTo>
                  <a:pt x="615696" y="15240"/>
                </a:lnTo>
                <a:lnTo>
                  <a:pt x="617220" y="10668"/>
                </a:lnTo>
                <a:lnTo>
                  <a:pt x="617220" y="9906"/>
                </a:lnTo>
                <a:lnTo>
                  <a:pt x="618744" y="6096"/>
                </a:lnTo>
                <a:lnTo>
                  <a:pt x="618744" y="5334"/>
                </a:lnTo>
                <a:lnTo>
                  <a:pt x="619506" y="762"/>
                </a:lnTo>
                <a:close/>
              </a:path>
            </a:pathLst>
          </a:custGeom>
          <a:solidFill>
            <a:srgbClr val="000000"/>
          </a:solidFill>
        </p:spPr>
        <p:txBody>
          <a:bodyPr wrap="square" lIns="0" tIns="0" rIns="0" bIns="0" rtlCol="0"/>
          <a:lstStyle/>
          <a:p>
            <a:endParaRPr/>
          </a:p>
        </p:txBody>
      </p:sp>
      <p:sp>
        <p:nvSpPr>
          <p:cNvPr id="35" name="object 35"/>
          <p:cNvSpPr/>
          <p:nvPr/>
        </p:nvSpPr>
        <p:spPr>
          <a:xfrm>
            <a:off x="1760867" y="5980505"/>
            <a:ext cx="619760" cy="512445"/>
          </a:xfrm>
          <a:custGeom>
            <a:avLst/>
            <a:gdLst/>
            <a:ahLst/>
            <a:cxnLst/>
            <a:rect l="l" t="t" r="r" b="b"/>
            <a:pathLst>
              <a:path w="619760" h="512445">
                <a:moveTo>
                  <a:pt x="762" y="428676"/>
                </a:moveTo>
                <a:lnTo>
                  <a:pt x="761" y="83490"/>
                </a:lnTo>
                <a:lnTo>
                  <a:pt x="0" y="88062"/>
                </a:lnTo>
                <a:lnTo>
                  <a:pt x="0" y="424104"/>
                </a:lnTo>
                <a:lnTo>
                  <a:pt x="762" y="428676"/>
                </a:lnTo>
                <a:close/>
              </a:path>
              <a:path w="619760" h="512445">
                <a:moveTo>
                  <a:pt x="617220" y="434772"/>
                </a:moveTo>
                <a:lnTo>
                  <a:pt x="617220" y="78156"/>
                </a:lnTo>
                <a:lnTo>
                  <a:pt x="614934" y="72822"/>
                </a:lnTo>
                <a:lnTo>
                  <a:pt x="564646" y="37120"/>
                </a:lnTo>
                <a:lnTo>
                  <a:pt x="524664" y="23731"/>
                </a:lnTo>
                <a:lnTo>
                  <a:pt x="477265" y="13322"/>
                </a:lnTo>
                <a:lnTo>
                  <a:pt x="424306" y="5893"/>
                </a:lnTo>
                <a:lnTo>
                  <a:pt x="367643" y="1448"/>
                </a:lnTo>
                <a:lnTo>
                  <a:pt x="310486" y="23"/>
                </a:lnTo>
                <a:lnTo>
                  <a:pt x="308748" y="0"/>
                </a:lnTo>
                <a:lnTo>
                  <a:pt x="250634" y="1519"/>
                </a:lnTo>
                <a:lnTo>
                  <a:pt x="194000" y="6039"/>
                </a:lnTo>
                <a:lnTo>
                  <a:pt x="141089" y="13552"/>
                </a:lnTo>
                <a:lnTo>
                  <a:pt x="93759" y="24061"/>
                </a:lnTo>
                <a:lnTo>
                  <a:pt x="53864" y="37567"/>
                </a:lnTo>
                <a:lnTo>
                  <a:pt x="3809" y="73584"/>
                </a:lnTo>
                <a:lnTo>
                  <a:pt x="761" y="82728"/>
                </a:lnTo>
                <a:lnTo>
                  <a:pt x="762" y="429438"/>
                </a:lnTo>
                <a:lnTo>
                  <a:pt x="2286" y="434010"/>
                </a:lnTo>
                <a:lnTo>
                  <a:pt x="2286" y="434772"/>
                </a:lnTo>
                <a:lnTo>
                  <a:pt x="4572" y="439344"/>
                </a:lnTo>
                <a:lnTo>
                  <a:pt x="9906" y="444626"/>
                </a:lnTo>
                <a:lnTo>
                  <a:pt x="9906" y="85014"/>
                </a:lnTo>
                <a:lnTo>
                  <a:pt x="10668" y="83109"/>
                </a:lnTo>
                <a:lnTo>
                  <a:pt x="10668" y="81966"/>
                </a:lnTo>
                <a:lnTo>
                  <a:pt x="12954" y="77394"/>
                </a:lnTo>
                <a:lnTo>
                  <a:pt x="62675" y="44124"/>
                </a:lnTo>
                <a:lnTo>
                  <a:pt x="101658" y="31650"/>
                </a:lnTo>
                <a:lnTo>
                  <a:pt x="147699" y="21952"/>
                </a:lnTo>
                <a:lnTo>
                  <a:pt x="199029" y="15032"/>
                </a:lnTo>
                <a:lnTo>
                  <a:pt x="253881" y="10894"/>
                </a:lnTo>
                <a:lnTo>
                  <a:pt x="310486" y="9538"/>
                </a:lnTo>
                <a:lnTo>
                  <a:pt x="365353" y="10924"/>
                </a:lnTo>
                <a:lnTo>
                  <a:pt x="421885" y="15185"/>
                </a:lnTo>
                <a:lnTo>
                  <a:pt x="473144" y="22192"/>
                </a:lnTo>
                <a:lnTo>
                  <a:pt x="519084" y="31990"/>
                </a:lnTo>
                <a:lnTo>
                  <a:pt x="557937" y="44582"/>
                </a:lnTo>
                <a:lnTo>
                  <a:pt x="607314" y="78156"/>
                </a:lnTo>
                <a:lnTo>
                  <a:pt x="608838" y="81966"/>
                </a:lnTo>
                <a:lnTo>
                  <a:pt x="608838" y="83109"/>
                </a:lnTo>
                <a:lnTo>
                  <a:pt x="609600" y="85014"/>
                </a:lnTo>
                <a:lnTo>
                  <a:pt x="609600" y="444714"/>
                </a:lnTo>
                <a:lnTo>
                  <a:pt x="615696" y="438582"/>
                </a:lnTo>
                <a:lnTo>
                  <a:pt x="617220" y="434772"/>
                </a:lnTo>
                <a:close/>
              </a:path>
              <a:path w="619760" h="512445">
                <a:moveTo>
                  <a:pt x="11430" y="430962"/>
                </a:moveTo>
                <a:lnTo>
                  <a:pt x="9906" y="427152"/>
                </a:lnTo>
                <a:lnTo>
                  <a:pt x="9906" y="444626"/>
                </a:lnTo>
                <a:lnTo>
                  <a:pt x="10668" y="445380"/>
                </a:lnTo>
                <a:lnTo>
                  <a:pt x="10668" y="430200"/>
                </a:lnTo>
                <a:lnTo>
                  <a:pt x="11430" y="430962"/>
                </a:lnTo>
                <a:close/>
              </a:path>
              <a:path w="619760" h="512445">
                <a:moveTo>
                  <a:pt x="11430" y="81204"/>
                </a:moveTo>
                <a:lnTo>
                  <a:pt x="10668" y="81966"/>
                </a:lnTo>
                <a:lnTo>
                  <a:pt x="10668" y="83109"/>
                </a:lnTo>
                <a:lnTo>
                  <a:pt x="11430" y="81204"/>
                </a:lnTo>
                <a:close/>
              </a:path>
              <a:path w="619760" h="512445">
                <a:moveTo>
                  <a:pt x="608838" y="445481"/>
                </a:moveTo>
                <a:lnTo>
                  <a:pt x="608838" y="430200"/>
                </a:lnTo>
                <a:lnTo>
                  <a:pt x="606552" y="434772"/>
                </a:lnTo>
                <a:lnTo>
                  <a:pt x="586906" y="452836"/>
                </a:lnTo>
                <a:lnTo>
                  <a:pt x="517648" y="480606"/>
                </a:lnTo>
                <a:lnTo>
                  <a:pt x="471570" y="490313"/>
                </a:lnTo>
                <a:lnTo>
                  <a:pt x="420216" y="497233"/>
                </a:lnTo>
                <a:lnTo>
                  <a:pt x="365353" y="501365"/>
                </a:lnTo>
                <a:lnTo>
                  <a:pt x="308748" y="502709"/>
                </a:lnTo>
                <a:lnTo>
                  <a:pt x="252168" y="501265"/>
                </a:lnTo>
                <a:lnTo>
                  <a:pt x="197381" y="497032"/>
                </a:lnTo>
                <a:lnTo>
                  <a:pt x="146155" y="490010"/>
                </a:lnTo>
                <a:lnTo>
                  <a:pt x="100255" y="480197"/>
                </a:lnTo>
                <a:lnTo>
                  <a:pt x="61450" y="467593"/>
                </a:lnTo>
                <a:lnTo>
                  <a:pt x="12192" y="434010"/>
                </a:lnTo>
                <a:lnTo>
                  <a:pt x="10668" y="430200"/>
                </a:lnTo>
                <a:lnTo>
                  <a:pt x="10668" y="445380"/>
                </a:lnTo>
                <a:lnTo>
                  <a:pt x="54842" y="475100"/>
                </a:lnTo>
                <a:lnTo>
                  <a:pt x="94834" y="488500"/>
                </a:lnTo>
                <a:lnTo>
                  <a:pt x="142252" y="498914"/>
                </a:lnTo>
                <a:lnTo>
                  <a:pt x="195236" y="506339"/>
                </a:lnTo>
                <a:lnTo>
                  <a:pt x="252168" y="510783"/>
                </a:lnTo>
                <a:lnTo>
                  <a:pt x="310486" y="512224"/>
                </a:lnTo>
                <a:lnTo>
                  <a:pt x="368985" y="510683"/>
                </a:lnTo>
                <a:lnTo>
                  <a:pt x="425634" y="506149"/>
                </a:lnTo>
                <a:lnTo>
                  <a:pt x="478551" y="498624"/>
                </a:lnTo>
                <a:lnTo>
                  <a:pt x="525875" y="488105"/>
                </a:lnTo>
                <a:lnTo>
                  <a:pt x="565747" y="474593"/>
                </a:lnTo>
                <a:lnTo>
                  <a:pt x="596307" y="458085"/>
                </a:lnTo>
                <a:lnTo>
                  <a:pt x="608838" y="445481"/>
                </a:lnTo>
                <a:close/>
              </a:path>
              <a:path w="619760" h="512445">
                <a:moveTo>
                  <a:pt x="608838" y="83109"/>
                </a:moveTo>
                <a:lnTo>
                  <a:pt x="608838" y="81966"/>
                </a:lnTo>
                <a:lnTo>
                  <a:pt x="608076" y="81204"/>
                </a:lnTo>
                <a:lnTo>
                  <a:pt x="608838" y="83109"/>
                </a:lnTo>
                <a:close/>
              </a:path>
              <a:path w="619760" h="512445">
                <a:moveTo>
                  <a:pt x="609600" y="444714"/>
                </a:moveTo>
                <a:lnTo>
                  <a:pt x="609600" y="427152"/>
                </a:lnTo>
                <a:lnTo>
                  <a:pt x="608076" y="430962"/>
                </a:lnTo>
                <a:lnTo>
                  <a:pt x="608838" y="430200"/>
                </a:lnTo>
                <a:lnTo>
                  <a:pt x="608838" y="445481"/>
                </a:lnTo>
                <a:lnTo>
                  <a:pt x="609600" y="444714"/>
                </a:lnTo>
                <a:close/>
              </a:path>
              <a:path w="619760" h="512445">
                <a:moveTo>
                  <a:pt x="618744" y="429438"/>
                </a:moveTo>
                <a:lnTo>
                  <a:pt x="618744" y="82728"/>
                </a:lnTo>
                <a:lnTo>
                  <a:pt x="617220" y="78918"/>
                </a:lnTo>
                <a:lnTo>
                  <a:pt x="617220" y="434010"/>
                </a:lnTo>
                <a:lnTo>
                  <a:pt x="618744" y="429438"/>
                </a:lnTo>
                <a:close/>
              </a:path>
              <a:path w="619760" h="512445">
                <a:moveTo>
                  <a:pt x="619506" y="424104"/>
                </a:moveTo>
                <a:lnTo>
                  <a:pt x="619506" y="88062"/>
                </a:lnTo>
                <a:lnTo>
                  <a:pt x="618744" y="83490"/>
                </a:lnTo>
                <a:lnTo>
                  <a:pt x="618744" y="428676"/>
                </a:lnTo>
                <a:lnTo>
                  <a:pt x="619506" y="424104"/>
                </a:lnTo>
                <a:close/>
              </a:path>
            </a:pathLst>
          </a:custGeom>
          <a:solidFill>
            <a:srgbClr val="000000"/>
          </a:solidFill>
        </p:spPr>
        <p:txBody>
          <a:bodyPr wrap="square" lIns="0" tIns="0" rIns="0" bIns="0" rtlCol="0"/>
          <a:lstStyle/>
          <a:p>
            <a:endParaRPr/>
          </a:p>
        </p:txBody>
      </p:sp>
      <p:sp>
        <p:nvSpPr>
          <p:cNvPr id="36" name="object 36"/>
          <p:cNvSpPr/>
          <p:nvPr/>
        </p:nvSpPr>
        <p:spPr>
          <a:xfrm>
            <a:off x="1308239" y="6063996"/>
            <a:ext cx="609600" cy="762000"/>
          </a:xfrm>
          <a:custGeom>
            <a:avLst/>
            <a:gdLst/>
            <a:ahLst/>
            <a:cxnLst/>
            <a:rect l="l" t="t" r="r" b="b"/>
            <a:pathLst>
              <a:path w="609600" h="762000">
                <a:moveTo>
                  <a:pt x="609600" y="635507"/>
                </a:moveTo>
                <a:lnTo>
                  <a:pt x="609600" y="127253"/>
                </a:lnTo>
                <a:lnTo>
                  <a:pt x="603410" y="101658"/>
                </a:lnTo>
                <a:lnTo>
                  <a:pt x="557562" y="56182"/>
                </a:lnTo>
                <a:lnTo>
                  <a:pt x="520350" y="37337"/>
                </a:lnTo>
                <a:lnTo>
                  <a:pt x="475245" y="21779"/>
                </a:lnTo>
                <a:lnTo>
                  <a:pt x="423469" y="10025"/>
                </a:lnTo>
                <a:lnTo>
                  <a:pt x="366246" y="2592"/>
                </a:lnTo>
                <a:lnTo>
                  <a:pt x="304800" y="0"/>
                </a:lnTo>
                <a:lnTo>
                  <a:pt x="243572" y="2592"/>
                </a:lnTo>
                <a:lnTo>
                  <a:pt x="186451" y="10025"/>
                </a:lnTo>
                <a:lnTo>
                  <a:pt x="134689" y="21779"/>
                </a:lnTo>
                <a:lnTo>
                  <a:pt x="89535" y="37337"/>
                </a:lnTo>
                <a:lnTo>
                  <a:pt x="52238" y="56182"/>
                </a:lnTo>
                <a:lnTo>
                  <a:pt x="6221" y="101658"/>
                </a:lnTo>
                <a:lnTo>
                  <a:pt x="0" y="127253"/>
                </a:lnTo>
                <a:lnTo>
                  <a:pt x="0" y="635507"/>
                </a:lnTo>
                <a:lnTo>
                  <a:pt x="24050" y="684847"/>
                </a:lnTo>
                <a:lnTo>
                  <a:pt x="89535" y="725042"/>
                </a:lnTo>
                <a:lnTo>
                  <a:pt x="134689" y="740461"/>
                </a:lnTo>
                <a:lnTo>
                  <a:pt x="186451" y="752093"/>
                </a:lnTo>
                <a:lnTo>
                  <a:pt x="243572" y="759440"/>
                </a:lnTo>
                <a:lnTo>
                  <a:pt x="304800" y="761999"/>
                </a:lnTo>
                <a:lnTo>
                  <a:pt x="366246" y="759440"/>
                </a:lnTo>
                <a:lnTo>
                  <a:pt x="423469" y="752093"/>
                </a:lnTo>
                <a:lnTo>
                  <a:pt x="475245" y="740461"/>
                </a:lnTo>
                <a:lnTo>
                  <a:pt x="520350" y="725042"/>
                </a:lnTo>
                <a:lnTo>
                  <a:pt x="557562" y="706338"/>
                </a:lnTo>
                <a:lnTo>
                  <a:pt x="603410" y="661070"/>
                </a:lnTo>
                <a:lnTo>
                  <a:pt x="609600" y="635507"/>
                </a:lnTo>
                <a:close/>
              </a:path>
            </a:pathLst>
          </a:custGeom>
          <a:solidFill>
            <a:srgbClr val="18AE23"/>
          </a:solidFill>
        </p:spPr>
        <p:txBody>
          <a:bodyPr wrap="square" lIns="0" tIns="0" rIns="0" bIns="0" rtlCol="0"/>
          <a:lstStyle/>
          <a:p>
            <a:endParaRPr/>
          </a:p>
        </p:txBody>
      </p:sp>
      <p:sp>
        <p:nvSpPr>
          <p:cNvPr id="37" name="object 37"/>
          <p:cNvSpPr/>
          <p:nvPr/>
        </p:nvSpPr>
        <p:spPr>
          <a:xfrm>
            <a:off x="1303667" y="6191250"/>
            <a:ext cx="619760" cy="132080"/>
          </a:xfrm>
          <a:custGeom>
            <a:avLst/>
            <a:gdLst/>
            <a:ahLst/>
            <a:cxnLst/>
            <a:rect l="l" t="t" r="r" b="b"/>
            <a:pathLst>
              <a:path w="619760" h="132079">
                <a:moveTo>
                  <a:pt x="619506" y="762"/>
                </a:moveTo>
                <a:lnTo>
                  <a:pt x="609600" y="0"/>
                </a:lnTo>
                <a:lnTo>
                  <a:pt x="609600" y="6096"/>
                </a:lnTo>
                <a:lnTo>
                  <a:pt x="598448" y="31752"/>
                </a:lnTo>
                <a:lnTo>
                  <a:pt x="550218" y="73432"/>
                </a:lnTo>
                <a:lnTo>
                  <a:pt x="515552" y="89458"/>
                </a:lnTo>
                <a:lnTo>
                  <a:pt x="475459" y="102276"/>
                </a:lnTo>
                <a:lnTo>
                  <a:pt x="431145" y="111886"/>
                </a:lnTo>
                <a:lnTo>
                  <a:pt x="383816" y="118289"/>
                </a:lnTo>
                <a:lnTo>
                  <a:pt x="334677" y="121485"/>
                </a:lnTo>
                <a:lnTo>
                  <a:pt x="284933" y="121476"/>
                </a:lnTo>
                <a:lnTo>
                  <a:pt x="235791" y="118263"/>
                </a:lnTo>
                <a:lnTo>
                  <a:pt x="188455" y="111845"/>
                </a:lnTo>
                <a:lnTo>
                  <a:pt x="144133" y="102224"/>
                </a:lnTo>
                <a:lnTo>
                  <a:pt x="104028" y="89400"/>
                </a:lnTo>
                <a:lnTo>
                  <a:pt x="69348" y="73375"/>
                </a:lnTo>
                <a:lnTo>
                  <a:pt x="21081" y="31722"/>
                </a:lnTo>
                <a:lnTo>
                  <a:pt x="9906" y="6096"/>
                </a:lnTo>
                <a:lnTo>
                  <a:pt x="9906" y="0"/>
                </a:lnTo>
                <a:lnTo>
                  <a:pt x="0" y="762"/>
                </a:lnTo>
                <a:lnTo>
                  <a:pt x="29653" y="56584"/>
                </a:lnTo>
                <a:lnTo>
                  <a:pt x="88477" y="93311"/>
                </a:lnTo>
                <a:lnTo>
                  <a:pt x="126437" y="107083"/>
                </a:lnTo>
                <a:lnTo>
                  <a:pt x="168667" y="117791"/>
                </a:lnTo>
                <a:lnTo>
                  <a:pt x="214096" y="125434"/>
                </a:lnTo>
                <a:lnTo>
                  <a:pt x="261655" y="130011"/>
                </a:lnTo>
                <a:lnTo>
                  <a:pt x="310272" y="131521"/>
                </a:lnTo>
                <a:lnTo>
                  <a:pt x="358875" y="129962"/>
                </a:lnTo>
                <a:lnTo>
                  <a:pt x="406395" y="125333"/>
                </a:lnTo>
                <a:lnTo>
                  <a:pt x="451761" y="117633"/>
                </a:lnTo>
                <a:lnTo>
                  <a:pt x="493901" y="106860"/>
                </a:lnTo>
                <a:lnTo>
                  <a:pt x="531745" y="93013"/>
                </a:lnTo>
                <a:lnTo>
                  <a:pt x="590262" y="56091"/>
                </a:lnTo>
                <a:lnTo>
                  <a:pt x="618744" y="6858"/>
                </a:lnTo>
                <a:lnTo>
                  <a:pt x="619506" y="762"/>
                </a:lnTo>
                <a:close/>
              </a:path>
            </a:pathLst>
          </a:custGeom>
          <a:solidFill>
            <a:srgbClr val="000000"/>
          </a:solidFill>
        </p:spPr>
        <p:txBody>
          <a:bodyPr wrap="square" lIns="0" tIns="0" rIns="0" bIns="0" rtlCol="0"/>
          <a:lstStyle/>
          <a:p>
            <a:endParaRPr/>
          </a:p>
        </p:txBody>
      </p:sp>
      <p:sp>
        <p:nvSpPr>
          <p:cNvPr id="38" name="object 38"/>
          <p:cNvSpPr/>
          <p:nvPr/>
        </p:nvSpPr>
        <p:spPr>
          <a:xfrm>
            <a:off x="1303667" y="6060213"/>
            <a:ext cx="619760" cy="770255"/>
          </a:xfrm>
          <a:custGeom>
            <a:avLst/>
            <a:gdLst/>
            <a:ahLst/>
            <a:cxnLst/>
            <a:rect l="l" t="t" r="r" b="b"/>
            <a:pathLst>
              <a:path w="619760" h="770254">
                <a:moveTo>
                  <a:pt x="619506" y="639290"/>
                </a:moveTo>
                <a:lnTo>
                  <a:pt x="619506" y="131036"/>
                </a:lnTo>
                <a:lnTo>
                  <a:pt x="618744" y="123416"/>
                </a:lnTo>
                <a:lnTo>
                  <a:pt x="586613" y="72239"/>
                </a:lnTo>
                <a:lnTo>
                  <a:pt x="523031" y="34707"/>
                </a:lnTo>
                <a:lnTo>
                  <a:pt x="482425" y="21030"/>
                </a:lnTo>
                <a:lnTo>
                  <a:pt x="437531" y="10732"/>
                </a:lnTo>
                <a:lnTo>
                  <a:pt x="389541" y="3801"/>
                </a:lnTo>
                <a:lnTo>
                  <a:pt x="339647" y="227"/>
                </a:lnTo>
                <a:lnTo>
                  <a:pt x="289040" y="0"/>
                </a:lnTo>
                <a:lnTo>
                  <a:pt x="238911" y="3107"/>
                </a:lnTo>
                <a:lnTo>
                  <a:pt x="190454" y="9538"/>
                </a:lnTo>
                <a:lnTo>
                  <a:pt x="144858" y="19282"/>
                </a:lnTo>
                <a:lnTo>
                  <a:pt x="103317" y="32329"/>
                </a:lnTo>
                <a:lnTo>
                  <a:pt x="67021" y="48667"/>
                </a:lnTo>
                <a:lnTo>
                  <a:pt x="14933" y="91173"/>
                </a:lnTo>
                <a:lnTo>
                  <a:pt x="0" y="131036"/>
                </a:lnTo>
                <a:lnTo>
                  <a:pt x="0" y="639290"/>
                </a:lnTo>
                <a:lnTo>
                  <a:pt x="762" y="646910"/>
                </a:lnTo>
                <a:lnTo>
                  <a:pt x="2286" y="653768"/>
                </a:lnTo>
                <a:lnTo>
                  <a:pt x="9906" y="668943"/>
                </a:lnTo>
                <a:lnTo>
                  <a:pt x="9906" y="124940"/>
                </a:lnTo>
                <a:lnTo>
                  <a:pt x="11429" y="118844"/>
                </a:lnTo>
                <a:lnTo>
                  <a:pt x="36546" y="81390"/>
                </a:lnTo>
                <a:lnTo>
                  <a:pt x="73882" y="55992"/>
                </a:lnTo>
                <a:lnTo>
                  <a:pt x="120489" y="36725"/>
                </a:lnTo>
                <a:lnTo>
                  <a:pt x="171891" y="22995"/>
                </a:lnTo>
                <a:lnTo>
                  <a:pt x="223615" y="14211"/>
                </a:lnTo>
                <a:lnTo>
                  <a:pt x="271188" y="9782"/>
                </a:lnTo>
                <a:lnTo>
                  <a:pt x="310134" y="9116"/>
                </a:lnTo>
                <a:lnTo>
                  <a:pt x="325374" y="9116"/>
                </a:lnTo>
                <a:lnTo>
                  <a:pt x="376233" y="11843"/>
                </a:lnTo>
                <a:lnTo>
                  <a:pt x="421203" y="17862"/>
                </a:lnTo>
                <a:lnTo>
                  <a:pt x="470476" y="28421"/>
                </a:lnTo>
                <a:lnTo>
                  <a:pt x="519001" y="44001"/>
                </a:lnTo>
                <a:lnTo>
                  <a:pt x="561729" y="65085"/>
                </a:lnTo>
                <a:lnTo>
                  <a:pt x="593612" y="92158"/>
                </a:lnTo>
                <a:lnTo>
                  <a:pt x="609600" y="125702"/>
                </a:lnTo>
                <a:lnTo>
                  <a:pt x="609600" y="669280"/>
                </a:lnTo>
                <a:lnTo>
                  <a:pt x="610603" y="667931"/>
                </a:lnTo>
                <a:lnTo>
                  <a:pt x="619506" y="639290"/>
                </a:lnTo>
                <a:close/>
              </a:path>
              <a:path w="619760" h="770254">
                <a:moveTo>
                  <a:pt x="609600" y="669280"/>
                </a:moveTo>
                <a:lnTo>
                  <a:pt x="609600" y="645386"/>
                </a:lnTo>
                <a:lnTo>
                  <a:pt x="596934" y="672362"/>
                </a:lnTo>
                <a:lnTo>
                  <a:pt x="574561" y="695731"/>
                </a:lnTo>
                <a:lnTo>
                  <a:pt x="506188" y="731698"/>
                </a:lnTo>
                <a:lnTo>
                  <a:pt x="462935" y="744319"/>
                </a:lnTo>
                <a:lnTo>
                  <a:pt x="415470" y="753380"/>
                </a:lnTo>
                <a:lnTo>
                  <a:pt x="365168" y="758892"/>
                </a:lnTo>
                <a:lnTo>
                  <a:pt x="313401" y="760867"/>
                </a:lnTo>
                <a:lnTo>
                  <a:pt x="261543" y="759317"/>
                </a:lnTo>
                <a:lnTo>
                  <a:pt x="210970" y="754253"/>
                </a:lnTo>
                <a:lnTo>
                  <a:pt x="163054" y="745687"/>
                </a:lnTo>
                <a:lnTo>
                  <a:pt x="119170" y="733629"/>
                </a:lnTo>
                <a:lnTo>
                  <a:pt x="80692" y="718092"/>
                </a:lnTo>
                <a:lnTo>
                  <a:pt x="25448" y="676626"/>
                </a:lnTo>
                <a:lnTo>
                  <a:pt x="9906" y="644624"/>
                </a:lnTo>
                <a:lnTo>
                  <a:pt x="9906" y="668943"/>
                </a:lnTo>
                <a:lnTo>
                  <a:pt x="37798" y="702853"/>
                </a:lnTo>
                <a:lnTo>
                  <a:pt x="105115" y="738721"/>
                </a:lnTo>
                <a:lnTo>
                  <a:pt x="147540" y="751651"/>
                </a:lnTo>
                <a:lnTo>
                  <a:pt x="194124" y="761220"/>
                </a:lnTo>
                <a:lnTo>
                  <a:pt x="243602" y="767410"/>
                </a:lnTo>
                <a:lnTo>
                  <a:pt x="294711" y="770201"/>
                </a:lnTo>
                <a:lnTo>
                  <a:pt x="346187" y="769575"/>
                </a:lnTo>
                <a:lnTo>
                  <a:pt x="396766" y="765513"/>
                </a:lnTo>
                <a:lnTo>
                  <a:pt x="445183" y="757996"/>
                </a:lnTo>
                <a:lnTo>
                  <a:pt x="490174" y="747005"/>
                </a:lnTo>
                <a:lnTo>
                  <a:pt x="530476" y="732522"/>
                </a:lnTo>
                <a:lnTo>
                  <a:pt x="564824" y="714528"/>
                </a:lnTo>
                <a:lnTo>
                  <a:pt x="591954" y="693004"/>
                </a:lnTo>
                <a:lnTo>
                  <a:pt x="609600" y="669280"/>
                </a:lnTo>
                <a:close/>
              </a:path>
            </a:pathLst>
          </a:custGeom>
          <a:solidFill>
            <a:srgbClr val="000000"/>
          </a:solidFill>
        </p:spPr>
        <p:txBody>
          <a:bodyPr wrap="square" lIns="0" tIns="0" rIns="0" bIns="0" rtlCol="0"/>
          <a:lstStyle/>
          <a:p>
            <a:endParaRPr/>
          </a:p>
        </p:txBody>
      </p:sp>
      <p:sp>
        <p:nvSpPr>
          <p:cNvPr id="39" name="object 39"/>
          <p:cNvSpPr/>
          <p:nvPr/>
        </p:nvSpPr>
        <p:spPr>
          <a:xfrm>
            <a:off x="3060839" y="4539996"/>
            <a:ext cx="914400" cy="1066800"/>
          </a:xfrm>
          <a:custGeom>
            <a:avLst/>
            <a:gdLst/>
            <a:ahLst/>
            <a:cxnLst/>
            <a:rect l="l" t="t" r="r" b="b"/>
            <a:pathLst>
              <a:path w="914400" h="1066800">
                <a:moveTo>
                  <a:pt x="914400" y="889253"/>
                </a:moveTo>
                <a:lnTo>
                  <a:pt x="914400" y="178307"/>
                </a:lnTo>
                <a:lnTo>
                  <a:pt x="909453" y="151999"/>
                </a:lnTo>
                <a:lnTo>
                  <a:pt x="871984" y="103215"/>
                </a:lnTo>
                <a:lnTo>
                  <a:pt x="802418" y="61397"/>
                </a:lnTo>
                <a:lnTo>
                  <a:pt x="757351" y="43796"/>
                </a:lnTo>
                <a:lnTo>
                  <a:pt x="706361" y="28771"/>
                </a:lnTo>
                <a:lnTo>
                  <a:pt x="650151" y="16601"/>
                </a:lnTo>
                <a:lnTo>
                  <a:pt x="589420" y="7563"/>
                </a:lnTo>
                <a:lnTo>
                  <a:pt x="524869" y="1937"/>
                </a:lnTo>
                <a:lnTo>
                  <a:pt x="457200" y="0"/>
                </a:lnTo>
                <a:lnTo>
                  <a:pt x="389702" y="1937"/>
                </a:lnTo>
                <a:lnTo>
                  <a:pt x="325257" y="7563"/>
                </a:lnTo>
                <a:lnTo>
                  <a:pt x="264578" y="16601"/>
                </a:lnTo>
                <a:lnTo>
                  <a:pt x="208374" y="28771"/>
                </a:lnTo>
                <a:lnTo>
                  <a:pt x="157357" y="43796"/>
                </a:lnTo>
                <a:lnTo>
                  <a:pt x="112238" y="61397"/>
                </a:lnTo>
                <a:lnTo>
                  <a:pt x="73729" y="81296"/>
                </a:lnTo>
                <a:lnTo>
                  <a:pt x="42539" y="103215"/>
                </a:lnTo>
                <a:lnTo>
                  <a:pt x="4963" y="151999"/>
                </a:lnTo>
                <a:lnTo>
                  <a:pt x="0" y="178307"/>
                </a:lnTo>
                <a:lnTo>
                  <a:pt x="0" y="889253"/>
                </a:lnTo>
                <a:lnTo>
                  <a:pt x="19380" y="940620"/>
                </a:lnTo>
                <a:lnTo>
                  <a:pt x="73729" y="986036"/>
                </a:lnTo>
                <a:lnTo>
                  <a:pt x="112238" y="1005835"/>
                </a:lnTo>
                <a:lnTo>
                  <a:pt x="157357" y="1023332"/>
                </a:lnTo>
                <a:lnTo>
                  <a:pt x="208374" y="1038257"/>
                </a:lnTo>
                <a:lnTo>
                  <a:pt x="264578" y="1050337"/>
                </a:lnTo>
                <a:lnTo>
                  <a:pt x="325257" y="1059302"/>
                </a:lnTo>
                <a:lnTo>
                  <a:pt x="389702" y="1064880"/>
                </a:lnTo>
                <a:lnTo>
                  <a:pt x="457200" y="1066799"/>
                </a:lnTo>
                <a:lnTo>
                  <a:pt x="524869" y="1064880"/>
                </a:lnTo>
                <a:lnTo>
                  <a:pt x="589420" y="1059302"/>
                </a:lnTo>
                <a:lnTo>
                  <a:pt x="650151" y="1050337"/>
                </a:lnTo>
                <a:lnTo>
                  <a:pt x="706361" y="1038257"/>
                </a:lnTo>
                <a:lnTo>
                  <a:pt x="757351" y="1023332"/>
                </a:lnTo>
                <a:lnTo>
                  <a:pt x="802418" y="1005835"/>
                </a:lnTo>
                <a:lnTo>
                  <a:pt x="840863" y="986036"/>
                </a:lnTo>
                <a:lnTo>
                  <a:pt x="895081" y="940620"/>
                </a:lnTo>
                <a:lnTo>
                  <a:pt x="914400" y="889253"/>
                </a:lnTo>
                <a:close/>
              </a:path>
            </a:pathLst>
          </a:custGeom>
          <a:solidFill>
            <a:srgbClr val="18AE23"/>
          </a:solidFill>
        </p:spPr>
        <p:txBody>
          <a:bodyPr wrap="square" lIns="0" tIns="0" rIns="0" bIns="0" rtlCol="0"/>
          <a:lstStyle/>
          <a:p>
            <a:endParaRPr/>
          </a:p>
        </p:txBody>
      </p:sp>
      <p:sp>
        <p:nvSpPr>
          <p:cNvPr id="40" name="object 40"/>
          <p:cNvSpPr/>
          <p:nvPr/>
        </p:nvSpPr>
        <p:spPr>
          <a:xfrm>
            <a:off x="3056267" y="4718303"/>
            <a:ext cx="924560" cy="182245"/>
          </a:xfrm>
          <a:custGeom>
            <a:avLst/>
            <a:gdLst/>
            <a:ahLst/>
            <a:cxnLst/>
            <a:rect l="l" t="t" r="r" b="b"/>
            <a:pathLst>
              <a:path w="924560" h="182245">
                <a:moveTo>
                  <a:pt x="924306" y="4572"/>
                </a:moveTo>
                <a:lnTo>
                  <a:pt x="924306" y="0"/>
                </a:lnTo>
                <a:lnTo>
                  <a:pt x="914400" y="0"/>
                </a:lnTo>
                <a:lnTo>
                  <a:pt x="914400" y="4572"/>
                </a:lnTo>
                <a:lnTo>
                  <a:pt x="913638" y="8382"/>
                </a:lnTo>
                <a:lnTo>
                  <a:pt x="913638" y="12954"/>
                </a:lnTo>
                <a:lnTo>
                  <a:pt x="896397" y="47807"/>
                </a:lnTo>
                <a:lnTo>
                  <a:pt x="867989" y="75923"/>
                </a:lnTo>
                <a:lnTo>
                  <a:pt x="833640" y="98082"/>
                </a:lnTo>
                <a:lnTo>
                  <a:pt x="798576" y="115062"/>
                </a:lnTo>
                <a:lnTo>
                  <a:pt x="717374" y="142448"/>
                </a:lnTo>
                <a:lnTo>
                  <a:pt x="665825" y="154200"/>
                </a:lnTo>
                <a:lnTo>
                  <a:pt x="613652" y="162849"/>
                </a:lnTo>
                <a:lnTo>
                  <a:pt x="561059" y="168739"/>
                </a:lnTo>
                <a:lnTo>
                  <a:pt x="508254" y="172212"/>
                </a:lnTo>
                <a:lnTo>
                  <a:pt x="485394" y="172974"/>
                </a:lnTo>
                <a:lnTo>
                  <a:pt x="438912" y="172974"/>
                </a:lnTo>
                <a:lnTo>
                  <a:pt x="365753" y="169131"/>
                </a:lnTo>
                <a:lnTo>
                  <a:pt x="320098" y="163985"/>
                </a:lnTo>
                <a:lnTo>
                  <a:pt x="271147" y="156316"/>
                </a:lnTo>
                <a:lnTo>
                  <a:pt x="220970" y="145841"/>
                </a:lnTo>
                <a:lnTo>
                  <a:pt x="171632" y="132281"/>
                </a:lnTo>
                <a:lnTo>
                  <a:pt x="125203" y="115356"/>
                </a:lnTo>
                <a:lnTo>
                  <a:pt x="83748" y="94784"/>
                </a:lnTo>
                <a:lnTo>
                  <a:pt x="49335" y="70284"/>
                </a:lnTo>
                <a:lnTo>
                  <a:pt x="24032" y="41577"/>
                </a:lnTo>
                <a:lnTo>
                  <a:pt x="9906" y="8382"/>
                </a:lnTo>
                <a:lnTo>
                  <a:pt x="9906" y="0"/>
                </a:lnTo>
                <a:lnTo>
                  <a:pt x="0" y="0"/>
                </a:lnTo>
                <a:lnTo>
                  <a:pt x="0" y="4572"/>
                </a:lnTo>
                <a:lnTo>
                  <a:pt x="762" y="9906"/>
                </a:lnTo>
                <a:lnTo>
                  <a:pt x="39499" y="74390"/>
                </a:lnTo>
                <a:lnTo>
                  <a:pt x="74388" y="100101"/>
                </a:lnTo>
                <a:lnTo>
                  <a:pt x="116723" y="121793"/>
                </a:lnTo>
                <a:lnTo>
                  <a:pt x="164331" y="139716"/>
                </a:lnTo>
                <a:lnTo>
                  <a:pt x="215037" y="154119"/>
                </a:lnTo>
                <a:lnTo>
                  <a:pt x="266665" y="165254"/>
                </a:lnTo>
                <a:lnTo>
                  <a:pt x="317041" y="173371"/>
                </a:lnTo>
                <a:lnTo>
                  <a:pt x="363991" y="178721"/>
                </a:lnTo>
                <a:lnTo>
                  <a:pt x="405339" y="181552"/>
                </a:lnTo>
                <a:lnTo>
                  <a:pt x="438912" y="182118"/>
                </a:lnTo>
                <a:lnTo>
                  <a:pt x="485394" y="182118"/>
                </a:lnTo>
                <a:lnTo>
                  <a:pt x="560171" y="178716"/>
                </a:lnTo>
                <a:lnTo>
                  <a:pt x="607204" y="173333"/>
                </a:lnTo>
                <a:lnTo>
                  <a:pt x="657724" y="165165"/>
                </a:lnTo>
                <a:lnTo>
                  <a:pt x="709522" y="153963"/>
                </a:lnTo>
                <a:lnTo>
                  <a:pt x="760391" y="139479"/>
                </a:lnTo>
                <a:lnTo>
                  <a:pt x="808124" y="121465"/>
                </a:lnTo>
                <a:lnTo>
                  <a:pt x="850513" y="99672"/>
                </a:lnTo>
                <a:lnTo>
                  <a:pt x="885351" y="73853"/>
                </a:lnTo>
                <a:lnTo>
                  <a:pt x="910431" y="43760"/>
                </a:lnTo>
                <a:lnTo>
                  <a:pt x="923544" y="9144"/>
                </a:lnTo>
                <a:lnTo>
                  <a:pt x="924306" y="4572"/>
                </a:lnTo>
                <a:close/>
              </a:path>
            </a:pathLst>
          </a:custGeom>
          <a:solidFill>
            <a:srgbClr val="000000"/>
          </a:solidFill>
        </p:spPr>
        <p:txBody>
          <a:bodyPr wrap="square" lIns="0" tIns="0" rIns="0" bIns="0" rtlCol="0"/>
          <a:lstStyle/>
          <a:p>
            <a:endParaRPr/>
          </a:p>
        </p:txBody>
      </p:sp>
      <p:sp>
        <p:nvSpPr>
          <p:cNvPr id="41" name="object 41"/>
          <p:cNvSpPr/>
          <p:nvPr/>
        </p:nvSpPr>
        <p:spPr>
          <a:xfrm>
            <a:off x="3056267" y="4535423"/>
            <a:ext cx="924560" cy="1076960"/>
          </a:xfrm>
          <a:custGeom>
            <a:avLst/>
            <a:gdLst/>
            <a:ahLst/>
            <a:cxnLst/>
            <a:rect l="l" t="t" r="r" b="b"/>
            <a:pathLst>
              <a:path w="924560" h="1076960">
                <a:moveTo>
                  <a:pt x="924306" y="898397"/>
                </a:moveTo>
                <a:lnTo>
                  <a:pt x="924306" y="177545"/>
                </a:lnTo>
                <a:lnTo>
                  <a:pt x="923544" y="172973"/>
                </a:lnTo>
                <a:lnTo>
                  <a:pt x="885040" y="108537"/>
                </a:lnTo>
                <a:lnTo>
                  <a:pt x="850151" y="82782"/>
                </a:lnTo>
                <a:lnTo>
                  <a:pt x="807763" y="61022"/>
                </a:lnTo>
                <a:lnTo>
                  <a:pt x="760070" y="43021"/>
                </a:lnTo>
                <a:lnTo>
                  <a:pt x="709267" y="28543"/>
                </a:lnTo>
                <a:lnTo>
                  <a:pt x="657547" y="17354"/>
                </a:lnTo>
                <a:lnTo>
                  <a:pt x="607106" y="9216"/>
                </a:lnTo>
                <a:lnTo>
                  <a:pt x="560137" y="3896"/>
                </a:lnTo>
                <a:lnTo>
                  <a:pt x="518835" y="1156"/>
                </a:lnTo>
                <a:lnTo>
                  <a:pt x="485394" y="761"/>
                </a:lnTo>
                <a:lnTo>
                  <a:pt x="461772" y="0"/>
                </a:lnTo>
                <a:lnTo>
                  <a:pt x="438150" y="0"/>
                </a:lnTo>
                <a:lnTo>
                  <a:pt x="404501" y="832"/>
                </a:lnTo>
                <a:lnTo>
                  <a:pt x="363465" y="3814"/>
                </a:lnTo>
                <a:lnTo>
                  <a:pt x="317101" y="9193"/>
                </a:lnTo>
                <a:lnTo>
                  <a:pt x="267468" y="17220"/>
                </a:lnTo>
                <a:lnTo>
                  <a:pt x="216626" y="28141"/>
                </a:lnTo>
                <a:lnTo>
                  <a:pt x="166634" y="42207"/>
                </a:lnTo>
                <a:lnTo>
                  <a:pt x="119553" y="59666"/>
                </a:lnTo>
                <a:lnTo>
                  <a:pt x="77442" y="80766"/>
                </a:lnTo>
                <a:lnTo>
                  <a:pt x="42360" y="105756"/>
                </a:lnTo>
                <a:lnTo>
                  <a:pt x="16367" y="134885"/>
                </a:lnTo>
                <a:lnTo>
                  <a:pt x="761" y="172973"/>
                </a:lnTo>
                <a:lnTo>
                  <a:pt x="0" y="178307"/>
                </a:lnTo>
                <a:lnTo>
                  <a:pt x="0" y="899159"/>
                </a:lnTo>
                <a:lnTo>
                  <a:pt x="1524" y="908303"/>
                </a:lnTo>
                <a:lnTo>
                  <a:pt x="9906" y="926462"/>
                </a:lnTo>
                <a:lnTo>
                  <a:pt x="9906" y="173735"/>
                </a:lnTo>
                <a:lnTo>
                  <a:pt x="10667" y="169925"/>
                </a:lnTo>
                <a:lnTo>
                  <a:pt x="53846" y="108677"/>
                </a:lnTo>
                <a:lnTo>
                  <a:pt x="90611" y="84315"/>
                </a:lnTo>
                <a:lnTo>
                  <a:pt x="134592" y="63826"/>
                </a:lnTo>
                <a:lnTo>
                  <a:pt x="183614" y="46985"/>
                </a:lnTo>
                <a:lnTo>
                  <a:pt x="235501" y="33566"/>
                </a:lnTo>
                <a:lnTo>
                  <a:pt x="288078" y="23343"/>
                </a:lnTo>
                <a:lnTo>
                  <a:pt x="339169" y="16092"/>
                </a:lnTo>
                <a:lnTo>
                  <a:pt x="386599" y="11586"/>
                </a:lnTo>
                <a:lnTo>
                  <a:pt x="426480" y="9680"/>
                </a:lnTo>
                <a:lnTo>
                  <a:pt x="438912" y="9697"/>
                </a:lnTo>
                <a:lnTo>
                  <a:pt x="461772" y="9905"/>
                </a:lnTo>
                <a:lnTo>
                  <a:pt x="485394" y="9905"/>
                </a:lnTo>
                <a:lnTo>
                  <a:pt x="542859" y="11819"/>
                </a:lnTo>
                <a:lnTo>
                  <a:pt x="585974" y="15847"/>
                </a:lnTo>
                <a:lnTo>
                  <a:pt x="635440" y="22974"/>
                </a:lnTo>
                <a:lnTo>
                  <a:pt x="688340" y="33423"/>
                </a:lnTo>
                <a:lnTo>
                  <a:pt x="741754" y="47415"/>
                </a:lnTo>
                <a:lnTo>
                  <a:pt x="792765" y="65173"/>
                </a:lnTo>
                <a:lnTo>
                  <a:pt x="838453" y="86919"/>
                </a:lnTo>
                <a:lnTo>
                  <a:pt x="875901" y="112875"/>
                </a:lnTo>
                <a:lnTo>
                  <a:pt x="902189" y="143264"/>
                </a:lnTo>
                <a:lnTo>
                  <a:pt x="914400" y="178307"/>
                </a:lnTo>
                <a:lnTo>
                  <a:pt x="914400" y="929047"/>
                </a:lnTo>
                <a:lnTo>
                  <a:pt x="924306" y="898397"/>
                </a:lnTo>
                <a:close/>
              </a:path>
              <a:path w="924560" h="1076960">
                <a:moveTo>
                  <a:pt x="914400" y="929047"/>
                </a:moveTo>
                <a:lnTo>
                  <a:pt x="914400" y="898397"/>
                </a:lnTo>
                <a:lnTo>
                  <a:pt x="913638" y="902969"/>
                </a:lnTo>
                <a:lnTo>
                  <a:pt x="913638" y="906779"/>
                </a:lnTo>
                <a:lnTo>
                  <a:pt x="897190" y="941065"/>
                </a:lnTo>
                <a:lnTo>
                  <a:pt x="868122" y="969702"/>
                </a:lnTo>
                <a:lnTo>
                  <a:pt x="833047" y="992404"/>
                </a:lnTo>
                <a:lnTo>
                  <a:pt x="798576" y="1008887"/>
                </a:lnTo>
                <a:lnTo>
                  <a:pt x="717899" y="1036383"/>
                </a:lnTo>
                <a:lnTo>
                  <a:pt x="666117" y="1048241"/>
                </a:lnTo>
                <a:lnTo>
                  <a:pt x="613450" y="1056944"/>
                </a:lnTo>
                <a:lnTo>
                  <a:pt x="560596" y="1062780"/>
                </a:lnTo>
                <a:lnTo>
                  <a:pt x="508254" y="1066037"/>
                </a:lnTo>
                <a:lnTo>
                  <a:pt x="485394" y="1066799"/>
                </a:lnTo>
                <a:lnTo>
                  <a:pt x="438150" y="1066783"/>
                </a:lnTo>
                <a:lnTo>
                  <a:pt x="357988" y="1062626"/>
                </a:lnTo>
                <a:lnTo>
                  <a:pt x="307216" y="1056367"/>
                </a:lnTo>
                <a:lnTo>
                  <a:pt x="253161" y="1046928"/>
                </a:lnTo>
                <a:lnTo>
                  <a:pt x="198515" y="1034010"/>
                </a:lnTo>
                <a:lnTo>
                  <a:pt x="145971" y="1017314"/>
                </a:lnTo>
                <a:lnTo>
                  <a:pt x="98221" y="996542"/>
                </a:lnTo>
                <a:lnTo>
                  <a:pt x="57959" y="971395"/>
                </a:lnTo>
                <a:lnTo>
                  <a:pt x="27877" y="941573"/>
                </a:lnTo>
                <a:lnTo>
                  <a:pt x="10668" y="906779"/>
                </a:lnTo>
                <a:lnTo>
                  <a:pt x="9906" y="902207"/>
                </a:lnTo>
                <a:lnTo>
                  <a:pt x="9906" y="926462"/>
                </a:lnTo>
                <a:lnTo>
                  <a:pt x="45440" y="973488"/>
                </a:lnTo>
                <a:lnTo>
                  <a:pt x="82618" y="999083"/>
                </a:lnTo>
                <a:lnTo>
                  <a:pt x="127078" y="1020425"/>
                </a:lnTo>
                <a:lnTo>
                  <a:pt x="176673" y="1037823"/>
                </a:lnTo>
                <a:lnTo>
                  <a:pt x="229254" y="1051586"/>
                </a:lnTo>
                <a:lnTo>
                  <a:pt x="282674" y="1062024"/>
                </a:lnTo>
                <a:lnTo>
                  <a:pt x="334783" y="1069446"/>
                </a:lnTo>
                <a:lnTo>
                  <a:pt x="383435" y="1074161"/>
                </a:lnTo>
                <a:lnTo>
                  <a:pt x="426480" y="1076478"/>
                </a:lnTo>
                <a:lnTo>
                  <a:pt x="461772" y="1076705"/>
                </a:lnTo>
                <a:lnTo>
                  <a:pt x="485394" y="1075943"/>
                </a:lnTo>
                <a:lnTo>
                  <a:pt x="509016" y="1075943"/>
                </a:lnTo>
                <a:lnTo>
                  <a:pt x="581398" y="1070745"/>
                </a:lnTo>
                <a:lnTo>
                  <a:pt x="626600" y="1064664"/>
                </a:lnTo>
                <a:lnTo>
                  <a:pt x="674978" y="1055918"/>
                </a:lnTo>
                <a:lnTo>
                  <a:pt x="724411" y="1044250"/>
                </a:lnTo>
                <a:lnTo>
                  <a:pt x="772776" y="1029400"/>
                </a:lnTo>
                <a:lnTo>
                  <a:pt x="817951" y="1011111"/>
                </a:lnTo>
                <a:lnTo>
                  <a:pt x="857814" y="989124"/>
                </a:lnTo>
                <a:lnTo>
                  <a:pt x="890242" y="963182"/>
                </a:lnTo>
                <a:lnTo>
                  <a:pt x="913114" y="933026"/>
                </a:lnTo>
                <a:lnTo>
                  <a:pt x="914400" y="929047"/>
                </a:lnTo>
                <a:close/>
              </a:path>
            </a:pathLst>
          </a:custGeom>
          <a:solidFill>
            <a:srgbClr val="000000"/>
          </a:solidFill>
        </p:spPr>
        <p:txBody>
          <a:bodyPr wrap="square" lIns="0" tIns="0" rIns="0" bIns="0" rtlCol="0"/>
          <a:lstStyle/>
          <a:p>
            <a:endParaRPr/>
          </a:p>
        </p:txBody>
      </p:sp>
      <p:sp>
        <p:nvSpPr>
          <p:cNvPr id="42" name="object 42"/>
          <p:cNvSpPr/>
          <p:nvPr/>
        </p:nvSpPr>
        <p:spPr>
          <a:xfrm>
            <a:off x="5194439" y="3320796"/>
            <a:ext cx="304800" cy="914400"/>
          </a:xfrm>
          <a:custGeom>
            <a:avLst/>
            <a:gdLst/>
            <a:ahLst/>
            <a:cxnLst/>
            <a:rect l="l" t="t" r="r" b="b"/>
            <a:pathLst>
              <a:path w="304800" h="914400">
                <a:moveTo>
                  <a:pt x="304800" y="762000"/>
                </a:moveTo>
                <a:lnTo>
                  <a:pt x="304800" y="152399"/>
                </a:lnTo>
                <a:lnTo>
                  <a:pt x="297070" y="104363"/>
                </a:lnTo>
                <a:lnTo>
                  <a:pt x="275514" y="62544"/>
                </a:lnTo>
                <a:lnTo>
                  <a:pt x="242584" y="29504"/>
                </a:lnTo>
                <a:lnTo>
                  <a:pt x="200729" y="7802"/>
                </a:lnTo>
                <a:lnTo>
                  <a:pt x="152400" y="0"/>
                </a:lnTo>
                <a:lnTo>
                  <a:pt x="104363" y="7802"/>
                </a:lnTo>
                <a:lnTo>
                  <a:pt x="62544" y="29504"/>
                </a:lnTo>
                <a:lnTo>
                  <a:pt x="29504" y="62544"/>
                </a:lnTo>
                <a:lnTo>
                  <a:pt x="7802" y="104363"/>
                </a:lnTo>
                <a:lnTo>
                  <a:pt x="0" y="152400"/>
                </a:lnTo>
                <a:lnTo>
                  <a:pt x="0" y="762000"/>
                </a:lnTo>
                <a:lnTo>
                  <a:pt x="7802" y="810329"/>
                </a:lnTo>
                <a:lnTo>
                  <a:pt x="29504" y="852184"/>
                </a:lnTo>
                <a:lnTo>
                  <a:pt x="62544" y="885114"/>
                </a:lnTo>
                <a:lnTo>
                  <a:pt x="104363" y="906670"/>
                </a:lnTo>
                <a:lnTo>
                  <a:pt x="152400" y="914400"/>
                </a:lnTo>
                <a:lnTo>
                  <a:pt x="200729" y="906670"/>
                </a:lnTo>
                <a:lnTo>
                  <a:pt x="242584" y="885114"/>
                </a:lnTo>
                <a:lnTo>
                  <a:pt x="275514" y="852184"/>
                </a:lnTo>
                <a:lnTo>
                  <a:pt x="297070" y="810329"/>
                </a:lnTo>
                <a:lnTo>
                  <a:pt x="304800" y="762000"/>
                </a:lnTo>
                <a:close/>
              </a:path>
            </a:pathLst>
          </a:custGeom>
          <a:solidFill>
            <a:srgbClr val="18AE23"/>
          </a:solidFill>
        </p:spPr>
        <p:txBody>
          <a:bodyPr wrap="square" lIns="0" tIns="0" rIns="0" bIns="0" rtlCol="0"/>
          <a:lstStyle/>
          <a:p>
            <a:endParaRPr/>
          </a:p>
        </p:txBody>
      </p:sp>
      <p:sp>
        <p:nvSpPr>
          <p:cNvPr id="43" name="object 43"/>
          <p:cNvSpPr/>
          <p:nvPr/>
        </p:nvSpPr>
        <p:spPr>
          <a:xfrm>
            <a:off x="5189867" y="3473196"/>
            <a:ext cx="314960" cy="156210"/>
          </a:xfrm>
          <a:custGeom>
            <a:avLst/>
            <a:gdLst/>
            <a:ahLst/>
            <a:cxnLst/>
            <a:rect l="l" t="t" r="r" b="b"/>
            <a:pathLst>
              <a:path w="314960" h="156210">
                <a:moveTo>
                  <a:pt x="314706" y="762"/>
                </a:moveTo>
                <a:lnTo>
                  <a:pt x="304800" y="0"/>
                </a:lnTo>
                <a:lnTo>
                  <a:pt x="304800" y="8382"/>
                </a:lnTo>
                <a:lnTo>
                  <a:pt x="296762" y="48012"/>
                </a:lnTo>
                <a:lnTo>
                  <a:pt x="259932" y="107358"/>
                </a:lnTo>
                <a:lnTo>
                  <a:pt x="204382" y="140197"/>
                </a:lnTo>
                <a:lnTo>
                  <a:pt x="172946" y="146694"/>
                </a:lnTo>
                <a:lnTo>
                  <a:pt x="140859" y="146586"/>
                </a:lnTo>
                <a:lnTo>
                  <a:pt x="80109" y="126582"/>
                </a:lnTo>
                <a:lnTo>
                  <a:pt x="32876" y="80241"/>
                </a:lnTo>
                <a:lnTo>
                  <a:pt x="9906" y="7620"/>
                </a:lnTo>
                <a:lnTo>
                  <a:pt x="9906" y="0"/>
                </a:lnTo>
                <a:lnTo>
                  <a:pt x="0" y="762"/>
                </a:lnTo>
                <a:lnTo>
                  <a:pt x="0" y="8382"/>
                </a:lnTo>
                <a:lnTo>
                  <a:pt x="8470" y="50559"/>
                </a:lnTo>
                <a:lnTo>
                  <a:pt x="24832" y="85704"/>
                </a:lnTo>
                <a:lnTo>
                  <a:pt x="75474" y="134900"/>
                </a:lnTo>
                <a:lnTo>
                  <a:pt x="140407" y="155976"/>
                </a:lnTo>
                <a:lnTo>
                  <a:pt x="174634" y="155971"/>
                </a:lnTo>
                <a:lnTo>
                  <a:pt x="239411" y="134878"/>
                </a:lnTo>
                <a:lnTo>
                  <a:pt x="289686" y="85680"/>
                </a:lnTo>
                <a:lnTo>
                  <a:pt x="305787" y="50543"/>
                </a:lnTo>
                <a:lnTo>
                  <a:pt x="313944" y="8382"/>
                </a:lnTo>
                <a:lnTo>
                  <a:pt x="314706" y="762"/>
                </a:lnTo>
                <a:close/>
              </a:path>
            </a:pathLst>
          </a:custGeom>
          <a:solidFill>
            <a:srgbClr val="000000"/>
          </a:solidFill>
        </p:spPr>
        <p:txBody>
          <a:bodyPr wrap="square" lIns="0" tIns="0" rIns="0" bIns="0" rtlCol="0"/>
          <a:lstStyle/>
          <a:p>
            <a:endParaRPr/>
          </a:p>
        </p:txBody>
      </p:sp>
      <p:sp>
        <p:nvSpPr>
          <p:cNvPr id="44" name="object 44"/>
          <p:cNvSpPr/>
          <p:nvPr/>
        </p:nvSpPr>
        <p:spPr>
          <a:xfrm>
            <a:off x="5189867" y="3317280"/>
            <a:ext cx="314960" cy="922655"/>
          </a:xfrm>
          <a:custGeom>
            <a:avLst/>
            <a:gdLst/>
            <a:ahLst/>
            <a:cxnLst/>
            <a:rect l="l" t="t" r="r" b="b"/>
            <a:pathLst>
              <a:path w="314960" h="922654">
                <a:moveTo>
                  <a:pt x="314706" y="765515"/>
                </a:moveTo>
                <a:lnTo>
                  <a:pt x="314706" y="155915"/>
                </a:lnTo>
                <a:lnTo>
                  <a:pt x="305928" y="106832"/>
                </a:lnTo>
                <a:lnTo>
                  <a:pt x="290235" y="72083"/>
                </a:lnTo>
                <a:lnTo>
                  <a:pt x="241270" y="22838"/>
                </a:lnTo>
                <a:lnTo>
                  <a:pt x="177952" y="773"/>
                </a:lnTo>
                <a:lnTo>
                  <a:pt x="144319" y="0"/>
                </a:lnTo>
                <a:lnTo>
                  <a:pt x="111187" y="6101"/>
                </a:lnTo>
                <a:lnTo>
                  <a:pt x="51881" y="39038"/>
                </a:lnTo>
                <a:lnTo>
                  <a:pt x="10938" y="99796"/>
                </a:lnTo>
                <a:lnTo>
                  <a:pt x="761" y="140675"/>
                </a:lnTo>
                <a:lnTo>
                  <a:pt x="0" y="148295"/>
                </a:lnTo>
                <a:lnTo>
                  <a:pt x="0" y="773897"/>
                </a:lnTo>
                <a:lnTo>
                  <a:pt x="762" y="782279"/>
                </a:lnTo>
                <a:lnTo>
                  <a:pt x="9906" y="817206"/>
                </a:lnTo>
                <a:lnTo>
                  <a:pt x="9906" y="148295"/>
                </a:lnTo>
                <a:lnTo>
                  <a:pt x="10667" y="141437"/>
                </a:lnTo>
                <a:lnTo>
                  <a:pt x="20316" y="102192"/>
                </a:lnTo>
                <a:lnTo>
                  <a:pt x="59762" y="44615"/>
                </a:lnTo>
                <a:lnTo>
                  <a:pt x="116969" y="14452"/>
                </a:lnTo>
                <a:lnTo>
                  <a:pt x="148816" y="9475"/>
                </a:lnTo>
                <a:lnTo>
                  <a:pt x="181005" y="11141"/>
                </a:lnTo>
                <a:lnTo>
                  <a:pt x="240942" y="34117"/>
                </a:lnTo>
                <a:lnTo>
                  <a:pt x="285850" y="82816"/>
                </a:lnTo>
                <a:lnTo>
                  <a:pt x="304800" y="156677"/>
                </a:lnTo>
                <a:lnTo>
                  <a:pt x="304800" y="816867"/>
                </a:lnTo>
                <a:lnTo>
                  <a:pt x="308320" y="808131"/>
                </a:lnTo>
                <a:lnTo>
                  <a:pt x="314706" y="765515"/>
                </a:lnTo>
                <a:close/>
              </a:path>
              <a:path w="314960" h="922654">
                <a:moveTo>
                  <a:pt x="304800" y="816867"/>
                </a:moveTo>
                <a:lnTo>
                  <a:pt x="304800" y="773897"/>
                </a:lnTo>
                <a:lnTo>
                  <a:pt x="296231" y="815581"/>
                </a:lnTo>
                <a:lnTo>
                  <a:pt x="279292" y="849904"/>
                </a:lnTo>
                <a:lnTo>
                  <a:pt x="255623" y="876829"/>
                </a:lnTo>
                <a:lnTo>
                  <a:pt x="226867" y="896325"/>
                </a:lnTo>
                <a:lnTo>
                  <a:pt x="194664" y="908356"/>
                </a:lnTo>
                <a:lnTo>
                  <a:pt x="160658" y="912890"/>
                </a:lnTo>
                <a:lnTo>
                  <a:pt x="126489" y="909893"/>
                </a:lnTo>
                <a:lnTo>
                  <a:pt x="64230" y="881169"/>
                </a:lnTo>
                <a:lnTo>
                  <a:pt x="21023" y="821915"/>
                </a:lnTo>
                <a:lnTo>
                  <a:pt x="10668" y="780755"/>
                </a:lnTo>
                <a:lnTo>
                  <a:pt x="9906" y="773135"/>
                </a:lnTo>
                <a:lnTo>
                  <a:pt x="9906" y="817206"/>
                </a:lnTo>
                <a:lnTo>
                  <a:pt x="29971" y="858251"/>
                </a:lnTo>
                <a:lnTo>
                  <a:pt x="83028" y="904747"/>
                </a:lnTo>
                <a:lnTo>
                  <a:pt x="148662" y="922376"/>
                </a:lnTo>
                <a:lnTo>
                  <a:pt x="182674" y="920555"/>
                </a:lnTo>
                <a:lnTo>
                  <a:pt x="215603" y="911744"/>
                </a:lnTo>
                <a:lnTo>
                  <a:pt x="246041" y="896021"/>
                </a:lnTo>
                <a:lnTo>
                  <a:pt x="272579" y="873460"/>
                </a:lnTo>
                <a:lnTo>
                  <a:pt x="293809" y="844138"/>
                </a:lnTo>
                <a:lnTo>
                  <a:pt x="304800" y="816867"/>
                </a:lnTo>
                <a:close/>
              </a:path>
            </a:pathLst>
          </a:custGeom>
          <a:solidFill>
            <a:srgbClr val="000000"/>
          </a:solidFill>
        </p:spPr>
        <p:txBody>
          <a:bodyPr wrap="square" lIns="0" tIns="0" rIns="0" bIns="0" rtlCol="0"/>
          <a:lstStyle/>
          <a:p>
            <a:endParaRPr/>
          </a:p>
        </p:txBody>
      </p:sp>
      <p:sp>
        <p:nvSpPr>
          <p:cNvPr id="45" name="object 45"/>
          <p:cNvSpPr/>
          <p:nvPr/>
        </p:nvSpPr>
        <p:spPr>
          <a:xfrm>
            <a:off x="5346839" y="3473196"/>
            <a:ext cx="304800" cy="914400"/>
          </a:xfrm>
          <a:custGeom>
            <a:avLst/>
            <a:gdLst/>
            <a:ahLst/>
            <a:cxnLst/>
            <a:rect l="l" t="t" r="r" b="b"/>
            <a:pathLst>
              <a:path w="304800" h="914400">
                <a:moveTo>
                  <a:pt x="304800" y="762000"/>
                </a:moveTo>
                <a:lnTo>
                  <a:pt x="304800" y="152399"/>
                </a:lnTo>
                <a:lnTo>
                  <a:pt x="297070" y="104363"/>
                </a:lnTo>
                <a:lnTo>
                  <a:pt x="275514" y="62544"/>
                </a:lnTo>
                <a:lnTo>
                  <a:pt x="242584" y="29504"/>
                </a:lnTo>
                <a:lnTo>
                  <a:pt x="200729" y="7802"/>
                </a:lnTo>
                <a:lnTo>
                  <a:pt x="152400" y="0"/>
                </a:lnTo>
                <a:lnTo>
                  <a:pt x="104363" y="7802"/>
                </a:lnTo>
                <a:lnTo>
                  <a:pt x="62544" y="29504"/>
                </a:lnTo>
                <a:lnTo>
                  <a:pt x="29504" y="62544"/>
                </a:lnTo>
                <a:lnTo>
                  <a:pt x="7802" y="104363"/>
                </a:lnTo>
                <a:lnTo>
                  <a:pt x="0" y="152400"/>
                </a:lnTo>
                <a:lnTo>
                  <a:pt x="0" y="762000"/>
                </a:lnTo>
                <a:lnTo>
                  <a:pt x="7802" y="810329"/>
                </a:lnTo>
                <a:lnTo>
                  <a:pt x="29504" y="852184"/>
                </a:lnTo>
                <a:lnTo>
                  <a:pt x="62544" y="885114"/>
                </a:lnTo>
                <a:lnTo>
                  <a:pt x="104363" y="906670"/>
                </a:lnTo>
                <a:lnTo>
                  <a:pt x="152400" y="914400"/>
                </a:lnTo>
                <a:lnTo>
                  <a:pt x="200729" y="906670"/>
                </a:lnTo>
                <a:lnTo>
                  <a:pt x="242584" y="885114"/>
                </a:lnTo>
                <a:lnTo>
                  <a:pt x="275514" y="852184"/>
                </a:lnTo>
                <a:lnTo>
                  <a:pt x="297070" y="810329"/>
                </a:lnTo>
                <a:lnTo>
                  <a:pt x="304800" y="762000"/>
                </a:lnTo>
                <a:close/>
              </a:path>
            </a:pathLst>
          </a:custGeom>
          <a:solidFill>
            <a:srgbClr val="18AE23"/>
          </a:solidFill>
        </p:spPr>
        <p:txBody>
          <a:bodyPr wrap="square" lIns="0" tIns="0" rIns="0" bIns="0" rtlCol="0"/>
          <a:lstStyle/>
          <a:p>
            <a:endParaRPr/>
          </a:p>
        </p:txBody>
      </p:sp>
      <p:sp>
        <p:nvSpPr>
          <p:cNvPr id="46" name="object 46"/>
          <p:cNvSpPr/>
          <p:nvPr/>
        </p:nvSpPr>
        <p:spPr>
          <a:xfrm>
            <a:off x="5342267" y="3625596"/>
            <a:ext cx="314960" cy="156210"/>
          </a:xfrm>
          <a:custGeom>
            <a:avLst/>
            <a:gdLst/>
            <a:ahLst/>
            <a:cxnLst/>
            <a:rect l="l" t="t" r="r" b="b"/>
            <a:pathLst>
              <a:path w="314960" h="156210">
                <a:moveTo>
                  <a:pt x="314706" y="762"/>
                </a:moveTo>
                <a:lnTo>
                  <a:pt x="304800" y="0"/>
                </a:lnTo>
                <a:lnTo>
                  <a:pt x="304800" y="8382"/>
                </a:lnTo>
                <a:lnTo>
                  <a:pt x="296762" y="48012"/>
                </a:lnTo>
                <a:lnTo>
                  <a:pt x="259932" y="107358"/>
                </a:lnTo>
                <a:lnTo>
                  <a:pt x="204382" y="140197"/>
                </a:lnTo>
                <a:lnTo>
                  <a:pt x="172946" y="146694"/>
                </a:lnTo>
                <a:lnTo>
                  <a:pt x="140859" y="146586"/>
                </a:lnTo>
                <a:lnTo>
                  <a:pt x="80109" y="126582"/>
                </a:lnTo>
                <a:lnTo>
                  <a:pt x="32876" y="80241"/>
                </a:lnTo>
                <a:lnTo>
                  <a:pt x="9906" y="7620"/>
                </a:lnTo>
                <a:lnTo>
                  <a:pt x="9906" y="0"/>
                </a:lnTo>
                <a:lnTo>
                  <a:pt x="0" y="762"/>
                </a:lnTo>
                <a:lnTo>
                  <a:pt x="0" y="8382"/>
                </a:lnTo>
                <a:lnTo>
                  <a:pt x="8470" y="50559"/>
                </a:lnTo>
                <a:lnTo>
                  <a:pt x="24832" y="85704"/>
                </a:lnTo>
                <a:lnTo>
                  <a:pt x="75474" y="134900"/>
                </a:lnTo>
                <a:lnTo>
                  <a:pt x="140407" y="155976"/>
                </a:lnTo>
                <a:lnTo>
                  <a:pt x="174634" y="155971"/>
                </a:lnTo>
                <a:lnTo>
                  <a:pt x="239411" y="134878"/>
                </a:lnTo>
                <a:lnTo>
                  <a:pt x="289686" y="85680"/>
                </a:lnTo>
                <a:lnTo>
                  <a:pt x="305787" y="50543"/>
                </a:lnTo>
                <a:lnTo>
                  <a:pt x="313944" y="8382"/>
                </a:lnTo>
                <a:lnTo>
                  <a:pt x="314706" y="762"/>
                </a:lnTo>
                <a:close/>
              </a:path>
            </a:pathLst>
          </a:custGeom>
          <a:solidFill>
            <a:srgbClr val="000000"/>
          </a:solidFill>
        </p:spPr>
        <p:txBody>
          <a:bodyPr wrap="square" lIns="0" tIns="0" rIns="0" bIns="0" rtlCol="0"/>
          <a:lstStyle/>
          <a:p>
            <a:endParaRPr/>
          </a:p>
        </p:txBody>
      </p:sp>
      <p:sp>
        <p:nvSpPr>
          <p:cNvPr id="47" name="object 47"/>
          <p:cNvSpPr/>
          <p:nvPr/>
        </p:nvSpPr>
        <p:spPr>
          <a:xfrm>
            <a:off x="5342267" y="3469680"/>
            <a:ext cx="314960" cy="922655"/>
          </a:xfrm>
          <a:custGeom>
            <a:avLst/>
            <a:gdLst/>
            <a:ahLst/>
            <a:cxnLst/>
            <a:rect l="l" t="t" r="r" b="b"/>
            <a:pathLst>
              <a:path w="314960" h="922654">
                <a:moveTo>
                  <a:pt x="314706" y="765515"/>
                </a:moveTo>
                <a:lnTo>
                  <a:pt x="314706" y="155915"/>
                </a:lnTo>
                <a:lnTo>
                  <a:pt x="305926" y="106832"/>
                </a:lnTo>
                <a:lnTo>
                  <a:pt x="290231" y="72083"/>
                </a:lnTo>
                <a:lnTo>
                  <a:pt x="241264" y="22838"/>
                </a:lnTo>
                <a:lnTo>
                  <a:pt x="177947" y="773"/>
                </a:lnTo>
                <a:lnTo>
                  <a:pt x="144314" y="0"/>
                </a:lnTo>
                <a:lnTo>
                  <a:pt x="111184" y="6101"/>
                </a:lnTo>
                <a:lnTo>
                  <a:pt x="51879" y="39038"/>
                </a:lnTo>
                <a:lnTo>
                  <a:pt x="10938" y="99796"/>
                </a:lnTo>
                <a:lnTo>
                  <a:pt x="761" y="140675"/>
                </a:lnTo>
                <a:lnTo>
                  <a:pt x="0" y="148295"/>
                </a:lnTo>
                <a:lnTo>
                  <a:pt x="0" y="773897"/>
                </a:lnTo>
                <a:lnTo>
                  <a:pt x="762" y="782279"/>
                </a:lnTo>
                <a:lnTo>
                  <a:pt x="9906" y="817206"/>
                </a:lnTo>
                <a:lnTo>
                  <a:pt x="9906" y="148295"/>
                </a:lnTo>
                <a:lnTo>
                  <a:pt x="10667" y="141437"/>
                </a:lnTo>
                <a:lnTo>
                  <a:pt x="20316" y="102192"/>
                </a:lnTo>
                <a:lnTo>
                  <a:pt x="59762" y="44615"/>
                </a:lnTo>
                <a:lnTo>
                  <a:pt x="116969" y="14452"/>
                </a:lnTo>
                <a:lnTo>
                  <a:pt x="148816" y="9475"/>
                </a:lnTo>
                <a:lnTo>
                  <a:pt x="181005" y="11141"/>
                </a:lnTo>
                <a:lnTo>
                  <a:pt x="240942" y="34117"/>
                </a:lnTo>
                <a:lnTo>
                  <a:pt x="285850" y="82816"/>
                </a:lnTo>
                <a:lnTo>
                  <a:pt x="304800" y="156677"/>
                </a:lnTo>
                <a:lnTo>
                  <a:pt x="304800" y="816867"/>
                </a:lnTo>
                <a:lnTo>
                  <a:pt x="308320" y="808131"/>
                </a:lnTo>
                <a:lnTo>
                  <a:pt x="314706" y="765515"/>
                </a:lnTo>
                <a:close/>
              </a:path>
              <a:path w="314960" h="922654">
                <a:moveTo>
                  <a:pt x="304800" y="816867"/>
                </a:moveTo>
                <a:lnTo>
                  <a:pt x="304800" y="773897"/>
                </a:lnTo>
                <a:lnTo>
                  <a:pt x="296231" y="815581"/>
                </a:lnTo>
                <a:lnTo>
                  <a:pt x="279292" y="849904"/>
                </a:lnTo>
                <a:lnTo>
                  <a:pt x="255623" y="876829"/>
                </a:lnTo>
                <a:lnTo>
                  <a:pt x="226867" y="896325"/>
                </a:lnTo>
                <a:lnTo>
                  <a:pt x="194664" y="908356"/>
                </a:lnTo>
                <a:lnTo>
                  <a:pt x="160658" y="912890"/>
                </a:lnTo>
                <a:lnTo>
                  <a:pt x="126489" y="909893"/>
                </a:lnTo>
                <a:lnTo>
                  <a:pt x="64230" y="881169"/>
                </a:lnTo>
                <a:lnTo>
                  <a:pt x="21023" y="821915"/>
                </a:lnTo>
                <a:lnTo>
                  <a:pt x="10668" y="780755"/>
                </a:lnTo>
                <a:lnTo>
                  <a:pt x="9906" y="773135"/>
                </a:lnTo>
                <a:lnTo>
                  <a:pt x="9906" y="817206"/>
                </a:lnTo>
                <a:lnTo>
                  <a:pt x="29971" y="858251"/>
                </a:lnTo>
                <a:lnTo>
                  <a:pt x="83028" y="904747"/>
                </a:lnTo>
                <a:lnTo>
                  <a:pt x="148662" y="922376"/>
                </a:lnTo>
                <a:lnTo>
                  <a:pt x="182674" y="920555"/>
                </a:lnTo>
                <a:lnTo>
                  <a:pt x="215603" y="911744"/>
                </a:lnTo>
                <a:lnTo>
                  <a:pt x="246041" y="896021"/>
                </a:lnTo>
                <a:lnTo>
                  <a:pt x="272579" y="873460"/>
                </a:lnTo>
                <a:lnTo>
                  <a:pt x="293809" y="844138"/>
                </a:lnTo>
                <a:lnTo>
                  <a:pt x="304800" y="816867"/>
                </a:lnTo>
                <a:close/>
              </a:path>
            </a:pathLst>
          </a:custGeom>
          <a:solidFill>
            <a:srgbClr val="000000"/>
          </a:solidFill>
        </p:spPr>
        <p:txBody>
          <a:bodyPr wrap="square" lIns="0" tIns="0" rIns="0" bIns="0" rtlCol="0"/>
          <a:lstStyle/>
          <a:p>
            <a:endParaRPr/>
          </a:p>
        </p:txBody>
      </p:sp>
      <p:sp>
        <p:nvSpPr>
          <p:cNvPr id="48" name="object 48"/>
          <p:cNvSpPr/>
          <p:nvPr/>
        </p:nvSpPr>
        <p:spPr>
          <a:xfrm>
            <a:off x="5499239" y="3625596"/>
            <a:ext cx="304800" cy="914400"/>
          </a:xfrm>
          <a:custGeom>
            <a:avLst/>
            <a:gdLst/>
            <a:ahLst/>
            <a:cxnLst/>
            <a:rect l="l" t="t" r="r" b="b"/>
            <a:pathLst>
              <a:path w="304800" h="914400">
                <a:moveTo>
                  <a:pt x="304800" y="762000"/>
                </a:moveTo>
                <a:lnTo>
                  <a:pt x="304800" y="152399"/>
                </a:lnTo>
                <a:lnTo>
                  <a:pt x="297070" y="104363"/>
                </a:lnTo>
                <a:lnTo>
                  <a:pt x="275514" y="62544"/>
                </a:lnTo>
                <a:lnTo>
                  <a:pt x="242584" y="29504"/>
                </a:lnTo>
                <a:lnTo>
                  <a:pt x="200729" y="7802"/>
                </a:lnTo>
                <a:lnTo>
                  <a:pt x="152400" y="0"/>
                </a:lnTo>
                <a:lnTo>
                  <a:pt x="104363" y="7802"/>
                </a:lnTo>
                <a:lnTo>
                  <a:pt x="62544" y="29504"/>
                </a:lnTo>
                <a:lnTo>
                  <a:pt x="29504" y="62544"/>
                </a:lnTo>
                <a:lnTo>
                  <a:pt x="7802" y="104363"/>
                </a:lnTo>
                <a:lnTo>
                  <a:pt x="0" y="152400"/>
                </a:lnTo>
                <a:lnTo>
                  <a:pt x="0" y="762000"/>
                </a:lnTo>
                <a:lnTo>
                  <a:pt x="7802" y="810329"/>
                </a:lnTo>
                <a:lnTo>
                  <a:pt x="29504" y="852184"/>
                </a:lnTo>
                <a:lnTo>
                  <a:pt x="62544" y="885114"/>
                </a:lnTo>
                <a:lnTo>
                  <a:pt x="104363" y="906670"/>
                </a:lnTo>
                <a:lnTo>
                  <a:pt x="152400" y="914400"/>
                </a:lnTo>
                <a:lnTo>
                  <a:pt x="200729" y="906670"/>
                </a:lnTo>
                <a:lnTo>
                  <a:pt x="242584" y="885114"/>
                </a:lnTo>
                <a:lnTo>
                  <a:pt x="275514" y="852184"/>
                </a:lnTo>
                <a:lnTo>
                  <a:pt x="297070" y="810329"/>
                </a:lnTo>
                <a:lnTo>
                  <a:pt x="304800" y="762000"/>
                </a:lnTo>
                <a:close/>
              </a:path>
            </a:pathLst>
          </a:custGeom>
          <a:solidFill>
            <a:srgbClr val="18AE23"/>
          </a:solidFill>
        </p:spPr>
        <p:txBody>
          <a:bodyPr wrap="square" lIns="0" tIns="0" rIns="0" bIns="0" rtlCol="0"/>
          <a:lstStyle/>
          <a:p>
            <a:endParaRPr/>
          </a:p>
        </p:txBody>
      </p:sp>
      <p:sp>
        <p:nvSpPr>
          <p:cNvPr id="49" name="object 49"/>
          <p:cNvSpPr/>
          <p:nvPr/>
        </p:nvSpPr>
        <p:spPr>
          <a:xfrm>
            <a:off x="5494667" y="3777996"/>
            <a:ext cx="314960" cy="156210"/>
          </a:xfrm>
          <a:custGeom>
            <a:avLst/>
            <a:gdLst/>
            <a:ahLst/>
            <a:cxnLst/>
            <a:rect l="l" t="t" r="r" b="b"/>
            <a:pathLst>
              <a:path w="314960" h="156210">
                <a:moveTo>
                  <a:pt x="314706" y="762"/>
                </a:moveTo>
                <a:lnTo>
                  <a:pt x="304800" y="0"/>
                </a:lnTo>
                <a:lnTo>
                  <a:pt x="304800" y="8382"/>
                </a:lnTo>
                <a:lnTo>
                  <a:pt x="296762" y="48012"/>
                </a:lnTo>
                <a:lnTo>
                  <a:pt x="259932" y="107358"/>
                </a:lnTo>
                <a:lnTo>
                  <a:pt x="204382" y="140197"/>
                </a:lnTo>
                <a:lnTo>
                  <a:pt x="172946" y="146694"/>
                </a:lnTo>
                <a:lnTo>
                  <a:pt x="140859" y="146586"/>
                </a:lnTo>
                <a:lnTo>
                  <a:pt x="80109" y="126582"/>
                </a:lnTo>
                <a:lnTo>
                  <a:pt x="32876" y="80241"/>
                </a:lnTo>
                <a:lnTo>
                  <a:pt x="9906" y="7620"/>
                </a:lnTo>
                <a:lnTo>
                  <a:pt x="9906" y="0"/>
                </a:lnTo>
                <a:lnTo>
                  <a:pt x="0" y="762"/>
                </a:lnTo>
                <a:lnTo>
                  <a:pt x="0" y="8382"/>
                </a:lnTo>
                <a:lnTo>
                  <a:pt x="8470" y="50559"/>
                </a:lnTo>
                <a:lnTo>
                  <a:pt x="24832" y="85704"/>
                </a:lnTo>
                <a:lnTo>
                  <a:pt x="75474" y="134900"/>
                </a:lnTo>
                <a:lnTo>
                  <a:pt x="140407" y="155976"/>
                </a:lnTo>
                <a:lnTo>
                  <a:pt x="174634" y="155971"/>
                </a:lnTo>
                <a:lnTo>
                  <a:pt x="239411" y="134878"/>
                </a:lnTo>
                <a:lnTo>
                  <a:pt x="289686" y="85680"/>
                </a:lnTo>
                <a:lnTo>
                  <a:pt x="305787" y="50543"/>
                </a:lnTo>
                <a:lnTo>
                  <a:pt x="313944" y="8382"/>
                </a:lnTo>
                <a:lnTo>
                  <a:pt x="314706" y="762"/>
                </a:lnTo>
                <a:close/>
              </a:path>
            </a:pathLst>
          </a:custGeom>
          <a:solidFill>
            <a:srgbClr val="000000"/>
          </a:solidFill>
        </p:spPr>
        <p:txBody>
          <a:bodyPr wrap="square" lIns="0" tIns="0" rIns="0" bIns="0" rtlCol="0"/>
          <a:lstStyle/>
          <a:p>
            <a:endParaRPr/>
          </a:p>
        </p:txBody>
      </p:sp>
      <p:sp>
        <p:nvSpPr>
          <p:cNvPr id="50" name="object 50"/>
          <p:cNvSpPr/>
          <p:nvPr/>
        </p:nvSpPr>
        <p:spPr>
          <a:xfrm>
            <a:off x="5494667" y="3622080"/>
            <a:ext cx="314960" cy="922655"/>
          </a:xfrm>
          <a:custGeom>
            <a:avLst/>
            <a:gdLst/>
            <a:ahLst/>
            <a:cxnLst/>
            <a:rect l="l" t="t" r="r" b="b"/>
            <a:pathLst>
              <a:path w="314960" h="922654">
                <a:moveTo>
                  <a:pt x="314706" y="765515"/>
                </a:moveTo>
                <a:lnTo>
                  <a:pt x="314706" y="155915"/>
                </a:lnTo>
                <a:lnTo>
                  <a:pt x="305926" y="106832"/>
                </a:lnTo>
                <a:lnTo>
                  <a:pt x="290231" y="72083"/>
                </a:lnTo>
                <a:lnTo>
                  <a:pt x="241264" y="22838"/>
                </a:lnTo>
                <a:lnTo>
                  <a:pt x="177947" y="773"/>
                </a:lnTo>
                <a:lnTo>
                  <a:pt x="144314" y="0"/>
                </a:lnTo>
                <a:lnTo>
                  <a:pt x="111184" y="6101"/>
                </a:lnTo>
                <a:lnTo>
                  <a:pt x="51879" y="39038"/>
                </a:lnTo>
                <a:lnTo>
                  <a:pt x="10938" y="99796"/>
                </a:lnTo>
                <a:lnTo>
                  <a:pt x="761" y="140675"/>
                </a:lnTo>
                <a:lnTo>
                  <a:pt x="0" y="148295"/>
                </a:lnTo>
                <a:lnTo>
                  <a:pt x="0" y="773897"/>
                </a:lnTo>
                <a:lnTo>
                  <a:pt x="762" y="782279"/>
                </a:lnTo>
                <a:lnTo>
                  <a:pt x="9906" y="817206"/>
                </a:lnTo>
                <a:lnTo>
                  <a:pt x="9906" y="148295"/>
                </a:lnTo>
                <a:lnTo>
                  <a:pt x="10667" y="141437"/>
                </a:lnTo>
                <a:lnTo>
                  <a:pt x="20316" y="102192"/>
                </a:lnTo>
                <a:lnTo>
                  <a:pt x="59762" y="44615"/>
                </a:lnTo>
                <a:lnTo>
                  <a:pt x="116969" y="14452"/>
                </a:lnTo>
                <a:lnTo>
                  <a:pt x="148816" y="9475"/>
                </a:lnTo>
                <a:lnTo>
                  <a:pt x="181005" y="11141"/>
                </a:lnTo>
                <a:lnTo>
                  <a:pt x="240942" y="34117"/>
                </a:lnTo>
                <a:lnTo>
                  <a:pt x="285850" y="82816"/>
                </a:lnTo>
                <a:lnTo>
                  <a:pt x="304800" y="156677"/>
                </a:lnTo>
                <a:lnTo>
                  <a:pt x="304800" y="816867"/>
                </a:lnTo>
                <a:lnTo>
                  <a:pt x="308320" y="808131"/>
                </a:lnTo>
                <a:lnTo>
                  <a:pt x="314706" y="765515"/>
                </a:lnTo>
                <a:close/>
              </a:path>
              <a:path w="314960" h="922654">
                <a:moveTo>
                  <a:pt x="304800" y="816867"/>
                </a:moveTo>
                <a:lnTo>
                  <a:pt x="304800" y="773897"/>
                </a:lnTo>
                <a:lnTo>
                  <a:pt x="296231" y="815581"/>
                </a:lnTo>
                <a:lnTo>
                  <a:pt x="279292" y="849904"/>
                </a:lnTo>
                <a:lnTo>
                  <a:pt x="255623" y="876829"/>
                </a:lnTo>
                <a:lnTo>
                  <a:pt x="226867" y="896325"/>
                </a:lnTo>
                <a:lnTo>
                  <a:pt x="194664" y="908356"/>
                </a:lnTo>
                <a:lnTo>
                  <a:pt x="160658" y="912890"/>
                </a:lnTo>
                <a:lnTo>
                  <a:pt x="126489" y="909893"/>
                </a:lnTo>
                <a:lnTo>
                  <a:pt x="64230" y="881169"/>
                </a:lnTo>
                <a:lnTo>
                  <a:pt x="21023" y="821915"/>
                </a:lnTo>
                <a:lnTo>
                  <a:pt x="10668" y="780755"/>
                </a:lnTo>
                <a:lnTo>
                  <a:pt x="9906" y="773135"/>
                </a:lnTo>
                <a:lnTo>
                  <a:pt x="9906" y="817206"/>
                </a:lnTo>
                <a:lnTo>
                  <a:pt x="29971" y="858251"/>
                </a:lnTo>
                <a:lnTo>
                  <a:pt x="83028" y="904747"/>
                </a:lnTo>
                <a:lnTo>
                  <a:pt x="148662" y="922376"/>
                </a:lnTo>
                <a:lnTo>
                  <a:pt x="182674" y="920555"/>
                </a:lnTo>
                <a:lnTo>
                  <a:pt x="215603" y="911744"/>
                </a:lnTo>
                <a:lnTo>
                  <a:pt x="246041" y="896021"/>
                </a:lnTo>
                <a:lnTo>
                  <a:pt x="272579" y="873460"/>
                </a:lnTo>
                <a:lnTo>
                  <a:pt x="293809" y="844138"/>
                </a:lnTo>
                <a:lnTo>
                  <a:pt x="304800" y="816867"/>
                </a:lnTo>
                <a:close/>
              </a:path>
            </a:pathLst>
          </a:custGeom>
          <a:solidFill>
            <a:srgbClr val="000000"/>
          </a:solidFill>
        </p:spPr>
        <p:txBody>
          <a:bodyPr wrap="square" lIns="0" tIns="0" rIns="0" bIns="0" rtlCol="0"/>
          <a:lstStyle/>
          <a:p>
            <a:endParaRPr/>
          </a:p>
        </p:txBody>
      </p:sp>
      <p:sp>
        <p:nvSpPr>
          <p:cNvPr id="51" name="object 51"/>
          <p:cNvSpPr txBox="1"/>
          <p:nvPr/>
        </p:nvSpPr>
        <p:spPr>
          <a:xfrm>
            <a:off x="8281549" y="1361185"/>
            <a:ext cx="113538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481D"/>
                </a:solidFill>
                <a:latin typeface="Comic Sans MS"/>
                <a:cs typeface="Comic Sans MS"/>
              </a:rPr>
              <a:t>Knowledge</a:t>
            </a:r>
            <a:endParaRPr sz="1800">
              <a:latin typeface="Comic Sans MS"/>
              <a:cs typeface="Comic Sans MS"/>
            </a:endParaRPr>
          </a:p>
        </p:txBody>
      </p:sp>
      <p:sp>
        <p:nvSpPr>
          <p:cNvPr id="52" name="object 52"/>
          <p:cNvSpPr/>
          <p:nvPr/>
        </p:nvSpPr>
        <p:spPr>
          <a:xfrm>
            <a:off x="1765439" y="6921245"/>
            <a:ext cx="1828800" cy="114300"/>
          </a:xfrm>
          <a:custGeom>
            <a:avLst/>
            <a:gdLst/>
            <a:ahLst/>
            <a:cxnLst/>
            <a:rect l="l" t="t" r="r" b="b"/>
            <a:pathLst>
              <a:path w="1828800" h="114300">
                <a:moveTo>
                  <a:pt x="1733550" y="76200"/>
                </a:moveTo>
                <a:lnTo>
                  <a:pt x="1733550" y="38100"/>
                </a:lnTo>
                <a:lnTo>
                  <a:pt x="0" y="38100"/>
                </a:lnTo>
                <a:lnTo>
                  <a:pt x="0" y="76200"/>
                </a:lnTo>
                <a:lnTo>
                  <a:pt x="1733550" y="76200"/>
                </a:lnTo>
                <a:close/>
              </a:path>
              <a:path w="1828800" h="114300">
                <a:moveTo>
                  <a:pt x="1828800" y="57150"/>
                </a:moveTo>
                <a:lnTo>
                  <a:pt x="1714500" y="0"/>
                </a:lnTo>
                <a:lnTo>
                  <a:pt x="1714500" y="38100"/>
                </a:lnTo>
                <a:lnTo>
                  <a:pt x="1733550" y="38100"/>
                </a:lnTo>
                <a:lnTo>
                  <a:pt x="1733550" y="104775"/>
                </a:lnTo>
                <a:lnTo>
                  <a:pt x="1828800" y="57150"/>
                </a:lnTo>
                <a:close/>
              </a:path>
              <a:path w="1828800" h="114300">
                <a:moveTo>
                  <a:pt x="1733550" y="104775"/>
                </a:moveTo>
                <a:lnTo>
                  <a:pt x="1733550" y="76200"/>
                </a:lnTo>
                <a:lnTo>
                  <a:pt x="1714500" y="76200"/>
                </a:lnTo>
                <a:lnTo>
                  <a:pt x="1714500" y="114300"/>
                </a:lnTo>
                <a:lnTo>
                  <a:pt x="1733550" y="104775"/>
                </a:lnTo>
                <a:close/>
              </a:path>
            </a:pathLst>
          </a:custGeom>
          <a:solidFill>
            <a:srgbClr val="3333CC"/>
          </a:solidFill>
        </p:spPr>
        <p:txBody>
          <a:bodyPr wrap="square" lIns="0" tIns="0" rIns="0" bIns="0" rtlCol="0"/>
          <a:lstStyle/>
          <a:p>
            <a:endParaRPr/>
          </a:p>
        </p:txBody>
      </p:sp>
      <p:sp>
        <p:nvSpPr>
          <p:cNvPr id="53" name="object 53"/>
          <p:cNvSpPr/>
          <p:nvPr/>
        </p:nvSpPr>
        <p:spPr>
          <a:xfrm>
            <a:off x="3576713" y="4768596"/>
            <a:ext cx="868680" cy="2216785"/>
          </a:xfrm>
          <a:custGeom>
            <a:avLst/>
            <a:gdLst/>
            <a:ahLst/>
            <a:cxnLst/>
            <a:rect l="l" t="t" r="r" b="b"/>
            <a:pathLst>
              <a:path w="868679" h="2216784">
                <a:moveTo>
                  <a:pt x="833661" y="113997"/>
                </a:moveTo>
                <a:lnTo>
                  <a:pt x="797797" y="100419"/>
                </a:lnTo>
                <a:lnTo>
                  <a:pt x="0" y="2203703"/>
                </a:lnTo>
                <a:lnTo>
                  <a:pt x="35813" y="2216657"/>
                </a:lnTo>
                <a:lnTo>
                  <a:pt x="833661" y="113997"/>
                </a:lnTo>
                <a:close/>
              </a:path>
              <a:path w="868679" h="2216784">
                <a:moveTo>
                  <a:pt x="868679" y="127253"/>
                </a:moveTo>
                <a:lnTo>
                  <a:pt x="855725" y="0"/>
                </a:lnTo>
                <a:lnTo>
                  <a:pt x="761999" y="86867"/>
                </a:lnTo>
                <a:lnTo>
                  <a:pt x="797797" y="100419"/>
                </a:lnTo>
                <a:lnTo>
                  <a:pt x="804671" y="82295"/>
                </a:lnTo>
                <a:lnTo>
                  <a:pt x="840485" y="96011"/>
                </a:lnTo>
                <a:lnTo>
                  <a:pt x="840485" y="116580"/>
                </a:lnTo>
                <a:lnTo>
                  <a:pt x="868679" y="127253"/>
                </a:lnTo>
                <a:close/>
              </a:path>
              <a:path w="868679" h="2216784">
                <a:moveTo>
                  <a:pt x="840485" y="96011"/>
                </a:moveTo>
                <a:lnTo>
                  <a:pt x="804671" y="82295"/>
                </a:lnTo>
                <a:lnTo>
                  <a:pt x="797797" y="100419"/>
                </a:lnTo>
                <a:lnTo>
                  <a:pt x="833661" y="113997"/>
                </a:lnTo>
                <a:lnTo>
                  <a:pt x="840485" y="96011"/>
                </a:lnTo>
                <a:close/>
              </a:path>
              <a:path w="868679" h="2216784">
                <a:moveTo>
                  <a:pt x="840485" y="116580"/>
                </a:moveTo>
                <a:lnTo>
                  <a:pt x="840485" y="96011"/>
                </a:lnTo>
                <a:lnTo>
                  <a:pt x="833661" y="113997"/>
                </a:lnTo>
                <a:lnTo>
                  <a:pt x="840485" y="116580"/>
                </a:lnTo>
                <a:close/>
              </a:path>
            </a:pathLst>
          </a:custGeom>
          <a:solidFill>
            <a:srgbClr val="3333CC"/>
          </a:solidFill>
        </p:spPr>
        <p:txBody>
          <a:bodyPr wrap="square" lIns="0" tIns="0" rIns="0" bIns="0" rtlCol="0"/>
          <a:lstStyle/>
          <a:p>
            <a:endParaRPr/>
          </a:p>
        </p:txBody>
      </p:sp>
      <p:sp>
        <p:nvSpPr>
          <p:cNvPr id="54" name="object 54"/>
          <p:cNvSpPr txBox="1"/>
          <p:nvPr/>
        </p:nvSpPr>
        <p:spPr>
          <a:xfrm>
            <a:off x="1386973" y="6314184"/>
            <a:ext cx="4997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Black"/>
                <a:cs typeface="Arial Black"/>
              </a:rPr>
              <a:t>DB</a:t>
            </a:r>
            <a:endParaRPr sz="2400">
              <a:latin typeface="Arial Black"/>
              <a:cs typeface="Arial Black"/>
            </a:endParaRPr>
          </a:p>
        </p:txBody>
      </p:sp>
      <p:sp>
        <p:nvSpPr>
          <p:cNvPr id="55" name="object 55"/>
          <p:cNvSpPr txBox="1"/>
          <p:nvPr/>
        </p:nvSpPr>
        <p:spPr>
          <a:xfrm>
            <a:off x="3215773" y="5011164"/>
            <a:ext cx="577850" cy="391160"/>
          </a:xfrm>
          <a:prstGeom prst="rect">
            <a:avLst/>
          </a:prstGeom>
        </p:spPr>
        <p:txBody>
          <a:bodyPr vert="horz" wrap="square" lIns="0" tIns="12700" rIns="0" bIns="0" rtlCol="0">
            <a:spAutoFit/>
          </a:bodyPr>
          <a:lstStyle/>
          <a:p>
            <a:pPr marL="12700">
              <a:lnSpc>
                <a:spcPct val="100000"/>
              </a:lnSpc>
              <a:spcBef>
                <a:spcPts val="100"/>
              </a:spcBef>
            </a:pPr>
            <a:r>
              <a:rPr sz="2400" spc="40" dirty="0">
                <a:latin typeface="Arial Black"/>
                <a:cs typeface="Arial Black"/>
              </a:rPr>
              <a:t>DW</a:t>
            </a:r>
            <a:endParaRPr sz="2400">
              <a:latin typeface="Arial Black"/>
              <a:cs typeface="Arial Black"/>
            </a:endParaRPr>
          </a:p>
        </p:txBody>
      </p:sp>
      <p:sp>
        <p:nvSpPr>
          <p:cNvPr id="56" name="object 56"/>
          <p:cNvSpPr/>
          <p:nvPr/>
        </p:nvSpPr>
        <p:spPr>
          <a:xfrm>
            <a:off x="8394839" y="1671827"/>
            <a:ext cx="1043940" cy="868680"/>
          </a:xfrm>
          <a:custGeom>
            <a:avLst/>
            <a:gdLst/>
            <a:ahLst/>
            <a:cxnLst/>
            <a:rect l="l" t="t" r="r" b="b"/>
            <a:pathLst>
              <a:path w="1043940" h="868680">
                <a:moveTo>
                  <a:pt x="1043940" y="258317"/>
                </a:moveTo>
                <a:lnTo>
                  <a:pt x="963168" y="142493"/>
                </a:lnTo>
                <a:lnTo>
                  <a:pt x="893826" y="125729"/>
                </a:lnTo>
                <a:lnTo>
                  <a:pt x="828294" y="16001"/>
                </a:lnTo>
                <a:lnTo>
                  <a:pt x="674370" y="0"/>
                </a:lnTo>
                <a:lnTo>
                  <a:pt x="617982" y="74675"/>
                </a:lnTo>
                <a:lnTo>
                  <a:pt x="498348" y="83819"/>
                </a:lnTo>
                <a:lnTo>
                  <a:pt x="137160" y="531113"/>
                </a:lnTo>
                <a:lnTo>
                  <a:pt x="0" y="747521"/>
                </a:lnTo>
                <a:lnTo>
                  <a:pt x="1037082" y="868679"/>
                </a:lnTo>
                <a:lnTo>
                  <a:pt x="1043940" y="258317"/>
                </a:lnTo>
                <a:close/>
              </a:path>
            </a:pathLst>
          </a:custGeom>
          <a:solidFill>
            <a:srgbClr val="FFFFFF"/>
          </a:solidFill>
        </p:spPr>
        <p:txBody>
          <a:bodyPr wrap="square" lIns="0" tIns="0" rIns="0" bIns="0" rtlCol="0"/>
          <a:lstStyle/>
          <a:p>
            <a:endParaRPr/>
          </a:p>
        </p:txBody>
      </p:sp>
      <p:sp>
        <p:nvSpPr>
          <p:cNvPr id="57" name="object 57"/>
          <p:cNvSpPr/>
          <p:nvPr/>
        </p:nvSpPr>
        <p:spPr>
          <a:xfrm>
            <a:off x="8403983" y="1693926"/>
            <a:ext cx="1022985" cy="838200"/>
          </a:xfrm>
          <a:custGeom>
            <a:avLst/>
            <a:gdLst/>
            <a:ahLst/>
            <a:cxnLst/>
            <a:rect l="l" t="t" r="r" b="b"/>
            <a:pathLst>
              <a:path w="1022984" h="838200">
                <a:moveTo>
                  <a:pt x="318516" y="761781"/>
                </a:moveTo>
                <a:lnTo>
                  <a:pt x="318516" y="553212"/>
                </a:lnTo>
                <a:lnTo>
                  <a:pt x="153924" y="566928"/>
                </a:lnTo>
                <a:lnTo>
                  <a:pt x="0" y="726948"/>
                </a:lnTo>
                <a:lnTo>
                  <a:pt x="318516" y="761781"/>
                </a:lnTo>
                <a:close/>
              </a:path>
              <a:path w="1022984" h="838200">
                <a:moveTo>
                  <a:pt x="582168" y="73152"/>
                </a:moveTo>
                <a:lnTo>
                  <a:pt x="493014" y="70104"/>
                </a:lnTo>
                <a:lnTo>
                  <a:pt x="203454" y="499872"/>
                </a:lnTo>
                <a:lnTo>
                  <a:pt x="318516" y="553212"/>
                </a:lnTo>
                <a:lnTo>
                  <a:pt x="318516" y="761781"/>
                </a:lnTo>
                <a:lnTo>
                  <a:pt x="368046" y="767198"/>
                </a:lnTo>
                <a:lnTo>
                  <a:pt x="368046" y="368808"/>
                </a:lnTo>
                <a:lnTo>
                  <a:pt x="582168" y="73152"/>
                </a:lnTo>
                <a:close/>
              </a:path>
              <a:path w="1022984" h="838200">
                <a:moveTo>
                  <a:pt x="714756" y="805116"/>
                </a:moveTo>
                <a:lnTo>
                  <a:pt x="714756" y="542544"/>
                </a:lnTo>
                <a:lnTo>
                  <a:pt x="615696" y="397002"/>
                </a:lnTo>
                <a:lnTo>
                  <a:pt x="368046" y="368808"/>
                </a:lnTo>
                <a:lnTo>
                  <a:pt x="368046" y="767198"/>
                </a:lnTo>
                <a:lnTo>
                  <a:pt x="714756" y="805116"/>
                </a:lnTo>
                <a:close/>
              </a:path>
              <a:path w="1022984" h="838200">
                <a:moveTo>
                  <a:pt x="1022604" y="220980"/>
                </a:moveTo>
                <a:lnTo>
                  <a:pt x="938784" y="123444"/>
                </a:lnTo>
                <a:lnTo>
                  <a:pt x="877062" y="103632"/>
                </a:lnTo>
                <a:lnTo>
                  <a:pt x="803148" y="8382"/>
                </a:lnTo>
                <a:lnTo>
                  <a:pt x="670560" y="0"/>
                </a:lnTo>
                <a:lnTo>
                  <a:pt x="493014" y="298704"/>
                </a:lnTo>
                <a:lnTo>
                  <a:pt x="613410" y="332994"/>
                </a:lnTo>
                <a:lnTo>
                  <a:pt x="777240" y="86868"/>
                </a:lnTo>
                <a:lnTo>
                  <a:pt x="777240" y="811949"/>
                </a:lnTo>
                <a:lnTo>
                  <a:pt x="1017270" y="838200"/>
                </a:lnTo>
                <a:lnTo>
                  <a:pt x="1022604" y="220980"/>
                </a:lnTo>
                <a:close/>
              </a:path>
              <a:path w="1022984" h="838200">
                <a:moveTo>
                  <a:pt x="777240" y="811949"/>
                </a:moveTo>
                <a:lnTo>
                  <a:pt x="777240" y="86868"/>
                </a:lnTo>
                <a:lnTo>
                  <a:pt x="670560" y="383286"/>
                </a:lnTo>
                <a:lnTo>
                  <a:pt x="714756" y="542544"/>
                </a:lnTo>
                <a:lnTo>
                  <a:pt x="714756" y="805116"/>
                </a:lnTo>
                <a:lnTo>
                  <a:pt x="777240" y="811949"/>
                </a:lnTo>
                <a:close/>
              </a:path>
            </a:pathLst>
          </a:custGeom>
          <a:solidFill>
            <a:srgbClr val="FFF599"/>
          </a:solidFill>
        </p:spPr>
        <p:txBody>
          <a:bodyPr wrap="square" lIns="0" tIns="0" rIns="0" bIns="0" rtlCol="0"/>
          <a:lstStyle/>
          <a:p>
            <a:endParaRPr/>
          </a:p>
        </p:txBody>
      </p:sp>
      <p:sp>
        <p:nvSpPr>
          <p:cNvPr id="58" name="object 58"/>
          <p:cNvSpPr/>
          <p:nvPr/>
        </p:nvSpPr>
        <p:spPr>
          <a:xfrm>
            <a:off x="8425319" y="2252472"/>
            <a:ext cx="453390" cy="227329"/>
          </a:xfrm>
          <a:custGeom>
            <a:avLst/>
            <a:gdLst/>
            <a:ahLst/>
            <a:cxnLst/>
            <a:rect l="l" t="t" r="r" b="b"/>
            <a:pathLst>
              <a:path w="453390" h="227330">
                <a:moveTo>
                  <a:pt x="453389" y="227076"/>
                </a:moveTo>
                <a:lnTo>
                  <a:pt x="328421" y="14477"/>
                </a:lnTo>
                <a:lnTo>
                  <a:pt x="244601" y="6095"/>
                </a:lnTo>
                <a:lnTo>
                  <a:pt x="218693" y="143256"/>
                </a:lnTo>
                <a:lnTo>
                  <a:pt x="200405" y="6095"/>
                </a:lnTo>
                <a:lnTo>
                  <a:pt x="127253" y="0"/>
                </a:lnTo>
                <a:lnTo>
                  <a:pt x="0" y="153924"/>
                </a:lnTo>
                <a:lnTo>
                  <a:pt x="453389" y="227076"/>
                </a:lnTo>
                <a:close/>
              </a:path>
            </a:pathLst>
          </a:custGeom>
          <a:solidFill>
            <a:srgbClr val="FFE500"/>
          </a:solidFill>
        </p:spPr>
        <p:txBody>
          <a:bodyPr wrap="square" lIns="0" tIns="0" rIns="0" bIns="0" rtlCol="0"/>
          <a:lstStyle/>
          <a:p>
            <a:endParaRPr/>
          </a:p>
        </p:txBody>
      </p:sp>
      <p:sp>
        <p:nvSpPr>
          <p:cNvPr id="59" name="object 59"/>
          <p:cNvSpPr/>
          <p:nvPr/>
        </p:nvSpPr>
        <p:spPr>
          <a:xfrm>
            <a:off x="8944229" y="2282189"/>
            <a:ext cx="454659" cy="243204"/>
          </a:xfrm>
          <a:custGeom>
            <a:avLst/>
            <a:gdLst/>
            <a:ahLst/>
            <a:cxnLst/>
            <a:rect l="l" t="t" r="r" b="b"/>
            <a:pathLst>
              <a:path w="454659" h="243205">
                <a:moveTo>
                  <a:pt x="454152" y="243077"/>
                </a:moveTo>
                <a:lnTo>
                  <a:pt x="340614" y="28193"/>
                </a:lnTo>
                <a:lnTo>
                  <a:pt x="229362" y="12953"/>
                </a:lnTo>
                <a:lnTo>
                  <a:pt x="187452" y="185928"/>
                </a:lnTo>
                <a:lnTo>
                  <a:pt x="156972" y="8381"/>
                </a:lnTo>
                <a:lnTo>
                  <a:pt x="79248" y="0"/>
                </a:lnTo>
                <a:lnTo>
                  <a:pt x="0" y="194310"/>
                </a:lnTo>
                <a:lnTo>
                  <a:pt x="454152" y="243077"/>
                </a:lnTo>
                <a:close/>
              </a:path>
            </a:pathLst>
          </a:custGeom>
          <a:solidFill>
            <a:srgbClr val="FFE500"/>
          </a:solidFill>
        </p:spPr>
        <p:txBody>
          <a:bodyPr wrap="square" lIns="0" tIns="0" rIns="0" bIns="0" rtlCol="0"/>
          <a:lstStyle/>
          <a:p>
            <a:endParaRPr/>
          </a:p>
        </p:txBody>
      </p:sp>
      <p:sp>
        <p:nvSpPr>
          <p:cNvPr id="60" name="object 60"/>
          <p:cNvSpPr/>
          <p:nvPr/>
        </p:nvSpPr>
        <p:spPr>
          <a:xfrm>
            <a:off x="8725548" y="2048255"/>
            <a:ext cx="408940" cy="226060"/>
          </a:xfrm>
          <a:custGeom>
            <a:avLst/>
            <a:gdLst/>
            <a:ahLst/>
            <a:cxnLst/>
            <a:rect l="l" t="t" r="r" b="b"/>
            <a:pathLst>
              <a:path w="408940" h="226060">
                <a:moveTo>
                  <a:pt x="408431" y="225551"/>
                </a:moveTo>
                <a:lnTo>
                  <a:pt x="324611" y="10667"/>
                </a:lnTo>
                <a:lnTo>
                  <a:pt x="208787" y="0"/>
                </a:lnTo>
                <a:lnTo>
                  <a:pt x="182117" y="148589"/>
                </a:lnTo>
                <a:lnTo>
                  <a:pt x="147827" y="12191"/>
                </a:lnTo>
                <a:lnTo>
                  <a:pt x="69341" y="14477"/>
                </a:lnTo>
                <a:lnTo>
                  <a:pt x="0" y="188975"/>
                </a:lnTo>
                <a:lnTo>
                  <a:pt x="408431" y="225551"/>
                </a:lnTo>
                <a:close/>
              </a:path>
            </a:pathLst>
          </a:custGeom>
          <a:solidFill>
            <a:srgbClr val="FFE500"/>
          </a:solidFill>
        </p:spPr>
        <p:txBody>
          <a:bodyPr wrap="square" lIns="0" tIns="0" rIns="0" bIns="0" rtlCol="0"/>
          <a:lstStyle/>
          <a:p>
            <a:endParaRPr/>
          </a:p>
        </p:txBody>
      </p:sp>
      <p:sp>
        <p:nvSpPr>
          <p:cNvPr id="61" name="object 61"/>
          <p:cNvSpPr/>
          <p:nvPr/>
        </p:nvSpPr>
        <p:spPr>
          <a:xfrm>
            <a:off x="9076829" y="1730501"/>
            <a:ext cx="188595" cy="525145"/>
          </a:xfrm>
          <a:custGeom>
            <a:avLst/>
            <a:gdLst/>
            <a:ahLst/>
            <a:cxnLst/>
            <a:rect l="l" t="t" r="r" b="b"/>
            <a:pathLst>
              <a:path w="188595" h="525144">
                <a:moveTo>
                  <a:pt x="188214" y="89153"/>
                </a:moveTo>
                <a:lnTo>
                  <a:pt x="133350" y="0"/>
                </a:lnTo>
                <a:lnTo>
                  <a:pt x="0" y="329946"/>
                </a:lnTo>
                <a:lnTo>
                  <a:pt x="57912" y="525018"/>
                </a:lnTo>
                <a:lnTo>
                  <a:pt x="188214" y="89153"/>
                </a:lnTo>
                <a:close/>
              </a:path>
            </a:pathLst>
          </a:custGeom>
          <a:solidFill>
            <a:srgbClr val="CCB800"/>
          </a:solidFill>
        </p:spPr>
        <p:txBody>
          <a:bodyPr wrap="square" lIns="0" tIns="0" rIns="0" bIns="0" rtlCol="0"/>
          <a:lstStyle/>
          <a:p>
            <a:endParaRPr/>
          </a:p>
        </p:txBody>
      </p:sp>
      <p:sp>
        <p:nvSpPr>
          <p:cNvPr id="62" name="object 62"/>
          <p:cNvSpPr/>
          <p:nvPr/>
        </p:nvSpPr>
        <p:spPr>
          <a:xfrm>
            <a:off x="8784970" y="2266950"/>
            <a:ext cx="211454" cy="193040"/>
          </a:xfrm>
          <a:custGeom>
            <a:avLst/>
            <a:gdLst/>
            <a:ahLst/>
            <a:cxnLst/>
            <a:rect l="l" t="t" r="r" b="b"/>
            <a:pathLst>
              <a:path w="211454" h="193039">
                <a:moveTo>
                  <a:pt x="211074" y="19049"/>
                </a:moveTo>
                <a:lnTo>
                  <a:pt x="0" y="0"/>
                </a:lnTo>
                <a:lnTo>
                  <a:pt x="91440" y="192786"/>
                </a:lnTo>
                <a:lnTo>
                  <a:pt x="211074" y="19049"/>
                </a:lnTo>
                <a:close/>
              </a:path>
            </a:pathLst>
          </a:custGeom>
          <a:solidFill>
            <a:srgbClr val="CCB800"/>
          </a:solidFill>
        </p:spPr>
        <p:txBody>
          <a:bodyPr wrap="square" lIns="0" tIns="0" rIns="0" bIns="0" rtlCol="0"/>
          <a:lstStyle/>
          <a:p>
            <a:endParaRPr/>
          </a:p>
        </p:txBody>
      </p:sp>
      <p:sp>
        <p:nvSpPr>
          <p:cNvPr id="63" name="object 63"/>
          <p:cNvSpPr/>
          <p:nvPr/>
        </p:nvSpPr>
        <p:spPr>
          <a:xfrm>
            <a:off x="9314574" y="1881377"/>
            <a:ext cx="109855" cy="626110"/>
          </a:xfrm>
          <a:custGeom>
            <a:avLst/>
            <a:gdLst/>
            <a:ahLst/>
            <a:cxnLst/>
            <a:rect l="l" t="t" r="r" b="b"/>
            <a:pathLst>
              <a:path w="109854" h="626110">
                <a:moveTo>
                  <a:pt x="109728" y="60959"/>
                </a:moveTo>
                <a:lnTo>
                  <a:pt x="44196" y="0"/>
                </a:lnTo>
                <a:lnTo>
                  <a:pt x="0" y="419100"/>
                </a:lnTo>
                <a:lnTo>
                  <a:pt x="104394" y="625602"/>
                </a:lnTo>
                <a:lnTo>
                  <a:pt x="109728" y="60959"/>
                </a:lnTo>
                <a:close/>
              </a:path>
            </a:pathLst>
          </a:custGeom>
          <a:solidFill>
            <a:srgbClr val="CCB800"/>
          </a:solidFill>
        </p:spPr>
        <p:txBody>
          <a:bodyPr wrap="square" lIns="0" tIns="0" rIns="0" bIns="0" rtlCol="0"/>
          <a:lstStyle/>
          <a:p>
            <a:endParaRPr/>
          </a:p>
        </p:txBody>
      </p:sp>
      <p:sp>
        <p:nvSpPr>
          <p:cNvPr id="64" name="object 64"/>
          <p:cNvSpPr/>
          <p:nvPr/>
        </p:nvSpPr>
        <p:spPr>
          <a:xfrm>
            <a:off x="8403983" y="1747266"/>
            <a:ext cx="574675" cy="661035"/>
          </a:xfrm>
          <a:custGeom>
            <a:avLst/>
            <a:gdLst/>
            <a:ahLst/>
            <a:cxnLst/>
            <a:rect l="l" t="t" r="r" b="b"/>
            <a:pathLst>
              <a:path w="574675" h="661035">
                <a:moveTo>
                  <a:pt x="574548" y="4572"/>
                </a:moveTo>
                <a:lnTo>
                  <a:pt x="480060" y="0"/>
                </a:lnTo>
                <a:lnTo>
                  <a:pt x="113538" y="454152"/>
                </a:lnTo>
                <a:lnTo>
                  <a:pt x="0" y="660654"/>
                </a:lnTo>
                <a:lnTo>
                  <a:pt x="140208" y="494538"/>
                </a:lnTo>
                <a:lnTo>
                  <a:pt x="162306" y="493172"/>
                </a:lnTo>
                <a:lnTo>
                  <a:pt x="162306" y="454152"/>
                </a:lnTo>
                <a:lnTo>
                  <a:pt x="483870" y="32766"/>
                </a:lnTo>
                <a:lnTo>
                  <a:pt x="574548" y="4572"/>
                </a:lnTo>
                <a:close/>
              </a:path>
              <a:path w="574675" h="661035">
                <a:moveTo>
                  <a:pt x="275844" y="486156"/>
                </a:moveTo>
                <a:lnTo>
                  <a:pt x="162306" y="454152"/>
                </a:lnTo>
                <a:lnTo>
                  <a:pt x="162306" y="493172"/>
                </a:lnTo>
                <a:lnTo>
                  <a:pt x="275844" y="486156"/>
                </a:lnTo>
                <a:close/>
              </a:path>
            </a:pathLst>
          </a:custGeom>
          <a:solidFill>
            <a:srgbClr val="000000"/>
          </a:solidFill>
        </p:spPr>
        <p:txBody>
          <a:bodyPr wrap="square" lIns="0" tIns="0" rIns="0" bIns="0" rtlCol="0"/>
          <a:lstStyle/>
          <a:p>
            <a:endParaRPr/>
          </a:p>
        </p:txBody>
      </p:sp>
      <p:sp>
        <p:nvSpPr>
          <p:cNvPr id="65" name="object 65"/>
          <p:cNvSpPr/>
          <p:nvPr/>
        </p:nvSpPr>
        <p:spPr>
          <a:xfrm>
            <a:off x="8793365" y="1662683"/>
            <a:ext cx="408940" cy="582930"/>
          </a:xfrm>
          <a:custGeom>
            <a:avLst/>
            <a:gdLst/>
            <a:ahLst/>
            <a:cxnLst/>
            <a:rect l="l" t="t" r="r" b="b"/>
            <a:pathLst>
              <a:path w="408940" h="582930">
                <a:moveTo>
                  <a:pt x="408431" y="16001"/>
                </a:moveTo>
                <a:lnTo>
                  <a:pt x="261365" y="0"/>
                </a:lnTo>
                <a:lnTo>
                  <a:pt x="0" y="355853"/>
                </a:lnTo>
                <a:lnTo>
                  <a:pt x="45719" y="387659"/>
                </a:lnTo>
                <a:lnTo>
                  <a:pt x="45719" y="360425"/>
                </a:lnTo>
                <a:lnTo>
                  <a:pt x="264413" y="28193"/>
                </a:lnTo>
                <a:lnTo>
                  <a:pt x="408431" y="16001"/>
                </a:lnTo>
                <a:close/>
              </a:path>
              <a:path w="408940" h="582930">
                <a:moveTo>
                  <a:pt x="370331" y="145541"/>
                </a:moveTo>
                <a:lnTo>
                  <a:pt x="238505" y="384047"/>
                </a:lnTo>
                <a:lnTo>
                  <a:pt x="45719" y="360425"/>
                </a:lnTo>
                <a:lnTo>
                  <a:pt x="45719" y="387659"/>
                </a:lnTo>
                <a:lnTo>
                  <a:pt x="52577" y="392429"/>
                </a:lnTo>
                <a:lnTo>
                  <a:pt x="60959" y="582929"/>
                </a:lnTo>
                <a:lnTo>
                  <a:pt x="85343" y="386333"/>
                </a:lnTo>
                <a:lnTo>
                  <a:pt x="140207" y="404621"/>
                </a:lnTo>
                <a:lnTo>
                  <a:pt x="144017" y="579119"/>
                </a:lnTo>
                <a:lnTo>
                  <a:pt x="181355" y="408431"/>
                </a:lnTo>
                <a:lnTo>
                  <a:pt x="234695" y="413003"/>
                </a:lnTo>
                <a:lnTo>
                  <a:pt x="272033" y="477549"/>
                </a:lnTo>
                <a:lnTo>
                  <a:pt x="272033" y="392429"/>
                </a:lnTo>
                <a:lnTo>
                  <a:pt x="370331" y="145541"/>
                </a:lnTo>
                <a:close/>
              </a:path>
              <a:path w="408940" h="582930">
                <a:moveTo>
                  <a:pt x="332993" y="582929"/>
                </a:moveTo>
                <a:lnTo>
                  <a:pt x="272033" y="392429"/>
                </a:lnTo>
                <a:lnTo>
                  <a:pt x="272033" y="477549"/>
                </a:lnTo>
                <a:lnTo>
                  <a:pt x="332993" y="582929"/>
                </a:lnTo>
                <a:close/>
              </a:path>
            </a:pathLst>
          </a:custGeom>
          <a:solidFill>
            <a:srgbClr val="000000"/>
          </a:solidFill>
        </p:spPr>
        <p:txBody>
          <a:bodyPr wrap="square" lIns="0" tIns="0" rIns="0" bIns="0" rtlCol="0"/>
          <a:lstStyle/>
          <a:p>
            <a:endParaRPr/>
          </a:p>
        </p:txBody>
      </p:sp>
      <p:sp>
        <p:nvSpPr>
          <p:cNvPr id="66" name="object 66"/>
          <p:cNvSpPr/>
          <p:nvPr/>
        </p:nvSpPr>
        <p:spPr>
          <a:xfrm>
            <a:off x="8698865" y="1699260"/>
            <a:ext cx="597535" cy="611505"/>
          </a:xfrm>
          <a:custGeom>
            <a:avLst/>
            <a:gdLst/>
            <a:ahLst/>
            <a:cxnLst/>
            <a:rect l="l" t="t" r="r" b="b"/>
            <a:pathLst>
              <a:path w="597534" h="611505">
                <a:moveTo>
                  <a:pt x="83057" y="368046"/>
                </a:moveTo>
                <a:lnTo>
                  <a:pt x="0" y="546354"/>
                </a:lnTo>
                <a:lnTo>
                  <a:pt x="52577" y="553337"/>
                </a:lnTo>
                <a:lnTo>
                  <a:pt x="52577" y="534162"/>
                </a:lnTo>
                <a:lnTo>
                  <a:pt x="83057" y="368046"/>
                </a:lnTo>
                <a:close/>
              </a:path>
              <a:path w="597534" h="611505">
                <a:moveTo>
                  <a:pt x="570737" y="218905"/>
                </a:moveTo>
                <a:lnTo>
                  <a:pt x="570737" y="100584"/>
                </a:lnTo>
                <a:lnTo>
                  <a:pt x="450341" y="562356"/>
                </a:lnTo>
                <a:lnTo>
                  <a:pt x="52577" y="534162"/>
                </a:lnTo>
                <a:lnTo>
                  <a:pt x="52577" y="553337"/>
                </a:lnTo>
                <a:lnTo>
                  <a:pt x="487679" y="611124"/>
                </a:lnTo>
                <a:lnTo>
                  <a:pt x="570737" y="218905"/>
                </a:lnTo>
                <a:close/>
              </a:path>
              <a:path w="597534" h="611505">
                <a:moveTo>
                  <a:pt x="597407" y="92964"/>
                </a:moveTo>
                <a:lnTo>
                  <a:pt x="533399" y="0"/>
                </a:lnTo>
                <a:lnTo>
                  <a:pt x="570737" y="100584"/>
                </a:lnTo>
                <a:lnTo>
                  <a:pt x="570737" y="218905"/>
                </a:lnTo>
                <a:lnTo>
                  <a:pt x="597407" y="92964"/>
                </a:lnTo>
                <a:close/>
              </a:path>
            </a:pathLst>
          </a:custGeom>
          <a:solidFill>
            <a:srgbClr val="000000"/>
          </a:solidFill>
        </p:spPr>
        <p:txBody>
          <a:bodyPr wrap="square" lIns="0" tIns="0" rIns="0" bIns="0" rtlCol="0"/>
          <a:lstStyle/>
          <a:p>
            <a:endParaRPr/>
          </a:p>
        </p:txBody>
      </p:sp>
      <p:sp>
        <p:nvSpPr>
          <p:cNvPr id="67" name="object 67"/>
          <p:cNvSpPr/>
          <p:nvPr/>
        </p:nvSpPr>
        <p:spPr>
          <a:xfrm>
            <a:off x="8460371" y="1824227"/>
            <a:ext cx="995680" cy="729615"/>
          </a:xfrm>
          <a:custGeom>
            <a:avLst/>
            <a:gdLst/>
            <a:ahLst/>
            <a:cxnLst/>
            <a:rect l="l" t="t" r="r" b="b"/>
            <a:pathLst>
              <a:path w="995679" h="729614">
                <a:moveTo>
                  <a:pt x="371094" y="655621"/>
                </a:moveTo>
                <a:lnTo>
                  <a:pt x="371094" y="636269"/>
                </a:lnTo>
                <a:lnTo>
                  <a:pt x="225552" y="612647"/>
                </a:lnTo>
                <a:lnTo>
                  <a:pt x="212597" y="481583"/>
                </a:lnTo>
                <a:lnTo>
                  <a:pt x="178308" y="610361"/>
                </a:lnTo>
                <a:lnTo>
                  <a:pt x="149352" y="464819"/>
                </a:lnTo>
                <a:lnTo>
                  <a:pt x="124205" y="598932"/>
                </a:lnTo>
                <a:lnTo>
                  <a:pt x="0" y="608076"/>
                </a:lnTo>
                <a:lnTo>
                  <a:pt x="371094" y="655621"/>
                </a:lnTo>
                <a:close/>
              </a:path>
              <a:path w="995679" h="729614">
                <a:moveTo>
                  <a:pt x="537210" y="482345"/>
                </a:moveTo>
                <a:lnTo>
                  <a:pt x="416052" y="620267"/>
                </a:lnTo>
                <a:lnTo>
                  <a:pt x="294894" y="445769"/>
                </a:lnTo>
                <a:lnTo>
                  <a:pt x="371094" y="636269"/>
                </a:lnTo>
                <a:lnTo>
                  <a:pt x="371094" y="655621"/>
                </a:lnTo>
                <a:lnTo>
                  <a:pt x="461772" y="667239"/>
                </a:lnTo>
                <a:lnTo>
                  <a:pt x="461772" y="640079"/>
                </a:lnTo>
                <a:lnTo>
                  <a:pt x="537210" y="482345"/>
                </a:lnTo>
                <a:close/>
              </a:path>
              <a:path w="995679" h="729614">
                <a:moveTo>
                  <a:pt x="922782" y="726305"/>
                </a:moveTo>
                <a:lnTo>
                  <a:pt x="922782" y="692657"/>
                </a:lnTo>
                <a:lnTo>
                  <a:pt x="722376" y="672083"/>
                </a:lnTo>
                <a:lnTo>
                  <a:pt x="714756" y="526541"/>
                </a:lnTo>
                <a:lnTo>
                  <a:pt x="669036" y="660653"/>
                </a:lnTo>
                <a:lnTo>
                  <a:pt x="629412" y="509777"/>
                </a:lnTo>
                <a:lnTo>
                  <a:pt x="616458" y="665987"/>
                </a:lnTo>
                <a:lnTo>
                  <a:pt x="461772" y="640079"/>
                </a:lnTo>
                <a:lnTo>
                  <a:pt x="461772" y="667239"/>
                </a:lnTo>
                <a:lnTo>
                  <a:pt x="922782" y="726305"/>
                </a:lnTo>
                <a:close/>
              </a:path>
              <a:path w="995679" h="729614">
                <a:moveTo>
                  <a:pt x="884682" y="69341"/>
                </a:moveTo>
                <a:lnTo>
                  <a:pt x="816863" y="457961"/>
                </a:lnTo>
                <a:lnTo>
                  <a:pt x="756666" y="470153"/>
                </a:lnTo>
                <a:lnTo>
                  <a:pt x="830580" y="501395"/>
                </a:lnTo>
                <a:lnTo>
                  <a:pt x="851154" y="544074"/>
                </a:lnTo>
                <a:lnTo>
                  <a:pt x="851154" y="470153"/>
                </a:lnTo>
                <a:lnTo>
                  <a:pt x="884682" y="69341"/>
                </a:lnTo>
                <a:close/>
              </a:path>
              <a:path w="995679" h="729614">
                <a:moveTo>
                  <a:pt x="957072" y="727299"/>
                </a:moveTo>
                <a:lnTo>
                  <a:pt x="957072" y="664463"/>
                </a:lnTo>
                <a:lnTo>
                  <a:pt x="851154" y="470153"/>
                </a:lnTo>
                <a:lnTo>
                  <a:pt x="851154" y="544074"/>
                </a:lnTo>
                <a:lnTo>
                  <a:pt x="922782" y="692657"/>
                </a:lnTo>
                <a:lnTo>
                  <a:pt x="922782" y="726305"/>
                </a:lnTo>
                <a:lnTo>
                  <a:pt x="945641" y="729233"/>
                </a:lnTo>
                <a:lnTo>
                  <a:pt x="957072" y="727299"/>
                </a:lnTo>
                <a:close/>
              </a:path>
              <a:path w="995679" h="729614">
                <a:moveTo>
                  <a:pt x="995172" y="720851"/>
                </a:moveTo>
                <a:lnTo>
                  <a:pt x="979169" y="73151"/>
                </a:lnTo>
                <a:lnTo>
                  <a:pt x="896112" y="0"/>
                </a:lnTo>
                <a:lnTo>
                  <a:pt x="957072" y="89153"/>
                </a:lnTo>
                <a:lnTo>
                  <a:pt x="957072" y="727299"/>
                </a:lnTo>
                <a:lnTo>
                  <a:pt x="995172" y="720851"/>
                </a:lnTo>
                <a:close/>
              </a:path>
            </a:pathLst>
          </a:custGeom>
          <a:solidFill>
            <a:srgbClr val="000000"/>
          </a:solidFill>
        </p:spPr>
        <p:txBody>
          <a:bodyPr wrap="square" lIns="0" tIns="0" rIns="0" bIns="0" rtlCol="0"/>
          <a:lstStyle/>
          <a:p>
            <a:endParaRPr/>
          </a:p>
        </p:txBody>
      </p:sp>
      <p:sp>
        <p:nvSpPr>
          <p:cNvPr id="68" name="object 68"/>
          <p:cNvSpPr/>
          <p:nvPr/>
        </p:nvSpPr>
        <p:spPr>
          <a:xfrm>
            <a:off x="1077901" y="3134486"/>
            <a:ext cx="2425700" cy="1968627"/>
          </a:xfrm>
          <a:prstGeom prst="rect">
            <a:avLst/>
          </a:prstGeom>
          <a:blipFill>
            <a:blip r:embed="rId2" cstate="print"/>
            <a:stretch>
              <a:fillRect/>
            </a:stretch>
          </a:blipFill>
        </p:spPr>
        <p:txBody>
          <a:bodyPr wrap="square" lIns="0" tIns="0" rIns="0" bIns="0" rtlCol="0"/>
          <a:lstStyle/>
          <a:p>
            <a:endParaRPr/>
          </a:p>
        </p:txBody>
      </p:sp>
      <p:sp>
        <p:nvSpPr>
          <p:cNvPr id="69" name="object 69"/>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9</a:t>
            </a:fld>
            <a:endParaRPr sz="1200">
              <a:latin typeface="Comic Sans MS"/>
              <a:cs typeface="Comic Sans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3873" y="4553966"/>
            <a:ext cx="4259580" cy="635635"/>
          </a:xfrm>
          <a:prstGeom prst="rect">
            <a:avLst/>
          </a:prstGeom>
        </p:spPr>
        <p:txBody>
          <a:bodyPr vert="horz" wrap="square" lIns="0" tIns="12700" rIns="0" bIns="0" rtlCol="0">
            <a:spAutoFit/>
          </a:bodyPr>
          <a:lstStyle/>
          <a:p>
            <a:pPr marL="12700">
              <a:lnSpc>
                <a:spcPct val="100000"/>
              </a:lnSpc>
              <a:spcBef>
                <a:spcPts val="100"/>
              </a:spcBef>
            </a:pPr>
            <a:r>
              <a:rPr sz="4000" dirty="0"/>
              <a:t>TYPES </a:t>
            </a:r>
            <a:r>
              <a:rPr sz="4000" spc="-5" dirty="0"/>
              <a:t>OF</a:t>
            </a:r>
            <a:r>
              <a:rPr sz="4000" spc="-95" dirty="0"/>
              <a:t> </a:t>
            </a:r>
            <a:r>
              <a:rPr sz="4000" dirty="0"/>
              <a:t>DATA</a:t>
            </a:r>
            <a:endParaRPr sz="4000"/>
          </a:p>
        </p:txBody>
      </p:sp>
      <p:sp>
        <p:nvSpPr>
          <p:cNvPr id="3" name="object 3"/>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10</a:t>
            </a:fld>
            <a:endParaRPr sz="1200">
              <a:latin typeface="Comic Sans MS"/>
              <a:cs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8791" y="903986"/>
            <a:ext cx="4739005" cy="513080"/>
          </a:xfrm>
          <a:prstGeom prst="rect">
            <a:avLst/>
          </a:prstGeom>
        </p:spPr>
        <p:txBody>
          <a:bodyPr vert="horz" wrap="square" lIns="0" tIns="12065" rIns="0" bIns="0" rtlCol="0">
            <a:spAutoFit/>
          </a:bodyPr>
          <a:lstStyle/>
          <a:p>
            <a:pPr marL="12700">
              <a:lnSpc>
                <a:spcPct val="100000"/>
              </a:lnSpc>
              <a:spcBef>
                <a:spcPts val="95"/>
              </a:spcBef>
            </a:pPr>
            <a:r>
              <a:rPr spc="-5" dirty="0"/>
              <a:t>Types of Measurements</a:t>
            </a:r>
          </a:p>
        </p:txBody>
      </p:sp>
      <p:sp>
        <p:nvSpPr>
          <p:cNvPr id="3" name="object 3"/>
          <p:cNvSpPr txBox="1"/>
          <p:nvPr/>
        </p:nvSpPr>
        <p:spPr>
          <a:xfrm>
            <a:off x="1539373" y="1903730"/>
            <a:ext cx="2372995" cy="2768600"/>
          </a:xfrm>
          <a:prstGeom prst="rect">
            <a:avLst/>
          </a:prstGeom>
        </p:spPr>
        <p:txBody>
          <a:bodyPr vert="horz" wrap="square" lIns="0" tIns="12065" rIns="0" bIns="0" rtlCol="0">
            <a:spAutoFit/>
          </a:bodyPr>
          <a:lstStyle/>
          <a:p>
            <a:pPr marL="355600" indent="-343535">
              <a:lnSpc>
                <a:spcPct val="100000"/>
              </a:lnSpc>
              <a:spcBef>
                <a:spcPts val="95"/>
              </a:spcBef>
              <a:buClr>
                <a:srgbClr val="FF0000"/>
              </a:buClr>
              <a:buChar char="•"/>
              <a:tabLst>
                <a:tab pos="354965" algn="l"/>
                <a:tab pos="356235" algn="l"/>
              </a:tabLst>
            </a:pPr>
            <a:r>
              <a:rPr sz="2000" spc="-10" dirty="0">
                <a:solidFill>
                  <a:srgbClr val="3333CC"/>
                </a:solidFill>
                <a:latin typeface="Comic Sans MS"/>
                <a:cs typeface="Comic Sans MS"/>
              </a:rPr>
              <a:t>Nominal</a:t>
            </a:r>
            <a:r>
              <a:rPr sz="2000" spc="15" dirty="0">
                <a:solidFill>
                  <a:srgbClr val="3333CC"/>
                </a:solidFill>
                <a:latin typeface="Comic Sans MS"/>
                <a:cs typeface="Comic Sans MS"/>
              </a:rPr>
              <a:t> </a:t>
            </a:r>
            <a:r>
              <a:rPr sz="2000" spc="-10" dirty="0">
                <a:solidFill>
                  <a:srgbClr val="3333CC"/>
                </a:solidFill>
                <a:latin typeface="Comic Sans MS"/>
                <a:cs typeface="Comic Sans MS"/>
              </a:rPr>
              <a:t>scale</a:t>
            </a:r>
            <a:endParaRPr sz="2000">
              <a:latin typeface="Comic Sans MS"/>
              <a:cs typeface="Comic Sans MS"/>
            </a:endParaRPr>
          </a:p>
          <a:p>
            <a:pPr marL="355600" indent="-343535">
              <a:lnSpc>
                <a:spcPct val="100000"/>
              </a:lnSpc>
              <a:spcBef>
                <a:spcPts val="2400"/>
              </a:spcBef>
              <a:buClr>
                <a:srgbClr val="FF0000"/>
              </a:buClr>
              <a:buChar char="•"/>
              <a:tabLst>
                <a:tab pos="354965" algn="l"/>
                <a:tab pos="356235" algn="l"/>
              </a:tabLst>
            </a:pPr>
            <a:r>
              <a:rPr sz="2000" spc="-5" dirty="0">
                <a:solidFill>
                  <a:srgbClr val="3333CC"/>
                </a:solidFill>
                <a:latin typeface="Comic Sans MS"/>
                <a:cs typeface="Comic Sans MS"/>
              </a:rPr>
              <a:t>Categorical</a:t>
            </a:r>
            <a:r>
              <a:rPr sz="2000" spc="-10" dirty="0">
                <a:solidFill>
                  <a:srgbClr val="3333CC"/>
                </a:solidFill>
                <a:latin typeface="Comic Sans MS"/>
                <a:cs typeface="Comic Sans MS"/>
              </a:rPr>
              <a:t> scale</a:t>
            </a:r>
            <a:endParaRPr sz="2000">
              <a:latin typeface="Comic Sans MS"/>
              <a:cs typeface="Comic Sans MS"/>
            </a:endParaRPr>
          </a:p>
          <a:p>
            <a:pPr marL="355600" indent="-343535">
              <a:lnSpc>
                <a:spcPct val="100000"/>
              </a:lnSpc>
              <a:spcBef>
                <a:spcPts val="2400"/>
              </a:spcBef>
              <a:buClr>
                <a:srgbClr val="FF0000"/>
              </a:buClr>
              <a:buChar char="•"/>
              <a:tabLst>
                <a:tab pos="354965" algn="l"/>
                <a:tab pos="356235" algn="l"/>
              </a:tabLst>
            </a:pPr>
            <a:r>
              <a:rPr sz="2000" spc="-10" dirty="0">
                <a:solidFill>
                  <a:srgbClr val="3333CC"/>
                </a:solidFill>
                <a:latin typeface="Comic Sans MS"/>
                <a:cs typeface="Comic Sans MS"/>
              </a:rPr>
              <a:t>Ordinal</a:t>
            </a:r>
            <a:r>
              <a:rPr sz="2000" spc="10" dirty="0">
                <a:solidFill>
                  <a:srgbClr val="3333CC"/>
                </a:solidFill>
                <a:latin typeface="Comic Sans MS"/>
                <a:cs typeface="Comic Sans MS"/>
              </a:rPr>
              <a:t> </a:t>
            </a:r>
            <a:r>
              <a:rPr sz="2000" spc="-10" dirty="0">
                <a:solidFill>
                  <a:srgbClr val="3333CC"/>
                </a:solidFill>
                <a:latin typeface="Comic Sans MS"/>
                <a:cs typeface="Comic Sans MS"/>
              </a:rPr>
              <a:t>scale</a:t>
            </a:r>
            <a:endParaRPr sz="2000">
              <a:latin typeface="Comic Sans MS"/>
              <a:cs typeface="Comic Sans MS"/>
            </a:endParaRPr>
          </a:p>
          <a:p>
            <a:pPr marL="355600" indent="-343535">
              <a:lnSpc>
                <a:spcPct val="100000"/>
              </a:lnSpc>
              <a:spcBef>
                <a:spcPts val="2400"/>
              </a:spcBef>
              <a:buClr>
                <a:srgbClr val="FF0000"/>
              </a:buClr>
              <a:buChar char="•"/>
              <a:tabLst>
                <a:tab pos="354965" algn="l"/>
                <a:tab pos="356235" algn="l"/>
              </a:tabLst>
            </a:pPr>
            <a:r>
              <a:rPr sz="2000" spc="-10" dirty="0">
                <a:solidFill>
                  <a:srgbClr val="3333CC"/>
                </a:solidFill>
                <a:latin typeface="Comic Sans MS"/>
                <a:cs typeface="Comic Sans MS"/>
              </a:rPr>
              <a:t>Interval</a:t>
            </a:r>
            <a:r>
              <a:rPr sz="2000" spc="5" dirty="0">
                <a:solidFill>
                  <a:srgbClr val="3333CC"/>
                </a:solidFill>
                <a:latin typeface="Comic Sans MS"/>
                <a:cs typeface="Comic Sans MS"/>
              </a:rPr>
              <a:t> </a:t>
            </a:r>
            <a:r>
              <a:rPr sz="2000" spc="-10" dirty="0">
                <a:solidFill>
                  <a:srgbClr val="3333CC"/>
                </a:solidFill>
                <a:latin typeface="Comic Sans MS"/>
                <a:cs typeface="Comic Sans MS"/>
              </a:rPr>
              <a:t>scale</a:t>
            </a:r>
            <a:endParaRPr sz="2000">
              <a:latin typeface="Comic Sans MS"/>
              <a:cs typeface="Comic Sans MS"/>
            </a:endParaRPr>
          </a:p>
          <a:p>
            <a:pPr marL="355600" indent="-343535">
              <a:lnSpc>
                <a:spcPct val="100000"/>
              </a:lnSpc>
              <a:spcBef>
                <a:spcPts val="2400"/>
              </a:spcBef>
              <a:buClr>
                <a:srgbClr val="FF0000"/>
              </a:buClr>
              <a:buChar char="•"/>
              <a:tabLst>
                <a:tab pos="354965" algn="l"/>
                <a:tab pos="356235" algn="l"/>
              </a:tabLst>
            </a:pPr>
            <a:r>
              <a:rPr sz="2000" spc="-5" dirty="0">
                <a:solidFill>
                  <a:srgbClr val="3333CC"/>
                </a:solidFill>
                <a:latin typeface="Comic Sans MS"/>
                <a:cs typeface="Comic Sans MS"/>
              </a:rPr>
              <a:t>Ratio</a:t>
            </a:r>
            <a:r>
              <a:rPr sz="2000" dirty="0">
                <a:solidFill>
                  <a:srgbClr val="3333CC"/>
                </a:solidFill>
                <a:latin typeface="Comic Sans MS"/>
                <a:cs typeface="Comic Sans MS"/>
              </a:rPr>
              <a:t> </a:t>
            </a:r>
            <a:r>
              <a:rPr sz="2000" spc="-10" dirty="0">
                <a:solidFill>
                  <a:srgbClr val="3333CC"/>
                </a:solidFill>
                <a:latin typeface="Comic Sans MS"/>
                <a:cs typeface="Comic Sans MS"/>
              </a:rPr>
              <a:t>scale</a:t>
            </a:r>
            <a:endParaRPr sz="2000">
              <a:latin typeface="Comic Sans MS"/>
              <a:cs typeface="Comic Sans MS"/>
            </a:endParaRPr>
          </a:p>
        </p:txBody>
      </p:sp>
      <p:sp>
        <p:nvSpPr>
          <p:cNvPr id="4" name="object 4"/>
          <p:cNvSpPr/>
          <p:nvPr/>
        </p:nvSpPr>
        <p:spPr>
          <a:xfrm>
            <a:off x="4802771" y="2067305"/>
            <a:ext cx="309880" cy="1609725"/>
          </a:xfrm>
          <a:custGeom>
            <a:avLst/>
            <a:gdLst/>
            <a:ahLst/>
            <a:cxnLst/>
            <a:rect l="l" t="t" r="r" b="b"/>
            <a:pathLst>
              <a:path w="309879" h="1609725">
                <a:moveTo>
                  <a:pt x="304800" y="800100"/>
                </a:moveTo>
                <a:lnTo>
                  <a:pt x="297180" y="799338"/>
                </a:lnTo>
                <a:lnTo>
                  <a:pt x="289560" y="799338"/>
                </a:lnTo>
                <a:lnTo>
                  <a:pt x="240237" y="786702"/>
                </a:lnTo>
                <a:lnTo>
                  <a:pt x="197934" y="759861"/>
                </a:lnTo>
                <a:lnTo>
                  <a:pt x="168296" y="720754"/>
                </a:lnTo>
                <a:lnTo>
                  <a:pt x="156972" y="671322"/>
                </a:lnTo>
                <a:lnTo>
                  <a:pt x="156972" y="130302"/>
                </a:lnTo>
                <a:lnTo>
                  <a:pt x="142805" y="80025"/>
                </a:lnTo>
                <a:lnTo>
                  <a:pt x="111056" y="40090"/>
                </a:lnTo>
                <a:lnTo>
                  <a:pt x="67023" y="12876"/>
                </a:lnTo>
                <a:lnTo>
                  <a:pt x="16002" y="761"/>
                </a:lnTo>
                <a:lnTo>
                  <a:pt x="0" y="0"/>
                </a:lnTo>
                <a:lnTo>
                  <a:pt x="0" y="9144"/>
                </a:lnTo>
                <a:lnTo>
                  <a:pt x="8382" y="9220"/>
                </a:lnTo>
                <a:lnTo>
                  <a:pt x="15240" y="9905"/>
                </a:lnTo>
                <a:lnTo>
                  <a:pt x="65148" y="22641"/>
                </a:lnTo>
                <a:lnTo>
                  <a:pt x="107056" y="49201"/>
                </a:lnTo>
                <a:lnTo>
                  <a:pt x="136203" y="88117"/>
                </a:lnTo>
                <a:lnTo>
                  <a:pt x="147828" y="137922"/>
                </a:lnTo>
                <a:lnTo>
                  <a:pt x="147828" y="678180"/>
                </a:lnTo>
                <a:lnTo>
                  <a:pt x="161635" y="728404"/>
                </a:lnTo>
                <a:lnTo>
                  <a:pt x="193719" y="768629"/>
                </a:lnTo>
                <a:lnTo>
                  <a:pt x="238099" y="796205"/>
                </a:lnTo>
                <a:lnTo>
                  <a:pt x="271863" y="804381"/>
                </a:lnTo>
                <a:lnTo>
                  <a:pt x="288798" y="800862"/>
                </a:lnTo>
                <a:lnTo>
                  <a:pt x="296418" y="800100"/>
                </a:lnTo>
                <a:lnTo>
                  <a:pt x="304800" y="800100"/>
                </a:lnTo>
                <a:close/>
              </a:path>
              <a:path w="309879" h="1609725">
                <a:moveTo>
                  <a:pt x="297180" y="809244"/>
                </a:moveTo>
                <a:lnTo>
                  <a:pt x="296418" y="809244"/>
                </a:lnTo>
                <a:lnTo>
                  <a:pt x="288798" y="808482"/>
                </a:lnTo>
                <a:lnTo>
                  <a:pt x="271863" y="804381"/>
                </a:lnTo>
                <a:lnTo>
                  <a:pt x="246217" y="809710"/>
                </a:lnTo>
                <a:lnTo>
                  <a:pt x="207611" y="829356"/>
                </a:lnTo>
                <a:lnTo>
                  <a:pt x="176198" y="858293"/>
                </a:lnTo>
                <a:lnTo>
                  <a:pt x="155198" y="895017"/>
                </a:lnTo>
                <a:lnTo>
                  <a:pt x="147828" y="938022"/>
                </a:lnTo>
                <a:lnTo>
                  <a:pt x="147828" y="1471422"/>
                </a:lnTo>
                <a:lnTo>
                  <a:pt x="147066" y="1478280"/>
                </a:lnTo>
                <a:lnTo>
                  <a:pt x="134295" y="1524889"/>
                </a:lnTo>
                <a:lnTo>
                  <a:pt x="104036" y="1562100"/>
                </a:lnTo>
                <a:lnTo>
                  <a:pt x="62335" y="1587690"/>
                </a:lnTo>
                <a:lnTo>
                  <a:pt x="15240" y="1599438"/>
                </a:lnTo>
                <a:lnTo>
                  <a:pt x="7620" y="1599438"/>
                </a:lnTo>
                <a:lnTo>
                  <a:pt x="0" y="1600200"/>
                </a:lnTo>
                <a:lnTo>
                  <a:pt x="0" y="1609344"/>
                </a:lnTo>
                <a:lnTo>
                  <a:pt x="8382" y="1609344"/>
                </a:lnTo>
                <a:lnTo>
                  <a:pt x="58388" y="1599472"/>
                </a:lnTo>
                <a:lnTo>
                  <a:pt x="96936" y="1579771"/>
                </a:lnTo>
                <a:lnTo>
                  <a:pt x="128387" y="1550908"/>
                </a:lnTo>
                <a:lnTo>
                  <a:pt x="149484" y="1514315"/>
                </a:lnTo>
                <a:lnTo>
                  <a:pt x="156972" y="1471422"/>
                </a:lnTo>
                <a:lnTo>
                  <a:pt x="156972" y="931163"/>
                </a:lnTo>
                <a:lnTo>
                  <a:pt x="170854" y="883658"/>
                </a:lnTo>
                <a:lnTo>
                  <a:pt x="200286" y="846943"/>
                </a:lnTo>
                <a:lnTo>
                  <a:pt x="241209" y="822050"/>
                </a:lnTo>
                <a:lnTo>
                  <a:pt x="289560" y="810006"/>
                </a:lnTo>
                <a:lnTo>
                  <a:pt x="297180" y="809244"/>
                </a:lnTo>
                <a:close/>
              </a:path>
              <a:path w="309879" h="1609725">
                <a:moveTo>
                  <a:pt x="309372" y="806958"/>
                </a:moveTo>
                <a:lnTo>
                  <a:pt x="309372" y="802386"/>
                </a:lnTo>
                <a:lnTo>
                  <a:pt x="307086" y="800100"/>
                </a:lnTo>
                <a:lnTo>
                  <a:pt x="296418" y="800100"/>
                </a:lnTo>
                <a:lnTo>
                  <a:pt x="288798" y="800862"/>
                </a:lnTo>
                <a:lnTo>
                  <a:pt x="271863" y="804381"/>
                </a:lnTo>
                <a:lnTo>
                  <a:pt x="288798" y="808482"/>
                </a:lnTo>
                <a:lnTo>
                  <a:pt x="296418" y="809244"/>
                </a:lnTo>
                <a:lnTo>
                  <a:pt x="307086" y="809244"/>
                </a:lnTo>
                <a:lnTo>
                  <a:pt x="309372" y="806958"/>
                </a:lnTo>
                <a:close/>
              </a:path>
            </a:pathLst>
          </a:custGeom>
          <a:solidFill>
            <a:srgbClr val="6600CC"/>
          </a:solidFill>
        </p:spPr>
        <p:txBody>
          <a:bodyPr wrap="square" lIns="0" tIns="0" rIns="0" bIns="0" rtlCol="0"/>
          <a:lstStyle/>
          <a:p>
            <a:endParaRPr/>
          </a:p>
        </p:txBody>
      </p:sp>
      <p:sp>
        <p:nvSpPr>
          <p:cNvPr id="5" name="object 5"/>
          <p:cNvSpPr/>
          <p:nvPr/>
        </p:nvSpPr>
        <p:spPr>
          <a:xfrm>
            <a:off x="4802771" y="3854196"/>
            <a:ext cx="309880" cy="1126490"/>
          </a:xfrm>
          <a:custGeom>
            <a:avLst/>
            <a:gdLst/>
            <a:ahLst/>
            <a:cxnLst/>
            <a:rect l="l" t="t" r="r" b="b"/>
            <a:pathLst>
              <a:path w="309879" h="1126489">
                <a:moveTo>
                  <a:pt x="304800" y="558546"/>
                </a:moveTo>
                <a:lnTo>
                  <a:pt x="237776" y="548413"/>
                </a:lnTo>
                <a:lnTo>
                  <a:pt x="199791" y="531904"/>
                </a:lnTo>
                <a:lnTo>
                  <a:pt x="169924" y="506046"/>
                </a:lnTo>
                <a:lnTo>
                  <a:pt x="156972" y="470154"/>
                </a:lnTo>
                <a:lnTo>
                  <a:pt x="156972" y="92963"/>
                </a:lnTo>
                <a:lnTo>
                  <a:pt x="141752" y="55828"/>
                </a:lnTo>
                <a:lnTo>
                  <a:pt x="110128" y="28384"/>
                </a:lnTo>
                <a:lnTo>
                  <a:pt x="70493" y="10560"/>
                </a:lnTo>
                <a:lnTo>
                  <a:pt x="31242" y="2285"/>
                </a:lnTo>
                <a:lnTo>
                  <a:pt x="0" y="0"/>
                </a:lnTo>
                <a:lnTo>
                  <a:pt x="0" y="9906"/>
                </a:lnTo>
                <a:lnTo>
                  <a:pt x="30480" y="11429"/>
                </a:lnTo>
                <a:lnTo>
                  <a:pt x="67769" y="19513"/>
                </a:lnTo>
                <a:lnTo>
                  <a:pt x="105436" y="36395"/>
                </a:lnTo>
                <a:lnTo>
                  <a:pt x="134962" y="62511"/>
                </a:lnTo>
                <a:lnTo>
                  <a:pt x="147828" y="98297"/>
                </a:lnTo>
                <a:lnTo>
                  <a:pt x="147828" y="475488"/>
                </a:lnTo>
                <a:lnTo>
                  <a:pt x="162878" y="512625"/>
                </a:lnTo>
                <a:lnTo>
                  <a:pt x="194686" y="539900"/>
                </a:lnTo>
                <a:lnTo>
                  <a:pt x="234497" y="557639"/>
                </a:lnTo>
                <a:lnTo>
                  <a:pt x="259591" y="563117"/>
                </a:lnTo>
                <a:lnTo>
                  <a:pt x="273558" y="560070"/>
                </a:lnTo>
                <a:lnTo>
                  <a:pt x="288798" y="558546"/>
                </a:lnTo>
                <a:lnTo>
                  <a:pt x="304800" y="558546"/>
                </a:lnTo>
                <a:close/>
              </a:path>
              <a:path w="309879" h="1126489">
                <a:moveTo>
                  <a:pt x="304800" y="567690"/>
                </a:moveTo>
                <a:lnTo>
                  <a:pt x="288798" y="567690"/>
                </a:lnTo>
                <a:lnTo>
                  <a:pt x="273558" y="566166"/>
                </a:lnTo>
                <a:lnTo>
                  <a:pt x="259591" y="563117"/>
                </a:lnTo>
                <a:lnTo>
                  <a:pt x="232979" y="568922"/>
                </a:lnTo>
                <a:lnTo>
                  <a:pt x="192276" y="587649"/>
                </a:lnTo>
                <a:lnTo>
                  <a:pt x="160781" y="616589"/>
                </a:lnTo>
                <a:lnTo>
                  <a:pt x="147828" y="656082"/>
                </a:lnTo>
                <a:lnTo>
                  <a:pt x="147828" y="1027938"/>
                </a:lnTo>
                <a:lnTo>
                  <a:pt x="147066" y="1032510"/>
                </a:lnTo>
                <a:lnTo>
                  <a:pt x="102822" y="1090998"/>
                </a:lnTo>
                <a:lnTo>
                  <a:pt x="65180" y="1107496"/>
                </a:lnTo>
                <a:lnTo>
                  <a:pt x="15240" y="1115568"/>
                </a:lnTo>
                <a:lnTo>
                  <a:pt x="0" y="1116330"/>
                </a:lnTo>
                <a:lnTo>
                  <a:pt x="0" y="1126236"/>
                </a:lnTo>
                <a:lnTo>
                  <a:pt x="72050" y="1114975"/>
                </a:lnTo>
                <a:lnTo>
                  <a:pt x="112623" y="1096427"/>
                </a:lnTo>
                <a:lnTo>
                  <a:pt x="143938" y="1067637"/>
                </a:lnTo>
                <a:lnTo>
                  <a:pt x="156972" y="1027938"/>
                </a:lnTo>
                <a:lnTo>
                  <a:pt x="156972" y="652272"/>
                </a:lnTo>
                <a:lnTo>
                  <a:pt x="171671" y="617944"/>
                </a:lnTo>
                <a:lnTo>
                  <a:pt x="201120" y="593402"/>
                </a:lnTo>
                <a:lnTo>
                  <a:pt x="237832" y="577721"/>
                </a:lnTo>
                <a:lnTo>
                  <a:pt x="274320" y="569976"/>
                </a:lnTo>
                <a:lnTo>
                  <a:pt x="289560" y="568452"/>
                </a:lnTo>
                <a:lnTo>
                  <a:pt x="304800" y="567690"/>
                </a:lnTo>
                <a:close/>
              </a:path>
              <a:path w="309879" h="1126489">
                <a:moveTo>
                  <a:pt x="309372" y="565404"/>
                </a:moveTo>
                <a:lnTo>
                  <a:pt x="309372" y="560832"/>
                </a:lnTo>
                <a:lnTo>
                  <a:pt x="307086" y="558546"/>
                </a:lnTo>
                <a:lnTo>
                  <a:pt x="288798" y="558546"/>
                </a:lnTo>
                <a:lnTo>
                  <a:pt x="273558" y="560070"/>
                </a:lnTo>
                <a:lnTo>
                  <a:pt x="259591" y="563117"/>
                </a:lnTo>
                <a:lnTo>
                  <a:pt x="273558" y="566166"/>
                </a:lnTo>
                <a:lnTo>
                  <a:pt x="288798" y="567690"/>
                </a:lnTo>
                <a:lnTo>
                  <a:pt x="307086" y="567690"/>
                </a:lnTo>
                <a:lnTo>
                  <a:pt x="309372" y="565404"/>
                </a:lnTo>
                <a:close/>
              </a:path>
            </a:pathLst>
          </a:custGeom>
          <a:solidFill>
            <a:srgbClr val="6600CC"/>
          </a:solidFill>
        </p:spPr>
        <p:txBody>
          <a:bodyPr wrap="square" lIns="0" tIns="0" rIns="0" bIns="0" rtlCol="0"/>
          <a:lstStyle/>
          <a:p>
            <a:endParaRPr/>
          </a:p>
        </p:txBody>
      </p:sp>
      <p:sp>
        <p:nvSpPr>
          <p:cNvPr id="6" name="object 6"/>
          <p:cNvSpPr txBox="1"/>
          <p:nvPr/>
        </p:nvSpPr>
        <p:spPr>
          <a:xfrm>
            <a:off x="5355469" y="2702305"/>
            <a:ext cx="122047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6500CC"/>
                </a:solidFill>
                <a:latin typeface="Comic Sans MS"/>
                <a:cs typeface="Comic Sans MS"/>
              </a:rPr>
              <a:t>Qualitative</a:t>
            </a:r>
            <a:endParaRPr sz="1800">
              <a:latin typeface="Comic Sans MS"/>
              <a:cs typeface="Comic Sans MS"/>
            </a:endParaRPr>
          </a:p>
        </p:txBody>
      </p:sp>
      <p:sp>
        <p:nvSpPr>
          <p:cNvPr id="7" name="object 7"/>
          <p:cNvSpPr txBox="1"/>
          <p:nvPr/>
        </p:nvSpPr>
        <p:spPr>
          <a:xfrm>
            <a:off x="5355469" y="4249173"/>
            <a:ext cx="13849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6500CC"/>
                </a:solidFill>
                <a:latin typeface="Comic Sans MS"/>
                <a:cs typeface="Comic Sans MS"/>
              </a:rPr>
              <a:t>Quantitative</a:t>
            </a:r>
            <a:endParaRPr sz="1800">
              <a:latin typeface="Comic Sans MS"/>
              <a:cs typeface="Comic Sans MS"/>
            </a:endParaRPr>
          </a:p>
        </p:txBody>
      </p:sp>
      <p:sp>
        <p:nvSpPr>
          <p:cNvPr id="8" name="object 8"/>
          <p:cNvSpPr/>
          <p:nvPr/>
        </p:nvSpPr>
        <p:spPr>
          <a:xfrm>
            <a:off x="6942467" y="1888998"/>
            <a:ext cx="114300" cy="3075940"/>
          </a:xfrm>
          <a:custGeom>
            <a:avLst/>
            <a:gdLst/>
            <a:ahLst/>
            <a:cxnLst/>
            <a:rect l="l" t="t" r="r" b="b"/>
            <a:pathLst>
              <a:path w="114300" h="3075940">
                <a:moveTo>
                  <a:pt x="114300" y="2961131"/>
                </a:moveTo>
                <a:lnTo>
                  <a:pt x="0" y="2961131"/>
                </a:lnTo>
                <a:lnTo>
                  <a:pt x="38100" y="3037331"/>
                </a:lnTo>
                <a:lnTo>
                  <a:pt x="38100" y="2980181"/>
                </a:lnTo>
                <a:lnTo>
                  <a:pt x="76200" y="2980181"/>
                </a:lnTo>
                <a:lnTo>
                  <a:pt x="76200" y="3037331"/>
                </a:lnTo>
                <a:lnTo>
                  <a:pt x="114300" y="2961131"/>
                </a:lnTo>
                <a:close/>
              </a:path>
              <a:path w="114300" h="3075940">
                <a:moveTo>
                  <a:pt x="76200" y="2961131"/>
                </a:moveTo>
                <a:lnTo>
                  <a:pt x="76200" y="0"/>
                </a:lnTo>
                <a:lnTo>
                  <a:pt x="38100" y="0"/>
                </a:lnTo>
                <a:lnTo>
                  <a:pt x="38100" y="2961131"/>
                </a:lnTo>
                <a:lnTo>
                  <a:pt x="76200" y="2961131"/>
                </a:lnTo>
                <a:close/>
              </a:path>
              <a:path w="114300" h="3075940">
                <a:moveTo>
                  <a:pt x="76200" y="3037331"/>
                </a:moveTo>
                <a:lnTo>
                  <a:pt x="76200" y="2980181"/>
                </a:lnTo>
                <a:lnTo>
                  <a:pt x="38100" y="2980181"/>
                </a:lnTo>
                <a:lnTo>
                  <a:pt x="38100" y="3037331"/>
                </a:lnTo>
                <a:lnTo>
                  <a:pt x="57150" y="3075431"/>
                </a:lnTo>
                <a:lnTo>
                  <a:pt x="76200" y="3037331"/>
                </a:lnTo>
                <a:close/>
              </a:path>
            </a:pathLst>
          </a:custGeom>
          <a:solidFill>
            <a:srgbClr val="000000"/>
          </a:solidFill>
        </p:spPr>
        <p:txBody>
          <a:bodyPr wrap="square" lIns="0" tIns="0" rIns="0" bIns="0" rtlCol="0"/>
          <a:lstStyle/>
          <a:p>
            <a:endParaRPr/>
          </a:p>
        </p:txBody>
      </p:sp>
      <p:sp>
        <p:nvSpPr>
          <p:cNvPr id="9" name="object 9"/>
          <p:cNvSpPr txBox="1"/>
          <p:nvPr/>
        </p:nvSpPr>
        <p:spPr>
          <a:xfrm>
            <a:off x="7168395" y="2263394"/>
            <a:ext cx="309245" cy="2466975"/>
          </a:xfrm>
          <a:prstGeom prst="rect">
            <a:avLst/>
          </a:prstGeom>
        </p:spPr>
        <p:txBody>
          <a:bodyPr vert="vert" wrap="square" lIns="0" tIns="33655" rIns="0" bIns="0" rtlCol="0">
            <a:spAutoFit/>
          </a:bodyPr>
          <a:lstStyle/>
          <a:p>
            <a:pPr marL="12700">
              <a:lnSpc>
                <a:spcPct val="100000"/>
              </a:lnSpc>
              <a:spcBef>
                <a:spcPts val="265"/>
              </a:spcBef>
            </a:pPr>
            <a:r>
              <a:rPr sz="1600" dirty="0">
                <a:latin typeface="Comic Sans MS"/>
                <a:cs typeface="Comic Sans MS"/>
              </a:rPr>
              <a:t>More </a:t>
            </a:r>
            <a:r>
              <a:rPr sz="1600" spc="-5" dirty="0">
                <a:latin typeface="Comic Sans MS"/>
                <a:cs typeface="Comic Sans MS"/>
              </a:rPr>
              <a:t>information</a:t>
            </a:r>
            <a:r>
              <a:rPr sz="1600" spc="-90" dirty="0">
                <a:latin typeface="Comic Sans MS"/>
                <a:cs typeface="Comic Sans MS"/>
              </a:rPr>
              <a:t> </a:t>
            </a:r>
            <a:r>
              <a:rPr sz="1600" dirty="0">
                <a:latin typeface="Comic Sans MS"/>
                <a:cs typeface="Comic Sans MS"/>
              </a:rPr>
              <a:t>content</a:t>
            </a:r>
            <a:endParaRPr sz="1600">
              <a:latin typeface="Comic Sans MS"/>
              <a:cs typeface="Comic Sans MS"/>
            </a:endParaRPr>
          </a:p>
        </p:txBody>
      </p:sp>
      <p:sp>
        <p:nvSpPr>
          <p:cNvPr id="10" name="object 10"/>
          <p:cNvSpPr txBox="1"/>
          <p:nvPr/>
        </p:nvSpPr>
        <p:spPr>
          <a:xfrm>
            <a:off x="4768729" y="5252720"/>
            <a:ext cx="2430780" cy="269875"/>
          </a:xfrm>
          <a:prstGeom prst="rect">
            <a:avLst/>
          </a:prstGeom>
        </p:spPr>
        <p:txBody>
          <a:bodyPr vert="horz" wrap="square" lIns="0" tIns="12700" rIns="0" bIns="0" rtlCol="0">
            <a:spAutoFit/>
          </a:bodyPr>
          <a:lstStyle/>
          <a:p>
            <a:pPr marL="12700">
              <a:lnSpc>
                <a:spcPct val="100000"/>
              </a:lnSpc>
              <a:spcBef>
                <a:spcPts val="100"/>
              </a:spcBef>
              <a:tabLst>
                <a:tab pos="1017269" algn="l"/>
                <a:tab pos="1403985" algn="l"/>
              </a:tabLst>
            </a:pPr>
            <a:r>
              <a:rPr sz="1600" dirty="0">
                <a:solidFill>
                  <a:srgbClr val="6500CC"/>
                </a:solidFill>
                <a:latin typeface="Comic Sans MS"/>
                <a:cs typeface="Comic Sans MS"/>
              </a:rPr>
              <a:t>Discrete	</a:t>
            </a:r>
            <a:r>
              <a:rPr sz="1600" spc="-5" dirty="0">
                <a:solidFill>
                  <a:srgbClr val="6500CC"/>
                </a:solidFill>
                <a:latin typeface="Comic Sans MS"/>
                <a:cs typeface="Comic Sans MS"/>
              </a:rPr>
              <a:t>o</a:t>
            </a:r>
            <a:r>
              <a:rPr sz="1600" dirty="0">
                <a:solidFill>
                  <a:srgbClr val="6500CC"/>
                </a:solidFill>
                <a:latin typeface="Comic Sans MS"/>
                <a:cs typeface="Comic Sans MS"/>
              </a:rPr>
              <a:t>r	Continuous</a:t>
            </a:r>
            <a:endParaRPr sz="1600">
              <a:latin typeface="Comic Sans MS"/>
              <a:cs typeface="Comic Sans MS"/>
            </a:endParaRPr>
          </a:p>
        </p:txBody>
      </p:sp>
      <p:sp>
        <p:nvSpPr>
          <p:cNvPr id="11" name="object 11"/>
          <p:cNvSpPr/>
          <p:nvPr/>
        </p:nvSpPr>
        <p:spPr>
          <a:xfrm>
            <a:off x="5397893" y="4546853"/>
            <a:ext cx="565785" cy="685800"/>
          </a:xfrm>
          <a:custGeom>
            <a:avLst/>
            <a:gdLst/>
            <a:ahLst/>
            <a:cxnLst/>
            <a:rect l="l" t="t" r="r" b="b"/>
            <a:pathLst>
              <a:path w="565785" h="685800">
                <a:moveTo>
                  <a:pt x="44521" y="623582"/>
                </a:moveTo>
                <a:lnTo>
                  <a:pt x="19050" y="602742"/>
                </a:lnTo>
                <a:lnTo>
                  <a:pt x="0" y="685800"/>
                </a:lnTo>
                <a:lnTo>
                  <a:pt x="36576" y="669304"/>
                </a:lnTo>
                <a:lnTo>
                  <a:pt x="36576" y="633222"/>
                </a:lnTo>
                <a:lnTo>
                  <a:pt x="44521" y="623582"/>
                </a:lnTo>
                <a:close/>
              </a:path>
              <a:path w="565785" h="685800">
                <a:moveTo>
                  <a:pt x="52066" y="629755"/>
                </a:moveTo>
                <a:lnTo>
                  <a:pt x="44521" y="623582"/>
                </a:lnTo>
                <a:lnTo>
                  <a:pt x="36576" y="633222"/>
                </a:lnTo>
                <a:lnTo>
                  <a:pt x="44196" y="639318"/>
                </a:lnTo>
                <a:lnTo>
                  <a:pt x="52066" y="629755"/>
                </a:lnTo>
                <a:close/>
              </a:path>
              <a:path w="565785" h="685800">
                <a:moveTo>
                  <a:pt x="77724" y="650748"/>
                </a:moveTo>
                <a:lnTo>
                  <a:pt x="52066" y="629755"/>
                </a:lnTo>
                <a:lnTo>
                  <a:pt x="44196" y="639318"/>
                </a:lnTo>
                <a:lnTo>
                  <a:pt x="36576" y="633222"/>
                </a:lnTo>
                <a:lnTo>
                  <a:pt x="36576" y="669304"/>
                </a:lnTo>
                <a:lnTo>
                  <a:pt x="77724" y="650748"/>
                </a:lnTo>
                <a:close/>
              </a:path>
              <a:path w="565785" h="685800">
                <a:moveTo>
                  <a:pt x="565404" y="6095"/>
                </a:moveTo>
                <a:lnTo>
                  <a:pt x="558546" y="0"/>
                </a:lnTo>
                <a:lnTo>
                  <a:pt x="44521" y="623582"/>
                </a:lnTo>
                <a:lnTo>
                  <a:pt x="52066" y="629755"/>
                </a:lnTo>
                <a:lnTo>
                  <a:pt x="565404" y="6095"/>
                </a:lnTo>
                <a:close/>
              </a:path>
            </a:pathLst>
          </a:custGeom>
          <a:solidFill>
            <a:srgbClr val="FF0000"/>
          </a:solidFill>
        </p:spPr>
        <p:txBody>
          <a:bodyPr wrap="square" lIns="0" tIns="0" rIns="0" bIns="0" rtlCol="0"/>
          <a:lstStyle/>
          <a:p>
            <a:endParaRPr/>
          </a:p>
        </p:txBody>
      </p:sp>
      <p:sp>
        <p:nvSpPr>
          <p:cNvPr id="12" name="object 12"/>
          <p:cNvSpPr/>
          <p:nvPr/>
        </p:nvSpPr>
        <p:spPr>
          <a:xfrm>
            <a:off x="6037211" y="4586478"/>
            <a:ext cx="466090" cy="646430"/>
          </a:xfrm>
          <a:custGeom>
            <a:avLst/>
            <a:gdLst/>
            <a:ahLst/>
            <a:cxnLst/>
            <a:rect l="l" t="t" r="r" b="b"/>
            <a:pathLst>
              <a:path w="466090" h="646429">
                <a:moveTo>
                  <a:pt x="425340" y="580915"/>
                </a:moveTo>
                <a:lnTo>
                  <a:pt x="7620" y="0"/>
                </a:lnTo>
                <a:lnTo>
                  <a:pt x="0" y="6096"/>
                </a:lnTo>
                <a:lnTo>
                  <a:pt x="416971" y="587011"/>
                </a:lnTo>
                <a:lnTo>
                  <a:pt x="425340" y="580915"/>
                </a:lnTo>
                <a:close/>
              </a:path>
              <a:path w="466090" h="646429">
                <a:moveTo>
                  <a:pt x="432816" y="628965"/>
                </a:moveTo>
                <a:lnTo>
                  <a:pt x="432816" y="591312"/>
                </a:lnTo>
                <a:lnTo>
                  <a:pt x="424434" y="597408"/>
                </a:lnTo>
                <a:lnTo>
                  <a:pt x="416971" y="587011"/>
                </a:lnTo>
                <a:lnTo>
                  <a:pt x="390144" y="606552"/>
                </a:lnTo>
                <a:lnTo>
                  <a:pt x="432816" y="628965"/>
                </a:lnTo>
                <a:close/>
              </a:path>
              <a:path w="466090" h="646429">
                <a:moveTo>
                  <a:pt x="432816" y="591312"/>
                </a:moveTo>
                <a:lnTo>
                  <a:pt x="425340" y="580915"/>
                </a:lnTo>
                <a:lnTo>
                  <a:pt x="416971" y="587011"/>
                </a:lnTo>
                <a:lnTo>
                  <a:pt x="424434" y="597408"/>
                </a:lnTo>
                <a:lnTo>
                  <a:pt x="432816" y="591312"/>
                </a:lnTo>
                <a:close/>
              </a:path>
              <a:path w="466090" h="646429">
                <a:moveTo>
                  <a:pt x="465582" y="646176"/>
                </a:moveTo>
                <a:lnTo>
                  <a:pt x="451866" y="561594"/>
                </a:lnTo>
                <a:lnTo>
                  <a:pt x="425340" y="580915"/>
                </a:lnTo>
                <a:lnTo>
                  <a:pt x="432816" y="591312"/>
                </a:lnTo>
                <a:lnTo>
                  <a:pt x="432816" y="628965"/>
                </a:lnTo>
                <a:lnTo>
                  <a:pt x="465582" y="646176"/>
                </a:lnTo>
                <a:close/>
              </a:path>
            </a:pathLst>
          </a:custGeom>
          <a:solidFill>
            <a:srgbClr val="FF0000"/>
          </a:solidFill>
        </p:spPr>
        <p:txBody>
          <a:bodyPr wrap="square" lIns="0" tIns="0" rIns="0" bIns="0" rtlCol="0"/>
          <a:lstStyle/>
          <a:p>
            <a:endParaRPr/>
          </a:p>
        </p:txBody>
      </p:sp>
      <p:sp>
        <p:nvSpPr>
          <p:cNvPr id="13" name="object 13"/>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11</a:t>
            </a:fld>
            <a:endParaRPr sz="1200">
              <a:latin typeface="Comic Sans MS"/>
              <a:cs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2659" y="942848"/>
            <a:ext cx="6885305" cy="513080"/>
          </a:xfrm>
          <a:prstGeom prst="rect">
            <a:avLst/>
          </a:prstGeom>
        </p:spPr>
        <p:txBody>
          <a:bodyPr vert="horz" wrap="square" lIns="0" tIns="12065" rIns="0" bIns="0" rtlCol="0">
            <a:spAutoFit/>
          </a:bodyPr>
          <a:lstStyle/>
          <a:p>
            <a:pPr marL="12700">
              <a:lnSpc>
                <a:spcPct val="100000"/>
              </a:lnSpc>
              <a:spcBef>
                <a:spcPts val="95"/>
              </a:spcBef>
            </a:pPr>
            <a:r>
              <a:rPr spc="-5" dirty="0"/>
              <a:t>Types of Measurements:</a:t>
            </a:r>
            <a:r>
              <a:rPr spc="60" dirty="0"/>
              <a:t> </a:t>
            </a:r>
            <a:r>
              <a:rPr spc="-5" dirty="0"/>
              <a:t>Examples</a:t>
            </a:r>
          </a:p>
        </p:txBody>
      </p:sp>
      <p:sp>
        <p:nvSpPr>
          <p:cNvPr id="4" name="object 4"/>
          <p:cNvSpPr txBox="1"/>
          <p:nvPr/>
        </p:nvSpPr>
        <p:spPr>
          <a:xfrm>
            <a:off x="9383147" y="6810695"/>
            <a:ext cx="238125" cy="238125"/>
          </a:xfrm>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sz="1200" dirty="0">
                <a:latin typeface="Comic Sans MS"/>
                <a:cs typeface="Comic Sans MS"/>
              </a:rPr>
              <a:t>12</a:t>
            </a:fld>
            <a:endParaRPr sz="1200">
              <a:latin typeface="Comic Sans MS"/>
              <a:cs typeface="Comic Sans MS"/>
            </a:endParaRPr>
          </a:p>
        </p:txBody>
      </p:sp>
      <p:sp>
        <p:nvSpPr>
          <p:cNvPr id="3" name="object 3"/>
          <p:cNvSpPr txBox="1"/>
          <p:nvPr/>
        </p:nvSpPr>
        <p:spPr>
          <a:xfrm>
            <a:off x="1309249" y="1629410"/>
            <a:ext cx="7746365" cy="5254625"/>
          </a:xfrm>
          <a:prstGeom prst="rect">
            <a:avLst/>
          </a:prstGeom>
        </p:spPr>
        <p:txBody>
          <a:bodyPr vert="horz" wrap="square" lIns="0" tIns="12065" rIns="0" bIns="0" rtlCol="0">
            <a:spAutoFit/>
          </a:bodyPr>
          <a:lstStyle/>
          <a:p>
            <a:pPr marL="354965" indent="-342900">
              <a:lnSpc>
                <a:spcPct val="100000"/>
              </a:lnSpc>
              <a:spcBef>
                <a:spcPts val="95"/>
              </a:spcBef>
              <a:buClr>
                <a:srgbClr val="FF0000"/>
              </a:buClr>
              <a:buChar char="•"/>
              <a:tabLst>
                <a:tab pos="354965" algn="l"/>
                <a:tab pos="355600" algn="l"/>
              </a:tabLst>
            </a:pPr>
            <a:r>
              <a:rPr sz="2000" spc="-10" dirty="0">
                <a:solidFill>
                  <a:srgbClr val="008000"/>
                </a:solidFill>
                <a:latin typeface="Comic Sans MS"/>
                <a:cs typeface="Comic Sans MS"/>
              </a:rPr>
              <a:t>Nominal:</a:t>
            </a:r>
            <a:endParaRPr sz="2000">
              <a:latin typeface="Comic Sans MS"/>
              <a:cs typeface="Comic Sans MS"/>
            </a:endParaRPr>
          </a:p>
          <a:p>
            <a:pPr marL="755650" lvl="1" indent="-286385">
              <a:lnSpc>
                <a:spcPct val="100000"/>
              </a:lnSpc>
              <a:spcBef>
                <a:spcPts val="1960"/>
              </a:spcBef>
              <a:buClr>
                <a:srgbClr val="FF0000"/>
              </a:buClr>
              <a:buChar char="•"/>
              <a:tabLst>
                <a:tab pos="755015" algn="l"/>
                <a:tab pos="755650" algn="l"/>
              </a:tabLst>
            </a:pPr>
            <a:r>
              <a:rPr sz="1800" spc="-5" dirty="0">
                <a:solidFill>
                  <a:srgbClr val="3333CC"/>
                </a:solidFill>
                <a:latin typeface="Comic Sans MS"/>
                <a:cs typeface="Comic Sans MS"/>
              </a:rPr>
              <a:t>ID numbers, </a:t>
            </a:r>
            <a:r>
              <a:rPr sz="1800" dirty="0">
                <a:solidFill>
                  <a:srgbClr val="3333CC"/>
                </a:solidFill>
                <a:latin typeface="Comic Sans MS"/>
                <a:cs typeface="Comic Sans MS"/>
              </a:rPr>
              <a:t>Names of people</a:t>
            </a:r>
            <a:endParaRPr sz="1800">
              <a:latin typeface="Comic Sans MS"/>
              <a:cs typeface="Comic Sans MS"/>
            </a:endParaRPr>
          </a:p>
          <a:p>
            <a:pPr marL="354965" indent="-342900">
              <a:lnSpc>
                <a:spcPct val="100000"/>
              </a:lnSpc>
              <a:spcBef>
                <a:spcPts val="1065"/>
              </a:spcBef>
              <a:buClr>
                <a:srgbClr val="FF0000"/>
              </a:buClr>
              <a:buChar char="•"/>
              <a:tabLst>
                <a:tab pos="354965" algn="l"/>
                <a:tab pos="355600" algn="l"/>
              </a:tabLst>
            </a:pPr>
            <a:r>
              <a:rPr sz="2000" spc="-5" dirty="0">
                <a:solidFill>
                  <a:srgbClr val="008000"/>
                </a:solidFill>
                <a:latin typeface="Comic Sans MS"/>
                <a:cs typeface="Comic Sans MS"/>
              </a:rPr>
              <a:t>Categorical:</a:t>
            </a:r>
            <a:endParaRPr sz="2000">
              <a:latin typeface="Comic Sans MS"/>
              <a:cs typeface="Comic Sans MS"/>
            </a:endParaRPr>
          </a:p>
          <a:p>
            <a:pPr marL="755650" lvl="1" indent="-285750">
              <a:lnSpc>
                <a:spcPct val="100000"/>
              </a:lnSpc>
              <a:spcBef>
                <a:spcPts val="1960"/>
              </a:spcBef>
              <a:buClr>
                <a:srgbClr val="FF0000"/>
              </a:buClr>
              <a:buChar char="•"/>
              <a:tabLst>
                <a:tab pos="755015" algn="l"/>
                <a:tab pos="755650" algn="l"/>
              </a:tabLst>
            </a:pPr>
            <a:r>
              <a:rPr sz="1800" spc="-5" dirty="0">
                <a:solidFill>
                  <a:srgbClr val="3333CC"/>
                </a:solidFill>
                <a:latin typeface="Comic Sans MS"/>
                <a:cs typeface="Comic Sans MS"/>
              </a:rPr>
              <a:t>eye </a:t>
            </a:r>
            <a:r>
              <a:rPr sz="1800" dirty="0">
                <a:solidFill>
                  <a:srgbClr val="3333CC"/>
                </a:solidFill>
                <a:latin typeface="Comic Sans MS"/>
                <a:cs typeface="Comic Sans MS"/>
              </a:rPr>
              <a:t>color, </a:t>
            </a:r>
            <a:r>
              <a:rPr sz="1800" spc="-5" dirty="0">
                <a:solidFill>
                  <a:srgbClr val="3333CC"/>
                </a:solidFill>
                <a:latin typeface="Comic Sans MS"/>
                <a:cs typeface="Comic Sans MS"/>
              </a:rPr>
              <a:t>zip</a:t>
            </a:r>
            <a:r>
              <a:rPr sz="1800" spc="5" dirty="0">
                <a:solidFill>
                  <a:srgbClr val="3333CC"/>
                </a:solidFill>
                <a:latin typeface="Comic Sans MS"/>
                <a:cs typeface="Comic Sans MS"/>
              </a:rPr>
              <a:t> </a:t>
            </a:r>
            <a:r>
              <a:rPr sz="1800" spc="-5" dirty="0">
                <a:solidFill>
                  <a:srgbClr val="3333CC"/>
                </a:solidFill>
                <a:latin typeface="Comic Sans MS"/>
                <a:cs typeface="Comic Sans MS"/>
              </a:rPr>
              <a:t>codes</a:t>
            </a:r>
            <a:endParaRPr sz="1800">
              <a:latin typeface="Comic Sans MS"/>
              <a:cs typeface="Comic Sans MS"/>
            </a:endParaRPr>
          </a:p>
          <a:p>
            <a:pPr marL="354965" indent="-342900">
              <a:lnSpc>
                <a:spcPct val="100000"/>
              </a:lnSpc>
              <a:spcBef>
                <a:spcPts val="1065"/>
              </a:spcBef>
              <a:buClr>
                <a:srgbClr val="FF0000"/>
              </a:buClr>
              <a:buChar char="•"/>
              <a:tabLst>
                <a:tab pos="354965" algn="l"/>
                <a:tab pos="355600" algn="l"/>
              </a:tabLst>
            </a:pPr>
            <a:r>
              <a:rPr sz="2000" spc="-10" dirty="0">
                <a:solidFill>
                  <a:srgbClr val="008000"/>
                </a:solidFill>
                <a:latin typeface="Comic Sans MS"/>
                <a:cs typeface="Comic Sans MS"/>
              </a:rPr>
              <a:t>Ordinal:</a:t>
            </a:r>
            <a:endParaRPr sz="2000">
              <a:latin typeface="Comic Sans MS"/>
              <a:cs typeface="Comic Sans MS"/>
            </a:endParaRPr>
          </a:p>
          <a:p>
            <a:pPr marL="755650" marR="5080" lvl="1" indent="-285750">
              <a:lnSpc>
                <a:spcPct val="100000"/>
              </a:lnSpc>
              <a:spcBef>
                <a:spcPts val="1955"/>
              </a:spcBef>
              <a:buClr>
                <a:srgbClr val="FF0000"/>
              </a:buClr>
              <a:buChar char="•"/>
              <a:tabLst>
                <a:tab pos="755015" algn="l"/>
                <a:tab pos="755650" algn="l"/>
              </a:tabLst>
            </a:pPr>
            <a:r>
              <a:rPr sz="1800" spc="-5" dirty="0">
                <a:solidFill>
                  <a:srgbClr val="3333CC"/>
                </a:solidFill>
                <a:latin typeface="Comic Sans MS"/>
                <a:cs typeface="Comic Sans MS"/>
              </a:rPr>
              <a:t>rankings (e.g., taste </a:t>
            </a:r>
            <a:r>
              <a:rPr sz="1800" dirty="0">
                <a:solidFill>
                  <a:srgbClr val="3333CC"/>
                </a:solidFill>
                <a:latin typeface="Comic Sans MS"/>
                <a:cs typeface="Comic Sans MS"/>
              </a:rPr>
              <a:t>of potato chips on a scale </a:t>
            </a:r>
            <a:r>
              <a:rPr sz="1800" spc="-5" dirty="0">
                <a:solidFill>
                  <a:srgbClr val="3333CC"/>
                </a:solidFill>
                <a:latin typeface="Comic Sans MS"/>
                <a:cs typeface="Comic Sans MS"/>
              </a:rPr>
              <a:t>from 1-10), </a:t>
            </a:r>
            <a:r>
              <a:rPr sz="1800" dirty="0">
                <a:solidFill>
                  <a:srgbClr val="3333CC"/>
                </a:solidFill>
                <a:latin typeface="Comic Sans MS"/>
                <a:cs typeface="Comic Sans MS"/>
              </a:rPr>
              <a:t>grades,  height </a:t>
            </a:r>
            <a:r>
              <a:rPr sz="1800" spc="-5" dirty="0">
                <a:solidFill>
                  <a:srgbClr val="3333CC"/>
                </a:solidFill>
                <a:latin typeface="Comic Sans MS"/>
                <a:cs typeface="Comic Sans MS"/>
              </a:rPr>
              <a:t>in {tall, medium,</a:t>
            </a:r>
            <a:r>
              <a:rPr sz="1800" spc="-15" dirty="0">
                <a:solidFill>
                  <a:srgbClr val="3333CC"/>
                </a:solidFill>
                <a:latin typeface="Comic Sans MS"/>
                <a:cs typeface="Comic Sans MS"/>
              </a:rPr>
              <a:t> </a:t>
            </a:r>
            <a:r>
              <a:rPr sz="1800" spc="-5" dirty="0">
                <a:solidFill>
                  <a:srgbClr val="3333CC"/>
                </a:solidFill>
                <a:latin typeface="Comic Sans MS"/>
                <a:cs typeface="Comic Sans MS"/>
              </a:rPr>
              <a:t>short}</a:t>
            </a:r>
            <a:endParaRPr sz="1800">
              <a:latin typeface="Comic Sans MS"/>
              <a:cs typeface="Comic Sans MS"/>
            </a:endParaRPr>
          </a:p>
          <a:p>
            <a:pPr marL="354965" indent="-342900">
              <a:lnSpc>
                <a:spcPct val="100000"/>
              </a:lnSpc>
              <a:spcBef>
                <a:spcPts val="1070"/>
              </a:spcBef>
              <a:buClr>
                <a:srgbClr val="FF0000"/>
              </a:buClr>
              <a:buChar char="•"/>
              <a:tabLst>
                <a:tab pos="354965" algn="l"/>
                <a:tab pos="355600" algn="l"/>
              </a:tabLst>
            </a:pPr>
            <a:r>
              <a:rPr sz="2000" spc="-10" dirty="0">
                <a:solidFill>
                  <a:srgbClr val="008000"/>
                </a:solidFill>
                <a:latin typeface="Comic Sans MS"/>
                <a:cs typeface="Comic Sans MS"/>
              </a:rPr>
              <a:t>Interval:</a:t>
            </a:r>
            <a:endParaRPr sz="2000">
              <a:latin typeface="Comic Sans MS"/>
              <a:cs typeface="Comic Sans MS"/>
            </a:endParaRPr>
          </a:p>
          <a:p>
            <a:pPr marL="755650" marR="662305" lvl="1" indent="-285750">
              <a:lnSpc>
                <a:spcPct val="100000"/>
              </a:lnSpc>
              <a:spcBef>
                <a:spcPts val="1955"/>
              </a:spcBef>
              <a:buClr>
                <a:srgbClr val="FF0000"/>
              </a:buClr>
              <a:buChar char="•"/>
              <a:tabLst>
                <a:tab pos="755015" algn="l"/>
                <a:tab pos="755650" algn="l"/>
              </a:tabLst>
            </a:pPr>
            <a:r>
              <a:rPr sz="1800" dirty="0">
                <a:solidFill>
                  <a:srgbClr val="3333CC"/>
                </a:solidFill>
                <a:latin typeface="Comic Sans MS"/>
                <a:cs typeface="Comic Sans MS"/>
              </a:rPr>
              <a:t>calendar </a:t>
            </a:r>
            <a:r>
              <a:rPr sz="1800" spc="-5" dirty="0">
                <a:solidFill>
                  <a:srgbClr val="3333CC"/>
                </a:solidFill>
                <a:latin typeface="Comic Sans MS"/>
                <a:cs typeface="Comic Sans MS"/>
              </a:rPr>
              <a:t>dates, temperatures in </a:t>
            </a:r>
            <a:r>
              <a:rPr sz="1800" dirty="0">
                <a:solidFill>
                  <a:srgbClr val="3333CC"/>
                </a:solidFill>
                <a:latin typeface="Comic Sans MS"/>
                <a:cs typeface="Comic Sans MS"/>
              </a:rPr>
              <a:t>Celsius </a:t>
            </a:r>
            <a:r>
              <a:rPr sz="1800" spc="-5" dirty="0">
                <a:solidFill>
                  <a:srgbClr val="3333CC"/>
                </a:solidFill>
                <a:latin typeface="Comic Sans MS"/>
                <a:cs typeface="Comic Sans MS"/>
              </a:rPr>
              <a:t>or Fahrenheit, </a:t>
            </a:r>
            <a:r>
              <a:rPr sz="1800" dirty="0">
                <a:solidFill>
                  <a:srgbClr val="3333CC"/>
                </a:solidFill>
                <a:latin typeface="Comic Sans MS"/>
                <a:cs typeface="Comic Sans MS"/>
              </a:rPr>
              <a:t>GRE  </a:t>
            </a:r>
            <a:r>
              <a:rPr sz="1800" spc="-5" dirty="0">
                <a:solidFill>
                  <a:srgbClr val="3333CC"/>
                </a:solidFill>
                <a:latin typeface="Comic Sans MS"/>
                <a:cs typeface="Comic Sans MS"/>
              </a:rPr>
              <a:t>(Graduate Record </a:t>
            </a:r>
            <a:r>
              <a:rPr sz="1800" dirty="0">
                <a:solidFill>
                  <a:srgbClr val="3333CC"/>
                </a:solidFill>
                <a:latin typeface="Comic Sans MS"/>
                <a:cs typeface="Comic Sans MS"/>
              </a:rPr>
              <a:t>Examination) and </a:t>
            </a:r>
            <a:r>
              <a:rPr sz="1800" spc="-5" dirty="0">
                <a:solidFill>
                  <a:srgbClr val="3333CC"/>
                </a:solidFill>
                <a:latin typeface="Comic Sans MS"/>
                <a:cs typeface="Comic Sans MS"/>
              </a:rPr>
              <a:t>IQ </a:t>
            </a:r>
            <a:r>
              <a:rPr sz="1800" dirty="0">
                <a:solidFill>
                  <a:srgbClr val="3333CC"/>
                </a:solidFill>
                <a:latin typeface="Comic Sans MS"/>
                <a:cs typeface="Comic Sans MS"/>
              </a:rPr>
              <a:t>scores</a:t>
            </a:r>
            <a:endParaRPr sz="1800">
              <a:latin typeface="Comic Sans MS"/>
              <a:cs typeface="Comic Sans MS"/>
            </a:endParaRPr>
          </a:p>
          <a:p>
            <a:pPr marL="354965" indent="-342900">
              <a:lnSpc>
                <a:spcPct val="100000"/>
              </a:lnSpc>
              <a:spcBef>
                <a:spcPts val="1065"/>
              </a:spcBef>
              <a:buClr>
                <a:srgbClr val="FF0000"/>
              </a:buClr>
              <a:buChar char="•"/>
              <a:tabLst>
                <a:tab pos="354965" algn="l"/>
                <a:tab pos="355600" algn="l"/>
              </a:tabLst>
            </a:pPr>
            <a:r>
              <a:rPr sz="2000" spc="-10" dirty="0">
                <a:solidFill>
                  <a:srgbClr val="008000"/>
                </a:solidFill>
                <a:latin typeface="Comic Sans MS"/>
                <a:cs typeface="Comic Sans MS"/>
              </a:rPr>
              <a:t>Ratio:</a:t>
            </a:r>
            <a:endParaRPr sz="2000">
              <a:latin typeface="Comic Sans MS"/>
              <a:cs typeface="Comic Sans MS"/>
            </a:endParaRPr>
          </a:p>
          <a:p>
            <a:pPr marL="755650" lvl="1" indent="-285750">
              <a:lnSpc>
                <a:spcPct val="100000"/>
              </a:lnSpc>
              <a:spcBef>
                <a:spcPts val="1960"/>
              </a:spcBef>
              <a:buClr>
                <a:srgbClr val="FF0000"/>
              </a:buClr>
              <a:buChar char="•"/>
              <a:tabLst>
                <a:tab pos="755015" algn="l"/>
                <a:tab pos="755650" algn="l"/>
              </a:tabLst>
            </a:pPr>
            <a:r>
              <a:rPr sz="1800" spc="-5" dirty="0">
                <a:solidFill>
                  <a:srgbClr val="3333CC"/>
                </a:solidFill>
                <a:latin typeface="Comic Sans MS"/>
                <a:cs typeface="Comic Sans MS"/>
              </a:rPr>
              <a:t>temperature in Kelvin, length, time,</a:t>
            </a:r>
            <a:r>
              <a:rPr sz="1800" dirty="0">
                <a:solidFill>
                  <a:srgbClr val="3333CC"/>
                </a:solidFill>
                <a:latin typeface="Comic Sans MS"/>
                <a:cs typeface="Comic Sans MS"/>
              </a:rPr>
              <a:t> counts</a:t>
            </a:r>
            <a:endParaRPr sz="1800">
              <a:latin typeface="Comic Sans MS"/>
              <a:cs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6355" y="6826248"/>
            <a:ext cx="211454"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Comic Sans MS"/>
                <a:cs typeface="Comic Sans MS"/>
              </a:rPr>
              <a:t>20</a:t>
            </a:r>
            <a:endParaRPr sz="1200">
              <a:latin typeface="Comic Sans MS"/>
              <a:cs typeface="Comic Sans MS"/>
            </a:endParaRPr>
          </a:p>
        </p:txBody>
      </p:sp>
      <p:sp>
        <p:nvSpPr>
          <p:cNvPr id="3" name="object 3"/>
          <p:cNvSpPr txBox="1">
            <a:spLocks noGrp="1"/>
          </p:cNvSpPr>
          <p:nvPr>
            <p:ph type="title"/>
          </p:nvPr>
        </p:nvSpPr>
        <p:spPr>
          <a:xfrm>
            <a:off x="3775843" y="711200"/>
            <a:ext cx="3175000" cy="513080"/>
          </a:xfrm>
          <a:prstGeom prst="rect">
            <a:avLst/>
          </a:prstGeom>
        </p:spPr>
        <p:txBody>
          <a:bodyPr vert="horz" wrap="square" lIns="0" tIns="12065" rIns="0" bIns="0" rtlCol="0">
            <a:spAutoFit/>
          </a:bodyPr>
          <a:lstStyle/>
          <a:p>
            <a:pPr marL="12700">
              <a:lnSpc>
                <a:spcPct val="100000"/>
              </a:lnSpc>
              <a:spcBef>
                <a:spcPts val="95"/>
              </a:spcBef>
            </a:pPr>
            <a:r>
              <a:rPr spc="-5" dirty="0"/>
              <a:t>Data</a:t>
            </a:r>
            <a:r>
              <a:rPr spc="-40" dirty="0"/>
              <a:t> </a:t>
            </a:r>
            <a:r>
              <a:rPr spc="-5" dirty="0"/>
              <a:t>Conversion</a:t>
            </a:r>
          </a:p>
        </p:txBody>
      </p:sp>
      <p:sp>
        <p:nvSpPr>
          <p:cNvPr id="4" name="object 4"/>
          <p:cNvSpPr txBox="1"/>
          <p:nvPr/>
        </p:nvSpPr>
        <p:spPr>
          <a:xfrm>
            <a:off x="1115702" y="1460245"/>
            <a:ext cx="8174355" cy="1964055"/>
          </a:xfrm>
          <a:prstGeom prst="rect">
            <a:avLst/>
          </a:prstGeom>
        </p:spPr>
        <p:txBody>
          <a:bodyPr vert="horz" wrap="square" lIns="0" tIns="12700" rIns="0" bIns="0" rtlCol="0">
            <a:spAutoFit/>
          </a:bodyPr>
          <a:lstStyle/>
          <a:p>
            <a:pPr marL="355600" marR="5080" indent="-342900">
              <a:lnSpc>
                <a:spcPct val="110000"/>
              </a:lnSpc>
              <a:spcBef>
                <a:spcPts val="100"/>
              </a:spcBef>
              <a:buClr>
                <a:srgbClr val="FF0000"/>
              </a:buClr>
              <a:buChar char="•"/>
              <a:tabLst>
                <a:tab pos="354965" algn="l"/>
                <a:tab pos="355600" algn="l"/>
              </a:tabLst>
            </a:pPr>
            <a:r>
              <a:rPr sz="2400" spc="-5" dirty="0">
                <a:solidFill>
                  <a:srgbClr val="3333CC"/>
                </a:solidFill>
                <a:latin typeface="Comic Sans MS"/>
                <a:cs typeface="Comic Sans MS"/>
              </a:rPr>
              <a:t>Some tools </a:t>
            </a:r>
            <a:r>
              <a:rPr sz="2400" dirty="0">
                <a:solidFill>
                  <a:srgbClr val="3333CC"/>
                </a:solidFill>
                <a:latin typeface="Comic Sans MS"/>
                <a:cs typeface="Comic Sans MS"/>
              </a:rPr>
              <a:t>can </a:t>
            </a:r>
            <a:r>
              <a:rPr sz="2400" spc="-5" dirty="0">
                <a:solidFill>
                  <a:srgbClr val="008000"/>
                </a:solidFill>
                <a:latin typeface="Comic Sans MS"/>
                <a:cs typeface="Comic Sans MS"/>
              </a:rPr>
              <a:t>deal </a:t>
            </a:r>
            <a:r>
              <a:rPr sz="2400" spc="-5" dirty="0">
                <a:solidFill>
                  <a:srgbClr val="3333CC"/>
                </a:solidFill>
                <a:latin typeface="Comic Sans MS"/>
                <a:cs typeface="Comic Sans MS"/>
              </a:rPr>
              <a:t>with </a:t>
            </a:r>
            <a:r>
              <a:rPr sz="2400" spc="-5" dirty="0">
                <a:solidFill>
                  <a:srgbClr val="008000"/>
                </a:solidFill>
                <a:latin typeface="Comic Sans MS"/>
                <a:cs typeface="Comic Sans MS"/>
              </a:rPr>
              <a:t>nominal values </a:t>
            </a:r>
            <a:r>
              <a:rPr sz="2400" spc="-5" dirty="0">
                <a:solidFill>
                  <a:srgbClr val="3333CC"/>
                </a:solidFill>
                <a:latin typeface="Comic Sans MS"/>
                <a:cs typeface="Comic Sans MS"/>
              </a:rPr>
              <a:t>but other need  fields to be</a:t>
            </a:r>
            <a:r>
              <a:rPr sz="2400" spc="-15" dirty="0">
                <a:solidFill>
                  <a:srgbClr val="3333CC"/>
                </a:solidFill>
                <a:latin typeface="Comic Sans MS"/>
                <a:cs typeface="Comic Sans MS"/>
              </a:rPr>
              <a:t> </a:t>
            </a:r>
            <a:r>
              <a:rPr sz="2400" spc="-5" dirty="0">
                <a:solidFill>
                  <a:srgbClr val="3333CC"/>
                </a:solidFill>
                <a:latin typeface="Comic Sans MS"/>
                <a:cs typeface="Comic Sans MS"/>
              </a:rPr>
              <a:t>numeric</a:t>
            </a:r>
            <a:endParaRPr sz="2400">
              <a:latin typeface="Comic Sans MS"/>
              <a:cs typeface="Comic Sans MS"/>
            </a:endParaRPr>
          </a:p>
          <a:p>
            <a:pPr marL="355600" marR="220979" indent="-342900">
              <a:lnSpc>
                <a:spcPct val="110000"/>
              </a:lnSpc>
              <a:spcBef>
                <a:spcPts val="2590"/>
              </a:spcBef>
              <a:buClr>
                <a:srgbClr val="FF0000"/>
              </a:buClr>
              <a:buChar char="•"/>
              <a:tabLst>
                <a:tab pos="354965" algn="l"/>
                <a:tab pos="355600" algn="l"/>
              </a:tabLst>
            </a:pPr>
            <a:r>
              <a:rPr sz="2400" dirty="0">
                <a:solidFill>
                  <a:srgbClr val="3333CC"/>
                </a:solidFill>
                <a:latin typeface="Comic Sans MS"/>
                <a:cs typeface="Comic Sans MS"/>
              </a:rPr>
              <a:t>Convert </a:t>
            </a:r>
            <a:r>
              <a:rPr sz="2400" spc="-5" dirty="0">
                <a:solidFill>
                  <a:srgbClr val="008000"/>
                </a:solidFill>
                <a:latin typeface="Comic Sans MS"/>
                <a:cs typeface="Comic Sans MS"/>
              </a:rPr>
              <a:t>ordinal </a:t>
            </a:r>
            <a:r>
              <a:rPr sz="2400" spc="-5" dirty="0">
                <a:solidFill>
                  <a:srgbClr val="3333CC"/>
                </a:solidFill>
                <a:latin typeface="Comic Sans MS"/>
                <a:cs typeface="Comic Sans MS"/>
              </a:rPr>
              <a:t>fields to numeric to be able to </a:t>
            </a:r>
            <a:r>
              <a:rPr sz="2400" spc="-5" dirty="0">
                <a:solidFill>
                  <a:srgbClr val="008000"/>
                </a:solidFill>
                <a:latin typeface="Comic Sans MS"/>
                <a:cs typeface="Comic Sans MS"/>
              </a:rPr>
              <a:t>use </a:t>
            </a:r>
            <a:r>
              <a:rPr sz="2400" dirty="0">
                <a:solidFill>
                  <a:srgbClr val="008000"/>
                </a:solidFill>
                <a:latin typeface="Comic Sans MS"/>
                <a:cs typeface="Comic Sans MS"/>
              </a:rPr>
              <a:t>“&gt;”  and “&lt;“ </a:t>
            </a:r>
            <a:r>
              <a:rPr sz="2400" dirty="0">
                <a:solidFill>
                  <a:srgbClr val="3333CC"/>
                </a:solidFill>
                <a:latin typeface="Comic Sans MS"/>
                <a:cs typeface="Comic Sans MS"/>
              </a:rPr>
              <a:t>comparisons </a:t>
            </a:r>
            <a:r>
              <a:rPr sz="2400" spc="-5" dirty="0">
                <a:solidFill>
                  <a:srgbClr val="3333CC"/>
                </a:solidFill>
                <a:latin typeface="Comic Sans MS"/>
                <a:cs typeface="Comic Sans MS"/>
              </a:rPr>
              <a:t>on </a:t>
            </a:r>
            <a:r>
              <a:rPr sz="2400" dirty="0">
                <a:solidFill>
                  <a:srgbClr val="3333CC"/>
                </a:solidFill>
                <a:latin typeface="Comic Sans MS"/>
                <a:cs typeface="Comic Sans MS"/>
              </a:rPr>
              <a:t>such</a:t>
            </a:r>
            <a:r>
              <a:rPr sz="2400" spc="-15" dirty="0">
                <a:solidFill>
                  <a:srgbClr val="3333CC"/>
                </a:solidFill>
                <a:latin typeface="Comic Sans MS"/>
                <a:cs typeface="Comic Sans MS"/>
              </a:rPr>
              <a:t> </a:t>
            </a:r>
            <a:r>
              <a:rPr sz="2400" spc="-5" dirty="0">
                <a:solidFill>
                  <a:srgbClr val="3333CC"/>
                </a:solidFill>
                <a:latin typeface="Comic Sans MS"/>
                <a:cs typeface="Comic Sans MS"/>
              </a:rPr>
              <a:t>fields.</a:t>
            </a:r>
            <a:endParaRPr sz="2400">
              <a:latin typeface="Comic Sans MS"/>
              <a:cs typeface="Comic Sans MS"/>
            </a:endParaRPr>
          </a:p>
        </p:txBody>
      </p:sp>
      <p:sp>
        <p:nvSpPr>
          <p:cNvPr id="5" name="object 5"/>
          <p:cNvSpPr txBox="1"/>
          <p:nvPr/>
        </p:nvSpPr>
        <p:spPr>
          <a:xfrm>
            <a:off x="1572901" y="3576615"/>
            <a:ext cx="1222375" cy="1098550"/>
          </a:xfrm>
          <a:prstGeom prst="rect">
            <a:avLst/>
          </a:prstGeom>
        </p:spPr>
        <p:txBody>
          <a:bodyPr vert="horz" wrap="square" lIns="0" tIns="36830" rIns="0" bIns="0" rtlCol="0">
            <a:spAutoFit/>
          </a:bodyPr>
          <a:lstStyle/>
          <a:p>
            <a:pPr marL="298450" indent="-285750">
              <a:lnSpc>
                <a:spcPct val="100000"/>
              </a:lnSpc>
              <a:spcBef>
                <a:spcPts val="290"/>
              </a:spcBef>
              <a:buClr>
                <a:srgbClr val="FF0000"/>
              </a:buClr>
              <a:buChar char="•"/>
              <a:tabLst>
                <a:tab pos="297815" algn="l"/>
                <a:tab pos="298450" algn="l"/>
                <a:tab pos="628650" algn="l"/>
              </a:tabLst>
            </a:pPr>
            <a:r>
              <a:rPr sz="1600" dirty="0">
                <a:solidFill>
                  <a:srgbClr val="3333CC"/>
                </a:solidFill>
                <a:latin typeface="Comic Sans MS"/>
                <a:cs typeface="Comic Sans MS"/>
              </a:rPr>
              <a:t>A	</a:t>
            </a:r>
            <a:r>
              <a:rPr sz="1600" dirty="0">
                <a:solidFill>
                  <a:srgbClr val="3333CC"/>
                </a:solidFill>
                <a:latin typeface="Wingdings"/>
                <a:cs typeface="Wingdings"/>
              </a:rPr>
              <a:t></a:t>
            </a:r>
            <a:r>
              <a:rPr sz="1600" dirty="0">
                <a:solidFill>
                  <a:srgbClr val="3333CC"/>
                </a:solidFill>
                <a:latin typeface="Times New Roman"/>
                <a:cs typeface="Times New Roman"/>
              </a:rPr>
              <a:t> </a:t>
            </a:r>
            <a:r>
              <a:rPr sz="1600" spc="-5" dirty="0">
                <a:solidFill>
                  <a:srgbClr val="3333CC"/>
                </a:solidFill>
                <a:latin typeface="Comic Sans MS"/>
                <a:cs typeface="Comic Sans MS"/>
              </a:rPr>
              <a:t>4.0</a:t>
            </a:r>
            <a:endParaRPr sz="1600">
              <a:latin typeface="Comic Sans MS"/>
              <a:cs typeface="Comic Sans MS"/>
            </a:endParaRPr>
          </a:p>
          <a:p>
            <a:pPr marL="298450" indent="-286385">
              <a:lnSpc>
                <a:spcPct val="100000"/>
              </a:lnSpc>
              <a:spcBef>
                <a:spcPts val="190"/>
              </a:spcBef>
              <a:buClr>
                <a:srgbClr val="FF0000"/>
              </a:buClr>
              <a:buChar char="•"/>
              <a:tabLst>
                <a:tab pos="297815" algn="l"/>
                <a:tab pos="299085" algn="l"/>
              </a:tabLst>
            </a:pPr>
            <a:r>
              <a:rPr sz="1600" spc="-5" dirty="0">
                <a:solidFill>
                  <a:srgbClr val="3333CC"/>
                </a:solidFill>
                <a:latin typeface="Comic Sans MS"/>
                <a:cs typeface="Comic Sans MS"/>
              </a:rPr>
              <a:t>A-  </a:t>
            </a:r>
            <a:r>
              <a:rPr sz="1600" dirty="0">
                <a:solidFill>
                  <a:srgbClr val="3333CC"/>
                </a:solidFill>
                <a:latin typeface="Wingdings"/>
                <a:cs typeface="Wingdings"/>
              </a:rPr>
              <a:t></a:t>
            </a:r>
            <a:r>
              <a:rPr sz="1600" spc="-25" dirty="0">
                <a:solidFill>
                  <a:srgbClr val="3333CC"/>
                </a:solidFill>
                <a:latin typeface="Times New Roman"/>
                <a:cs typeface="Times New Roman"/>
              </a:rPr>
              <a:t> </a:t>
            </a:r>
            <a:r>
              <a:rPr sz="1600" spc="-5" dirty="0">
                <a:solidFill>
                  <a:srgbClr val="3333CC"/>
                </a:solidFill>
                <a:latin typeface="Comic Sans MS"/>
                <a:cs typeface="Comic Sans MS"/>
              </a:rPr>
              <a:t>3.7</a:t>
            </a:r>
            <a:endParaRPr sz="1600">
              <a:latin typeface="Comic Sans MS"/>
              <a:cs typeface="Comic Sans MS"/>
            </a:endParaRPr>
          </a:p>
          <a:p>
            <a:pPr marL="298450" indent="-286385">
              <a:lnSpc>
                <a:spcPct val="100000"/>
              </a:lnSpc>
              <a:spcBef>
                <a:spcPts val="195"/>
              </a:spcBef>
              <a:buClr>
                <a:srgbClr val="FF0000"/>
              </a:buClr>
              <a:buChar char="•"/>
              <a:tabLst>
                <a:tab pos="297815" algn="l"/>
                <a:tab pos="299085" algn="l"/>
              </a:tabLst>
            </a:pPr>
            <a:r>
              <a:rPr sz="1600" spc="-5" dirty="0">
                <a:solidFill>
                  <a:srgbClr val="3333CC"/>
                </a:solidFill>
                <a:latin typeface="Comic Sans MS"/>
                <a:cs typeface="Comic Sans MS"/>
              </a:rPr>
              <a:t>B+ </a:t>
            </a:r>
            <a:r>
              <a:rPr sz="1600" dirty="0">
                <a:solidFill>
                  <a:srgbClr val="3333CC"/>
                </a:solidFill>
                <a:latin typeface="Wingdings"/>
                <a:cs typeface="Wingdings"/>
              </a:rPr>
              <a:t></a:t>
            </a:r>
            <a:r>
              <a:rPr sz="1600" spc="-10" dirty="0">
                <a:solidFill>
                  <a:srgbClr val="3333CC"/>
                </a:solidFill>
                <a:latin typeface="Times New Roman"/>
                <a:cs typeface="Times New Roman"/>
              </a:rPr>
              <a:t> </a:t>
            </a:r>
            <a:r>
              <a:rPr sz="1600" spc="-5" dirty="0">
                <a:solidFill>
                  <a:srgbClr val="3333CC"/>
                </a:solidFill>
                <a:latin typeface="Comic Sans MS"/>
                <a:cs typeface="Comic Sans MS"/>
              </a:rPr>
              <a:t>3.3</a:t>
            </a:r>
            <a:endParaRPr sz="1600">
              <a:latin typeface="Comic Sans MS"/>
              <a:cs typeface="Comic Sans MS"/>
            </a:endParaRPr>
          </a:p>
          <a:p>
            <a:pPr marL="298450" indent="-286385">
              <a:lnSpc>
                <a:spcPct val="100000"/>
              </a:lnSpc>
              <a:spcBef>
                <a:spcPts val="190"/>
              </a:spcBef>
              <a:buClr>
                <a:srgbClr val="FF0000"/>
              </a:buClr>
              <a:buChar char="•"/>
              <a:tabLst>
                <a:tab pos="297815" algn="l"/>
                <a:tab pos="299085" algn="l"/>
                <a:tab pos="608330" algn="l"/>
              </a:tabLst>
            </a:pPr>
            <a:r>
              <a:rPr sz="1600" dirty="0">
                <a:solidFill>
                  <a:srgbClr val="3333CC"/>
                </a:solidFill>
                <a:latin typeface="Comic Sans MS"/>
                <a:cs typeface="Comic Sans MS"/>
              </a:rPr>
              <a:t>B	</a:t>
            </a:r>
            <a:r>
              <a:rPr sz="1600" dirty="0">
                <a:solidFill>
                  <a:srgbClr val="3333CC"/>
                </a:solidFill>
                <a:latin typeface="Wingdings"/>
                <a:cs typeface="Wingdings"/>
              </a:rPr>
              <a:t></a:t>
            </a:r>
            <a:r>
              <a:rPr sz="1600" spc="10" dirty="0">
                <a:solidFill>
                  <a:srgbClr val="3333CC"/>
                </a:solidFill>
                <a:latin typeface="Times New Roman"/>
                <a:cs typeface="Times New Roman"/>
              </a:rPr>
              <a:t> </a:t>
            </a:r>
            <a:r>
              <a:rPr sz="1600" spc="-5" dirty="0">
                <a:solidFill>
                  <a:srgbClr val="3333CC"/>
                </a:solidFill>
                <a:latin typeface="Comic Sans MS"/>
                <a:cs typeface="Comic Sans MS"/>
              </a:rPr>
              <a:t>3.0</a:t>
            </a:r>
            <a:endParaRPr sz="1600">
              <a:latin typeface="Comic Sans MS"/>
              <a:cs typeface="Comic Sans MS"/>
            </a:endParaRPr>
          </a:p>
        </p:txBody>
      </p:sp>
      <p:sp>
        <p:nvSpPr>
          <p:cNvPr id="6" name="object 6"/>
          <p:cNvSpPr txBox="1"/>
          <p:nvPr/>
        </p:nvSpPr>
        <p:spPr>
          <a:xfrm>
            <a:off x="1115702" y="4800853"/>
            <a:ext cx="7724140" cy="2132330"/>
          </a:xfrm>
          <a:prstGeom prst="rect">
            <a:avLst/>
          </a:prstGeom>
        </p:spPr>
        <p:txBody>
          <a:bodyPr vert="horz" wrap="square" lIns="0" tIns="12700" rIns="0" bIns="0" rtlCol="0">
            <a:spAutoFit/>
          </a:bodyPr>
          <a:lstStyle/>
          <a:p>
            <a:pPr marL="354965" marR="5080" indent="-342900">
              <a:lnSpc>
                <a:spcPct val="110000"/>
              </a:lnSpc>
              <a:spcBef>
                <a:spcPts val="100"/>
              </a:spcBef>
              <a:buClr>
                <a:srgbClr val="FF0000"/>
              </a:buClr>
              <a:buChar char="•"/>
              <a:tabLst>
                <a:tab pos="354965" algn="l"/>
                <a:tab pos="355600" algn="l"/>
              </a:tabLst>
            </a:pPr>
            <a:r>
              <a:rPr sz="2400" dirty="0">
                <a:solidFill>
                  <a:srgbClr val="3333CC"/>
                </a:solidFill>
                <a:latin typeface="Comic Sans MS"/>
                <a:cs typeface="Comic Sans MS"/>
              </a:rPr>
              <a:t>Multi-valued, </a:t>
            </a:r>
            <a:r>
              <a:rPr sz="2400" spc="-5" dirty="0">
                <a:solidFill>
                  <a:srgbClr val="3333CC"/>
                </a:solidFill>
                <a:latin typeface="Comic Sans MS"/>
                <a:cs typeface="Comic Sans MS"/>
              </a:rPr>
              <a:t>unordered </a:t>
            </a:r>
            <a:r>
              <a:rPr sz="2400" dirty="0">
                <a:solidFill>
                  <a:srgbClr val="3333CC"/>
                </a:solidFill>
                <a:latin typeface="Comic Sans MS"/>
                <a:cs typeface="Comic Sans MS"/>
              </a:rPr>
              <a:t>attributes </a:t>
            </a:r>
            <a:r>
              <a:rPr sz="2400" spc="-5" dirty="0">
                <a:solidFill>
                  <a:srgbClr val="3333CC"/>
                </a:solidFill>
                <a:latin typeface="Comic Sans MS"/>
                <a:cs typeface="Comic Sans MS"/>
              </a:rPr>
              <a:t>with </a:t>
            </a:r>
            <a:r>
              <a:rPr sz="2400" dirty="0">
                <a:solidFill>
                  <a:srgbClr val="008000"/>
                </a:solidFill>
                <a:latin typeface="Comic Sans MS"/>
                <a:cs typeface="Comic Sans MS"/>
              </a:rPr>
              <a:t>small </a:t>
            </a:r>
            <a:r>
              <a:rPr sz="2400" spc="-5" dirty="0">
                <a:solidFill>
                  <a:srgbClr val="008000"/>
                </a:solidFill>
                <a:latin typeface="Comic Sans MS"/>
                <a:cs typeface="Comic Sans MS"/>
              </a:rPr>
              <a:t>no.</a:t>
            </a:r>
            <a:r>
              <a:rPr sz="2400" spc="-145" dirty="0">
                <a:solidFill>
                  <a:srgbClr val="008000"/>
                </a:solidFill>
                <a:latin typeface="Comic Sans MS"/>
                <a:cs typeface="Comic Sans MS"/>
              </a:rPr>
              <a:t> </a:t>
            </a:r>
            <a:r>
              <a:rPr sz="2400" dirty="0">
                <a:solidFill>
                  <a:srgbClr val="008000"/>
                </a:solidFill>
                <a:latin typeface="Comic Sans MS"/>
                <a:cs typeface="Comic Sans MS"/>
              </a:rPr>
              <a:t>of  values</a:t>
            </a:r>
            <a:endParaRPr sz="2400">
              <a:latin typeface="Comic Sans MS"/>
              <a:cs typeface="Comic Sans MS"/>
            </a:endParaRPr>
          </a:p>
          <a:p>
            <a:pPr marL="755650" lvl="1" indent="-286385">
              <a:lnSpc>
                <a:spcPct val="100000"/>
              </a:lnSpc>
              <a:spcBef>
                <a:spcPts val="2455"/>
              </a:spcBef>
              <a:buClr>
                <a:srgbClr val="FF0000"/>
              </a:buClr>
              <a:buChar char="•"/>
              <a:tabLst>
                <a:tab pos="755015" algn="l"/>
                <a:tab pos="755650" algn="l"/>
              </a:tabLst>
            </a:pPr>
            <a:r>
              <a:rPr sz="1800" dirty="0">
                <a:solidFill>
                  <a:srgbClr val="3333CC"/>
                </a:solidFill>
                <a:latin typeface="Comic Sans MS"/>
                <a:cs typeface="Comic Sans MS"/>
              </a:rPr>
              <a:t>e.g. Color=Red, </a:t>
            </a:r>
            <a:r>
              <a:rPr sz="1800" spc="-5" dirty="0">
                <a:solidFill>
                  <a:srgbClr val="3333CC"/>
                </a:solidFill>
                <a:latin typeface="Comic Sans MS"/>
                <a:cs typeface="Comic Sans MS"/>
              </a:rPr>
              <a:t>Orange, Yellow, …,</a:t>
            </a:r>
            <a:r>
              <a:rPr sz="1800" spc="-25" dirty="0">
                <a:solidFill>
                  <a:srgbClr val="3333CC"/>
                </a:solidFill>
                <a:latin typeface="Comic Sans MS"/>
                <a:cs typeface="Comic Sans MS"/>
              </a:rPr>
              <a:t> </a:t>
            </a:r>
            <a:r>
              <a:rPr sz="1800" dirty="0">
                <a:solidFill>
                  <a:srgbClr val="3333CC"/>
                </a:solidFill>
                <a:latin typeface="Comic Sans MS"/>
                <a:cs typeface="Comic Sans MS"/>
              </a:rPr>
              <a:t>Violet</a:t>
            </a:r>
            <a:endParaRPr sz="1800">
              <a:latin typeface="Comic Sans MS"/>
              <a:cs typeface="Comic Sans MS"/>
            </a:endParaRPr>
          </a:p>
          <a:p>
            <a:pPr marL="755015" marR="82550" lvl="1" indent="-285750">
              <a:lnSpc>
                <a:spcPct val="104200"/>
              </a:lnSpc>
              <a:spcBef>
                <a:spcPts val="880"/>
              </a:spcBef>
              <a:buClr>
                <a:srgbClr val="FF0000"/>
              </a:buClr>
              <a:buChar char="•"/>
              <a:tabLst>
                <a:tab pos="755015" algn="l"/>
                <a:tab pos="755650" algn="l"/>
              </a:tabLst>
            </a:pPr>
            <a:r>
              <a:rPr sz="1800" spc="-5" dirty="0">
                <a:solidFill>
                  <a:srgbClr val="3333CC"/>
                </a:solidFill>
                <a:latin typeface="Comic Sans MS"/>
                <a:cs typeface="Comic Sans MS"/>
              </a:rPr>
              <a:t>for </a:t>
            </a:r>
            <a:r>
              <a:rPr sz="1800" dirty="0">
                <a:solidFill>
                  <a:srgbClr val="3333CC"/>
                </a:solidFill>
                <a:latin typeface="Comic Sans MS"/>
                <a:cs typeface="Comic Sans MS"/>
              </a:rPr>
              <a:t>each </a:t>
            </a:r>
            <a:r>
              <a:rPr sz="1800" spc="-5" dirty="0">
                <a:solidFill>
                  <a:srgbClr val="3333CC"/>
                </a:solidFill>
                <a:latin typeface="Comic Sans MS"/>
                <a:cs typeface="Comic Sans MS"/>
              </a:rPr>
              <a:t>value </a:t>
            </a:r>
            <a:r>
              <a:rPr sz="1900" i="1" spc="-50" dirty="0">
                <a:solidFill>
                  <a:srgbClr val="3333CC"/>
                </a:solidFill>
                <a:latin typeface="Comic Sans MS"/>
                <a:cs typeface="Comic Sans MS"/>
              </a:rPr>
              <a:t>v </a:t>
            </a:r>
            <a:r>
              <a:rPr sz="1800" dirty="0">
                <a:solidFill>
                  <a:srgbClr val="3333CC"/>
                </a:solidFill>
                <a:latin typeface="Comic Sans MS"/>
                <a:cs typeface="Comic Sans MS"/>
              </a:rPr>
              <a:t>create a </a:t>
            </a:r>
            <a:r>
              <a:rPr sz="1800" spc="-5" dirty="0">
                <a:solidFill>
                  <a:srgbClr val="008000"/>
                </a:solidFill>
                <a:latin typeface="Comic Sans MS"/>
                <a:cs typeface="Comic Sans MS"/>
              </a:rPr>
              <a:t>binary </a:t>
            </a:r>
            <a:r>
              <a:rPr sz="1800" dirty="0">
                <a:solidFill>
                  <a:srgbClr val="008000"/>
                </a:solidFill>
                <a:latin typeface="Comic Sans MS"/>
                <a:cs typeface="Comic Sans MS"/>
              </a:rPr>
              <a:t>“flag</a:t>
            </a:r>
            <a:r>
              <a:rPr sz="1800" dirty="0">
                <a:solidFill>
                  <a:srgbClr val="3333CC"/>
                </a:solidFill>
                <a:latin typeface="Comic Sans MS"/>
                <a:cs typeface="Comic Sans MS"/>
              </a:rPr>
              <a:t>” </a:t>
            </a:r>
            <a:r>
              <a:rPr sz="1800" spc="-5" dirty="0">
                <a:solidFill>
                  <a:srgbClr val="3333CC"/>
                </a:solidFill>
                <a:latin typeface="Comic Sans MS"/>
                <a:cs typeface="Comic Sans MS"/>
              </a:rPr>
              <a:t>variable </a:t>
            </a:r>
            <a:r>
              <a:rPr sz="1800" spc="-15" dirty="0">
                <a:solidFill>
                  <a:srgbClr val="3333CC"/>
                </a:solidFill>
                <a:latin typeface="Comic Sans MS"/>
                <a:cs typeface="Comic Sans MS"/>
              </a:rPr>
              <a:t>C_</a:t>
            </a:r>
            <a:r>
              <a:rPr sz="1900" i="1" spc="-15" dirty="0">
                <a:solidFill>
                  <a:srgbClr val="3333CC"/>
                </a:solidFill>
                <a:latin typeface="Comic Sans MS"/>
                <a:cs typeface="Comic Sans MS"/>
              </a:rPr>
              <a:t>v </a:t>
            </a:r>
            <a:r>
              <a:rPr sz="1800" dirty="0">
                <a:solidFill>
                  <a:srgbClr val="3333CC"/>
                </a:solidFill>
                <a:latin typeface="Comic Sans MS"/>
                <a:cs typeface="Comic Sans MS"/>
              </a:rPr>
              <a:t>, </a:t>
            </a:r>
            <a:r>
              <a:rPr sz="1800" spc="-5" dirty="0">
                <a:solidFill>
                  <a:srgbClr val="3333CC"/>
                </a:solidFill>
                <a:latin typeface="Comic Sans MS"/>
                <a:cs typeface="Comic Sans MS"/>
              </a:rPr>
              <a:t>which is </a:t>
            </a:r>
            <a:r>
              <a:rPr sz="1800" dirty="0">
                <a:solidFill>
                  <a:srgbClr val="3333CC"/>
                </a:solidFill>
                <a:latin typeface="Comic Sans MS"/>
                <a:cs typeface="Comic Sans MS"/>
              </a:rPr>
              <a:t>1 </a:t>
            </a:r>
            <a:r>
              <a:rPr sz="1800" spc="-5" dirty="0">
                <a:solidFill>
                  <a:srgbClr val="3333CC"/>
                </a:solidFill>
                <a:latin typeface="Comic Sans MS"/>
                <a:cs typeface="Comic Sans MS"/>
              </a:rPr>
              <a:t>if  </a:t>
            </a:r>
            <a:r>
              <a:rPr sz="1800" spc="-10" dirty="0">
                <a:solidFill>
                  <a:srgbClr val="3333CC"/>
                </a:solidFill>
                <a:latin typeface="Comic Sans MS"/>
                <a:cs typeface="Comic Sans MS"/>
              </a:rPr>
              <a:t>Color=</a:t>
            </a:r>
            <a:r>
              <a:rPr sz="1900" i="1" spc="-10" dirty="0">
                <a:solidFill>
                  <a:srgbClr val="3333CC"/>
                </a:solidFill>
                <a:latin typeface="Comic Sans MS"/>
                <a:cs typeface="Comic Sans MS"/>
              </a:rPr>
              <a:t>v</a:t>
            </a:r>
            <a:r>
              <a:rPr sz="1800" spc="-10" dirty="0">
                <a:solidFill>
                  <a:srgbClr val="3333CC"/>
                </a:solidFill>
                <a:latin typeface="Comic Sans MS"/>
                <a:cs typeface="Comic Sans MS"/>
              </a:rPr>
              <a:t>, </a:t>
            </a:r>
            <a:r>
              <a:rPr sz="1800" dirty="0">
                <a:solidFill>
                  <a:srgbClr val="3333CC"/>
                </a:solidFill>
                <a:latin typeface="Comic Sans MS"/>
                <a:cs typeface="Comic Sans MS"/>
              </a:rPr>
              <a:t>0</a:t>
            </a:r>
            <a:r>
              <a:rPr sz="1800" spc="-5" dirty="0">
                <a:solidFill>
                  <a:srgbClr val="3333CC"/>
                </a:solidFill>
                <a:latin typeface="Comic Sans MS"/>
                <a:cs typeface="Comic Sans MS"/>
              </a:rPr>
              <a:t> otherwise</a:t>
            </a:r>
            <a:endParaRPr sz="1800">
              <a:latin typeface="Comic Sans MS"/>
              <a:cs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3525" y="942848"/>
            <a:ext cx="6744334" cy="513080"/>
          </a:xfrm>
          <a:prstGeom prst="rect">
            <a:avLst/>
          </a:prstGeom>
        </p:spPr>
        <p:txBody>
          <a:bodyPr vert="horz" wrap="square" lIns="0" tIns="12065" rIns="0" bIns="0" rtlCol="0">
            <a:spAutoFit/>
          </a:bodyPr>
          <a:lstStyle/>
          <a:p>
            <a:pPr marL="12700">
              <a:lnSpc>
                <a:spcPct val="100000"/>
              </a:lnSpc>
              <a:spcBef>
                <a:spcPts val="95"/>
              </a:spcBef>
            </a:pPr>
            <a:r>
              <a:rPr spc="-5" dirty="0"/>
              <a:t>Conversion: Nominal, Many</a:t>
            </a:r>
            <a:r>
              <a:rPr spc="75" dirty="0"/>
              <a:t> </a:t>
            </a:r>
            <a:r>
              <a:rPr spc="-5" dirty="0"/>
              <a:t>Values</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14</a:t>
            </a:fld>
            <a:endParaRPr dirty="0"/>
          </a:p>
        </p:txBody>
      </p:sp>
      <p:sp>
        <p:nvSpPr>
          <p:cNvPr id="3" name="object 3"/>
          <p:cNvSpPr txBox="1"/>
          <p:nvPr/>
        </p:nvSpPr>
        <p:spPr>
          <a:xfrm>
            <a:off x="1158373" y="2063750"/>
            <a:ext cx="7670165" cy="4048760"/>
          </a:xfrm>
          <a:prstGeom prst="rect">
            <a:avLst/>
          </a:prstGeom>
        </p:spPr>
        <p:txBody>
          <a:bodyPr vert="horz" wrap="square" lIns="0" tIns="12065" rIns="0" bIns="0" rtlCol="0">
            <a:spAutoFit/>
          </a:bodyPr>
          <a:lstStyle/>
          <a:p>
            <a:pPr marL="355600" indent="-343535">
              <a:lnSpc>
                <a:spcPct val="100000"/>
              </a:lnSpc>
              <a:spcBef>
                <a:spcPts val="95"/>
              </a:spcBef>
              <a:buClr>
                <a:srgbClr val="FF0000"/>
              </a:buClr>
              <a:buChar char="•"/>
              <a:tabLst>
                <a:tab pos="354965" algn="l"/>
                <a:tab pos="356235" algn="l"/>
              </a:tabLst>
            </a:pPr>
            <a:r>
              <a:rPr sz="2000" spc="-5" dirty="0">
                <a:solidFill>
                  <a:srgbClr val="3333CC"/>
                </a:solidFill>
                <a:latin typeface="Comic Sans MS"/>
                <a:cs typeface="Comic Sans MS"/>
              </a:rPr>
              <a:t>Examples:</a:t>
            </a:r>
            <a:endParaRPr sz="2000">
              <a:latin typeface="Comic Sans MS"/>
              <a:cs typeface="Comic Sans MS"/>
            </a:endParaRPr>
          </a:p>
          <a:p>
            <a:pPr marL="755650" lvl="1" indent="-286385">
              <a:lnSpc>
                <a:spcPct val="100000"/>
              </a:lnSpc>
              <a:spcBef>
                <a:spcPts val="1520"/>
              </a:spcBef>
              <a:buClr>
                <a:srgbClr val="FF0000"/>
              </a:buClr>
              <a:buChar char="•"/>
              <a:tabLst>
                <a:tab pos="755015" algn="l"/>
                <a:tab pos="755650" algn="l"/>
              </a:tabLst>
            </a:pPr>
            <a:r>
              <a:rPr sz="1800" dirty="0">
                <a:solidFill>
                  <a:srgbClr val="3333CC"/>
                </a:solidFill>
                <a:latin typeface="Comic Sans MS"/>
                <a:cs typeface="Comic Sans MS"/>
              </a:rPr>
              <a:t>US </a:t>
            </a:r>
            <a:r>
              <a:rPr sz="1800" spc="-5" dirty="0">
                <a:solidFill>
                  <a:srgbClr val="3333CC"/>
                </a:solidFill>
                <a:latin typeface="Comic Sans MS"/>
                <a:cs typeface="Comic Sans MS"/>
              </a:rPr>
              <a:t>State </a:t>
            </a:r>
            <a:r>
              <a:rPr sz="1800" dirty="0">
                <a:solidFill>
                  <a:srgbClr val="3333CC"/>
                </a:solidFill>
                <a:latin typeface="Comic Sans MS"/>
                <a:cs typeface="Comic Sans MS"/>
              </a:rPr>
              <a:t>Code </a:t>
            </a:r>
            <a:r>
              <a:rPr sz="1800" spc="-5" dirty="0">
                <a:solidFill>
                  <a:srgbClr val="3333CC"/>
                </a:solidFill>
                <a:latin typeface="Comic Sans MS"/>
                <a:cs typeface="Comic Sans MS"/>
              </a:rPr>
              <a:t>(50</a:t>
            </a:r>
            <a:r>
              <a:rPr sz="1800" spc="20" dirty="0">
                <a:solidFill>
                  <a:srgbClr val="3333CC"/>
                </a:solidFill>
                <a:latin typeface="Comic Sans MS"/>
                <a:cs typeface="Comic Sans MS"/>
              </a:rPr>
              <a:t> </a:t>
            </a:r>
            <a:r>
              <a:rPr sz="1800" spc="-5" dirty="0">
                <a:solidFill>
                  <a:srgbClr val="3333CC"/>
                </a:solidFill>
                <a:latin typeface="Comic Sans MS"/>
                <a:cs typeface="Comic Sans MS"/>
              </a:rPr>
              <a:t>values)</a:t>
            </a:r>
            <a:endParaRPr sz="1800">
              <a:latin typeface="Comic Sans MS"/>
              <a:cs typeface="Comic Sans MS"/>
            </a:endParaRPr>
          </a:p>
          <a:p>
            <a:pPr marL="755650" lvl="1" indent="-285750">
              <a:lnSpc>
                <a:spcPct val="100000"/>
              </a:lnSpc>
              <a:spcBef>
                <a:spcPts val="434"/>
              </a:spcBef>
              <a:buClr>
                <a:srgbClr val="FF0000"/>
              </a:buClr>
              <a:buChar char="•"/>
              <a:tabLst>
                <a:tab pos="755015" algn="l"/>
                <a:tab pos="755650" algn="l"/>
              </a:tabLst>
            </a:pPr>
            <a:r>
              <a:rPr sz="1800" dirty="0">
                <a:solidFill>
                  <a:srgbClr val="3333CC"/>
                </a:solidFill>
                <a:latin typeface="Comic Sans MS"/>
                <a:cs typeface="Comic Sans MS"/>
              </a:rPr>
              <a:t>Profession Code </a:t>
            </a:r>
            <a:r>
              <a:rPr sz="1800" spc="-5" dirty="0">
                <a:solidFill>
                  <a:srgbClr val="3333CC"/>
                </a:solidFill>
                <a:latin typeface="Comic Sans MS"/>
                <a:cs typeface="Comic Sans MS"/>
              </a:rPr>
              <a:t>(7,000 values, but only few</a:t>
            </a:r>
            <a:r>
              <a:rPr sz="1800" spc="5" dirty="0">
                <a:solidFill>
                  <a:srgbClr val="3333CC"/>
                </a:solidFill>
                <a:latin typeface="Comic Sans MS"/>
                <a:cs typeface="Comic Sans MS"/>
              </a:rPr>
              <a:t> </a:t>
            </a:r>
            <a:r>
              <a:rPr sz="1800" spc="-5" dirty="0">
                <a:solidFill>
                  <a:srgbClr val="3333CC"/>
                </a:solidFill>
                <a:latin typeface="Comic Sans MS"/>
                <a:cs typeface="Comic Sans MS"/>
              </a:rPr>
              <a:t>frequent)</a:t>
            </a:r>
            <a:endParaRPr sz="1800">
              <a:latin typeface="Comic Sans MS"/>
              <a:cs typeface="Comic Sans MS"/>
            </a:endParaRPr>
          </a:p>
          <a:p>
            <a:pPr lvl="1">
              <a:lnSpc>
                <a:spcPct val="100000"/>
              </a:lnSpc>
              <a:buClr>
                <a:srgbClr val="FF0000"/>
              </a:buClr>
              <a:buFont typeface="Comic Sans MS"/>
              <a:buChar char="•"/>
            </a:pPr>
            <a:endParaRPr sz="2500">
              <a:latin typeface="Times New Roman"/>
              <a:cs typeface="Times New Roman"/>
            </a:endParaRPr>
          </a:p>
          <a:p>
            <a:pPr marL="355600" indent="-343535">
              <a:lnSpc>
                <a:spcPct val="100000"/>
              </a:lnSpc>
              <a:spcBef>
                <a:spcPts val="1795"/>
              </a:spcBef>
              <a:buClr>
                <a:srgbClr val="FF0000"/>
              </a:buClr>
              <a:buChar char="•"/>
              <a:tabLst>
                <a:tab pos="354965" algn="l"/>
                <a:tab pos="356235" algn="l"/>
              </a:tabLst>
            </a:pPr>
            <a:r>
              <a:rPr sz="2000" spc="-10" dirty="0">
                <a:solidFill>
                  <a:srgbClr val="3333CC"/>
                </a:solidFill>
                <a:latin typeface="Comic Sans MS"/>
                <a:cs typeface="Comic Sans MS"/>
              </a:rPr>
              <a:t>Ignore ID-like fields whose values </a:t>
            </a:r>
            <a:r>
              <a:rPr sz="2000" spc="-5" dirty="0">
                <a:solidFill>
                  <a:srgbClr val="3333CC"/>
                </a:solidFill>
                <a:latin typeface="Comic Sans MS"/>
                <a:cs typeface="Comic Sans MS"/>
              </a:rPr>
              <a:t>are </a:t>
            </a:r>
            <a:r>
              <a:rPr sz="2000" spc="-10" dirty="0">
                <a:solidFill>
                  <a:srgbClr val="3333CC"/>
                </a:solidFill>
                <a:latin typeface="Comic Sans MS"/>
                <a:cs typeface="Comic Sans MS"/>
              </a:rPr>
              <a:t>unique </a:t>
            </a:r>
            <a:r>
              <a:rPr sz="2000" spc="-5" dirty="0">
                <a:solidFill>
                  <a:srgbClr val="3333CC"/>
                </a:solidFill>
                <a:latin typeface="Comic Sans MS"/>
                <a:cs typeface="Comic Sans MS"/>
              </a:rPr>
              <a:t>for each</a:t>
            </a:r>
            <a:r>
              <a:rPr sz="2000" spc="254" dirty="0">
                <a:solidFill>
                  <a:srgbClr val="3333CC"/>
                </a:solidFill>
                <a:latin typeface="Comic Sans MS"/>
                <a:cs typeface="Comic Sans MS"/>
              </a:rPr>
              <a:t> </a:t>
            </a:r>
            <a:r>
              <a:rPr sz="2000" spc="-10" dirty="0">
                <a:solidFill>
                  <a:srgbClr val="3333CC"/>
                </a:solidFill>
                <a:latin typeface="Comic Sans MS"/>
                <a:cs typeface="Comic Sans MS"/>
              </a:rPr>
              <a:t>record</a:t>
            </a:r>
            <a:endParaRPr sz="2000">
              <a:latin typeface="Comic Sans MS"/>
              <a:cs typeface="Comic Sans MS"/>
            </a:endParaRPr>
          </a:p>
          <a:p>
            <a:pPr marL="355600" indent="-343535">
              <a:lnSpc>
                <a:spcPct val="100000"/>
              </a:lnSpc>
              <a:spcBef>
                <a:spcPts val="1680"/>
              </a:spcBef>
              <a:buClr>
                <a:srgbClr val="FF0000"/>
              </a:buClr>
              <a:buChar char="•"/>
              <a:tabLst>
                <a:tab pos="354965" algn="l"/>
                <a:tab pos="356235" algn="l"/>
              </a:tabLst>
            </a:pPr>
            <a:r>
              <a:rPr sz="2000" spc="-5" dirty="0">
                <a:solidFill>
                  <a:srgbClr val="3333CC"/>
                </a:solidFill>
                <a:latin typeface="Comic Sans MS"/>
                <a:cs typeface="Comic Sans MS"/>
              </a:rPr>
              <a:t>For other </a:t>
            </a:r>
            <a:r>
              <a:rPr sz="2000" spc="-10" dirty="0">
                <a:solidFill>
                  <a:srgbClr val="3333CC"/>
                </a:solidFill>
                <a:latin typeface="Comic Sans MS"/>
                <a:cs typeface="Comic Sans MS"/>
              </a:rPr>
              <a:t>fields, </a:t>
            </a:r>
            <a:r>
              <a:rPr sz="2000" spc="-5" dirty="0">
                <a:solidFill>
                  <a:srgbClr val="3333CC"/>
                </a:solidFill>
                <a:latin typeface="Comic Sans MS"/>
                <a:cs typeface="Comic Sans MS"/>
              </a:rPr>
              <a:t>group </a:t>
            </a:r>
            <a:r>
              <a:rPr sz="2000" spc="-10" dirty="0">
                <a:solidFill>
                  <a:srgbClr val="3333CC"/>
                </a:solidFill>
                <a:latin typeface="Comic Sans MS"/>
                <a:cs typeface="Comic Sans MS"/>
              </a:rPr>
              <a:t>values</a:t>
            </a:r>
            <a:r>
              <a:rPr sz="2000" spc="75" dirty="0">
                <a:solidFill>
                  <a:srgbClr val="3333CC"/>
                </a:solidFill>
                <a:latin typeface="Comic Sans MS"/>
                <a:cs typeface="Comic Sans MS"/>
              </a:rPr>
              <a:t> </a:t>
            </a:r>
            <a:r>
              <a:rPr sz="2000" spc="-5" dirty="0">
                <a:solidFill>
                  <a:srgbClr val="3333CC"/>
                </a:solidFill>
                <a:latin typeface="Comic Sans MS"/>
                <a:cs typeface="Comic Sans MS"/>
              </a:rPr>
              <a:t>“naturally”:</a:t>
            </a:r>
            <a:endParaRPr sz="2000">
              <a:latin typeface="Comic Sans MS"/>
              <a:cs typeface="Comic Sans MS"/>
            </a:endParaRPr>
          </a:p>
          <a:p>
            <a:pPr marL="755650" lvl="1" indent="-285750">
              <a:lnSpc>
                <a:spcPct val="100000"/>
              </a:lnSpc>
              <a:spcBef>
                <a:spcPts val="1520"/>
              </a:spcBef>
              <a:buClr>
                <a:srgbClr val="FF0000"/>
              </a:buClr>
              <a:buChar char="•"/>
              <a:tabLst>
                <a:tab pos="755015" algn="l"/>
                <a:tab pos="755650" algn="l"/>
              </a:tabLst>
            </a:pPr>
            <a:r>
              <a:rPr sz="1800" dirty="0">
                <a:solidFill>
                  <a:srgbClr val="3333CC"/>
                </a:solidFill>
                <a:latin typeface="Comic Sans MS"/>
                <a:cs typeface="Comic Sans MS"/>
              </a:rPr>
              <a:t>e.g. </a:t>
            </a:r>
            <a:r>
              <a:rPr sz="1800" spc="-5" dirty="0">
                <a:solidFill>
                  <a:srgbClr val="3333CC"/>
                </a:solidFill>
                <a:latin typeface="Comic Sans MS"/>
                <a:cs typeface="Comic Sans MS"/>
              </a:rPr>
              <a:t>50 </a:t>
            </a:r>
            <a:r>
              <a:rPr sz="1800" dirty="0">
                <a:solidFill>
                  <a:srgbClr val="3333CC"/>
                </a:solidFill>
                <a:latin typeface="Comic Sans MS"/>
                <a:cs typeface="Comic Sans MS"/>
              </a:rPr>
              <a:t>US </a:t>
            </a:r>
            <a:r>
              <a:rPr sz="1800" spc="-5" dirty="0">
                <a:solidFill>
                  <a:srgbClr val="3333CC"/>
                </a:solidFill>
                <a:latin typeface="Comic Sans MS"/>
                <a:cs typeface="Comic Sans MS"/>
              </a:rPr>
              <a:t>States </a:t>
            </a:r>
            <a:r>
              <a:rPr sz="1800" dirty="0">
                <a:solidFill>
                  <a:srgbClr val="3333CC"/>
                </a:solidFill>
                <a:latin typeface="Wingdings"/>
                <a:cs typeface="Wingdings"/>
              </a:rPr>
              <a:t></a:t>
            </a:r>
            <a:r>
              <a:rPr sz="1800" dirty="0">
                <a:solidFill>
                  <a:srgbClr val="3333CC"/>
                </a:solidFill>
                <a:latin typeface="Times New Roman"/>
                <a:cs typeface="Times New Roman"/>
              </a:rPr>
              <a:t> </a:t>
            </a:r>
            <a:r>
              <a:rPr sz="1800" dirty="0">
                <a:solidFill>
                  <a:srgbClr val="3333CC"/>
                </a:solidFill>
                <a:latin typeface="Comic Sans MS"/>
                <a:cs typeface="Comic Sans MS"/>
              </a:rPr>
              <a:t>3 </a:t>
            </a:r>
            <a:r>
              <a:rPr sz="1800" spc="-5" dirty="0">
                <a:solidFill>
                  <a:srgbClr val="3333CC"/>
                </a:solidFill>
                <a:latin typeface="Comic Sans MS"/>
                <a:cs typeface="Comic Sans MS"/>
              </a:rPr>
              <a:t>or </a:t>
            </a:r>
            <a:r>
              <a:rPr sz="1800" dirty="0">
                <a:solidFill>
                  <a:srgbClr val="3333CC"/>
                </a:solidFill>
                <a:latin typeface="Comic Sans MS"/>
                <a:cs typeface="Comic Sans MS"/>
              </a:rPr>
              <a:t>5</a:t>
            </a:r>
            <a:r>
              <a:rPr sz="1800" spc="85" dirty="0">
                <a:solidFill>
                  <a:srgbClr val="3333CC"/>
                </a:solidFill>
                <a:latin typeface="Comic Sans MS"/>
                <a:cs typeface="Comic Sans MS"/>
              </a:rPr>
              <a:t> </a:t>
            </a:r>
            <a:r>
              <a:rPr sz="1800" spc="-5" dirty="0">
                <a:solidFill>
                  <a:srgbClr val="3333CC"/>
                </a:solidFill>
                <a:latin typeface="Comic Sans MS"/>
                <a:cs typeface="Comic Sans MS"/>
              </a:rPr>
              <a:t>regions</a:t>
            </a:r>
            <a:endParaRPr sz="1800">
              <a:latin typeface="Comic Sans MS"/>
              <a:cs typeface="Comic Sans MS"/>
            </a:endParaRPr>
          </a:p>
          <a:p>
            <a:pPr marL="755650" lvl="1" indent="-285750">
              <a:lnSpc>
                <a:spcPct val="100000"/>
              </a:lnSpc>
              <a:spcBef>
                <a:spcPts val="434"/>
              </a:spcBef>
              <a:buClr>
                <a:srgbClr val="FF0000"/>
              </a:buClr>
              <a:buChar char="•"/>
              <a:tabLst>
                <a:tab pos="755015" algn="l"/>
                <a:tab pos="755650" algn="l"/>
              </a:tabLst>
            </a:pPr>
            <a:r>
              <a:rPr sz="1800" dirty="0">
                <a:solidFill>
                  <a:srgbClr val="3333CC"/>
                </a:solidFill>
                <a:latin typeface="Comic Sans MS"/>
                <a:cs typeface="Comic Sans MS"/>
              </a:rPr>
              <a:t>Profession – </a:t>
            </a:r>
            <a:r>
              <a:rPr sz="1800" spc="-5" dirty="0">
                <a:solidFill>
                  <a:srgbClr val="3333CC"/>
                </a:solidFill>
                <a:latin typeface="Comic Sans MS"/>
                <a:cs typeface="Comic Sans MS"/>
              </a:rPr>
              <a:t>select most frequent ones, group the</a:t>
            </a:r>
            <a:r>
              <a:rPr sz="1800" spc="15" dirty="0">
                <a:solidFill>
                  <a:srgbClr val="3333CC"/>
                </a:solidFill>
                <a:latin typeface="Comic Sans MS"/>
                <a:cs typeface="Comic Sans MS"/>
              </a:rPr>
              <a:t> </a:t>
            </a:r>
            <a:r>
              <a:rPr sz="1800" spc="-5" dirty="0">
                <a:solidFill>
                  <a:srgbClr val="3333CC"/>
                </a:solidFill>
                <a:latin typeface="Comic Sans MS"/>
                <a:cs typeface="Comic Sans MS"/>
              </a:rPr>
              <a:t>rest</a:t>
            </a:r>
            <a:endParaRPr sz="1800">
              <a:latin typeface="Comic Sans MS"/>
              <a:cs typeface="Comic Sans MS"/>
            </a:endParaRPr>
          </a:p>
          <a:p>
            <a:pPr lvl="1">
              <a:lnSpc>
                <a:spcPct val="100000"/>
              </a:lnSpc>
              <a:spcBef>
                <a:spcPts val="20"/>
              </a:spcBef>
              <a:buClr>
                <a:srgbClr val="FF0000"/>
              </a:buClr>
              <a:buFont typeface="Comic Sans MS"/>
              <a:buChar char="•"/>
            </a:pPr>
            <a:endParaRPr sz="2750">
              <a:latin typeface="Times New Roman"/>
              <a:cs typeface="Times New Roman"/>
            </a:endParaRPr>
          </a:p>
          <a:p>
            <a:pPr marL="355600" indent="-343535">
              <a:lnSpc>
                <a:spcPct val="100000"/>
              </a:lnSpc>
              <a:buClr>
                <a:srgbClr val="FF0000"/>
              </a:buClr>
              <a:buChar char="•"/>
              <a:tabLst>
                <a:tab pos="354965" algn="l"/>
                <a:tab pos="356235" algn="l"/>
              </a:tabLst>
            </a:pPr>
            <a:r>
              <a:rPr sz="2000" spc="-5" dirty="0">
                <a:solidFill>
                  <a:srgbClr val="3333CC"/>
                </a:solidFill>
                <a:latin typeface="Comic Sans MS"/>
                <a:cs typeface="Comic Sans MS"/>
              </a:rPr>
              <a:t>Create </a:t>
            </a:r>
            <a:r>
              <a:rPr sz="2000" spc="-10" dirty="0">
                <a:solidFill>
                  <a:srgbClr val="3333CC"/>
                </a:solidFill>
                <a:latin typeface="Comic Sans MS"/>
                <a:cs typeface="Comic Sans MS"/>
              </a:rPr>
              <a:t>binary flag-fields </a:t>
            </a:r>
            <a:r>
              <a:rPr sz="2000" spc="-5" dirty="0">
                <a:solidFill>
                  <a:srgbClr val="3333CC"/>
                </a:solidFill>
                <a:latin typeface="Comic Sans MS"/>
                <a:cs typeface="Comic Sans MS"/>
              </a:rPr>
              <a:t>for </a:t>
            </a:r>
            <a:r>
              <a:rPr sz="2000" spc="-10" dirty="0">
                <a:solidFill>
                  <a:srgbClr val="3333CC"/>
                </a:solidFill>
                <a:latin typeface="Comic Sans MS"/>
                <a:cs typeface="Comic Sans MS"/>
              </a:rPr>
              <a:t>selected</a:t>
            </a:r>
            <a:r>
              <a:rPr sz="2000" spc="125" dirty="0">
                <a:solidFill>
                  <a:srgbClr val="3333CC"/>
                </a:solidFill>
                <a:latin typeface="Comic Sans MS"/>
                <a:cs typeface="Comic Sans MS"/>
              </a:rPr>
              <a:t> </a:t>
            </a:r>
            <a:r>
              <a:rPr sz="2000" spc="-10" dirty="0">
                <a:solidFill>
                  <a:srgbClr val="3333CC"/>
                </a:solidFill>
                <a:latin typeface="Comic Sans MS"/>
                <a:cs typeface="Comic Sans MS"/>
              </a:rPr>
              <a:t>values</a:t>
            </a:r>
            <a:endParaRPr sz="2000">
              <a:latin typeface="Comic Sans MS"/>
              <a:cs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3285" y="4553966"/>
            <a:ext cx="2709545" cy="635635"/>
          </a:xfrm>
          <a:prstGeom prst="rect">
            <a:avLst/>
          </a:prstGeom>
        </p:spPr>
        <p:txBody>
          <a:bodyPr vert="horz" wrap="square" lIns="0" tIns="12700" rIns="0" bIns="0" rtlCol="0">
            <a:spAutoFit/>
          </a:bodyPr>
          <a:lstStyle/>
          <a:p>
            <a:pPr marL="12700">
              <a:lnSpc>
                <a:spcPct val="100000"/>
              </a:lnSpc>
              <a:spcBef>
                <a:spcPts val="100"/>
              </a:spcBef>
            </a:pPr>
            <a:r>
              <a:rPr sz="4000" spc="-5" dirty="0"/>
              <a:t>OUTLIERS</a:t>
            </a:r>
            <a:endParaRPr sz="4000"/>
          </a:p>
        </p:txBody>
      </p:sp>
      <p:sp>
        <p:nvSpPr>
          <p:cNvPr id="3" name="object 3"/>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63751" y="942848"/>
            <a:ext cx="1596390" cy="513080"/>
          </a:xfrm>
          <a:prstGeom prst="rect">
            <a:avLst/>
          </a:prstGeom>
        </p:spPr>
        <p:txBody>
          <a:bodyPr vert="horz" wrap="square" lIns="0" tIns="12065" rIns="0" bIns="0" rtlCol="0">
            <a:spAutoFit/>
          </a:bodyPr>
          <a:lstStyle/>
          <a:p>
            <a:pPr marL="12700">
              <a:lnSpc>
                <a:spcPct val="100000"/>
              </a:lnSpc>
              <a:spcBef>
                <a:spcPts val="95"/>
              </a:spcBef>
            </a:pPr>
            <a:r>
              <a:rPr spc="-10" dirty="0"/>
              <a:t>Outliers</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16</a:t>
            </a:fld>
            <a:endParaRPr dirty="0"/>
          </a:p>
        </p:txBody>
      </p:sp>
      <p:sp>
        <p:nvSpPr>
          <p:cNvPr id="3" name="object 3"/>
          <p:cNvSpPr txBox="1"/>
          <p:nvPr/>
        </p:nvSpPr>
        <p:spPr>
          <a:xfrm>
            <a:off x="1309249" y="1590547"/>
            <a:ext cx="7866380" cy="5020310"/>
          </a:xfrm>
          <a:prstGeom prst="rect">
            <a:avLst/>
          </a:prstGeom>
        </p:spPr>
        <p:txBody>
          <a:bodyPr vert="horz" wrap="square" lIns="0" tIns="12700" rIns="0" bIns="0" rtlCol="0">
            <a:spAutoFit/>
          </a:bodyPr>
          <a:lstStyle/>
          <a:p>
            <a:pPr marL="355600" indent="-342900">
              <a:lnSpc>
                <a:spcPct val="100000"/>
              </a:lnSpc>
              <a:spcBef>
                <a:spcPts val="100"/>
              </a:spcBef>
              <a:buClr>
                <a:srgbClr val="FF0000"/>
              </a:buClr>
              <a:buChar char="•"/>
              <a:tabLst>
                <a:tab pos="354965" algn="l"/>
                <a:tab pos="355600" algn="l"/>
              </a:tabLst>
            </a:pPr>
            <a:r>
              <a:rPr sz="2400" spc="-5" dirty="0">
                <a:solidFill>
                  <a:srgbClr val="3333CC"/>
                </a:solidFill>
                <a:latin typeface="Comic Sans MS"/>
                <a:cs typeface="Comic Sans MS"/>
              </a:rPr>
              <a:t>Outliers </a:t>
            </a:r>
            <a:r>
              <a:rPr sz="2400" dirty="0">
                <a:solidFill>
                  <a:srgbClr val="3333CC"/>
                </a:solidFill>
                <a:latin typeface="Comic Sans MS"/>
                <a:cs typeface="Comic Sans MS"/>
              </a:rPr>
              <a:t>are </a:t>
            </a:r>
            <a:r>
              <a:rPr sz="2400" spc="-5" dirty="0">
                <a:solidFill>
                  <a:srgbClr val="3333CC"/>
                </a:solidFill>
                <a:latin typeface="Comic Sans MS"/>
                <a:cs typeface="Comic Sans MS"/>
              </a:rPr>
              <a:t>values thought to be out of</a:t>
            </a:r>
            <a:r>
              <a:rPr sz="2400" spc="-80" dirty="0">
                <a:solidFill>
                  <a:srgbClr val="3333CC"/>
                </a:solidFill>
                <a:latin typeface="Comic Sans MS"/>
                <a:cs typeface="Comic Sans MS"/>
              </a:rPr>
              <a:t> </a:t>
            </a:r>
            <a:r>
              <a:rPr sz="2400" spc="-5" dirty="0">
                <a:solidFill>
                  <a:srgbClr val="3333CC"/>
                </a:solidFill>
                <a:latin typeface="Comic Sans MS"/>
                <a:cs typeface="Comic Sans MS"/>
              </a:rPr>
              <a:t>range.</a:t>
            </a:r>
            <a:endParaRPr sz="2400">
              <a:latin typeface="Comic Sans MS"/>
              <a:cs typeface="Comic Sans MS"/>
            </a:endParaRPr>
          </a:p>
          <a:p>
            <a:pPr marL="755015" marR="51435" lvl="1" indent="-285750" algn="just">
              <a:lnSpc>
                <a:spcPct val="95500"/>
              </a:lnSpc>
              <a:spcBef>
                <a:spcPts val="2380"/>
              </a:spcBef>
              <a:buClr>
                <a:srgbClr val="FF0000"/>
              </a:buClr>
              <a:buFont typeface="Comic Sans MS"/>
              <a:buChar char="•"/>
              <a:tabLst>
                <a:tab pos="755650" algn="l"/>
              </a:tabLst>
            </a:pPr>
            <a:r>
              <a:rPr sz="2000" b="1" spc="-50" dirty="0">
                <a:solidFill>
                  <a:srgbClr val="008000"/>
                </a:solidFill>
                <a:latin typeface="Comic Sans MS"/>
                <a:cs typeface="Comic Sans MS"/>
              </a:rPr>
              <a:t>“</a:t>
            </a:r>
            <a:r>
              <a:rPr sz="1900" b="1" i="1" spc="-50" dirty="0">
                <a:solidFill>
                  <a:srgbClr val="008000"/>
                </a:solidFill>
                <a:latin typeface="Comic Sans MS"/>
                <a:cs typeface="Comic Sans MS"/>
              </a:rPr>
              <a:t>An </a:t>
            </a:r>
            <a:r>
              <a:rPr sz="1900" b="1" i="1" spc="-45" dirty="0">
                <a:solidFill>
                  <a:srgbClr val="008000"/>
                </a:solidFill>
                <a:latin typeface="Comic Sans MS"/>
                <a:cs typeface="Comic Sans MS"/>
              </a:rPr>
              <a:t>outlier is </a:t>
            </a:r>
            <a:r>
              <a:rPr sz="1900" b="1" i="1" spc="-55" dirty="0">
                <a:solidFill>
                  <a:srgbClr val="008000"/>
                </a:solidFill>
                <a:latin typeface="Comic Sans MS"/>
                <a:cs typeface="Comic Sans MS"/>
              </a:rPr>
              <a:t>an </a:t>
            </a:r>
            <a:r>
              <a:rPr sz="1900" b="1" i="1" spc="-50" dirty="0">
                <a:solidFill>
                  <a:srgbClr val="008000"/>
                </a:solidFill>
                <a:latin typeface="Comic Sans MS"/>
                <a:cs typeface="Comic Sans MS"/>
              </a:rPr>
              <a:t>observation </a:t>
            </a:r>
            <a:r>
              <a:rPr sz="1900" b="1" i="1" spc="-60" dirty="0">
                <a:solidFill>
                  <a:srgbClr val="008000"/>
                </a:solidFill>
                <a:latin typeface="Comic Sans MS"/>
                <a:cs typeface="Comic Sans MS"/>
              </a:rPr>
              <a:t>that </a:t>
            </a:r>
            <a:r>
              <a:rPr sz="1900" b="1" i="1" spc="-55" dirty="0">
                <a:solidFill>
                  <a:srgbClr val="008000"/>
                </a:solidFill>
                <a:latin typeface="Comic Sans MS"/>
                <a:cs typeface="Comic Sans MS"/>
              </a:rPr>
              <a:t>deviates so </a:t>
            </a:r>
            <a:r>
              <a:rPr sz="1900" b="1" i="1" spc="-60" dirty="0">
                <a:solidFill>
                  <a:srgbClr val="008000"/>
                </a:solidFill>
                <a:latin typeface="Comic Sans MS"/>
                <a:cs typeface="Comic Sans MS"/>
              </a:rPr>
              <a:t>much </a:t>
            </a:r>
            <a:r>
              <a:rPr sz="1900" b="1" i="1" spc="-65" dirty="0">
                <a:solidFill>
                  <a:srgbClr val="008000"/>
                </a:solidFill>
                <a:latin typeface="Comic Sans MS"/>
                <a:cs typeface="Comic Sans MS"/>
              </a:rPr>
              <a:t>from </a:t>
            </a:r>
            <a:r>
              <a:rPr sz="1900" b="1" i="1" spc="-55" dirty="0">
                <a:solidFill>
                  <a:srgbClr val="008000"/>
                </a:solidFill>
                <a:latin typeface="Comic Sans MS"/>
                <a:cs typeface="Comic Sans MS"/>
              </a:rPr>
              <a:t>other  </a:t>
            </a:r>
            <a:r>
              <a:rPr sz="1900" b="1" i="1" spc="-50" dirty="0">
                <a:solidFill>
                  <a:srgbClr val="008000"/>
                </a:solidFill>
                <a:latin typeface="Comic Sans MS"/>
                <a:cs typeface="Comic Sans MS"/>
              </a:rPr>
              <a:t>observations </a:t>
            </a:r>
            <a:r>
              <a:rPr sz="1900" b="1" i="1" spc="-55" dirty="0">
                <a:solidFill>
                  <a:srgbClr val="008000"/>
                </a:solidFill>
                <a:latin typeface="Comic Sans MS"/>
                <a:cs typeface="Comic Sans MS"/>
              </a:rPr>
              <a:t>as to arouse </a:t>
            </a:r>
            <a:r>
              <a:rPr sz="1900" b="1" i="1" spc="-50" dirty="0">
                <a:solidFill>
                  <a:srgbClr val="008000"/>
                </a:solidFill>
                <a:latin typeface="Comic Sans MS"/>
                <a:cs typeface="Comic Sans MS"/>
              </a:rPr>
              <a:t>suspicion </a:t>
            </a:r>
            <a:r>
              <a:rPr sz="1900" b="1" i="1" spc="-60" dirty="0">
                <a:solidFill>
                  <a:srgbClr val="008000"/>
                </a:solidFill>
                <a:latin typeface="Comic Sans MS"/>
                <a:cs typeface="Comic Sans MS"/>
              </a:rPr>
              <a:t>that </a:t>
            </a:r>
            <a:r>
              <a:rPr sz="1900" b="1" i="1" spc="-45" dirty="0">
                <a:solidFill>
                  <a:srgbClr val="008000"/>
                </a:solidFill>
                <a:latin typeface="Comic Sans MS"/>
                <a:cs typeface="Comic Sans MS"/>
              </a:rPr>
              <a:t>it </a:t>
            </a:r>
            <a:r>
              <a:rPr sz="1900" b="1" i="1" spc="-65" dirty="0">
                <a:solidFill>
                  <a:srgbClr val="008000"/>
                </a:solidFill>
                <a:latin typeface="Comic Sans MS"/>
                <a:cs typeface="Comic Sans MS"/>
              </a:rPr>
              <a:t>was </a:t>
            </a:r>
            <a:r>
              <a:rPr sz="1900" b="1" i="1" spc="-55" dirty="0">
                <a:solidFill>
                  <a:srgbClr val="008000"/>
                </a:solidFill>
                <a:latin typeface="Comic Sans MS"/>
                <a:cs typeface="Comic Sans MS"/>
              </a:rPr>
              <a:t>generated </a:t>
            </a:r>
            <a:r>
              <a:rPr sz="1900" b="1" i="1" spc="-60" dirty="0">
                <a:solidFill>
                  <a:srgbClr val="008000"/>
                </a:solidFill>
                <a:latin typeface="Comic Sans MS"/>
                <a:cs typeface="Comic Sans MS"/>
              </a:rPr>
              <a:t>by a  </a:t>
            </a:r>
            <a:r>
              <a:rPr sz="1900" b="1" i="1" spc="-55" dirty="0">
                <a:solidFill>
                  <a:srgbClr val="008000"/>
                </a:solidFill>
                <a:latin typeface="Comic Sans MS"/>
                <a:cs typeface="Comic Sans MS"/>
              </a:rPr>
              <a:t>different</a:t>
            </a:r>
            <a:r>
              <a:rPr sz="1900" b="1" i="1" spc="-45" dirty="0">
                <a:solidFill>
                  <a:srgbClr val="008000"/>
                </a:solidFill>
                <a:latin typeface="Comic Sans MS"/>
                <a:cs typeface="Comic Sans MS"/>
              </a:rPr>
              <a:t> </a:t>
            </a:r>
            <a:r>
              <a:rPr sz="1900" b="1" i="1" spc="-55" dirty="0">
                <a:solidFill>
                  <a:srgbClr val="008000"/>
                </a:solidFill>
                <a:latin typeface="Comic Sans MS"/>
                <a:cs typeface="Comic Sans MS"/>
              </a:rPr>
              <a:t>mechanism”</a:t>
            </a:r>
            <a:endParaRPr sz="1900">
              <a:latin typeface="Comic Sans MS"/>
              <a:cs typeface="Comic Sans MS"/>
            </a:endParaRPr>
          </a:p>
          <a:p>
            <a:pPr lvl="1">
              <a:lnSpc>
                <a:spcPct val="100000"/>
              </a:lnSpc>
              <a:spcBef>
                <a:spcPts val="5"/>
              </a:spcBef>
              <a:buChar char="•"/>
            </a:pPr>
            <a:endParaRPr sz="3650">
              <a:latin typeface="Times New Roman"/>
              <a:cs typeface="Times New Roman"/>
            </a:endParaRPr>
          </a:p>
          <a:p>
            <a:pPr marL="755650" marR="418465" lvl="1" indent="-286385">
              <a:lnSpc>
                <a:spcPct val="100000"/>
              </a:lnSpc>
              <a:buClr>
                <a:srgbClr val="FF0000"/>
              </a:buClr>
              <a:buChar char="•"/>
              <a:tabLst>
                <a:tab pos="755015" algn="l"/>
                <a:tab pos="756285" algn="l"/>
              </a:tabLst>
            </a:pPr>
            <a:r>
              <a:rPr sz="1800" spc="-5" dirty="0">
                <a:solidFill>
                  <a:srgbClr val="3333CC"/>
                </a:solidFill>
                <a:latin typeface="Comic Sans MS"/>
                <a:cs typeface="Comic Sans MS"/>
              </a:rPr>
              <a:t>Can be detected by standardizing observations and label the  standardized values outside </a:t>
            </a:r>
            <a:r>
              <a:rPr sz="1800" dirty="0">
                <a:solidFill>
                  <a:srgbClr val="3333CC"/>
                </a:solidFill>
                <a:latin typeface="Comic Sans MS"/>
                <a:cs typeface="Comic Sans MS"/>
              </a:rPr>
              <a:t>a </a:t>
            </a:r>
            <a:r>
              <a:rPr sz="1800" spc="-5" dirty="0">
                <a:solidFill>
                  <a:srgbClr val="3333CC"/>
                </a:solidFill>
                <a:latin typeface="Comic Sans MS"/>
                <a:cs typeface="Comic Sans MS"/>
              </a:rPr>
              <a:t>predetermined bound as</a:t>
            </a:r>
            <a:r>
              <a:rPr sz="1800" spc="85" dirty="0">
                <a:solidFill>
                  <a:srgbClr val="3333CC"/>
                </a:solidFill>
                <a:latin typeface="Comic Sans MS"/>
                <a:cs typeface="Comic Sans MS"/>
              </a:rPr>
              <a:t> </a:t>
            </a:r>
            <a:r>
              <a:rPr sz="1800" spc="-5" dirty="0">
                <a:solidFill>
                  <a:srgbClr val="3333CC"/>
                </a:solidFill>
                <a:latin typeface="Comic Sans MS"/>
                <a:cs typeface="Comic Sans MS"/>
              </a:rPr>
              <a:t>outliers</a:t>
            </a:r>
            <a:endParaRPr sz="1800">
              <a:latin typeface="Comic Sans MS"/>
              <a:cs typeface="Comic Sans MS"/>
            </a:endParaRPr>
          </a:p>
          <a:p>
            <a:pPr marL="755650" lvl="1" indent="-286385">
              <a:lnSpc>
                <a:spcPct val="100000"/>
              </a:lnSpc>
              <a:spcBef>
                <a:spcPts val="1145"/>
              </a:spcBef>
              <a:buClr>
                <a:srgbClr val="FF0000"/>
              </a:buClr>
              <a:buChar char="•"/>
              <a:tabLst>
                <a:tab pos="755015" algn="l"/>
                <a:tab pos="756285" algn="l"/>
              </a:tabLst>
            </a:pPr>
            <a:r>
              <a:rPr sz="1800" spc="-5" dirty="0">
                <a:solidFill>
                  <a:srgbClr val="3333CC"/>
                </a:solidFill>
                <a:latin typeface="Comic Sans MS"/>
                <a:cs typeface="Comic Sans MS"/>
              </a:rPr>
              <a:t>Outlier detection can be used for fraud detection or data</a:t>
            </a:r>
            <a:r>
              <a:rPr sz="1800" spc="120" dirty="0">
                <a:solidFill>
                  <a:srgbClr val="3333CC"/>
                </a:solidFill>
                <a:latin typeface="Comic Sans MS"/>
                <a:cs typeface="Comic Sans MS"/>
              </a:rPr>
              <a:t> </a:t>
            </a:r>
            <a:r>
              <a:rPr sz="1800" spc="-5" dirty="0">
                <a:solidFill>
                  <a:srgbClr val="3333CC"/>
                </a:solidFill>
                <a:latin typeface="Comic Sans MS"/>
                <a:cs typeface="Comic Sans MS"/>
              </a:rPr>
              <a:t>cleaning</a:t>
            </a:r>
            <a:endParaRPr sz="1800">
              <a:latin typeface="Comic Sans MS"/>
              <a:cs typeface="Comic Sans MS"/>
            </a:endParaRPr>
          </a:p>
          <a:p>
            <a:pPr marL="355600" indent="-342900">
              <a:lnSpc>
                <a:spcPct val="100000"/>
              </a:lnSpc>
              <a:spcBef>
                <a:spcPts val="1320"/>
              </a:spcBef>
              <a:buClr>
                <a:srgbClr val="FF0000"/>
              </a:buClr>
              <a:buChar char="•"/>
              <a:tabLst>
                <a:tab pos="354965" algn="l"/>
                <a:tab pos="355600" algn="l"/>
              </a:tabLst>
            </a:pPr>
            <a:r>
              <a:rPr sz="2400" spc="-5" dirty="0">
                <a:solidFill>
                  <a:srgbClr val="3333CC"/>
                </a:solidFill>
                <a:latin typeface="Comic Sans MS"/>
                <a:cs typeface="Comic Sans MS"/>
              </a:rPr>
              <a:t>Approaches:</a:t>
            </a:r>
            <a:endParaRPr sz="2400">
              <a:latin typeface="Comic Sans MS"/>
              <a:cs typeface="Comic Sans MS"/>
            </a:endParaRPr>
          </a:p>
          <a:p>
            <a:pPr marL="755015" lvl="1" indent="-285750">
              <a:lnSpc>
                <a:spcPct val="100000"/>
              </a:lnSpc>
              <a:spcBef>
                <a:spcPts val="2275"/>
              </a:spcBef>
              <a:buClr>
                <a:srgbClr val="FF0000"/>
              </a:buClr>
              <a:buChar char="•"/>
              <a:tabLst>
                <a:tab pos="755015" algn="l"/>
                <a:tab pos="755650" algn="l"/>
              </a:tabLst>
            </a:pPr>
            <a:r>
              <a:rPr sz="2000" spc="-5" dirty="0">
                <a:solidFill>
                  <a:srgbClr val="3333CC"/>
                </a:solidFill>
                <a:latin typeface="Comic Sans MS"/>
                <a:cs typeface="Comic Sans MS"/>
              </a:rPr>
              <a:t>do </a:t>
            </a:r>
            <a:r>
              <a:rPr sz="2000" spc="-10" dirty="0">
                <a:solidFill>
                  <a:srgbClr val="3333CC"/>
                </a:solidFill>
                <a:latin typeface="Comic Sans MS"/>
                <a:cs typeface="Comic Sans MS"/>
              </a:rPr>
              <a:t>nothing</a:t>
            </a:r>
            <a:endParaRPr sz="2000">
              <a:latin typeface="Comic Sans MS"/>
              <a:cs typeface="Comic Sans MS"/>
            </a:endParaRPr>
          </a:p>
          <a:p>
            <a:pPr marL="755015" lvl="1" indent="-285750">
              <a:lnSpc>
                <a:spcPct val="100000"/>
              </a:lnSpc>
              <a:spcBef>
                <a:spcPts val="960"/>
              </a:spcBef>
              <a:buClr>
                <a:srgbClr val="FF0000"/>
              </a:buClr>
              <a:buChar char="•"/>
              <a:tabLst>
                <a:tab pos="755015" algn="l"/>
                <a:tab pos="755650" algn="l"/>
              </a:tabLst>
            </a:pPr>
            <a:r>
              <a:rPr sz="2000" spc="-5" dirty="0">
                <a:solidFill>
                  <a:srgbClr val="3333CC"/>
                </a:solidFill>
                <a:latin typeface="Comic Sans MS"/>
                <a:cs typeface="Comic Sans MS"/>
              </a:rPr>
              <a:t>enforce upper and lower</a:t>
            </a:r>
            <a:r>
              <a:rPr sz="2000" spc="75" dirty="0">
                <a:solidFill>
                  <a:srgbClr val="3333CC"/>
                </a:solidFill>
                <a:latin typeface="Comic Sans MS"/>
                <a:cs typeface="Comic Sans MS"/>
              </a:rPr>
              <a:t> </a:t>
            </a:r>
            <a:r>
              <a:rPr sz="2000" spc="-10" dirty="0">
                <a:solidFill>
                  <a:srgbClr val="3333CC"/>
                </a:solidFill>
                <a:latin typeface="Comic Sans MS"/>
                <a:cs typeface="Comic Sans MS"/>
              </a:rPr>
              <a:t>bounds</a:t>
            </a:r>
            <a:endParaRPr sz="2000">
              <a:latin typeface="Comic Sans MS"/>
              <a:cs typeface="Comic Sans MS"/>
            </a:endParaRPr>
          </a:p>
          <a:p>
            <a:pPr marL="755015" lvl="1" indent="-285750">
              <a:lnSpc>
                <a:spcPct val="100000"/>
              </a:lnSpc>
              <a:spcBef>
                <a:spcPts val="960"/>
              </a:spcBef>
              <a:buClr>
                <a:srgbClr val="FF0000"/>
              </a:buClr>
              <a:buChar char="•"/>
              <a:tabLst>
                <a:tab pos="755015" algn="l"/>
                <a:tab pos="755650" algn="l"/>
              </a:tabLst>
            </a:pPr>
            <a:r>
              <a:rPr sz="2000" spc="-5" dirty="0">
                <a:solidFill>
                  <a:srgbClr val="3333CC"/>
                </a:solidFill>
                <a:latin typeface="Comic Sans MS"/>
                <a:cs typeface="Comic Sans MS"/>
              </a:rPr>
              <a:t>let </a:t>
            </a:r>
            <a:r>
              <a:rPr sz="2000" spc="-10" dirty="0">
                <a:solidFill>
                  <a:srgbClr val="3333CC"/>
                </a:solidFill>
                <a:latin typeface="Comic Sans MS"/>
                <a:cs typeface="Comic Sans MS"/>
              </a:rPr>
              <a:t>binning </a:t>
            </a:r>
            <a:r>
              <a:rPr sz="2000" spc="-5" dirty="0">
                <a:solidFill>
                  <a:srgbClr val="3333CC"/>
                </a:solidFill>
                <a:latin typeface="Comic Sans MS"/>
                <a:cs typeface="Comic Sans MS"/>
              </a:rPr>
              <a:t>handle the</a:t>
            </a:r>
            <a:r>
              <a:rPr sz="2000" spc="70" dirty="0">
                <a:solidFill>
                  <a:srgbClr val="3333CC"/>
                </a:solidFill>
                <a:latin typeface="Comic Sans MS"/>
                <a:cs typeface="Comic Sans MS"/>
              </a:rPr>
              <a:t> </a:t>
            </a:r>
            <a:r>
              <a:rPr sz="2000" spc="-10" dirty="0">
                <a:solidFill>
                  <a:srgbClr val="3333CC"/>
                </a:solidFill>
                <a:latin typeface="Comic Sans MS"/>
                <a:cs typeface="Comic Sans MS"/>
              </a:rPr>
              <a:t>problem</a:t>
            </a:r>
            <a:endParaRPr sz="2000">
              <a:latin typeface="Comic Sans MS"/>
              <a:cs typeface="Comic Sans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26755" y="4043934"/>
            <a:ext cx="3944873" cy="2797301"/>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662305" y="942848"/>
            <a:ext cx="3395979" cy="513080"/>
          </a:xfrm>
          <a:prstGeom prst="rect">
            <a:avLst/>
          </a:prstGeom>
        </p:spPr>
        <p:txBody>
          <a:bodyPr vert="horz" wrap="square" lIns="0" tIns="12065" rIns="0" bIns="0" rtlCol="0">
            <a:spAutoFit/>
          </a:bodyPr>
          <a:lstStyle/>
          <a:p>
            <a:pPr marL="12700">
              <a:lnSpc>
                <a:spcPct val="100000"/>
              </a:lnSpc>
              <a:spcBef>
                <a:spcPts val="95"/>
              </a:spcBef>
            </a:pPr>
            <a:r>
              <a:rPr spc="-10" dirty="0"/>
              <a:t>Outlier</a:t>
            </a:r>
            <a:r>
              <a:rPr spc="-30" dirty="0"/>
              <a:t> </a:t>
            </a:r>
            <a:r>
              <a:rPr spc="-10" dirty="0"/>
              <a:t>detection</a:t>
            </a:r>
          </a:p>
        </p:txBody>
      </p:sp>
      <p:sp>
        <p:nvSpPr>
          <p:cNvPr id="4" name="object 4"/>
          <p:cNvSpPr/>
          <p:nvPr/>
        </p:nvSpPr>
        <p:spPr>
          <a:xfrm>
            <a:off x="3910470" y="3349604"/>
            <a:ext cx="203200" cy="0"/>
          </a:xfrm>
          <a:custGeom>
            <a:avLst/>
            <a:gdLst/>
            <a:ahLst/>
            <a:cxnLst/>
            <a:rect l="l" t="t" r="r" b="b"/>
            <a:pathLst>
              <a:path w="203200">
                <a:moveTo>
                  <a:pt x="0" y="0"/>
                </a:moveTo>
                <a:lnTo>
                  <a:pt x="204165" y="0"/>
                </a:lnTo>
              </a:path>
            </a:pathLst>
          </a:custGeom>
          <a:ln w="19570">
            <a:solidFill>
              <a:srgbClr val="000000"/>
            </a:solidFill>
          </a:ln>
        </p:spPr>
        <p:txBody>
          <a:bodyPr wrap="square" lIns="0" tIns="0" rIns="0" bIns="0" rtlCol="0"/>
          <a:lstStyle/>
          <a:p>
            <a:endParaRPr/>
          </a:p>
        </p:txBody>
      </p:sp>
      <p:sp>
        <p:nvSpPr>
          <p:cNvPr id="5" name="object 5"/>
          <p:cNvSpPr/>
          <p:nvPr/>
        </p:nvSpPr>
        <p:spPr>
          <a:xfrm>
            <a:off x="5171578" y="3349604"/>
            <a:ext cx="203200" cy="0"/>
          </a:xfrm>
          <a:custGeom>
            <a:avLst/>
            <a:gdLst/>
            <a:ahLst/>
            <a:cxnLst/>
            <a:rect l="l" t="t" r="r" b="b"/>
            <a:pathLst>
              <a:path w="203200">
                <a:moveTo>
                  <a:pt x="0" y="0"/>
                </a:moveTo>
                <a:lnTo>
                  <a:pt x="204165" y="0"/>
                </a:lnTo>
              </a:path>
            </a:pathLst>
          </a:custGeom>
          <a:ln w="19570">
            <a:solidFill>
              <a:srgbClr val="000000"/>
            </a:solidFill>
          </a:ln>
        </p:spPr>
        <p:txBody>
          <a:bodyPr wrap="square" lIns="0" tIns="0" rIns="0" bIns="0" rtlCol="0"/>
          <a:lstStyle/>
          <a:p>
            <a:endParaRPr/>
          </a:p>
        </p:txBody>
      </p:sp>
      <p:sp>
        <p:nvSpPr>
          <p:cNvPr id="6" name="object 6"/>
          <p:cNvSpPr txBox="1"/>
          <p:nvPr/>
        </p:nvSpPr>
        <p:spPr>
          <a:xfrm>
            <a:off x="1309249" y="1605788"/>
            <a:ext cx="8005445" cy="2143125"/>
          </a:xfrm>
          <a:prstGeom prst="rect">
            <a:avLst/>
          </a:prstGeom>
        </p:spPr>
        <p:txBody>
          <a:bodyPr vert="horz" wrap="square" lIns="0" tIns="12700" rIns="0" bIns="0" rtlCol="0">
            <a:spAutoFit/>
          </a:bodyPr>
          <a:lstStyle/>
          <a:p>
            <a:pPr marL="355600" indent="-342900">
              <a:lnSpc>
                <a:spcPct val="100000"/>
              </a:lnSpc>
              <a:spcBef>
                <a:spcPts val="100"/>
              </a:spcBef>
              <a:buFont typeface="Comic Sans MS"/>
              <a:buChar char="•"/>
              <a:tabLst>
                <a:tab pos="354965" algn="l"/>
                <a:tab pos="355600" algn="l"/>
              </a:tabLst>
            </a:pPr>
            <a:r>
              <a:rPr sz="2400" b="1" spc="-5" dirty="0">
                <a:solidFill>
                  <a:srgbClr val="FF0000"/>
                </a:solidFill>
                <a:latin typeface="Comic Sans MS"/>
                <a:cs typeface="Comic Sans MS"/>
              </a:rPr>
              <a:t>Univariate</a:t>
            </a:r>
            <a:endParaRPr sz="2400">
              <a:latin typeface="Comic Sans MS"/>
              <a:cs typeface="Comic Sans MS"/>
            </a:endParaRPr>
          </a:p>
          <a:p>
            <a:pPr marL="755015" marR="5080" lvl="1" indent="-285750">
              <a:lnSpc>
                <a:spcPct val="100000"/>
              </a:lnSpc>
              <a:spcBef>
                <a:spcPts val="2270"/>
              </a:spcBef>
              <a:buClr>
                <a:srgbClr val="FF0000"/>
              </a:buClr>
              <a:buChar char="•"/>
              <a:tabLst>
                <a:tab pos="755015" algn="l"/>
                <a:tab pos="755650" algn="l"/>
              </a:tabLst>
            </a:pPr>
            <a:r>
              <a:rPr sz="2000" spc="-5" dirty="0">
                <a:solidFill>
                  <a:srgbClr val="3333CC"/>
                </a:solidFill>
                <a:latin typeface="Comic Sans MS"/>
                <a:cs typeface="Comic Sans MS"/>
              </a:rPr>
              <a:t>Compute mean and std. </a:t>
            </a:r>
            <a:r>
              <a:rPr sz="2000" spc="-10" dirty="0">
                <a:solidFill>
                  <a:srgbClr val="3333CC"/>
                </a:solidFill>
                <a:latin typeface="Comic Sans MS"/>
                <a:cs typeface="Comic Sans MS"/>
              </a:rPr>
              <a:t>deviation. </a:t>
            </a:r>
            <a:r>
              <a:rPr sz="2000" spc="-5" dirty="0">
                <a:solidFill>
                  <a:srgbClr val="3333CC"/>
                </a:solidFill>
                <a:latin typeface="Comic Sans MS"/>
                <a:cs typeface="Comic Sans MS"/>
              </a:rPr>
              <a:t>For k=2 or 3, x is an outlier  if outside limits </a:t>
            </a:r>
            <a:r>
              <a:rPr sz="2000" spc="-10" dirty="0">
                <a:solidFill>
                  <a:srgbClr val="3333CC"/>
                </a:solidFill>
                <a:latin typeface="Comic Sans MS"/>
                <a:cs typeface="Comic Sans MS"/>
              </a:rPr>
              <a:t>(normal distribution</a:t>
            </a:r>
            <a:r>
              <a:rPr sz="2000" spc="90" dirty="0">
                <a:solidFill>
                  <a:srgbClr val="3333CC"/>
                </a:solidFill>
                <a:latin typeface="Comic Sans MS"/>
                <a:cs typeface="Comic Sans MS"/>
              </a:rPr>
              <a:t> </a:t>
            </a:r>
            <a:r>
              <a:rPr sz="2000" spc="-5" dirty="0">
                <a:solidFill>
                  <a:srgbClr val="3333CC"/>
                </a:solidFill>
                <a:latin typeface="Comic Sans MS"/>
                <a:cs typeface="Comic Sans MS"/>
              </a:rPr>
              <a:t>assumed)</a:t>
            </a:r>
            <a:endParaRPr sz="2000">
              <a:latin typeface="Comic Sans MS"/>
              <a:cs typeface="Comic Sans MS"/>
            </a:endParaRPr>
          </a:p>
          <a:p>
            <a:pPr marR="516890" algn="ctr">
              <a:lnSpc>
                <a:spcPct val="100000"/>
              </a:lnSpc>
              <a:spcBef>
                <a:spcPts val="2280"/>
              </a:spcBef>
            </a:pPr>
            <a:r>
              <a:rPr sz="3700" spc="120" dirty="0">
                <a:latin typeface="Times New Roman"/>
                <a:cs typeface="Times New Roman"/>
              </a:rPr>
              <a:t>(</a:t>
            </a:r>
            <a:r>
              <a:rPr sz="3700" i="1" spc="120" dirty="0">
                <a:latin typeface="Times New Roman"/>
                <a:cs typeface="Times New Roman"/>
              </a:rPr>
              <a:t>x</a:t>
            </a:r>
            <a:r>
              <a:rPr sz="3700" i="1" spc="5" dirty="0">
                <a:latin typeface="Times New Roman"/>
                <a:cs typeface="Times New Roman"/>
              </a:rPr>
              <a:t> </a:t>
            </a:r>
            <a:r>
              <a:rPr sz="3700" dirty="0">
                <a:latin typeface="Symbol"/>
                <a:cs typeface="Symbol"/>
              </a:rPr>
              <a:t></a:t>
            </a:r>
            <a:r>
              <a:rPr sz="3700" spc="-229" dirty="0">
                <a:latin typeface="Times New Roman"/>
                <a:cs typeface="Times New Roman"/>
              </a:rPr>
              <a:t> </a:t>
            </a:r>
            <a:r>
              <a:rPr sz="3700" i="1" spc="-5" dirty="0">
                <a:latin typeface="Times New Roman"/>
                <a:cs typeface="Times New Roman"/>
              </a:rPr>
              <a:t>ks</a:t>
            </a:r>
            <a:r>
              <a:rPr sz="3700" spc="-5" dirty="0">
                <a:latin typeface="Times New Roman"/>
                <a:cs typeface="Times New Roman"/>
              </a:rPr>
              <a:t>,</a:t>
            </a:r>
            <a:r>
              <a:rPr sz="3700" spc="-310" dirty="0">
                <a:latin typeface="Times New Roman"/>
                <a:cs typeface="Times New Roman"/>
              </a:rPr>
              <a:t> </a:t>
            </a:r>
            <a:r>
              <a:rPr sz="3700" i="1" dirty="0">
                <a:latin typeface="Times New Roman"/>
                <a:cs typeface="Times New Roman"/>
              </a:rPr>
              <a:t>x </a:t>
            </a:r>
            <a:r>
              <a:rPr sz="3700" dirty="0">
                <a:latin typeface="Symbol"/>
                <a:cs typeface="Symbol"/>
              </a:rPr>
              <a:t></a:t>
            </a:r>
            <a:r>
              <a:rPr sz="3700" spc="-165" dirty="0">
                <a:latin typeface="Times New Roman"/>
                <a:cs typeface="Times New Roman"/>
              </a:rPr>
              <a:t> </a:t>
            </a:r>
            <a:r>
              <a:rPr sz="3700" i="1" spc="15" dirty="0">
                <a:latin typeface="Times New Roman"/>
                <a:cs typeface="Times New Roman"/>
              </a:rPr>
              <a:t>ks</a:t>
            </a:r>
            <a:r>
              <a:rPr sz="3700" spc="15" dirty="0">
                <a:latin typeface="Times New Roman"/>
                <a:cs typeface="Times New Roman"/>
              </a:rPr>
              <a:t>)</a:t>
            </a:r>
            <a:endParaRPr sz="37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87053" y="1820062"/>
            <a:ext cx="5881878" cy="433994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804545" y="4852862"/>
            <a:ext cx="495300" cy="531495"/>
          </a:xfrm>
          <a:custGeom>
            <a:avLst/>
            <a:gdLst/>
            <a:ahLst/>
            <a:cxnLst/>
            <a:rect l="l" t="t" r="r" b="b"/>
            <a:pathLst>
              <a:path w="495300" h="531495">
                <a:moveTo>
                  <a:pt x="495300" y="265491"/>
                </a:moveTo>
                <a:lnTo>
                  <a:pt x="495300" y="251775"/>
                </a:lnTo>
                <a:lnTo>
                  <a:pt x="493776" y="238059"/>
                </a:lnTo>
                <a:lnTo>
                  <a:pt x="485680" y="194747"/>
                </a:lnTo>
                <a:lnTo>
                  <a:pt x="472980" y="155773"/>
                </a:lnTo>
                <a:lnTo>
                  <a:pt x="456160" y="121134"/>
                </a:lnTo>
                <a:lnTo>
                  <a:pt x="412100" y="64862"/>
                </a:lnTo>
                <a:lnTo>
                  <a:pt x="357377" y="25924"/>
                </a:lnTo>
                <a:lnTo>
                  <a:pt x="295871" y="4311"/>
                </a:lnTo>
                <a:lnTo>
                  <a:pt x="263785" y="0"/>
                </a:lnTo>
                <a:lnTo>
                  <a:pt x="231457" y="17"/>
                </a:lnTo>
                <a:lnTo>
                  <a:pt x="168015" y="13033"/>
                </a:lnTo>
                <a:lnTo>
                  <a:pt x="109423" y="43353"/>
                </a:lnTo>
                <a:lnTo>
                  <a:pt x="59558" y="90969"/>
                </a:lnTo>
                <a:lnTo>
                  <a:pt x="22299" y="155874"/>
                </a:lnTo>
                <a:lnTo>
                  <a:pt x="9609" y="194807"/>
                </a:lnTo>
                <a:lnTo>
                  <a:pt x="1523" y="238059"/>
                </a:lnTo>
                <a:lnTo>
                  <a:pt x="0" y="251775"/>
                </a:lnTo>
                <a:lnTo>
                  <a:pt x="0" y="279207"/>
                </a:lnTo>
                <a:lnTo>
                  <a:pt x="3048" y="305877"/>
                </a:lnTo>
                <a:lnTo>
                  <a:pt x="9144" y="330792"/>
                </a:lnTo>
                <a:lnTo>
                  <a:pt x="9144" y="265491"/>
                </a:lnTo>
                <a:lnTo>
                  <a:pt x="10667" y="238821"/>
                </a:lnTo>
                <a:lnTo>
                  <a:pt x="19100" y="195973"/>
                </a:lnTo>
                <a:lnTo>
                  <a:pt x="32017" y="157587"/>
                </a:lnTo>
                <a:lnTo>
                  <a:pt x="69366" y="94131"/>
                </a:lnTo>
                <a:lnTo>
                  <a:pt x="118842" y="48312"/>
                </a:lnTo>
                <a:lnTo>
                  <a:pt x="176569" y="19987"/>
                </a:lnTo>
                <a:lnTo>
                  <a:pt x="238675" y="9016"/>
                </a:lnTo>
                <a:lnTo>
                  <a:pt x="270159" y="9994"/>
                </a:lnTo>
                <a:lnTo>
                  <a:pt x="331568" y="24787"/>
                </a:lnTo>
                <a:lnTo>
                  <a:pt x="387670" y="56580"/>
                </a:lnTo>
                <a:lnTo>
                  <a:pt x="434591" y="105230"/>
                </a:lnTo>
                <a:lnTo>
                  <a:pt x="468457" y="170596"/>
                </a:lnTo>
                <a:lnTo>
                  <a:pt x="479283" y="209503"/>
                </a:lnTo>
                <a:lnTo>
                  <a:pt x="485394" y="252537"/>
                </a:lnTo>
                <a:lnTo>
                  <a:pt x="486156" y="265491"/>
                </a:lnTo>
                <a:lnTo>
                  <a:pt x="486156" y="331791"/>
                </a:lnTo>
                <a:lnTo>
                  <a:pt x="491090" y="310207"/>
                </a:lnTo>
                <a:lnTo>
                  <a:pt x="495300" y="265491"/>
                </a:lnTo>
                <a:close/>
              </a:path>
              <a:path w="495300" h="531495">
                <a:moveTo>
                  <a:pt x="486156" y="331791"/>
                </a:moveTo>
                <a:lnTo>
                  <a:pt x="486156" y="265491"/>
                </a:lnTo>
                <a:lnTo>
                  <a:pt x="485394" y="278445"/>
                </a:lnTo>
                <a:lnTo>
                  <a:pt x="479193" y="322461"/>
                </a:lnTo>
                <a:lnTo>
                  <a:pt x="467940" y="362194"/>
                </a:lnTo>
                <a:lnTo>
                  <a:pt x="452170" y="397606"/>
                </a:lnTo>
                <a:lnTo>
                  <a:pt x="409223" y="455331"/>
                </a:lnTo>
                <a:lnTo>
                  <a:pt x="354639" y="495351"/>
                </a:lnTo>
                <a:lnTo>
                  <a:pt x="292703" y="517383"/>
                </a:lnTo>
                <a:lnTo>
                  <a:pt x="260318" y="521566"/>
                </a:lnTo>
                <a:lnTo>
                  <a:pt x="227702" y="521145"/>
                </a:lnTo>
                <a:lnTo>
                  <a:pt x="163922" y="506350"/>
                </a:lnTo>
                <a:lnTo>
                  <a:pt x="105650" y="472717"/>
                </a:lnTo>
                <a:lnTo>
                  <a:pt x="57171" y="419962"/>
                </a:lnTo>
                <a:lnTo>
                  <a:pt x="37943" y="386324"/>
                </a:lnTo>
                <a:lnTo>
                  <a:pt x="22772" y="347800"/>
                </a:lnTo>
                <a:lnTo>
                  <a:pt x="12192" y="304353"/>
                </a:lnTo>
                <a:lnTo>
                  <a:pt x="9144" y="265491"/>
                </a:lnTo>
                <a:lnTo>
                  <a:pt x="9144" y="330792"/>
                </a:lnTo>
                <a:lnTo>
                  <a:pt x="29091" y="389193"/>
                </a:lnTo>
                <a:lnTo>
                  <a:pt x="48288" y="423508"/>
                </a:lnTo>
                <a:lnTo>
                  <a:pt x="96514" y="477707"/>
                </a:lnTo>
                <a:lnTo>
                  <a:pt x="154496" y="513008"/>
                </a:lnTo>
                <a:lnTo>
                  <a:pt x="218207" y="529822"/>
                </a:lnTo>
                <a:lnTo>
                  <a:pt x="250953" y="531425"/>
                </a:lnTo>
                <a:lnTo>
                  <a:pt x="283621" y="528560"/>
                </a:lnTo>
                <a:lnTo>
                  <a:pt x="346711" y="509633"/>
                </a:lnTo>
                <a:lnTo>
                  <a:pt x="403450" y="473451"/>
                </a:lnTo>
                <a:lnTo>
                  <a:pt x="449812" y="420426"/>
                </a:lnTo>
                <a:lnTo>
                  <a:pt x="481771" y="350969"/>
                </a:lnTo>
                <a:lnTo>
                  <a:pt x="486156" y="331791"/>
                </a:lnTo>
                <a:close/>
              </a:path>
            </a:pathLst>
          </a:custGeom>
          <a:solidFill>
            <a:srgbClr val="FF0000"/>
          </a:solid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6355" y="6826248"/>
            <a:ext cx="211454"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Comic Sans MS"/>
                <a:cs typeface="Comic Sans MS"/>
              </a:rPr>
              <a:t>44</a:t>
            </a:r>
            <a:endParaRPr sz="1200">
              <a:latin typeface="Comic Sans MS"/>
              <a:cs typeface="Comic Sans MS"/>
            </a:endParaRPr>
          </a:p>
        </p:txBody>
      </p:sp>
      <p:sp>
        <p:nvSpPr>
          <p:cNvPr id="3" name="object 3"/>
          <p:cNvSpPr txBox="1">
            <a:spLocks noGrp="1"/>
          </p:cNvSpPr>
          <p:nvPr>
            <p:ph type="title"/>
          </p:nvPr>
        </p:nvSpPr>
        <p:spPr>
          <a:xfrm>
            <a:off x="3632587" y="722630"/>
            <a:ext cx="3395979" cy="513080"/>
          </a:xfrm>
          <a:prstGeom prst="rect">
            <a:avLst/>
          </a:prstGeom>
        </p:spPr>
        <p:txBody>
          <a:bodyPr vert="horz" wrap="square" lIns="0" tIns="12065" rIns="0" bIns="0" rtlCol="0">
            <a:spAutoFit/>
          </a:bodyPr>
          <a:lstStyle/>
          <a:p>
            <a:pPr marL="12700">
              <a:lnSpc>
                <a:spcPct val="100000"/>
              </a:lnSpc>
              <a:spcBef>
                <a:spcPts val="95"/>
              </a:spcBef>
            </a:pPr>
            <a:r>
              <a:rPr spc="-10" dirty="0"/>
              <a:t>Outlier</a:t>
            </a:r>
            <a:r>
              <a:rPr spc="-30" dirty="0"/>
              <a:t> </a:t>
            </a:r>
            <a:r>
              <a:rPr spc="-10" dirty="0"/>
              <a:t>detection</a:t>
            </a:r>
          </a:p>
        </p:txBody>
      </p:sp>
      <p:sp>
        <p:nvSpPr>
          <p:cNvPr id="4" name="object 4"/>
          <p:cNvSpPr txBox="1"/>
          <p:nvPr/>
        </p:nvSpPr>
        <p:spPr>
          <a:xfrm>
            <a:off x="1412120" y="1488440"/>
            <a:ext cx="7608570" cy="3486150"/>
          </a:xfrm>
          <a:prstGeom prst="rect">
            <a:avLst/>
          </a:prstGeom>
        </p:spPr>
        <p:txBody>
          <a:bodyPr vert="horz" wrap="square" lIns="0" tIns="12700" rIns="0" bIns="0" rtlCol="0">
            <a:spAutoFit/>
          </a:bodyPr>
          <a:lstStyle/>
          <a:p>
            <a:pPr marL="355600" indent="-342900">
              <a:lnSpc>
                <a:spcPct val="100000"/>
              </a:lnSpc>
              <a:spcBef>
                <a:spcPts val="100"/>
              </a:spcBef>
              <a:buFont typeface="Comic Sans MS"/>
              <a:buChar char="•"/>
              <a:tabLst>
                <a:tab pos="354965" algn="l"/>
                <a:tab pos="355600" algn="l"/>
              </a:tabLst>
            </a:pPr>
            <a:r>
              <a:rPr sz="2400" b="1" spc="-5" dirty="0">
                <a:solidFill>
                  <a:srgbClr val="FF0000"/>
                </a:solidFill>
                <a:latin typeface="Comic Sans MS"/>
                <a:cs typeface="Comic Sans MS"/>
              </a:rPr>
              <a:t>Univariate</a:t>
            </a:r>
            <a:endParaRPr sz="2400">
              <a:latin typeface="Comic Sans MS"/>
              <a:cs typeface="Comic Sans MS"/>
            </a:endParaRPr>
          </a:p>
          <a:p>
            <a:pPr marL="755015" lvl="1" indent="-286385">
              <a:lnSpc>
                <a:spcPct val="100000"/>
              </a:lnSpc>
              <a:spcBef>
                <a:spcPts val="2270"/>
              </a:spcBef>
              <a:buClr>
                <a:srgbClr val="FF0000"/>
              </a:buClr>
              <a:buChar char="•"/>
              <a:tabLst>
                <a:tab pos="755015" algn="l"/>
                <a:tab pos="755650" algn="l"/>
              </a:tabLst>
            </a:pPr>
            <a:r>
              <a:rPr sz="2000" spc="-10" dirty="0">
                <a:solidFill>
                  <a:srgbClr val="3333CC"/>
                </a:solidFill>
                <a:latin typeface="Comic Sans MS"/>
                <a:cs typeface="Comic Sans MS"/>
              </a:rPr>
              <a:t>Boxplot: </a:t>
            </a:r>
            <a:r>
              <a:rPr sz="2000" spc="-5" dirty="0">
                <a:solidFill>
                  <a:srgbClr val="3333CC"/>
                </a:solidFill>
                <a:latin typeface="Comic Sans MS"/>
                <a:cs typeface="Comic Sans MS"/>
              </a:rPr>
              <a:t>An observation is an </a:t>
            </a:r>
            <a:r>
              <a:rPr sz="2000" spc="-5" dirty="0">
                <a:solidFill>
                  <a:srgbClr val="0000CC"/>
                </a:solidFill>
                <a:latin typeface="Comic Sans MS"/>
                <a:cs typeface="Comic Sans MS"/>
              </a:rPr>
              <a:t>extreme </a:t>
            </a:r>
            <a:r>
              <a:rPr sz="2000" spc="-10" dirty="0">
                <a:solidFill>
                  <a:srgbClr val="3333CC"/>
                </a:solidFill>
                <a:latin typeface="Comic Sans MS"/>
                <a:cs typeface="Comic Sans MS"/>
              </a:rPr>
              <a:t>outlier</a:t>
            </a:r>
            <a:r>
              <a:rPr sz="2000" spc="114" dirty="0">
                <a:solidFill>
                  <a:srgbClr val="3333CC"/>
                </a:solidFill>
                <a:latin typeface="Comic Sans MS"/>
                <a:cs typeface="Comic Sans MS"/>
              </a:rPr>
              <a:t> </a:t>
            </a:r>
            <a:r>
              <a:rPr sz="2000" spc="-10" dirty="0">
                <a:solidFill>
                  <a:srgbClr val="3333CC"/>
                </a:solidFill>
                <a:latin typeface="Comic Sans MS"/>
                <a:cs typeface="Comic Sans MS"/>
              </a:rPr>
              <a:t>if</a:t>
            </a:r>
            <a:endParaRPr sz="2000">
              <a:latin typeface="Comic Sans MS"/>
              <a:cs typeface="Comic Sans MS"/>
            </a:endParaRPr>
          </a:p>
          <a:p>
            <a:pPr marL="1840864">
              <a:lnSpc>
                <a:spcPct val="100000"/>
              </a:lnSpc>
              <a:spcBef>
                <a:spcPts val="1220"/>
              </a:spcBef>
              <a:tabLst>
                <a:tab pos="5046980" algn="l"/>
              </a:tabLst>
            </a:pPr>
            <a:r>
              <a:rPr sz="2000" spc="-5" dirty="0">
                <a:latin typeface="Comic Sans MS"/>
                <a:cs typeface="Comic Sans MS"/>
              </a:rPr>
              <a:t>(Q1-3</a:t>
            </a:r>
            <a:r>
              <a:rPr sz="2000" spc="-5" dirty="0">
                <a:latin typeface="Symbol"/>
                <a:cs typeface="Symbol"/>
              </a:rPr>
              <a:t></a:t>
            </a:r>
            <a:r>
              <a:rPr sz="2000" spc="-5" dirty="0">
                <a:latin typeface="Comic Sans MS"/>
                <a:cs typeface="Comic Sans MS"/>
              </a:rPr>
              <a:t>IQR,</a:t>
            </a:r>
            <a:r>
              <a:rPr sz="2000" spc="20" dirty="0">
                <a:latin typeface="Comic Sans MS"/>
                <a:cs typeface="Comic Sans MS"/>
              </a:rPr>
              <a:t> </a:t>
            </a:r>
            <a:r>
              <a:rPr sz="2000" spc="-5" dirty="0">
                <a:latin typeface="Comic Sans MS"/>
                <a:cs typeface="Comic Sans MS"/>
              </a:rPr>
              <a:t>Q3+3</a:t>
            </a:r>
            <a:r>
              <a:rPr sz="2000" spc="-5" dirty="0">
                <a:latin typeface="Symbol"/>
                <a:cs typeface="Symbol"/>
              </a:rPr>
              <a:t></a:t>
            </a:r>
            <a:r>
              <a:rPr sz="2000" spc="-5" dirty="0">
                <a:latin typeface="Comic Sans MS"/>
                <a:cs typeface="Comic Sans MS"/>
              </a:rPr>
              <a:t>IQR),	</a:t>
            </a:r>
            <a:r>
              <a:rPr sz="2000" spc="-10" dirty="0">
                <a:latin typeface="Comic Sans MS"/>
                <a:cs typeface="Comic Sans MS"/>
              </a:rPr>
              <a:t>where</a:t>
            </a:r>
            <a:r>
              <a:rPr sz="2000" dirty="0">
                <a:latin typeface="Comic Sans MS"/>
                <a:cs typeface="Comic Sans MS"/>
              </a:rPr>
              <a:t> </a:t>
            </a:r>
            <a:r>
              <a:rPr sz="2000" spc="-10" dirty="0">
                <a:latin typeface="Comic Sans MS"/>
                <a:cs typeface="Comic Sans MS"/>
              </a:rPr>
              <a:t>IQR=Q3-Q1</a:t>
            </a:r>
            <a:endParaRPr sz="2000">
              <a:latin typeface="Comic Sans MS"/>
              <a:cs typeface="Comic Sans MS"/>
            </a:endParaRPr>
          </a:p>
          <a:p>
            <a:pPr marL="3977004">
              <a:lnSpc>
                <a:spcPct val="100000"/>
              </a:lnSpc>
              <a:spcBef>
                <a:spcPts val="1175"/>
              </a:spcBef>
            </a:pPr>
            <a:r>
              <a:rPr sz="2100" i="1" spc="-55" dirty="0">
                <a:solidFill>
                  <a:srgbClr val="008000"/>
                </a:solidFill>
                <a:latin typeface="Tahoma"/>
                <a:cs typeface="Tahoma"/>
              </a:rPr>
              <a:t>(IQR </a:t>
            </a:r>
            <a:r>
              <a:rPr sz="2100" i="1" spc="-75" dirty="0">
                <a:solidFill>
                  <a:srgbClr val="008000"/>
                </a:solidFill>
                <a:latin typeface="Tahoma"/>
                <a:cs typeface="Tahoma"/>
              </a:rPr>
              <a:t>= </a:t>
            </a:r>
            <a:r>
              <a:rPr sz="2100" i="1" spc="-50" dirty="0">
                <a:solidFill>
                  <a:srgbClr val="008000"/>
                </a:solidFill>
                <a:latin typeface="Tahoma"/>
                <a:cs typeface="Tahoma"/>
              </a:rPr>
              <a:t>Inter </a:t>
            </a:r>
            <a:r>
              <a:rPr sz="2100" i="1" spc="-45" dirty="0">
                <a:solidFill>
                  <a:srgbClr val="008000"/>
                </a:solidFill>
                <a:latin typeface="Tahoma"/>
                <a:cs typeface="Tahoma"/>
              </a:rPr>
              <a:t>Quartile</a:t>
            </a:r>
            <a:r>
              <a:rPr sz="2100" i="1" spc="45" dirty="0">
                <a:solidFill>
                  <a:srgbClr val="008000"/>
                </a:solidFill>
                <a:latin typeface="Tahoma"/>
                <a:cs typeface="Tahoma"/>
              </a:rPr>
              <a:t> </a:t>
            </a:r>
            <a:r>
              <a:rPr sz="2100" i="1" spc="-55" dirty="0">
                <a:solidFill>
                  <a:srgbClr val="008000"/>
                </a:solidFill>
                <a:latin typeface="Tahoma"/>
                <a:cs typeface="Tahoma"/>
              </a:rPr>
              <a:t>Range)</a:t>
            </a:r>
            <a:endParaRPr sz="2100">
              <a:latin typeface="Tahoma"/>
              <a:cs typeface="Tahoma"/>
            </a:endParaRPr>
          </a:p>
          <a:p>
            <a:pPr>
              <a:lnSpc>
                <a:spcPct val="100000"/>
              </a:lnSpc>
              <a:spcBef>
                <a:spcPts val="5"/>
              </a:spcBef>
            </a:pPr>
            <a:endParaRPr sz="3650">
              <a:latin typeface="Times New Roman"/>
              <a:cs typeface="Times New Roman"/>
            </a:endParaRPr>
          </a:p>
          <a:p>
            <a:pPr marL="3419475" marR="5080">
              <a:lnSpc>
                <a:spcPct val="100000"/>
              </a:lnSpc>
              <a:spcBef>
                <a:spcPts val="5"/>
              </a:spcBef>
            </a:pPr>
            <a:r>
              <a:rPr sz="2000" spc="-5" dirty="0">
                <a:solidFill>
                  <a:srgbClr val="3333CC"/>
                </a:solidFill>
                <a:latin typeface="Comic Sans MS"/>
                <a:cs typeface="Comic Sans MS"/>
              </a:rPr>
              <a:t>and </a:t>
            </a:r>
            <a:r>
              <a:rPr sz="2000" spc="-10" dirty="0">
                <a:solidFill>
                  <a:srgbClr val="3333CC"/>
                </a:solidFill>
                <a:latin typeface="Comic Sans MS"/>
                <a:cs typeface="Comic Sans MS"/>
              </a:rPr>
              <a:t>declared </a:t>
            </a:r>
            <a:r>
              <a:rPr sz="2000" spc="-5" dirty="0">
                <a:solidFill>
                  <a:srgbClr val="3333CC"/>
                </a:solidFill>
                <a:latin typeface="Comic Sans MS"/>
                <a:cs typeface="Comic Sans MS"/>
              </a:rPr>
              <a:t>a </a:t>
            </a:r>
            <a:r>
              <a:rPr sz="2000" spc="-5" dirty="0">
                <a:solidFill>
                  <a:srgbClr val="0000CC"/>
                </a:solidFill>
                <a:latin typeface="Comic Sans MS"/>
                <a:cs typeface="Comic Sans MS"/>
              </a:rPr>
              <a:t>mild </a:t>
            </a:r>
            <a:r>
              <a:rPr sz="2000" spc="-10" dirty="0">
                <a:solidFill>
                  <a:srgbClr val="3333CC"/>
                </a:solidFill>
                <a:latin typeface="Comic Sans MS"/>
                <a:cs typeface="Comic Sans MS"/>
              </a:rPr>
              <a:t>outlier </a:t>
            </a:r>
            <a:r>
              <a:rPr sz="2000" spc="-5" dirty="0">
                <a:solidFill>
                  <a:srgbClr val="3333CC"/>
                </a:solidFill>
                <a:latin typeface="Comic Sans MS"/>
                <a:cs typeface="Comic Sans MS"/>
              </a:rPr>
              <a:t>if it </a:t>
            </a:r>
            <a:r>
              <a:rPr sz="2000" spc="-10" dirty="0">
                <a:solidFill>
                  <a:srgbClr val="3333CC"/>
                </a:solidFill>
                <a:latin typeface="Comic Sans MS"/>
                <a:cs typeface="Comic Sans MS"/>
              </a:rPr>
              <a:t>lies  outside </a:t>
            </a:r>
            <a:r>
              <a:rPr sz="2000" spc="-5" dirty="0">
                <a:solidFill>
                  <a:srgbClr val="3333CC"/>
                </a:solidFill>
                <a:latin typeface="Comic Sans MS"/>
                <a:cs typeface="Comic Sans MS"/>
              </a:rPr>
              <a:t>of the</a:t>
            </a:r>
            <a:r>
              <a:rPr sz="2000" spc="20" dirty="0">
                <a:solidFill>
                  <a:srgbClr val="3333CC"/>
                </a:solidFill>
                <a:latin typeface="Comic Sans MS"/>
                <a:cs typeface="Comic Sans MS"/>
              </a:rPr>
              <a:t> </a:t>
            </a:r>
            <a:r>
              <a:rPr sz="2000" spc="-10" dirty="0">
                <a:solidFill>
                  <a:srgbClr val="3333CC"/>
                </a:solidFill>
                <a:latin typeface="Comic Sans MS"/>
                <a:cs typeface="Comic Sans MS"/>
              </a:rPr>
              <a:t>interval</a:t>
            </a:r>
            <a:endParaRPr sz="2000">
              <a:latin typeface="Comic Sans MS"/>
              <a:cs typeface="Comic Sans MS"/>
            </a:endParaRPr>
          </a:p>
          <a:p>
            <a:pPr marL="3684270">
              <a:lnSpc>
                <a:spcPct val="100000"/>
              </a:lnSpc>
              <a:spcBef>
                <a:spcPts val="975"/>
              </a:spcBef>
            </a:pPr>
            <a:r>
              <a:rPr sz="2000" spc="-5" dirty="0">
                <a:latin typeface="Comic Sans MS"/>
                <a:cs typeface="Comic Sans MS"/>
              </a:rPr>
              <a:t>(Q1-1.5</a:t>
            </a:r>
            <a:r>
              <a:rPr sz="2000" spc="-5" dirty="0">
                <a:latin typeface="Symbol"/>
                <a:cs typeface="Symbol"/>
              </a:rPr>
              <a:t></a:t>
            </a:r>
            <a:r>
              <a:rPr sz="2000" spc="-5" dirty="0">
                <a:latin typeface="Comic Sans MS"/>
                <a:cs typeface="Comic Sans MS"/>
              </a:rPr>
              <a:t>IQR,</a:t>
            </a:r>
            <a:r>
              <a:rPr sz="2000" spc="5" dirty="0">
                <a:latin typeface="Comic Sans MS"/>
                <a:cs typeface="Comic Sans MS"/>
              </a:rPr>
              <a:t> </a:t>
            </a:r>
            <a:r>
              <a:rPr sz="2000" spc="-5" dirty="0">
                <a:latin typeface="Comic Sans MS"/>
                <a:cs typeface="Comic Sans MS"/>
              </a:rPr>
              <a:t>Q3+1.5</a:t>
            </a:r>
            <a:r>
              <a:rPr sz="2000" spc="-5" dirty="0">
                <a:latin typeface="Symbol"/>
                <a:cs typeface="Symbol"/>
              </a:rPr>
              <a:t></a:t>
            </a:r>
            <a:r>
              <a:rPr sz="2000" spc="-5" dirty="0">
                <a:latin typeface="Comic Sans MS"/>
                <a:cs typeface="Comic Sans MS"/>
              </a:rPr>
              <a:t>IQR).</a:t>
            </a:r>
            <a:endParaRPr sz="2000">
              <a:latin typeface="Comic Sans MS"/>
              <a:cs typeface="Comic Sans MS"/>
            </a:endParaRPr>
          </a:p>
        </p:txBody>
      </p:sp>
      <p:sp>
        <p:nvSpPr>
          <p:cNvPr id="5" name="object 5"/>
          <p:cNvSpPr txBox="1"/>
          <p:nvPr/>
        </p:nvSpPr>
        <p:spPr>
          <a:xfrm>
            <a:off x="4796923" y="6793284"/>
            <a:ext cx="33337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hlinkClick r:id="rId2"/>
              </a:rPr>
              <a:t>http://www.physics.csbsju.edu/stats/box2.html</a:t>
            </a:r>
            <a:endParaRPr sz="1400">
              <a:latin typeface="Times New Roman"/>
              <a:cs typeface="Times New Roman"/>
            </a:endParaRPr>
          </a:p>
        </p:txBody>
      </p:sp>
      <p:sp>
        <p:nvSpPr>
          <p:cNvPr id="6" name="object 6"/>
          <p:cNvSpPr/>
          <p:nvPr/>
        </p:nvSpPr>
        <p:spPr>
          <a:xfrm>
            <a:off x="1056779" y="3441191"/>
            <a:ext cx="3534155" cy="363702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52969" y="3435096"/>
            <a:ext cx="3543300" cy="3648710"/>
          </a:xfrm>
          <a:custGeom>
            <a:avLst/>
            <a:gdLst/>
            <a:ahLst/>
            <a:cxnLst/>
            <a:rect l="l" t="t" r="r" b="b"/>
            <a:pathLst>
              <a:path w="3543300" h="3648709">
                <a:moveTo>
                  <a:pt x="3543300" y="3648455"/>
                </a:moveTo>
                <a:lnTo>
                  <a:pt x="3543300" y="0"/>
                </a:lnTo>
                <a:lnTo>
                  <a:pt x="0" y="0"/>
                </a:lnTo>
                <a:lnTo>
                  <a:pt x="0" y="3648455"/>
                </a:lnTo>
                <a:lnTo>
                  <a:pt x="4571" y="3648455"/>
                </a:lnTo>
                <a:lnTo>
                  <a:pt x="4571" y="9905"/>
                </a:lnTo>
                <a:lnTo>
                  <a:pt x="9905" y="5333"/>
                </a:lnTo>
                <a:lnTo>
                  <a:pt x="9905" y="9905"/>
                </a:lnTo>
                <a:lnTo>
                  <a:pt x="3534155" y="9905"/>
                </a:lnTo>
                <a:lnTo>
                  <a:pt x="3534155" y="5333"/>
                </a:lnTo>
                <a:lnTo>
                  <a:pt x="3538728" y="9905"/>
                </a:lnTo>
                <a:lnTo>
                  <a:pt x="3538728" y="3648455"/>
                </a:lnTo>
                <a:lnTo>
                  <a:pt x="3543300" y="3648455"/>
                </a:lnTo>
                <a:close/>
              </a:path>
              <a:path w="3543300" h="3648709">
                <a:moveTo>
                  <a:pt x="9905" y="9905"/>
                </a:moveTo>
                <a:lnTo>
                  <a:pt x="9905" y="5333"/>
                </a:lnTo>
                <a:lnTo>
                  <a:pt x="4571" y="9905"/>
                </a:lnTo>
                <a:lnTo>
                  <a:pt x="9905" y="9905"/>
                </a:lnTo>
                <a:close/>
              </a:path>
              <a:path w="3543300" h="3648709">
                <a:moveTo>
                  <a:pt x="9905" y="3638550"/>
                </a:moveTo>
                <a:lnTo>
                  <a:pt x="9905" y="9905"/>
                </a:lnTo>
                <a:lnTo>
                  <a:pt x="4571" y="9905"/>
                </a:lnTo>
                <a:lnTo>
                  <a:pt x="4572" y="3638550"/>
                </a:lnTo>
                <a:lnTo>
                  <a:pt x="9905" y="3638550"/>
                </a:lnTo>
                <a:close/>
              </a:path>
              <a:path w="3543300" h="3648709">
                <a:moveTo>
                  <a:pt x="3538728" y="3638550"/>
                </a:moveTo>
                <a:lnTo>
                  <a:pt x="4572" y="3638550"/>
                </a:lnTo>
                <a:lnTo>
                  <a:pt x="9905" y="3643883"/>
                </a:lnTo>
                <a:lnTo>
                  <a:pt x="9905" y="3648455"/>
                </a:lnTo>
                <a:lnTo>
                  <a:pt x="3534156" y="3648455"/>
                </a:lnTo>
                <a:lnTo>
                  <a:pt x="3534156" y="3643883"/>
                </a:lnTo>
                <a:lnTo>
                  <a:pt x="3538728" y="3638550"/>
                </a:lnTo>
                <a:close/>
              </a:path>
              <a:path w="3543300" h="3648709">
                <a:moveTo>
                  <a:pt x="9905" y="3648455"/>
                </a:moveTo>
                <a:lnTo>
                  <a:pt x="9905" y="3643883"/>
                </a:lnTo>
                <a:lnTo>
                  <a:pt x="4572" y="3638550"/>
                </a:lnTo>
                <a:lnTo>
                  <a:pt x="4571" y="3648455"/>
                </a:lnTo>
                <a:lnTo>
                  <a:pt x="9905" y="3648455"/>
                </a:lnTo>
                <a:close/>
              </a:path>
              <a:path w="3543300" h="3648709">
                <a:moveTo>
                  <a:pt x="3538728" y="9905"/>
                </a:moveTo>
                <a:lnTo>
                  <a:pt x="3534155" y="5333"/>
                </a:lnTo>
                <a:lnTo>
                  <a:pt x="3534155" y="9905"/>
                </a:lnTo>
                <a:lnTo>
                  <a:pt x="3538728" y="9905"/>
                </a:lnTo>
                <a:close/>
              </a:path>
              <a:path w="3543300" h="3648709">
                <a:moveTo>
                  <a:pt x="3538728" y="3638550"/>
                </a:moveTo>
                <a:lnTo>
                  <a:pt x="3538728" y="9905"/>
                </a:lnTo>
                <a:lnTo>
                  <a:pt x="3534155" y="9905"/>
                </a:lnTo>
                <a:lnTo>
                  <a:pt x="3534156" y="3638550"/>
                </a:lnTo>
                <a:lnTo>
                  <a:pt x="3538728" y="3638550"/>
                </a:lnTo>
                <a:close/>
              </a:path>
              <a:path w="3543300" h="3648709">
                <a:moveTo>
                  <a:pt x="3538728" y="3648455"/>
                </a:moveTo>
                <a:lnTo>
                  <a:pt x="3538728" y="3638550"/>
                </a:lnTo>
                <a:lnTo>
                  <a:pt x="3534156" y="3643883"/>
                </a:lnTo>
                <a:lnTo>
                  <a:pt x="3534156" y="3648455"/>
                </a:lnTo>
                <a:lnTo>
                  <a:pt x="3538728" y="3648455"/>
                </a:lnTo>
                <a:close/>
              </a:path>
            </a:pathLst>
          </a:custGeom>
          <a:solidFill>
            <a:srgbClr val="000000"/>
          </a:solidFill>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74839" y="539495"/>
            <a:ext cx="5503163" cy="440664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946789" y="731238"/>
            <a:ext cx="609600" cy="739140"/>
          </a:xfrm>
          <a:custGeom>
            <a:avLst/>
            <a:gdLst/>
            <a:ahLst/>
            <a:cxnLst/>
            <a:rect l="l" t="t" r="r" b="b"/>
            <a:pathLst>
              <a:path w="609600" h="739140">
                <a:moveTo>
                  <a:pt x="609600" y="388138"/>
                </a:moveTo>
                <a:lnTo>
                  <a:pt x="609600" y="350038"/>
                </a:lnTo>
                <a:lnTo>
                  <a:pt x="608076" y="330988"/>
                </a:lnTo>
                <a:lnTo>
                  <a:pt x="601058" y="285351"/>
                </a:lnTo>
                <a:lnTo>
                  <a:pt x="590782" y="243099"/>
                </a:lnTo>
                <a:lnTo>
                  <a:pt x="577498" y="204232"/>
                </a:lnTo>
                <a:lnTo>
                  <a:pt x="561458" y="168749"/>
                </a:lnTo>
                <a:lnTo>
                  <a:pt x="522111" y="107935"/>
                </a:lnTo>
                <a:lnTo>
                  <a:pt x="474750" y="60655"/>
                </a:lnTo>
                <a:lnTo>
                  <a:pt x="421384" y="26908"/>
                </a:lnTo>
                <a:lnTo>
                  <a:pt x="364021" y="6690"/>
                </a:lnTo>
                <a:lnTo>
                  <a:pt x="304671" y="0"/>
                </a:lnTo>
                <a:lnTo>
                  <a:pt x="274878" y="1727"/>
                </a:lnTo>
                <a:lnTo>
                  <a:pt x="216312" y="15323"/>
                </a:lnTo>
                <a:lnTo>
                  <a:pt x="160780" y="42442"/>
                </a:lnTo>
                <a:lnTo>
                  <a:pt x="110290" y="83081"/>
                </a:lnTo>
                <a:lnTo>
                  <a:pt x="66851" y="137237"/>
                </a:lnTo>
                <a:lnTo>
                  <a:pt x="32473" y="204908"/>
                </a:lnTo>
                <a:lnTo>
                  <a:pt x="19308" y="243811"/>
                </a:lnTo>
                <a:lnTo>
                  <a:pt x="9162" y="286092"/>
                </a:lnTo>
                <a:lnTo>
                  <a:pt x="2285" y="331750"/>
                </a:lnTo>
                <a:lnTo>
                  <a:pt x="0" y="369088"/>
                </a:lnTo>
                <a:lnTo>
                  <a:pt x="1524" y="407188"/>
                </a:lnTo>
                <a:lnTo>
                  <a:pt x="3810" y="425476"/>
                </a:lnTo>
                <a:lnTo>
                  <a:pt x="6858" y="443764"/>
                </a:lnTo>
                <a:lnTo>
                  <a:pt x="9906" y="457506"/>
                </a:lnTo>
                <a:lnTo>
                  <a:pt x="9905" y="350038"/>
                </a:lnTo>
                <a:lnTo>
                  <a:pt x="12953" y="314224"/>
                </a:lnTo>
                <a:lnTo>
                  <a:pt x="21187" y="268604"/>
                </a:lnTo>
                <a:lnTo>
                  <a:pt x="34641" y="223942"/>
                </a:lnTo>
                <a:lnTo>
                  <a:pt x="53109" y="181132"/>
                </a:lnTo>
                <a:lnTo>
                  <a:pt x="76387" y="141073"/>
                </a:lnTo>
                <a:lnTo>
                  <a:pt x="104270" y="104660"/>
                </a:lnTo>
                <a:lnTo>
                  <a:pt x="136551" y="72790"/>
                </a:lnTo>
                <a:lnTo>
                  <a:pt x="173026" y="46359"/>
                </a:lnTo>
                <a:lnTo>
                  <a:pt x="213490" y="26263"/>
                </a:lnTo>
                <a:lnTo>
                  <a:pt x="257737" y="13399"/>
                </a:lnTo>
                <a:lnTo>
                  <a:pt x="304671" y="8751"/>
                </a:lnTo>
                <a:lnTo>
                  <a:pt x="307550" y="8762"/>
                </a:lnTo>
                <a:lnTo>
                  <a:pt x="380376" y="20557"/>
                </a:lnTo>
                <a:lnTo>
                  <a:pt x="421699" y="37911"/>
                </a:lnTo>
                <a:lnTo>
                  <a:pt x="459101" y="61451"/>
                </a:lnTo>
                <a:lnTo>
                  <a:pt x="492439" y="90379"/>
                </a:lnTo>
                <a:lnTo>
                  <a:pt x="521565" y="123901"/>
                </a:lnTo>
                <a:lnTo>
                  <a:pt x="546334" y="161218"/>
                </a:lnTo>
                <a:lnTo>
                  <a:pt x="566601" y="201534"/>
                </a:lnTo>
                <a:lnTo>
                  <a:pt x="582220" y="244053"/>
                </a:lnTo>
                <a:lnTo>
                  <a:pt x="593045" y="287978"/>
                </a:lnTo>
                <a:lnTo>
                  <a:pt x="598932" y="332512"/>
                </a:lnTo>
                <a:lnTo>
                  <a:pt x="600456" y="369088"/>
                </a:lnTo>
                <a:lnTo>
                  <a:pt x="600456" y="458442"/>
                </a:lnTo>
                <a:lnTo>
                  <a:pt x="605447" y="434018"/>
                </a:lnTo>
                <a:lnTo>
                  <a:pt x="609600" y="388138"/>
                </a:lnTo>
                <a:close/>
              </a:path>
              <a:path w="609600" h="739140">
                <a:moveTo>
                  <a:pt x="600456" y="458442"/>
                </a:moveTo>
                <a:lnTo>
                  <a:pt x="600456" y="369088"/>
                </a:lnTo>
                <a:lnTo>
                  <a:pt x="599694" y="387376"/>
                </a:lnTo>
                <a:lnTo>
                  <a:pt x="594802" y="433208"/>
                </a:lnTo>
                <a:lnTo>
                  <a:pt x="586380" y="475847"/>
                </a:lnTo>
                <a:lnTo>
                  <a:pt x="574694" y="515266"/>
                </a:lnTo>
                <a:lnTo>
                  <a:pt x="560015" y="551437"/>
                </a:lnTo>
                <a:lnTo>
                  <a:pt x="522746" y="613926"/>
                </a:lnTo>
                <a:lnTo>
                  <a:pt x="476703" y="663108"/>
                </a:lnTo>
                <a:lnTo>
                  <a:pt x="424080" y="698727"/>
                </a:lnTo>
                <a:lnTo>
                  <a:pt x="366975" y="720599"/>
                </a:lnTo>
                <a:lnTo>
                  <a:pt x="307550" y="728494"/>
                </a:lnTo>
                <a:lnTo>
                  <a:pt x="277638" y="727131"/>
                </a:lnTo>
                <a:lnTo>
                  <a:pt x="218757" y="713648"/>
                </a:lnTo>
                <a:lnTo>
                  <a:pt x="162921" y="685639"/>
                </a:lnTo>
                <a:lnTo>
                  <a:pt x="112277" y="642884"/>
                </a:lnTo>
                <a:lnTo>
                  <a:pt x="68970" y="585164"/>
                </a:lnTo>
                <a:lnTo>
                  <a:pt x="50739" y="550624"/>
                </a:lnTo>
                <a:lnTo>
                  <a:pt x="35147" y="512260"/>
                </a:lnTo>
                <a:lnTo>
                  <a:pt x="22462" y="470045"/>
                </a:lnTo>
                <a:lnTo>
                  <a:pt x="12954" y="423952"/>
                </a:lnTo>
                <a:lnTo>
                  <a:pt x="9906" y="387376"/>
                </a:lnTo>
                <a:lnTo>
                  <a:pt x="9906" y="457506"/>
                </a:lnTo>
                <a:lnTo>
                  <a:pt x="32830" y="535130"/>
                </a:lnTo>
                <a:lnTo>
                  <a:pt x="53642" y="577812"/>
                </a:lnTo>
                <a:lnTo>
                  <a:pt x="79319" y="617323"/>
                </a:lnTo>
                <a:lnTo>
                  <a:pt x="109599" y="652786"/>
                </a:lnTo>
                <a:lnTo>
                  <a:pt x="144217" y="683323"/>
                </a:lnTo>
                <a:lnTo>
                  <a:pt x="182910" y="708056"/>
                </a:lnTo>
                <a:lnTo>
                  <a:pt x="225414" y="726108"/>
                </a:lnTo>
                <a:lnTo>
                  <a:pt x="271466" y="736601"/>
                </a:lnTo>
                <a:lnTo>
                  <a:pt x="320802" y="738658"/>
                </a:lnTo>
                <a:lnTo>
                  <a:pt x="336804" y="737134"/>
                </a:lnTo>
                <a:lnTo>
                  <a:pt x="397680" y="721692"/>
                </a:lnTo>
                <a:lnTo>
                  <a:pt x="439281" y="701464"/>
                </a:lnTo>
                <a:lnTo>
                  <a:pt x="476719" y="675009"/>
                </a:lnTo>
                <a:lnTo>
                  <a:pt x="509804" y="643230"/>
                </a:lnTo>
                <a:lnTo>
                  <a:pt x="538438" y="606942"/>
                </a:lnTo>
                <a:lnTo>
                  <a:pt x="562463" y="567018"/>
                </a:lnTo>
                <a:lnTo>
                  <a:pt x="581736" y="524316"/>
                </a:lnTo>
                <a:lnTo>
                  <a:pt x="596111" y="479697"/>
                </a:lnTo>
                <a:lnTo>
                  <a:pt x="600456" y="458442"/>
                </a:lnTo>
                <a:close/>
              </a:path>
            </a:pathLst>
          </a:custGeom>
          <a:solidFill>
            <a:srgbClr val="FF0000"/>
          </a:solidFill>
        </p:spPr>
        <p:txBody>
          <a:bodyPr wrap="square" lIns="0" tIns="0" rIns="0" bIns="0" rtlCol="0"/>
          <a:lstStyle/>
          <a:p>
            <a:endParaRPr/>
          </a:p>
        </p:txBody>
      </p:sp>
      <p:sp>
        <p:nvSpPr>
          <p:cNvPr id="4" name="object 4"/>
          <p:cNvSpPr/>
          <p:nvPr/>
        </p:nvSpPr>
        <p:spPr>
          <a:xfrm>
            <a:off x="7233539" y="2102358"/>
            <a:ext cx="1521713" cy="4677155"/>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273175" y="4699253"/>
            <a:ext cx="222250" cy="611505"/>
          </a:xfrm>
          <a:custGeom>
            <a:avLst/>
            <a:gdLst/>
            <a:ahLst/>
            <a:cxnLst/>
            <a:rect l="l" t="t" r="r" b="b"/>
            <a:pathLst>
              <a:path w="222250" h="611504">
                <a:moveTo>
                  <a:pt x="120752" y="305429"/>
                </a:moveTo>
                <a:lnTo>
                  <a:pt x="98885" y="298275"/>
                </a:lnTo>
                <a:lnTo>
                  <a:pt x="73975" y="294241"/>
                </a:lnTo>
                <a:lnTo>
                  <a:pt x="48654" y="292247"/>
                </a:lnTo>
                <a:lnTo>
                  <a:pt x="25146" y="291084"/>
                </a:lnTo>
                <a:lnTo>
                  <a:pt x="6096" y="291084"/>
                </a:lnTo>
                <a:lnTo>
                  <a:pt x="0" y="297942"/>
                </a:lnTo>
                <a:lnTo>
                  <a:pt x="0" y="313182"/>
                </a:lnTo>
                <a:lnTo>
                  <a:pt x="6096" y="319278"/>
                </a:lnTo>
                <a:lnTo>
                  <a:pt x="13716" y="320040"/>
                </a:lnTo>
                <a:lnTo>
                  <a:pt x="14478" y="320040"/>
                </a:lnTo>
                <a:lnTo>
                  <a:pt x="24384" y="319278"/>
                </a:lnTo>
                <a:lnTo>
                  <a:pt x="47242" y="318980"/>
                </a:lnTo>
                <a:lnTo>
                  <a:pt x="72694" y="317034"/>
                </a:lnTo>
                <a:lnTo>
                  <a:pt x="97803" y="312971"/>
                </a:lnTo>
                <a:lnTo>
                  <a:pt x="119634" y="306324"/>
                </a:lnTo>
                <a:lnTo>
                  <a:pt x="120752" y="305429"/>
                </a:lnTo>
                <a:close/>
              </a:path>
              <a:path w="222250" h="611504">
                <a:moveTo>
                  <a:pt x="132588" y="573372"/>
                </a:moveTo>
                <a:lnTo>
                  <a:pt x="132588" y="321564"/>
                </a:lnTo>
                <a:lnTo>
                  <a:pt x="131826" y="320040"/>
                </a:lnTo>
                <a:lnTo>
                  <a:pt x="131826" y="318516"/>
                </a:lnTo>
                <a:lnTo>
                  <a:pt x="131064" y="316992"/>
                </a:lnTo>
                <a:lnTo>
                  <a:pt x="130302" y="314706"/>
                </a:lnTo>
                <a:lnTo>
                  <a:pt x="129540" y="313182"/>
                </a:lnTo>
                <a:lnTo>
                  <a:pt x="128016" y="311658"/>
                </a:lnTo>
                <a:lnTo>
                  <a:pt x="126492" y="309372"/>
                </a:lnTo>
                <a:lnTo>
                  <a:pt x="124968" y="307848"/>
                </a:lnTo>
                <a:lnTo>
                  <a:pt x="123444" y="307086"/>
                </a:lnTo>
                <a:lnTo>
                  <a:pt x="121158" y="305562"/>
                </a:lnTo>
                <a:lnTo>
                  <a:pt x="120752" y="305429"/>
                </a:lnTo>
                <a:lnTo>
                  <a:pt x="72694" y="317034"/>
                </a:lnTo>
                <a:lnTo>
                  <a:pt x="24384" y="319278"/>
                </a:lnTo>
                <a:lnTo>
                  <a:pt x="14478" y="320040"/>
                </a:lnTo>
                <a:lnTo>
                  <a:pt x="65460" y="321954"/>
                </a:lnTo>
                <a:lnTo>
                  <a:pt x="103632" y="329505"/>
                </a:lnTo>
                <a:lnTo>
                  <a:pt x="103632" y="323088"/>
                </a:lnTo>
                <a:lnTo>
                  <a:pt x="104335" y="326604"/>
                </a:lnTo>
                <a:lnTo>
                  <a:pt x="106299" y="330041"/>
                </a:lnTo>
                <a:lnTo>
                  <a:pt x="108204" y="331470"/>
                </a:lnTo>
                <a:lnTo>
                  <a:pt x="108204" y="590550"/>
                </a:lnTo>
                <a:lnTo>
                  <a:pt x="109728" y="592836"/>
                </a:lnTo>
                <a:lnTo>
                  <a:pt x="112014" y="595122"/>
                </a:lnTo>
                <a:lnTo>
                  <a:pt x="115062" y="596646"/>
                </a:lnTo>
                <a:lnTo>
                  <a:pt x="115824" y="597408"/>
                </a:lnTo>
                <a:lnTo>
                  <a:pt x="116586" y="597408"/>
                </a:lnTo>
                <a:lnTo>
                  <a:pt x="121920" y="599694"/>
                </a:lnTo>
                <a:lnTo>
                  <a:pt x="128016" y="601261"/>
                </a:lnTo>
                <a:lnTo>
                  <a:pt x="128016" y="570738"/>
                </a:lnTo>
                <a:lnTo>
                  <a:pt x="130302" y="572262"/>
                </a:lnTo>
                <a:lnTo>
                  <a:pt x="130302" y="572516"/>
                </a:lnTo>
                <a:lnTo>
                  <a:pt x="131064" y="573024"/>
                </a:lnTo>
                <a:lnTo>
                  <a:pt x="132588" y="573372"/>
                </a:lnTo>
                <a:close/>
              </a:path>
              <a:path w="222250" h="611504">
                <a:moveTo>
                  <a:pt x="106382" y="280713"/>
                </a:moveTo>
                <a:lnTo>
                  <a:pt x="88850" y="285640"/>
                </a:lnTo>
                <a:lnTo>
                  <a:pt x="66641" y="288655"/>
                </a:lnTo>
                <a:lnTo>
                  <a:pt x="44068" y="290217"/>
                </a:lnTo>
                <a:lnTo>
                  <a:pt x="24384" y="291084"/>
                </a:lnTo>
                <a:lnTo>
                  <a:pt x="25146" y="291084"/>
                </a:lnTo>
                <a:lnTo>
                  <a:pt x="48654" y="292247"/>
                </a:lnTo>
                <a:lnTo>
                  <a:pt x="73975" y="294241"/>
                </a:lnTo>
                <a:lnTo>
                  <a:pt x="98885" y="298275"/>
                </a:lnTo>
                <a:lnTo>
                  <a:pt x="103632" y="299828"/>
                </a:lnTo>
                <a:lnTo>
                  <a:pt x="103632" y="285750"/>
                </a:lnTo>
                <a:lnTo>
                  <a:pt x="104394" y="284226"/>
                </a:lnTo>
                <a:lnTo>
                  <a:pt x="104394" y="284416"/>
                </a:lnTo>
                <a:lnTo>
                  <a:pt x="105156" y="283083"/>
                </a:lnTo>
                <a:lnTo>
                  <a:pt x="105156" y="281940"/>
                </a:lnTo>
                <a:lnTo>
                  <a:pt x="106382" y="280713"/>
                </a:lnTo>
                <a:close/>
              </a:path>
              <a:path w="222250" h="611504">
                <a:moveTo>
                  <a:pt x="221742" y="28194"/>
                </a:moveTo>
                <a:lnTo>
                  <a:pt x="221742" y="0"/>
                </a:lnTo>
                <a:lnTo>
                  <a:pt x="211074" y="0"/>
                </a:lnTo>
                <a:lnTo>
                  <a:pt x="165315" y="2671"/>
                </a:lnTo>
                <a:lnTo>
                  <a:pt x="120396" y="11430"/>
                </a:lnTo>
                <a:lnTo>
                  <a:pt x="116586" y="13716"/>
                </a:lnTo>
                <a:lnTo>
                  <a:pt x="115062" y="13716"/>
                </a:lnTo>
                <a:lnTo>
                  <a:pt x="115062" y="14478"/>
                </a:lnTo>
                <a:lnTo>
                  <a:pt x="112014" y="16002"/>
                </a:lnTo>
                <a:lnTo>
                  <a:pt x="106680" y="21336"/>
                </a:lnTo>
                <a:lnTo>
                  <a:pt x="105156" y="23622"/>
                </a:lnTo>
                <a:lnTo>
                  <a:pt x="104394" y="25908"/>
                </a:lnTo>
                <a:lnTo>
                  <a:pt x="104394" y="27432"/>
                </a:lnTo>
                <a:lnTo>
                  <a:pt x="103632" y="28956"/>
                </a:lnTo>
                <a:lnTo>
                  <a:pt x="103632" y="281486"/>
                </a:lnTo>
                <a:lnTo>
                  <a:pt x="106382" y="280713"/>
                </a:lnTo>
                <a:lnTo>
                  <a:pt x="106680" y="280416"/>
                </a:lnTo>
                <a:lnTo>
                  <a:pt x="106680" y="280630"/>
                </a:lnTo>
                <a:lnTo>
                  <a:pt x="107035" y="280530"/>
                </a:lnTo>
                <a:lnTo>
                  <a:pt x="108204" y="279654"/>
                </a:lnTo>
                <a:lnTo>
                  <a:pt x="108204" y="301324"/>
                </a:lnTo>
                <a:lnTo>
                  <a:pt x="120752" y="305429"/>
                </a:lnTo>
                <a:lnTo>
                  <a:pt x="123444" y="303276"/>
                </a:lnTo>
                <a:lnTo>
                  <a:pt x="124968" y="303276"/>
                </a:lnTo>
                <a:lnTo>
                  <a:pt x="125730" y="301752"/>
                </a:lnTo>
                <a:lnTo>
                  <a:pt x="128016" y="299466"/>
                </a:lnTo>
                <a:lnTo>
                  <a:pt x="128016" y="40386"/>
                </a:lnTo>
                <a:lnTo>
                  <a:pt x="129159" y="38862"/>
                </a:lnTo>
                <a:lnTo>
                  <a:pt x="131826" y="33528"/>
                </a:lnTo>
                <a:lnTo>
                  <a:pt x="131826" y="35814"/>
                </a:lnTo>
                <a:lnTo>
                  <a:pt x="132588" y="31242"/>
                </a:lnTo>
                <a:lnTo>
                  <a:pt x="132588" y="37904"/>
                </a:lnTo>
                <a:lnTo>
                  <a:pt x="150746" y="33250"/>
                </a:lnTo>
                <a:lnTo>
                  <a:pt x="171364" y="30594"/>
                </a:lnTo>
                <a:lnTo>
                  <a:pt x="192283" y="29206"/>
                </a:lnTo>
                <a:lnTo>
                  <a:pt x="211074" y="28233"/>
                </a:lnTo>
                <a:lnTo>
                  <a:pt x="221742" y="28194"/>
                </a:lnTo>
                <a:close/>
              </a:path>
              <a:path w="222250" h="611504">
                <a:moveTo>
                  <a:pt x="104394" y="284226"/>
                </a:moveTo>
                <a:lnTo>
                  <a:pt x="103632" y="285750"/>
                </a:lnTo>
                <a:lnTo>
                  <a:pt x="104335" y="284519"/>
                </a:lnTo>
                <a:lnTo>
                  <a:pt x="104394" y="284226"/>
                </a:lnTo>
                <a:close/>
              </a:path>
              <a:path w="222250" h="611504">
                <a:moveTo>
                  <a:pt x="104335" y="284519"/>
                </a:moveTo>
                <a:lnTo>
                  <a:pt x="103632" y="285750"/>
                </a:lnTo>
                <a:lnTo>
                  <a:pt x="103632" y="288036"/>
                </a:lnTo>
                <a:lnTo>
                  <a:pt x="104335" y="284519"/>
                </a:lnTo>
                <a:close/>
              </a:path>
              <a:path w="222250" h="611504">
                <a:moveTo>
                  <a:pt x="108204" y="301324"/>
                </a:moveTo>
                <a:lnTo>
                  <a:pt x="108204" y="279654"/>
                </a:lnTo>
                <a:lnTo>
                  <a:pt x="107442" y="280416"/>
                </a:lnTo>
                <a:lnTo>
                  <a:pt x="107035" y="280530"/>
                </a:lnTo>
                <a:lnTo>
                  <a:pt x="106299" y="281082"/>
                </a:lnTo>
                <a:lnTo>
                  <a:pt x="104335" y="284519"/>
                </a:lnTo>
                <a:lnTo>
                  <a:pt x="103632" y="288036"/>
                </a:lnTo>
                <a:lnTo>
                  <a:pt x="103632" y="299828"/>
                </a:lnTo>
                <a:lnTo>
                  <a:pt x="108204" y="301324"/>
                </a:lnTo>
                <a:close/>
              </a:path>
              <a:path w="222250" h="611504">
                <a:moveTo>
                  <a:pt x="104335" y="326604"/>
                </a:moveTo>
                <a:lnTo>
                  <a:pt x="103632" y="323088"/>
                </a:lnTo>
                <a:lnTo>
                  <a:pt x="103632" y="325374"/>
                </a:lnTo>
                <a:lnTo>
                  <a:pt x="104335" y="326604"/>
                </a:lnTo>
                <a:close/>
              </a:path>
              <a:path w="222250" h="611504">
                <a:moveTo>
                  <a:pt x="104394" y="326898"/>
                </a:moveTo>
                <a:lnTo>
                  <a:pt x="104335" y="326604"/>
                </a:lnTo>
                <a:lnTo>
                  <a:pt x="103632" y="325374"/>
                </a:lnTo>
                <a:lnTo>
                  <a:pt x="104394" y="326898"/>
                </a:lnTo>
                <a:close/>
              </a:path>
              <a:path w="222250" h="611504">
                <a:moveTo>
                  <a:pt x="104394" y="329725"/>
                </a:moveTo>
                <a:lnTo>
                  <a:pt x="104394" y="326898"/>
                </a:lnTo>
                <a:lnTo>
                  <a:pt x="103632" y="325374"/>
                </a:lnTo>
                <a:lnTo>
                  <a:pt x="103632" y="329505"/>
                </a:lnTo>
                <a:lnTo>
                  <a:pt x="104394" y="329725"/>
                </a:lnTo>
                <a:close/>
              </a:path>
              <a:path w="222250" h="611504">
                <a:moveTo>
                  <a:pt x="108204" y="590550"/>
                </a:moveTo>
                <a:lnTo>
                  <a:pt x="108204" y="331470"/>
                </a:lnTo>
                <a:lnTo>
                  <a:pt x="105156" y="329946"/>
                </a:lnTo>
                <a:lnTo>
                  <a:pt x="103632" y="329505"/>
                </a:lnTo>
                <a:lnTo>
                  <a:pt x="103632" y="582168"/>
                </a:lnTo>
                <a:lnTo>
                  <a:pt x="104394" y="583692"/>
                </a:lnTo>
                <a:lnTo>
                  <a:pt x="104394" y="585216"/>
                </a:lnTo>
                <a:lnTo>
                  <a:pt x="105156" y="587502"/>
                </a:lnTo>
                <a:lnTo>
                  <a:pt x="108204" y="590550"/>
                </a:lnTo>
                <a:close/>
              </a:path>
              <a:path w="222250" h="611504">
                <a:moveTo>
                  <a:pt x="104394" y="284416"/>
                </a:moveTo>
                <a:lnTo>
                  <a:pt x="104394" y="284226"/>
                </a:lnTo>
                <a:lnTo>
                  <a:pt x="104335" y="284519"/>
                </a:lnTo>
                <a:close/>
              </a:path>
              <a:path w="222250" h="611504">
                <a:moveTo>
                  <a:pt x="106299" y="330041"/>
                </a:moveTo>
                <a:lnTo>
                  <a:pt x="104335" y="326604"/>
                </a:lnTo>
                <a:lnTo>
                  <a:pt x="104394" y="326898"/>
                </a:lnTo>
                <a:lnTo>
                  <a:pt x="104394" y="329725"/>
                </a:lnTo>
                <a:lnTo>
                  <a:pt x="105156" y="329946"/>
                </a:lnTo>
                <a:lnTo>
                  <a:pt x="105156" y="329184"/>
                </a:lnTo>
                <a:lnTo>
                  <a:pt x="106299" y="330041"/>
                </a:lnTo>
                <a:close/>
              </a:path>
              <a:path w="222250" h="611504">
                <a:moveTo>
                  <a:pt x="106534" y="280671"/>
                </a:moveTo>
                <a:lnTo>
                  <a:pt x="106299" y="280797"/>
                </a:lnTo>
                <a:lnTo>
                  <a:pt x="105156" y="281940"/>
                </a:lnTo>
                <a:lnTo>
                  <a:pt x="106299" y="281082"/>
                </a:lnTo>
                <a:lnTo>
                  <a:pt x="106534" y="280671"/>
                </a:lnTo>
                <a:close/>
              </a:path>
              <a:path w="222250" h="611504">
                <a:moveTo>
                  <a:pt x="106299" y="281082"/>
                </a:moveTo>
                <a:lnTo>
                  <a:pt x="105156" y="281940"/>
                </a:lnTo>
                <a:lnTo>
                  <a:pt x="105156" y="283083"/>
                </a:lnTo>
                <a:lnTo>
                  <a:pt x="106299" y="281082"/>
                </a:lnTo>
                <a:close/>
              </a:path>
              <a:path w="222250" h="611504">
                <a:moveTo>
                  <a:pt x="106680" y="330708"/>
                </a:moveTo>
                <a:lnTo>
                  <a:pt x="106299" y="330041"/>
                </a:lnTo>
                <a:lnTo>
                  <a:pt x="105156" y="329184"/>
                </a:lnTo>
                <a:lnTo>
                  <a:pt x="106680" y="330708"/>
                </a:lnTo>
                <a:close/>
              </a:path>
              <a:path w="222250" h="611504">
                <a:moveTo>
                  <a:pt x="106680" y="330708"/>
                </a:moveTo>
                <a:lnTo>
                  <a:pt x="105156" y="329184"/>
                </a:lnTo>
                <a:lnTo>
                  <a:pt x="105156" y="329946"/>
                </a:lnTo>
                <a:lnTo>
                  <a:pt x="106680" y="330708"/>
                </a:lnTo>
                <a:close/>
              </a:path>
              <a:path w="222250" h="611504">
                <a:moveTo>
                  <a:pt x="107035" y="280530"/>
                </a:moveTo>
                <a:lnTo>
                  <a:pt x="106534" y="280671"/>
                </a:lnTo>
                <a:lnTo>
                  <a:pt x="106299" y="281082"/>
                </a:lnTo>
                <a:lnTo>
                  <a:pt x="107035" y="280530"/>
                </a:lnTo>
                <a:close/>
              </a:path>
              <a:path w="222250" h="611504">
                <a:moveTo>
                  <a:pt x="108204" y="331470"/>
                </a:moveTo>
                <a:lnTo>
                  <a:pt x="106299" y="330041"/>
                </a:lnTo>
                <a:lnTo>
                  <a:pt x="106680" y="330707"/>
                </a:lnTo>
                <a:lnTo>
                  <a:pt x="108204" y="331470"/>
                </a:lnTo>
                <a:close/>
              </a:path>
              <a:path w="222250" h="611504">
                <a:moveTo>
                  <a:pt x="106680" y="280416"/>
                </a:moveTo>
                <a:lnTo>
                  <a:pt x="106382" y="280713"/>
                </a:lnTo>
                <a:lnTo>
                  <a:pt x="106534" y="280671"/>
                </a:lnTo>
                <a:lnTo>
                  <a:pt x="106680" y="280416"/>
                </a:lnTo>
                <a:close/>
              </a:path>
              <a:path w="222250" h="611504">
                <a:moveTo>
                  <a:pt x="106680" y="280630"/>
                </a:moveTo>
                <a:lnTo>
                  <a:pt x="106680" y="280416"/>
                </a:lnTo>
                <a:lnTo>
                  <a:pt x="106534" y="280671"/>
                </a:lnTo>
                <a:lnTo>
                  <a:pt x="106680" y="280630"/>
                </a:lnTo>
                <a:close/>
              </a:path>
              <a:path w="222250" h="611504">
                <a:moveTo>
                  <a:pt x="129159" y="38862"/>
                </a:moveTo>
                <a:lnTo>
                  <a:pt x="128016" y="40386"/>
                </a:lnTo>
                <a:lnTo>
                  <a:pt x="128778" y="39624"/>
                </a:lnTo>
                <a:lnTo>
                  <a:pt x="129159" y="38862"/>
                </a:lnTo>
                <a:close/>
              </a:path>
              <a:path w="222250" h="611504">
                <a:moveTo>
                  <a:pt x="132588" y="289560"/>
                </a:moveTo>
                <a:lnTo>
                  <a:pt x="132588" y="37904"/>
                </a:lnTo>
                <a:lnTo>
                  <a:pt x="131826" y="38100"/>
                </a:lnTo>
                <a:lnTo>
                  <a:pt x="128778" y="39624"/>
                </a:lnTo>
                <a:lnTo>
                  <a:pt x="128016" y="40386"/>
                </a:lnTo>
                <a:lnTo>
                  <a:pt x="128016" y="299466"/>
                </a:lnTo>
                <a:lnTo>
                  <a:pt x="129540" y="297942"/>
                </a:lnTo>
                <a:lnTo>
                  <a:pt x="130302" y="295656"/>
                </a:lnTo>
                <a:lnTo>
                  <a:pt x="131064" y="294132"/>
                </a:lnTo>
                <a:lnTo>
                  <a:pt x="131826" y="291846"/>
                </a:lnTo>
                <a:lnTo>
                  <a:pt x="131826" y="291084"/>
                </a:lnTo>
                <a:lnTo>
                  <a:pt x="132588" y="289560"/>
                </a:lnTo>
                <a:close/>
              </a:path>
              <a:path w="222250" h="611504">
                <a:moveTo>
                  <a:pt x="130302" y="572262"/>
                </a:moveTo>
                <a:lnTo>
                  <a:pt x="128016" y="570738"/>
                </a:lnTo>
                <a:lnTo>
                  <a:pt x="128778" y="571500"/>
                </a:lnTo>
                <a:lnTo>
                  <a:pt x="130302" y="572262"/>
                </a:lnTo>
                <a:close/>
              </a:path>
              <a:path w="222250" h="611504">
                <a:moveTo>
                  <a:pt x="132588" y="602436"/>
                </a:moveTo>
                <a:lnTo>
                  <a:pt x="132588" y="579120"/>
                </a:lnTo>
                <a:lnTo>
                  <a:pt x="131826" y="575310"/>
                </a:lnTo>
                <a:lnTo>
                  <a:pt x="131826" y="576834"/>
                </a:lnTo>
                <a:lnTo>
                  <a:pt x="128778" y="571500"/>
                </a:lnTo>
                <a:lnTo>
                  <a:pt x="128016" y="570738"/>
                </a:lnTo>
                <a:lnTo>
                  <a:pt x="128016" y="601261"/>
                </a:lnTo>
                <a:lnTo>
                  <a:pt x="132588" y="602436"/>
                </a:lnTo>
                <a:close/>
              </a:path>
              <a:path w="222250" h="611504">
                <a:moveTo>
                  <a:pt x="130302" y="37338"/>
                </a:moveTo>
                <a:lnTo>
                  <a:pt x="129159" y="38862"/>
                </a:lnTo>
                <a:lnTo>
                  <a:pt x="128778" y="39624"/>
                </a:lnTo>
                <a:lnTo>
                  <a:pt x="130302" y="37338"/>
                </a:lnTo>
                <a:close/>
              </a:path>
              <a:path w="222250" h="611504">
                <a:moveTo>
                  <a:pt x="130302" y="38100"/>
                </a:moveTo>
                <a:lnTo>
                  <a:pt x="130302" y="37338"/>
                </a:lnTo>
                <a:lnTo>
                  <a:pt x="128778" y="39624"/>
                </a:lnTo>
                <a:lnTo>
                  <a:pt x="130302" y="38100"/>
                </a:lnTo>
                <a:close/>
              </a:path>
              <a:path w="222250" h="611504">
                <a:moveTo>
                  <a:pt x="130302" y="38862"/>
                </a:moveTo>
                <a:lnTo>
                  <a:pt x="130302" y="38100"/>
                </a:lnTo>
                <a:lnTo>
                  <a:pt x="128778" y="39624"/>
                </a:lnTo>
                <a:lnTo>
                  <a:pt x="130302" y="38862"/>
                </a:lnTo>
                <a:close/>
              </a:path>
              <a:path w="222250" h="611504">
                <a:moveTo>
                  <a:pt x="130302" y="572516"/>
                </a:moveTo>
                <a:lnTo>
                  <a:pt x="130302" y="572262"/>
                </a:lnTo>
                <a:lnTo>
                  <a:pt x="128778" y="571500"/>
                </a:lnTo>
                <a:lnTo>
                  <a:pt x="130302" y="572516"/>
                </a:lnTo>
                <a:close/>
              </a:path>
              <a:path w="222250" h="611504">
                <a:moveTo>
                  <a:pt x="221742" y="611124"/>
                </a:moveTo>
                <a:lnTo>
                  <a:pt x="221742" y="582168"/>
                </a:lnTo>
                <a:lnTo>
                  <a:pt x="211074" y="582168"/>
                </a:lnTo>
                <a:lnTo>
                  <a:pt x="190869" y="581707"/>
                </a:lnTo>
                <a:lnTo>
                  <a:pt x="170721" y="580291"/>
                </a:lnTo>
                <a:lnTo>
                  <a:pt x="150678" y="577512"/>
                </a:lnTo>
                <a:lnTo>
                  <a:pt x="131064" y="573024"/>
                </a:lnTo>
                <a:lnTo>
                  <a:pt x="128778" y="571500"/>
                </a:lnTo>
                <a:lnTo>
                  <a:pt x="130302" y="573024"/>
                </a:lnTo>
                <a:lnTo>
                  <a:pt x="130302" y="574167"/>
                </a:lnTo>
                <a:lnTo>
                  <a:pt x="131826" y="576834"/>
                </a:lnTo>
                <a:lnTo>
                  <a:pt x="131826" y="575310"/>
                </a:lnTo>
                <a:lnTo>
                  <a:pt x="132588" y="579120"/>
                </a:lnTo>
                <a:lnTo>
                  <a:pt x="132588" y="602436"/>
                </a:lnTo>
                <a:lnTo>
                  <a:pt x="144131" y="605403"/>
                </a:lnTo>
                <a:lnTo>
                  <a:pt x="166092" y="608490"/>
                </a:lnTo>
                <a:lnTo>
                  <a:pt x="188255" y="610036"/>
                </a:lnTo>
                <a:lnTo>
                  <a:pt x="211074" y="611124"/>
                </a:lnTo>
                <a:lnTo>
                  <a:pt x="221742" y="611124"/>
                </a:lnTo>
                <a:close/>
              </a:path>
              <a:path w="222250" h="611504">
                <a:moveTo>
                  <a:pt x="130302" y="574167"/>
                </a:moveTo>
                <a:lnTo>
                  <a:pt x="130302" y="573024"/>
                </a:lnTo>
                <a:lnTo>
                  <a:pt x="128778" y="571500"/>
                </a:lnTo>
                <a:lnTo>
                  <a:pt x="130302" y="574167"/>
                </a:lnTo>
                <a:close/>
              </a:path>
              <a:path w="222250" h="611504">
                <a:moveTo>
                  <a:pt x="132588" y="37904"/>
                </a:moveTo>
                <a:lnTo>
                  <a:pt x="132588" y="31242"/>
                </a:lnTo>
                <a:lnTo>
                  <a:pt x="131826" y="35814"/>
                </a:lnTo>
                <a:lnTo>
                  <a:pt x="131826" y="33528"/>
                </a:lnTo>
                <a:lnTo>
                  <a:pt x="129159" y="38862"/>
                </a:lnTo>
                <a:lnTo>
                  <a:pt x="130302" y="37338"/>
                </a:lnTo>
                <a:lnTo>
                  <a:pt x="130302" y="38862"/>
                </a:lnTo>
                <a:lnTo>
                  <a:pt x="131826" y="38100"/>
                </a:lnTo>
                <a:lnTo>
                  <a:pt x="132588" y="37904"/>
                </a:lnTo>
                <a:close/>
              </a:path>
            </a:pathLst>
          </a:custGeom>
          <a:solidFill>
            <a:srgbClr val="FF0000"/>
          </a:solidFill>
        </p:spPr>
        <p:txBody>
          <a:bodyPr wrap="square" lIns="0" tIns="0" rIns="0" bIns="0" rtlCol="0"/>
          <a:lstStyle/>
          <a:p>
            <a:endParaRPr/>
          </a:p>
        </p:txBody>
      </p:sp>
      <p:sp>
        <p:nvSpPr>
          <p:cNvPr id="6" name="object 6"/>
          <p:cNvSpPr txBox="1"/>
          <p:nvPr/>
        </p:nvSpPr>
        <p:spPr>
          <a:xfrm>
            <a:off x="7005199" y="4860290"/>
            <a:ext cx="15176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omic Sans MS"/>
                <a:cs typeface="Comic Sans MS"/>
              </a:rPr>
              <a:t>L</a:t>
            </a:r>
            <a:endParaRPr sz="1800">
              <a:latin typeface="Comic Sans MS"/>
              <a:cs typeface="Comic Sans MS"/>
            </a:endParaRPr>
          </a:p>
        </p:txBody>
      </p:sp>
      <p:sp>
        <p:nvSpPr>
          <p:cNvPr id="7" name="object 7"/>
          <p:cNvSpPr/>
          <p:nvPr/>
        </p:nvSpPr>
        <p:spPr>
          <a:xfrm>
            <a:off x="8283575" y="3105150"/>
            <a:ext cx="403860" cy="694690"/>
          </a:xfrm>
          <a:custGeom>
            <a:avLst/>
            <a:gdLst/>
            <a:ahLst/>
            <a:cxnLst/>
            <a:rect l="l" t="t" r="r" b="b"/>
            <a:pathLst>
              <a:path w="403859" h="694689">
                <a:moveTo>
                  <a:pt x="182371" y="642619"/>
                </a:moveTo>
                <a:lnTo>
                  <a:pt x="145128" y="654380"/>
                </a:lnTo>
                <a:lnTo>
                  <a:pt x="101593" y="660620"/>
                </a:lnTo>
                <a:lnTo>
                  <a:pt x="57414" y="663653"/>
                </a:lnTo>
                <a:lnTo>
                  <a:pt x="20573" y="665225"/>
                </a:lnTo>
                <a:lnTo>
                  <a:pt x="0" y="665225"/>
                </a:lnTo>
                <a:lnTo>
                  <a:pt x="761" y="694181"/>
                </a:lnTo>
                <a:lnTo>
                  <a:pt x="20573" y="693419"/>
                </a:lnTo>
                <a:lnTo>
                  <a:pt x="59062" y="692204"/>
                </a:lnTo>
                <a:lnTo>
                  <a:pt x="111061" y="688257"/>
                </a:lnTo>
                <a:lnTo>
                  <a:pt x="162584" y="679843"/>
                </a:lnTo>
                <a:lnTo>
                  <a:pt x="180593" y="672739"/>
                </a:lnTo>
                <a:lnTo>
                  <a:pt x="180593" y="646937"/>
                </a:lnTo>
                <a:lnTo>
                  <a:pt x="181355" y="645032"/>
                </a:lnTo>
                <a:lnTo>
                  <a:pt x="181355" y="644651"/>
                </a:lnTo>
                <a:lnTo>
                  <a:pt x="182371" y="642619"/>
                </a:lnTo>
                <a:close/>
              </a:path>
              <a:path w="403859" h="694689">
                <a:moveTo>
                  <a:pt x="209549" y="310622"/>
                </a:moveTo>
                <a:lnTo>
                  <a:pt x="209549" y="45719"/>
                </a:lnTo>
                <a:lnTo>
                  <a:pt x="208787" y="44957"/>
                </a:lnTo>
                <a:lnTo>
                  <a:pt x="208787" y="41909"/>
                </a:lnTo>
                <a:lnTo>
                  <a:pt x="206501" y="37337"/>
                </a:lnTo>
                <a:lnTo>
                  <a:pt x="206501" y="36575"/>
                </a:lnTo>
                <a:lnTo>
                  <a:pt x="204977" y="35051"/>
                </a:lnTo>
                <a:lnTo>
                  <a:pt x="204215" y="33527"/>
                </a:lnTo>
                <a:lnTo>
                  <a:pt x="203453" y="32765"/>
                </a:lnTo>
                <a:lnTo>
                  <a:pt x="203453" y="32003"/>
                </a:lnTo>
                <a:lnTo>
                  <a:pt x="163045" y="14182"/>
                </a:lnTo>
                <a:lnTo>
                  <a:pt x="112328" y="5824"/>
                </a:lnTo>
                <a:lnTo>
                  <a:pt x="60882" y="1984"/>
                </a:lnTo>
                <a:lnTo>
                  <a:pt x="20573" y="0"/>
                </a:lnTo>
                <a:lnTo>
                  <a:pt x="761" y="0"/>
                </a:lnTo>
                <a:lnTo>
                  <a:pt x="761" y="28955"/>
                </a:lnTo>
                <a:lnTo>
                  <a:pt x="20573" y="28984"/>
                </a:lnTo>
                <a:lnTo>
                  <a:pt x="57414" y="30384"/>
                </a:lnTo>
                <a:lnTo>
                  <a:pt x="100793" y="33304"/>
                </a:lnTo>
                <a:lnTo>
                  <a:pt x="143877" y="39384"/>
                </a:lnTo>
                <a:lnTo>
                  <a:pt x="180593" y="50291"/>
                </a:lnTo>
                <a:lnTo>
                  <a:pt x="180593" y="47243"/>
                </a:lnTo>
                <a:lnTo>
                  <a:pt x="181736" y="50101"/>
                </a:lnTo>
                <a:lnTo>
                  <a:pt x="182879" y="51815"/>
                </a:lnTo>
                <a:lnTo>
                  <a:pt x="182879" y="323849"/>
                </a:lnTo>
                <a:lnTo>
                  <a:pt x="183641" y="324611"/>
                </a:lnTo>
                <a:lnTo>
                  <a:pt x="183641" y="326135"/>
                </a:lnTo>
                <a:lnTo>
                  <a:pt x="185927" y="328421"/>
                </a:lnTo>
                <a:lnTo>
                  <a:pt x="185927" y="329183"/>
                </a:lnTo>
                <a:lnTo>
                  <a:pt x="186689" y="329183"/>
                </a:lnTo>
                <a:lnTo>
                  <a:pt x="190499" y="332993"/>
                </a:lnTo>
                <a:lnTo>
                  <a:pt x="207263" y="339358"/>
                </a:lnTo>
                <a:lnTo>
                  <a:pt x="207263" y="309371"/>
                </a:lnTo>
                <a:lnTo>
                  <a:pt x="208025" y="310133"/>
                </a:lnTo>
                <a:lnTo>
                  <a:pt x="209549" y="310622"/>
                </a:lnTo>
                <a:close/>
              </a:path>
              <a:path w="403859" h="694689">
                <a:moveTo>
                  <a:pt x="181736" y="50101"/>
                </a:moveTo>
                <a:lnTo>
                  <a:pt x="180593" y="47243"/>
                </a:lnTo>
                <a:lnTo>
                  <a:pt x="180593" y="50291"/>
                </a:lnTo>
                <a:lnTo>
                  <a:pt x="181355" y="50291"/>
                </a:lnTo>
                <a:lnTo>
                  <a:pt x="181355" y="49529"/>
                </a:lnTo>
                <a:lnTo>
                  <a:pt x="181736" y="50101"/>
                </a:lnTo>
                <a:close/>
              </a:path>
              <a:path w="403859" h="694689">
                <a:moveTo>
                  <a:pt x="182879" y="323849"/>
                </a:moveTo>
                <a:lnTo>
                  <a:pt x="182879" y="52577"/>
                </a:lnTo>
                <a:lnTo>
                  <a:pt x="181355" y="50291"/>
                </a:lnTo>
                <a:lnTo>
                  <a:pt x="180593" y="50291"/>
                </a:lnTo>
                <a:lnTo>
                  <a:pt x="180593" y="316991"/>
                </a:lnTo>
                <a:lnTo>
                  <a:pt x="181355" y="318515"/>
                </a:lnTo>
                <a:lnTo>
                  <a:pt x="181355" y="320801"/>
                </a:lnTo>
                <a:lnTo>
                  <a:pt x="182879" y="323849"/>
                </a:lnTo>
                <a:close/>
              </a:path>
              <a:path w="403859" h="694689">
                <a:moveTo>
                  <a:pt x="369569" y="361187"/>
                </a:moveTo>
                <a:lnTo>
                  <a:pt x="329370" y="359516"/>
                </a:lnTo>
                <a:lnTo>
                  <a:pt x="278987" y="355753"/>
                </a:lnTo>
                <a:lnTo>
                  <a:pt x="229127" y="347659"/>
                </a:lnTo>
                <a:lnTo>
                  <a:pt x="227092" y="346887"/>
                </a:lnTo>
                <a:lnTo>
                  <a:pt x="213674" y="350605"/>
                </a:lnTo>
                <a:lnTo>
                  <a:pt x="202180" y="354635"/>
                </a:lnTo>
                <a:lnTo>
                  <a:pt x="192785" y="359663"/>
                </a:lnTo>
                <a:lnTo>
                  <a:pt x="188975" y="362711"/>
                </a:lnTo>
                <a:lnTo>
                  <a:pt x="187451" y="364235"/>
                </a:lnTo>
                <a:lnTo>
                  <a:pt x="186689" y="364235"/>
                </a:lnTo>
                <a:lnTo>
                  <a:pt x="185927" y="364997"/>
                </a:lnTo>
                <a:lnTo>
                  <a:pt x="185927" y="365759"/>
                </a:lnTo>
                <a:lnTo>
                  <a:pt x="183641" y="368045"/>
                </a:lnTo>
                <a:lnTo>
                  <a:pt x="183641" y="368807"/>
                </a:lnTo>
                <a:lnTo>
                  <a:pt x="182879" y="369569"/>
                </a:lnTo>
                <a:lnTo>
                  <a:pt x="182117" y="371855"/>
                </a:lnTo>
                <a:lnTo>
                  <a:pt x="181355" y="372617"/>
                </a:lnTo>
                <a:lnTo>
                  <a:pt x="181355" y="375665"/>
                </a:lnTo>
                <a:lnTo>
                  <a:pt x="180593" y="377189"/>
                </a:lnTo>
                <a:lnTo>
                  <a:pt x="180593" y="643364"/>
                </a:lnTo>
                <a:lnTo>
                  <a:pt x="181355" y="643127"/>
                </a:lnTo>
                <a:lnTo>
                  <a:pt x="182879" y="641603"/>
                </a:lnTo>
                <a:lnTo>
                  <a:pt x="182879" y="671838"/>
                </a:lnTo>
                <a:lnTo>
                  <a:pt x="199643" y="665225"/>
                </a:lnTo>
                <a:lnTo>
                  <a:pt x="202691" y="662177"/>
                </a:lnTo>
                <a:lnTo>
                  <a:pt x="203453" y="662177"/>
                </a:lnTo>
                <a:lnTo>
                  <a:pt x="203453" y="661415"/>
                </a:lnTo>
                <a:lnTo>
                  <a:pt x="204215" y="660653"/>
                </a:lnTo>
                <a:lnTo>
                  <a:pt x="204977" y="659129"/>
                </a:lnTo>
                <a:lnTo>
                  <a:pt x="206501" y="657605"/>
                </a:lnTo>
                <a:lnTo>
                  <a:pt x="206501" y="656843"/>
                </a:lnTo>
                <a:lnTo>
                  <a:pt x="207263" y="655319"/>
                </a:lnTo>
                <a:lnTo>
                  <a:pt x="207263" y="384809"/>
                </a:lnTo>
                <a:lnTo>
                  <a:pt x="208787" y="381761"/>
                </a:lnTo>
                <a:lnTo>
                  <a:pt x="208787" y="380999"/>
                </a:lnTo>
                <a:lnTo>
                  <a:pt x="209549" y="379475"/>
                </a:lnTo>
                <a:lnTo>
                  <a:pt x="209549" y="382523"/>
                </a:lnTo>
                <a:lnTo>
                  <a:pt x="216215" y="379823"/>
                </a:lnTo>
                <a:lnTo>
                  <a:pt x="222989" y="377394"/>
                </a:lnTo>
                <a:lnTo>
                  <a:pt x="229902" y="375435"/>
                </a:lnTo>
                <a:lnTo>
                  <a:pt x="236981" y="374141"/>
                </a:lnTo>
                <a:lnTo>
                  <a:pt x="242315" y="372617"/>
                </a:lnTo>
                <a:lnTo>
                  <a:pt x="248411" y="371855"/>
                </a:lnTo>
                <a:lnTo>
                  <a:pt x="273581" y="367638"/>
                </a:lnTo>
                <a:lnTo>
                  <a:pt x="299346" y="364786"/>
                </a:lnTo>
                <a:lnTo>
                  <a:pt x="325035" y="363003"/>
                </a:lnTo>
                <a:lnTo>
                  <a:pt x="350519" y="361949"/>
                </a:lnTo>
                <a:lnTo>
                  <a:pt x="369569" y="361187"/>
                </a:lnTo>
                <a:close/>
              </a:path>
              <a:path w="403859" h="694689">
                <a:moveTo>
                  <a:pt x="182879" y="671838"/>
                </a:moveTo>
                <a:lnTo>
                  <a:pt x="182879" y="642365"/>
                </a:lnTo>
                <a:lnTo>
                  <a:pt x="182371" y="642619"/>
                </a:lnTo>
                <a:lnTo>
                  <a:pt x="182117" y="643127"/>
                </a:lnTo>
                <a:lnTo>
                  <a:pt x="180593" y="646937"/>
                </a:lnTo>
                <a:lnTo>
                  <a:pt x="180593" y="672739"/>
                </a:lnTo>
                <a:lnTo>
                  <a:pt x="182879" y="671838"/>
                </a:lnTo>
                <a:close/>
              </a:path>
              <a:path w="403859" h="694689">
                <a:moveTo>
                  <a:pt x="182117" y="51053"/>
                </a:moveTo>
                <a:lnTo>
                  <a:pt x="181736" y="50101"/>
                </a:lnTo>
                <a:lnTo>
                  <a:pt x="181355" y="49529"/>
                </a:lnTo>
                <a:lnTo>
                  <a:pt x="182117" y="51053"/>
                </a:lnTo>
                <a:close/>
              </a:path>
              <a:path w="403859" h="694689">
                <a:moveTo>
                  <a:pt x="182117" y="51053"/>
                </a:moveTo>
                <a:lnTo>
                  <a:pt x="181355" y="49529"/>
                </a:lnTo>
                <a:lnTo>
                  <a:pt x="181355" y="50291"/>
                </a:lnTo>
                <a:lnTo>
                  <a:pt x="182117" y="51053"/>
                </a:lnTo>
                <a:close/>
              </a:path>
              <a:path w="403859" h="694689">
                <a:moveTo>
                  <a:pt x="182879" y="52577"/>
                </a:moveTo>
                <a:lnTo>
                  <a:pt x="182879" y="51815"/>
                </a:lnTo>
                <a:lnTo>
                  <a:pt x="181355" y="50291"/>
                </a:lnTo>
                <a:lnTo>
                  <a:pt x="182879" y="52577"/>
                </a:lnTo>
                <a:close/>
              </a:path>
              <a:path w="403859" h="694689">
                <a:moveTo>
                  <a:pt x="182879" y="641603"/>
                </a:moveTo>
                <a:lnTo>
                  <a:pt x="181355" y="643127"/>
                </a:lnTo>
                <a:lnTo>
                  <a:pt x="182371" y="642619"/>
                </a:lnTo>
                <a:lnTo>
                  <a:pt x="182879" y="641603"/>
                </a:lnTo>
                <a:close/>
              </a:path>
              <a:path w="403859" h="694689">
                <a:moveTo>
                  <a:pt x="182117" y="643127"/>
                </a:moveTo>
                <a:lnTo>
                  <a:pt x="181355" y="644651"/>
                </a:lnTo>
                <a:lnTo>
                  <a:pt x="181355" y="645032"/>
                </a:lnTo>
                <a:lnTo>
                  <a:pt x="182117" y="643127"/>
                </a:lnTo>
                <a:close/>
              </a:path>
              <a:path w="403859" h="694689">
                <a:moveTo>
                  <a:pt x="182879" y="51815"/>
                </a:moveTo>
                <a:lnTo>
                  <a:pt x="181736" y="50101"/>
                </a:lnTo>
                <a:lnTo>
                  <a:pt x="182117" y="51053"/>
                </a:lnTo>
                <a:lnTo>
                  <a:pt x="182879" y="51815"/>
                </a:lnTo>
                <a:close/>
              </a:path>
              <a:path w="403859" h="694689">
                <a:moveTo>
                  <a:pt x="208279" y="310895"/>
                </a:moveTo>
                <a:lnTo>
                  <a:pt x="208025" y="310133"/>
                </a:lnTo>
                <a:lnTo>
                  <a:pt x="207263" y="309371"/>
                </a:lnTo>
                <a:lnTo>
                  <a:pt x="208279" y="310895"/>
                </a:lnTo>
                <a:close/>
              </a:path>
              <a:path w="403859" h="694689">
                <a:moveTo>
                  <a:pt x="209549" y="340226"/>
                </a:moveTo>
                <a:lnTo>
                  <a:pt x="209549" y="314705"/>
                </a:lnTo>
                <a:lnTo>
                  <a:pt x="208279" y="310895"/>
                </a:lnTo>
                <a:lnTo>
                  <a:pt x="207263" y="309371"/>
                </a:lnTo>
                <a:lnTo>
                  <a:pt x="207263" y="339358"/>
                </a:lnTo>
                <a:lnTo>
                  <a:pt x="209549" y="340226"/>
                </a:lnTo>
                <a:close/>
              </a:path>
              <a:path w="403859" h="694689">
                <a:moveTo>
                  <a:pt x="208787" y="381761"/>
                </a:moveTo>
                <a:lnTo>
                  <a:pt x="207263" y="384809"/>
                </a:lnTo>
                <a:lnTo>
                  <a:pt x="208025" y="384047"/>
                </a:lnTo>
                <a:lnTo>
                  <a:pt x="208787" y="381761"/>
                </a:lnTo>
                <a:close/>
              </a:path>
              <a:path w="403859" h="694689">
                <a:moveTo>
                  <a:pt x="209549" y="648461"/>
                </a:moveTo>
                <a:lnTo>
                  <a:pt x="209549" y="382523"/>
                </a:lnTo>
                <a:lnTo>
                  <a:pt x="207263" y="384809"/>
                </a:lnTo>
                <a:lnTo>
                  <a:pt x="207263" y="655319"/>
                </a:lnTo>
                <a:lnTo>
                  <a:pt x="208787" y="652271"/>
                </a:lnTo>
                <a:lnTo>
                  <a:pt x="208787" y="649223"/>
                </a:lnTo>
                <a:lnTo>
                  <a:pt x="209549" y="648461"/>
                </a:lnTo>
                <a:close/>
              </a:path>
              <a:path w="403859" h="694689">
                <a:moveTo>
                  <a:pt x="389381" y="332993"/>
                </a:moveTo>
                <a:lnTo>
                  <a:pt x="369569" y="332231"/>
                </a:lnTo>
                <a:lnTo>
                  <a:pt x="333636" y="331184"/>
                </a:lnTo>
                <a:lnTo>
                  <a:pt x="288345" y="328017"/>
                </a:lnTo>
                <a:lnTo>
                  <a:pt x="243281" y="321432"/>
                </a:lnTo>
                <a:lnTo>
                  <a:pt x="208025" y="310133"/>
                </a:lnTo>
                <a:lnTo>
                  <a:pt x="208787" y="310895"/>
                </a:lnTo>
                <a:lnTo>
                  <a:pt x="208787" y="312419"/>
                </a:lnTo>
                <a:lnTo>
                  <a:pt x="209549" y="314705"/>
                </a:lnTo>
                <a:lnTo>
                  <a:pt x="209549" y="340226"/>
                </a:lnTo>
                <a:lnTo>
                  <a:pt x="227092" y="346887"/>
                </a:lnTo>
                <a:lnTo>
                  <a:pt x="236219" y="344423"/>
                </a:lnTo>
                <a:lnTo>
                  <a:pt x="243077" y="343661"/>
                </a:lnTo>
                <a:lnTo>
                  <a:pt x="299346" y="336461"/>
                </a:lnTo>
                <a:lnTo>
                  <a:pt x="349757" y="332993"/>
                </a:lnTo>
                <a:lnTo>
                  <a:pt x="389381" y="332993"/>
                </a:lnTo>
                <a:close/>
              </a:path>
              <a:path w="403859" h="694689">
                <a:moveTo>
                  <a:pt x="208787" y="311657"/>
                </a:moveTo>
                <a:lnTo>
                  <a:pt x="208787" y="310895"/>
                </a:lnTo>
                <a:lnTo>
                  <a:pt x="208025" y="310133"/>
                </a:lnTo>
                <a:lnTo>
                  <a:pt x="208787" y="311657"/>
                </a:lnTo>
                <a:close/>
              </a:path>
              <a:path w="403859" h="694689">
                <a:moveTo>
                  <a:pt x="208787" y="311657"/>
                </a:moveTo>
                <a:lnTo>
                  <a:pt x="208025" y="310133"/>
                </a:lnTo>
                <a:lnTo>
                  <a:pt x="208279" y="310895"/>
                </a:lnTo>
                <a:lnTo>
                  <a:pt x="208787" y="311657"/>
                </a:lnTo>
                <a:close/>
              </a:path>
              <a:path w="403859" h="694689">
                <a:moveTo>
                  <a:pt x="209549" y="382523"/>
                </a:moveTo>
                <a:lnTo>
                  <a:pt x="209549" y="379475"/>
                </a:lnTo>
                <a:lnTo>
                  <a:pt x="208025" y="384047"/>
                </a:lnTo>
                <a:lnTo>
                  <a:pt x="209549" y="382523"/>
                </a:lnTo>
                <a:close/>
              </a:path>
              <a:path w="403859" h="694689">
                <a:moveTo>
                  <a:pt x="208787" y="312419"/>
                </a:moveTo>
                <a:lnTo>
                  <a:pt x="208787" y="311657"/>
                </a:lnTo>
                <a:lnTo>
                  <a:pt x="208279" y="310895"/>
                </a:lnTo>
                <a:lnTo>
                  <a:pt x="208787" y="312419"/>
                </a:lnTo>
                <a:close/>
              </a:path>
              <a:path w="403859" h="694689">
                <a:moveTo>
                  <a:pt x="209549" y="379475"/>
                </a:moveTo>
                <a:lnTo>
                  <a:pt x="208787" y="380999"/>
                </a:lnTo>
                <a:lnTo>
                  <a:pt x="208787" y="381761"/>
                </a:lnTo>
                <a:lnTo>
                  <a:pt x="209549" y="379475"/>
                </a:lnTo>
                <a:close/>
              </a:path>
              <a:path w="403859" h="694689">
                <a:moveTo>
                  <a:pt x="403859" y="355091"/>
                </a:moveTo>
                <a:lnTo>
                  <a:pt x="403859" y="339089"/>
                </a:lnTo>
                <a:lnTo>
                  <a:pt x="397763" y="332993"/>
                </a:lnTo>
                <a:lnTo>
                  <a:pt x="349757" y="332993"/>
                </a:lnTo>
                <a:lnTo>
                  <a:pt x="299256" y="336469"/>
                </a:lnTo>
                <a:lnTo>
                  <a:pt x="249173" y="342137"/>
                </a:lnTo>
                <a:lnTo>
                  <a:pt x="243077" y="343661"/>
                </a:lnTo>
                <a:lnTo>
                  <a:pt x="236219" y="344423"/>
                </a:lnTo>
                <a:lnTo>
                  <a:pt x="227092" y="346887"/>
                </a:lnTo>
                <a:lnTo>
                  <a:pt x="229127" y="347659"/>
                </a:lnTo>
                <a:lnTo>
                  <a:pt x="278987" y="355753"/>
                </a:lnTo>
                <a:lnTo>
                  <a:pt x="329370" y="359516"/>
                </a:lnTo>
                <a:lnTo>
                  <a:pt x="369569" y="361187"/>
                </a:lnTo>
                <a:lnTo>
                  <a:pt x="397763" y="361187"/>
                </a:lnTo>
                <a:lnTo>
                  <a:pt x="403859" y="355091"/>
                </a:lnTo>
                <a:close/>
              </a:path>
            </a:pathLst>
          </a:custGeom>
          <a:solidFill>
            <a:srgbClr val="FF0000"/>
          </a:solidFill>
        </p:spPr>
        <p:txBody>
          <a:bodyPr wrap="square" lIns="0" tIns="0" rIns="0" bIns="0" rtlCol="0"/>
          <a:lstStyle/>
          <a:p>
            <a:endParaRPr/>
          </a:p>
        </p:txBody>
      </p:sp>
      <p:sp>
        <p:nvSpPr>
          <p:cNvPr id="8" name="object 8"/>
          <p:cNvSpPr txBox="1"/>
          <p:nvPr/>
        </p:nvSpPr>
        <p:spPr>
          <a:xfrm>
            <a:off x="8792851" y="3322573"/>
            <a:ext cx="8661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omic Sans MS"/>
                <a:cs typeface="Comic Sans MS"/>
              </a:rPr>
              <a:t>&gt; </a:t>
            </a:r>
            <a:r>
              <a:rPr sz="1800" b="1" spc="-5" dirty="0">
                <a:solidFill>
                  <a:srgbClr val="FF0000"/>
                </a:solidFill>
                <a:latin typeface="Comic Sans MS"/>
                <a:cs typeface="Comic Sans MS"/>
              </a:rPr>
              <a:t>1.5</a:t>
            </a:r>
            <a:r>
              <a:rPr sz="1800" b="1" spc="-100" dirty="0">
                <a:solidFill>
                  <a:srgbClr val="FF0000"/>
                </a:solidFill>
                <a:latin typeface="Comic Sans MS"/>
                <a:cs typeface="Comic Sans MS"/>
              </a:rPr>
              <a:t> </a:t>
            </a:r>
            <a:r>
              <a:rPr sz="1800" b="1" dirty="0">
                <a:solidFill>
                  <a:srgbClr val="FF0000"/>
                </a:solidFill>
                <a:latin typeface="Comic Sans MS"/>
                <a:cs typeface="Comic Sans MS"/>
              </a:rPr>
              <a:t>L</a:t>
            </a:r>
            <a:endParaRPr sz="1800">
              <a:latin typeface="Comic Sans MS"/>
              <a:cs typeface="Comic Sans MS"/>
            </a:endParaRPr>
          </a:p>
        </p:txBody>
      </p:sp>
      <p:sp>
        <p:nvSpPr>
          <p:cNvPr id="9" name="object 9"/>
          <p:cNvSpPr/>
          <p:nvPr/>
        </p:nvSpPr>
        <p:spPr>
          <a:xfrm>
            <a:off x="7369936" y="2565654"/>
            <a:ext cx="360680" cy="541020"/>
          </a:xfrm>
          <a:custGeom>
            <a:avLst/>
            <a:gdLst/>
            <a:ahLst/>
            <a:cxnLst/>
            <a:rect l="l" t="t" r="r" b="b"/>
            <a:pathLst>
              <a:path w="360679" h="541019">
                <a:moveTo>
                  <a:pt x="162872" y="270380"/>
                </a:moveTo>
                <a:lnTo>
                  <a:pt x="160172" y="269239"/>
                </a:lnTo>
                <a:lnTo>
                  <a:pt x="114223" y="261399"/>
                </a:lnTo>
                <a:lnTo>
                  <a:pt x="67510" y="257726"/>
                </a:lnTo>
                <a:lnTo>
                  <a:pt x="32004" y="256032"/>
                </a:lnTo>
                <a:lnTo>
                  <a:pt x="6096" y="256032"/>
                </a:lnTo>
                <a:lnTo>
                  <a:pt x="0" y="262890"/>
                </a:lnTo>
                <a:lnTo>
                  <a:pt x="0" y="278130"/>
                </a:lnTo>
                <a:lnTo>
                  <a:pt x="6096" y="284988"/>
                </a:lnTo>
                <a:lnTo>
                  <a:pt x="32004" y="284988"/>
                </a:lnTo>
                <a:lnTo>
                  <a:pt x="69258" y="283131"/>
                </a:lnTo>
                <a:lnTo>
                  <a:pt x="113471" y="279858"/>
                </a:lnTo>
                <a:lnTo>
                  <a:pt x="156955" y="272673"/>
                </a:lnTo>
                <a:lnTo>
                  <a:pt x="162872" y="270380"/>
                </a:lnTo>
                <a:close/>
              </a:path>
              <a:path w="360679" h="541019">
                <a:moveTo>
                  <a:pt x="201168" y="522867"/>
                </a:moveTo>
                <a:lnTo>
                  <a:pt x="201168" y="497586"/>
                </a:lnTo>
                <a:lnTo>
                  <a:pt x="200406" y="493776"/>
                </a:lnTo>
                <a:lnTo>
                  <a:pt x="198882" y="492252"/>
                </a:lnTo>
                <a:lnTo>
                  <a:pt x="198882" y="289560"/>
                </a:lnTo>
                <a:lnTo>
                  <a:pt x="197358" y="288036"/>
                </a:lnTo>
                <a:lnTo>
                  <a:pt x="196596" y="286512"/>
                </a:lnTo>
                <a:lnTo>
                  <a:pt x="195072" y="284988"/>
                </a:lnTo>
                <a:lnTo>
                  <a:pt x="195072" y="284226"/>
                </a:lnTo>
                <a:lnTo>
                  <a:pt x="193548" y="283464"/>
                </a:lnTo>
                <a:lnTo>
                  <a:pt x="162872" y="270380"/>
                </a:lnTo>
                <a:lnTo>
                  <a:pt x="156955" y="272673"/>
                </a:lnTo>
                <a:lnTo>
                  <a:pt x="113471" y="279858"/>
                </a:lnTo>
                <a:lnTo>
                  <a:pt x="69258" y="283131"/>
                </a:lnTo>
                <a:lnTo>
                  <a:pt x="32004" y="284988"/>
                </a:lnTo>
                <a:lnTo>
                  <a:pt x="31242" y="284988"/>
                </a:lnTo>
                <a:lnTo>
                  <a:pt x="48006" y="285750"/>
                </a:lnTo>
                <a:lnTo>
                  <a:pt x="96573" y="288255"/>
                </a:lnTo>
                <a:lnTo>
                  <a:pt x="144780" y="294894"/>
                </a:lnTo>
                <a:lnTo>
                  <a:pt x="149352" y="296418"/>
                </a:lnTo>
                <a:lnTo>
                  <a:pt x="153924" y="297180"/>
                </a:lnTo>
                <a:lnTo>
                  <a:pt x="160212" y="298826"/>
                </a:lnTo>
                <a:lnTo>
                  <a:pt x="167906" y="300393"/>
                </a:lnTo>
                <a:lnTo>
                  <a:pt x="172974" y="304038"/>
                </a:lnTo>
                <a:lnTo>
                  <a:pt x="172974" y="300228"/>
                </a:lnTo>
                <a:lnTo>
                  <a:pt x="173627" y="303493"/>
                </a:lnTo>
                <a:lnTo>
                  <a:pt x="174498" y="304800"/>
                </a:lnTo>
                <a:lnTo>
                  <a:pt x="175260" y="305562"/>
                </a:lnTo>
                <a:lnTo>
                  <a:pt x="175260" y="507492"/>
                </a:lnTo>
                <a:lnTo>
                  <a:pt x="176022" y="509016"/>
                </a:lnTo>
                <a:lnTo>
                  <a:pt x="176784" y="509778"/>
                </a:lnTo>
                <a:lnTo>
                  <a:pt x="177546" y="511302"/>
                </a:lnTo>
                <a:lnTo>
                  <a:pt x="178308" y="512064"/>
                </a:lnTo>
                <a:lnTo>
                  <a:pt x="179070" y="512064"/>
                </a:lnTo>
                <a:lnTo>
                  <a:pt x="179070" y="512826"/>
                </a:lnTo>
                <a:lnTo>
                  <a:pt x="182118" y="515112"/>
                </a:lnTo>
                <a:lnTo>
                  <a:pt x="201168" y="522867"/>
                </a:lnTo>
                <a:close/>
              </a:path>
              <a:path w="360679" h="541019">
                <a:moveTo>
                  <a:pt x="173736" y="236982"/>
                </a:moveTo>
                <a:lnTo>
                  <a:pt x="139446" y="246888"/>
                </a:lnTo>
                <a:lnTo>
                  <a:pt x="116944" y="250545"/>
                </a:lnTo>
                <a:lnTo>
                  <a:pt x="94278" y="252964"/>
                </a:lnTo>
                <a:lnTo>
                  <a:pt x="71526" y="254631"/>
                </a:lnTo>
                <a:lnTo>
                  <a:pt x="48768" y="256032"/>
                </a:lnTo>
                <a:lnTo>
                  <a:pt x="32004" y="256032"/>
                </a:lnTo>
                <a:lnTo>
                  <a:pt x="67510" y="257726"/>
                </a:lnTo>
                <a:lnTo>
                  <a:pt x="114223" y="261399"/>
                </a:lnTo>
                <a:lnTo>
                  <a:pt x="160212" y="269246"/>
                </a:lnTo>
                <a:lnTo>
                  <a:pt x="162872" y="270380"/>
                </a:lnTo>
                <a:lnTo>
                  <a:pt x="172974" y="266464"/>
                </a:lnTo>
                <a:lnTo>
                  <a:pt x="172974" y="238506"/>
                </a:lnTo>
                <a:lnTo>
                  <a:pt x="173736" y="236982"/>
                </a:lnTo>
                <a:close/>
              </a:path>
              <a:path w="360679" h="541019">
                <a:moveTo>
                  <a:pt x="175260" y="235458"/>
                </a:moveTo>
                <a:lnTo>
                  <a:pt x="175260" y="34290"/>
                </a:lnTo>
                <a:lnTo>
                  <a:pt x="174498" y="35814"/>
                </a:lnTo>
                <a:lnTo>
                  <a:pt x="173736" y="36576"/>
                </a:lnTo>
                <a:lnTo>
                  <a:pt x="173736" y="38100"/>
                </a:lnTo>
                <a:lnTo>
                  <a:pt x="172974" y="39624"/>
                </a:lnTo>
                <a:lnTo>
                  <a:pt x="172974" y="237744"/>
                </a:lnTo>
                <a:lnTo>
                  <a:pt x="175260" y="235458"/>
                </a:lnTo>
                <a:close/>
              </a:path>
              <a:path w="360679" h="541019">
                <a:moveTo>
                  <a:pt x="173736" y="236982"/>
                </a:moveTo>
                <a:lnTo>
                  <a:pt x="172974" y="238506"/>
                </a:lnTo>
                <a:lnTo>
                  <a:pt x="173627" y="237526"/>
                </a:lnTo>
                <a:lnTo>
                  <a:pt x="173736" y="236982"/>
                </a:lnTo>
                <a:close/>
              </a:path>
              <a:path w="360679" h="541019">
                <a:moveTo>
                  <a:pt x="173627" y="237526"/>
                </a:moveTo>
                <a:lnTo>
                  <a:pt x="172974" y="238506"/>
                </a:lnTo>
                <a:lnTo>
                  <a:pt x="172974" y="240792"/>
                </a:lnTo>
                <a:lnTo>
                  <a:pt x="173627" y="237526"/>
                </a:lnTo>
                <a:close/>
              </a:path>
              <a:path w="360679" h="541019">
                <a:moveTo>
                  <a:pt x="360426" y="28194"/>
                </a:moveTo>
                <a:lnTo>
                  <a:pt x="359664" y="0"/>
                </a:lnTo>
                <a:lnTo>
                  <a:pt x="342138" y="0"/>
                </a:lnTo>
                <a:lnTo>
                  <a:pt x="260003" y="4976"/>
                </a:lnTo>
                <a:lnTo>
                  <a:pt x="214786" y="12581"/>
                </a:lnTo>
                <a:lnTo>
                  <a:pt x="179070" y="28194"/>
                </a:lnTo>
                <a:lnTo>
                  <a:pt x="179070" y="28956"/>
                </a:lnTo>
                <a:lnTo>
                  <a:pt x="178308" y="28956"/>
                </a:lnTo>
                <a:lnTo>
                  <a:pt x="177546" y="29718"/>
                </a:lnTo>
                <a:lnTo>
                  <a:pt x="176784" y="31242"/>
                </a:lnTo>
                <a:lnTo>
                  <a:pt x="176022" y="32004"/>
                </a:lnTo>
                <a:lnTo>
                  <a:pt x="175260" y="33528"/>
                </a:lnTo>
                <a:lnTo>
                  <a:pt x="175260" y="236220"/>
                </a:lnTo>
                <a:lnTo>
                  <a:pt x="174498" y="236220"/>
                </a:lnTo>
                <a:lnTo>
                  <a:pt x="173627" y="237526"/>
                </a:lnTo>
                <a:lnTo>
                  <a:pt x="172974" y="240792"/>
                </a:lnTo>
                <a:lnTo>
                  <a:pt x="172974" y="266464"/>
                </a:lnTo>
                <a:lnTo>
                  <a:pt x="192024" y="259080"/>
                </a:lnTo>
                <a:lnTo>
                  <a:pt x="195072" y="256794"/>
                </a:lnTo>
                <a:lnTo>
                  <a:pt x="195072" y="256032"/>
                </a:lnTo>
                <a:lnTo>
                  <a:pt x="196596" y="254508"/>
                </a:lnTo>
                <a:lnTo>
                  <a:pt x="197358" y="252984"/>
                </a:lnTo>
                <a:lnTo>
                  <a:pt x="198882" y="251460"/>
                </a:lnTo>
                <a:lnTo>
                  <a:pt x="198882" y="48768"/>
                </a:lnTo>
                <a:lnTo>
                  <a:pt x="200406" y="47244"/>
                </a:lnTo>
                <a:lnTo>
                  <a:pt x="201168" y="44196"/>
                </a:lnTo>
                <a:lnTo>
                  <a:pt x="201168" y="47244"/>
                </a:lnTo>
                <a:lnTo>
                  <a:pt x="203454" y="45110"/>
                </a:lnTo>
                <a:lnTo>
                  <a:pt x="221589" y="40030"/>
                </a:lnTo>
                <a:lnTo>
                  <a:pt x="224790" y="39624"/>
                </a:lnTo>
                <a:lnTo>
                  <a:pt x="229362" y="38862"/>
                </a:lnTo>
                <a:lnTo>
                  <a:pt x="280282" y="31851"/>
                </a:lnTo>
                <a:lnTo>
                  <a:pt x="326136" y="28956"/>
                </a:lnTo>
                <a:lnTo>
                  <a:pt x="342900" y="28956"/>
                </a:lnTo>
                <a:lnTo>
                  <a:pt x="360426" y="28194"/>
                </a:lnTo>
                <a:close/>
              </a:path>
              <a:path w="360679" h="541019">
                <a:moveTo>
                  <a:pt x="173627" y="303493"/>
                </a:moveTo>
                <a:lnTo>
                  <a:pt x="172974" y="300228"/>
                </a:lnTo>
                <a:lnTo>
                  <a:pt x="172974" y="302514"/>
                </a:lnTo>
                <a:lnTo>
                  <a:pt x="173627" y="303493"/>
                </a:lnTo>
                <a:close/>
              </a:path>
              <a:path w="360679" h="541019">
                <a:moveTo>
                  <a:pt x="173736" y="304038"/>
                </a:moveTo>
                <a:lnTo>
                  <a:pt x="173627" y="303493"/>
                </a:lnTo>
                <a:lnTo>
                  <a:pt x="172974" y="302514"/>
                </a:lnTo>
                <a:lnTo>
                  <a:pt x="173736" y="304038"/>
                </a:lnTo>
                <a:close/>
              </a:path>
              <a:path w="360679" h="541019">
                <a:moveTo>
                  <a:pt x="173736" y="304038"/>
                </a:moveTo>
                <a:lnTo>
                  <a:pt x="172974" y="302514"/>
                </a:lnTo>
                <a:lnTo>
                  <a:pt x="172974" y="304038"/>
                </a:lnTo>
                <a:lnTo>
                  <a:pt x="173736" y="304038"/>
                </a:lnTo>
                <a:close/>
              </a:path>
              <a:path w="360679" h="541019">
                <a:moveTo>
                  <a:pt x="175260" y="506730"/>
                </a:moveTo>
                <a:lnTo>
                  <a:pt x="175260" y="305562"/>
                </a:lnTo>
                <a:lnTo>
                  <a:pt x="173736" y="304038"/>
                </a:lnTo>
                <a:lnTo>
                  <a:pt x="172974" y="304038"/>
                </a:lnTo>
                <a:lnTo>
                  <a:pt x="172974" y="502158"/>
                </a:lnTo>
                <a:lnTo>
                  <a:pt x="173736" y="502920"/>
                </a:lnTo>
                <a:lnTo>
                  <a:pt x="173736" y="504444"/>
                </a:lnTo>
                <a:lnTo>
                  <a:pt x="174498" y="505206"/>
                </a:lnTo>
                <a:lnTo>
                  <a:pt x="175260" y="506730"/>
                </a:lnTo>
                <a:close/>
              </a:path>
              <a:path w="360679" h="541019">
                <a:moveTo>
                  <a:pt x="174498" y="236220"/>
                </a:moveTo>
                <a:lnTo>
                  <a:pt x="173736" y="236982"/>
                </a:lnTo>
                <a:lnTo>
                  <a:pt x="173627" y="237526"/>
                </a:lnTo>
                <a:lnTo>
                  <a:pt x="174498" y="236220"/>
                </a:lnTo>
                <a:close/>
              </a:path>
              <a:path w="360679" h="541019">
                <a:moveTo>
                  <a:pt x="174498" y="304800"/>
                </a:moveTo>
                <a:lnTo>
                  <a:pt x="173627" y="303493"/>
                </a:lnTo>
                <a:lnTo>
                  <a:pt x="173736" y="304038"/>
                </a:lnTo>
                <a:lnTo>
                  <a:pt x="174498" y="304800"/>
                </a:lnTo>
                <a:close/>
              </a:path>
              <a:path w="360679" h="541019">
                <a:moveTo>
                  <a:pt x="200406" y="47244"/>
                </a:moveTo>
                <a:lnTo>
                  <a:pt x="198882" y="48768"/>
                </a:lnTo>
                <a:lnTo>
                  <a:pt x="199898" y="48260"/>
                </a:lnTo>
                <a:lnTo>
                  <a:pt x="200406" y="47244"/>
                </a:lnTo>
                <a:close/>
              </a:path>
              <a:path w="360679" h="541019">
                <a:moveTo>
                  <a:pt x="201168" y="245364"/>
                </a:moveTo>
                <a:lnTo>
                  <a:pt x="201168" y="47244"/>
                </a:lnTo>
                <a:lnTo>
                  <a:pt x="200406" y="48006"/>
                </a:lnTo>
                <a:lnTo>
                  <a:pt x="199898" y="48260"/>
                </a:lnTo>
                <a:lnTo>
                  <a:pt x="199644" y="48768"/>
                </a:lnTo>
                <a:lnTo>
                  <a:pt x="199644" y="48387"/>
                </a:lnTo>
                <a:lnTo>
                  <a:pt x="198882" y="48768"/>
                </a:lnTo>
                <a:lnTo>
                  <a:pt x="198882" y="250698"/>
                </a:lnTo>
                <a:lnTo>
                  <a:pt x="199644" y="249174"/>
                </a:lnTo>
                <a:lnTo>
                  <a:pt x="199644" y="48768"/>
                </a:lnTo>
                <a:lnTo>
                  <a:pt x="199898" y="48260"/>
                </a:lnTo>
                <a:lnTo>
                  <a:pt x="199898" y="248666"/>
                </a:lnTo>
                <a:lnTo>
                  <a:pt x="200406" y="247650"/>
                </a:lnTo>
                <a:lnTo>
                  <a:pt x="200406" y="246888"/>
                </a:lnTo>
                <a:lnTo>
                  <a:pt x="201168" y="245364"/>
                </a:lnTo>
                <a:close/>
              </a:path>
              <a:path w="360679" h="541019">
                <a:moveTo>
                  <a:pt x="201168" y="493488"/>
                </a:moveTo>
                <a:lnTo>
                  <a:pt x="201168" y="295656"/>
                </a:lnTo>
                <a:lnTo>
                  <a:pt x="200406" y="294132"/>
                </a:lnTo>
                <a:lnTo>
                  <a:pt x="200406" y="293370"/>
                </a:lnTo>
                <a:lnTo>
                  <a:pt x="198882" y="290322"/>
                </a:lnTo>
                <a:lnTo>
                  <a:pt x="198882" y="492252"/>
                </a:lnTo>
                <a:lnTo>
                  <a:pt x="199644" y="493014"/>
                </a:lnTo>
                <a:lnTo>
                  <a:pt x="199644" y="492252"/>
                </a:lnTo>
                <a:lnTo>
                  <a:pt x="200095" y="493154"/>
                </a:lnTo>
                <a:lnTo>
                  <a:pt x="201168" y="493488"/>
                </a:lnTo>
                <a:close/>
              </a:path>
              <a:path w="360679" h="541019">
                <a:moveTo>
                  <a:pt x="200095" y="493154"/>
                </a:moveTo>
                <a:lnTo>
                  <a:pt x="199644" y="492252"/>
                </a:lnTo>
                <a:lnTo>
                  <a:pt x="199644" y="493014"/>
                </a:lnTo>
                <a:lnTo>
                  <a:pt x="200095" y="493154"/>
                </a:lnTo>
                <a:close/>
              </a:path>
              <a:path w="360679" h="541019">
                <a:moveTo>
                  <a:pt x="200406" y="493776"/>
                </a:moveTo>
                <a:lnTo>
                  <a:pt x="200095" y="493154"/>
                </a:lnTo>
                <a:lnTo>
                  <a:pt x="199644" y="493014"/>
                </a:lnTo>
                <a:lnTo>
                  <a:pt x="200406" y="493776"/>
                </a:lnTo>
                <a:close/>
              </a:path>
              <a:path w="360679" h="541019">
                <a:moveTo>
                  <a:pt x="201168" y="47244"/>
                </a:moveTo>
                <a:lnTo>
                  <a:pt x="201168" y="45720"/>
                </a:lnTo>
                <a:lnTo>
                  <a:pt x="199898" y="48260"/>
                </a:lnTo>
                <a:lnTo>
                  <a:pt x="200406" y="48006"/>
                </a:lnTo>
                <a:lnTo>
                  <a:pt x="201168" y="47244"/>
                </a:lnTo>
                <a:close/>
              </a:path>
              <a:path w="360679" h="541019">
                <a:moveTo>
                  <a:pt x="360426" y="512826"/>
                </a:moveTo>
                <a:lnTo>
                  <a:pt x="342138" y="512826"/>
                </a:lnTo>
                <a:lnTo>
                  <a:pt x="308925" y="511114"/>
                </a:lnTo>
                <a:lnTo>
                  <a:pt x="269967" y="508392"/>
                </a:lnTo>
                <a:lnTo>
                  <a:pt x="231470" y="502933"/>
                </a:lnTo>
                <a:lnTo>
                  <a:pt x="200095" y="493154"/>
                </a:lnTo>
                <a:lnTo>
                  <a:pt x="201168" y="495300"/>
                </a:lnTo>
                <a:lnTo>
                  <a:pt x="201168" y="522867"/>
                </a:lnTo>
                <a:lnTo>
                  <a:pt x="215604" y="528745"/>
                </a:lnTo>
                <a:lnTo>
                  <a:pt x="260861" y="536262"/>
                </a:lnTo>
                <a:lnTo>
                  <a:pt x="306751" y="539681"/>
                </a:lnTo>
                <a:lnTo>
                  <a:pt x="342138" y="541020"/>
                </a:lnTo>
                <a:lnTo>
                  <a:pt x="359664" y="541020"/>
                </a:lnTo>
                <a:lnTo>
                  <a:pt x="360426" y="512826"/>
                </a:lnTo>
                <a:close/>
              </a:path>
              <a:path w="360679" h="541019">
                <a:moveTo>
                  <a:pt x="201168" y="45720"/>
                </a:moveTo>
                <a:lnTo>
                  <a:pt x="201168" y="44196"/>
                </a:lnTo>
                <a:lnTo>
                  <a:pt x="200406" y="47244"/>
                </a:lnTo>
                <a:lnTo>
                  <a:pt x="201168" y="45720"/>
                </a:lnTo>
                <a:close/>
              </a:path>
              <a:path w="360679" h="541019">
                <a:moveTo>
                  <a:pt x="201168" y="497586"/>
                </a:moveTo>
                <a:lnTo>
                  <a:pt x="201168" y="495300"/>
                </a:lnTo>
                <a:lnTo>
                  <a:pt x="200406" y="493776"/>
                </a:lnTo>
                <a:lnTo>
                  <a:pt x="201168" y="497586"/>
                </a:lnTo>
                <a:close/>
              </a:path>
            </a:pathLst>
          </a:custGeom>
          <a:solidFill>
            <a:srgbClr val="FF0000"/>
          </a:solidFill>
        </p:spPr>
        <p:txBody>
          <a:bodyPr wrap="square" lIns="0" tIns="0" rIns="0" bIns="0" rtlCol="0"/>
          <a:lstStyle/>
          <a:p>
            <a:endParaRPr/>
          </a:p>
        </p:txBody>
      </p:sp>
      <p:sp>
        <p:nvSpPr>
          <p:cNvPr id="10" name="object 10"/>
          <p:cNvSpPr txBox="1"/>
          <p:nvPr/>
        </p:nvSpPr>
        <p:spPr>
          <a:xfrm>
            <a:off x="6574669" y="2712973"/>
            <a:ext cx="62801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omic Sans MS"/>
                <a:cs typeface="Comic Sans MS"/>
              </a:rPr>
              <a:t>&gt; 3</a:t>
            </a:r>
            <a:r>
              <a:rPr sz="1800" b="1" spc="-105" dirty="0">
                <a:solidFill>
                  <a:srgbClr val="FF0000"/>
                </a:solidFill>
                <a:latin typeface="Comic Sans MS"/>
                <a:cs typeface="Comic Sans MS"/>
              </a:rPr>
              <a:t> </a:t>
            </a:r>
            <a:r>
              <a:rPr sz="1800" b="1" dirty="0">
                <a:solidFill>
                  <a:srgbClr val="FF0000"/>
                </a:solidFill>
                <a:latin typeface="Comic Sans MS"/>
                <a:cs typeface="Comic Sans MS"/>
              </a:rPr>
              <a:t>L</a:t>
            </a:r>
            <a:endParaRPr sz="1800">
              <a:latin typeface="Comic Sans MS"/>
              <a:cs typeface="Comic Sans MS"/>
            </a:endParaRPr>
          </a:p>
        </p:txBody>
      </p:sp>
      <p:sp>
        <p:nvSpPr>
          <p:cNvPr id="11" name="object 11"/>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783" y="795782"/>
            <a:ext cx="3395979" cy="513080"/>
          </a:xfrm>
          <a:prstGeom prst="rect">
            <a:avLst/>
          </a:prstGeom>
        </p:spPr>
        <p:txBody>
          <a:bodyPr vert="horz" wrap="square" lIns="0" tIns="12065" rIns="0" bIns="0" rtlCol="0">
            <a:spAutoFit/>
          </a:bodyPr>
          <a:lstStyle/>
          <a:p>
            <a:pPr marL="12700">
              <a:lnSpc>
                <a:spcPct val="100000"/>
              </a:lnSpc>
              <a:spcBef>
                <a:spcPts val="95"/>
              </a:spcBef>
            </a:pPr>
            <a:r>
              <a:rPr spc="-10" dirty="0"/>
              <a:t>Outlier</a:t>
            </a:r>
            <a:r>
              <a:rPr spc="-30" dirty="0"/>
              <a:t> </a:t>
            </a:r>
            <a:r>
              <a:rPr spc="-10" dirty="0"/>
              <a:t>detection</a:t>
            </a:r>
          </a:p>
        </p:txBody>
      </p:sp>
      <p:sp>
        <p:nvSpPr>
          <p:cNvPr id="3" name="object 3"/>
          <p:cNvSpPr txBox="1"/>
          <p:nvPr/>
        </p:nvSpPr>
        <p:spPr>
          <a:xfrm>
            <a:off x="1309249" y="1558543"/>
            <a:ext cx="4886325" cy="1663700"/>
          </a:xfrm>
          <a:prstGeom prst="rect">
            <a:avLst/>
          </a:prstGeom>
        </p:spPr>
        <p:txBody>
          <a:bodyPr vert="horz" wrap="square" lIns="0" tIns="12700" rIns="0" bIns="0" rtlCol="0">
            <a:spAutoFit/>
          </a:bodyPr>
          <a:lstStyle/>
          <a:p>
            <a:pPr marL="354965" indent="-342900">
              <a:lnSpc>
                <a:spcPct val="100000"/>
              </a:lnSpc>
              <a:spcBef>
                <a:spcPts val="100"/>
              </a:spcBef>
              <a:buChar char="•"/>
              <a:tabLst>
                <a:tab pos="354965" algn="l"/>
                <a:tab pos="355600" algn="l"/>
              </a:tabLst>
            </a:pPr>
            <a:r>
              <a:rPr sz="2800" spc="-5" dirty="0">
                <a:solidFill>
                  <a:srgbClr val="FF0000"/>
                </a:solidFill>
                <a:latin typeface="Comic Sans MS"/>
                <a:cs typeface="Comic Sans MS"/>
              </a:rPr>
              <a:t>Multivariate</a:t>
            </a:r>
            <a:endParaRPr sz="2800">
              <a:latin typeface="Comic Sans MS"/>
              <a:cs typeface="Comic Sans MS"/>
            </a:endParaRPr>
          </a:p>
          <a:p>
            <a:pPr marL="755650" lvl="1" indent="-286385">
              <a:lnSpc>
                <a:spcPct val="100000"/>
              </a:lnSpc>
              <a:spcBef>
                <a:spcPts val="3005"/>
              </a:spcBef>
              <a:buClr>
                <a:srgbClr val="FF0000"/>
              </a:buClr>
              <a:buChar char="•"/>
              <a:tabLst>
                <a:tab pos="755015" algn="l"/>
                <a:tab pos="755650" algn="l"/>
              </a:tabLst>
            </a:pPr>
            <a:r>
              <a:rPr sz="2400" dirty="0">
                <a:solidFill>
                  <a:srgbClr val="3333CC"/>
                </a:solidFill>
                <a:latin typeface="Comic Sans MS"/>
                <a:cs typeface="Comic Sans MS"/>
              </a:rPr>
              <a:t>Clustering</a:t>
            </a:r>
            <a:endParaRPr sz="2400">
              <a:latin typeface="Comic Sans MS"/>
              <a:cs typeface="Comic Sans MS"/>
            </a:endParaRPr>
          </a:p>
          <a:p>
            <a:pPr marL="1155700" lvl="2" indent="-228600">
              <a:lnSpc>
                <a:spcPct val="100000"/>
              </a:lnSpc>
              <a:spcBef>
                <a:spcPts val="1250"/>
              </a:spcBef>
              <a:buClr>
                <a:srgbClr val="FF0000"/>
              </a:buClr>
              <a:buSzPct val="90000"/>
              <a:buChar char="•"/>
              <a:tabLst>
                <a:tab pos="1155065" algn="l"/>
                <a:tab pos="1155700" algn="l"/>
              </a:tabLst>
            </a:pPr>
            <a:r>
              <a:rPr sz="2000" spc="-5" dirty="0">
                <a:solidFill>
                  <a:srgbClr val="3333CC"/>
                </a:solidFill>
                <a:latin typeface="Comic Sans MS"/>
                <a:cs typeface="Comic Sans MS"/>
              </a:rPr>
              <a:t>Very small clusters are</a:t>
            </a:r>
            <a:r>
              <a:rPr sz="2000" spc="45" dirty="0">
                <a:solidFill>
                  <a:srgbClr val="3333CC"/>
                </a:solidFill>
                <a:latin typeface="Comic Sans MS"/>
                <a:cs typeface="Comic Sans MS"/>
              </a:rPr>
              <a:t> </a:t>
            </a:r>
            <a:r>
              <a:rPr sz="2000" spc="-10" dirty="0">
                <a:solidFill>
                  <a:srgbClr val="3333CC"/>
                </a:solidFill>
                <a:latin typeface="Comic Sans MS"/>
                <a:cs typeface="Comic Sans MS"/>
              </a:rPr>
              <a:t>outliers</a:t>
            </a:r>
            <a:endParaRPr sz="2000">
              <a:latin typeface="Comic Sans MS"/>
              <a:cs typeface="Comic Sans MS"/>
            </a:endParaRPr>
          </a:p>
        </p:txBody>
      </p:sp>
      <p:sp>
        <p:nvSpPr>
          <p:cNvPr id="4" name="object 4"/>
          <p:cNvSpPr/>
          <p:nvPr/>
        </p:nvSpPr>
        <p:spPr>
          <a:xfrm>
            <a:off x="1156601" y="3793997"/>
            <a:ext cx="4174235" cy="312267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152791" y="3790950"/>
            <a:ext cx="4182110" cy="3133090"/>
          </a:xfrm>
          <a:custGeom>
            <a:avLst/>
            <a:gdLst/>
            <a:ahLst/>
            <a:cxnLst/>
            <a:rect l="l" t="t" r="r" b="b"/>
            <a:pathLst>
              <a:path w="4182110" h="3133090">
                <a:moveTo>
                  <a:pt x="4181856" y="3132581"/>
                </a:moveTo>
                <a:lnTo>
                  <a:pt x="4181855" y="0"/>
                </a:lnTo>
                <a:lnTo>
                  <a:pt x="0" y="0"/>
                </a:lnTo>
                <a:lnTo>
                  <a:pt x="0" y="3132581"/>
                </a:lnTo>
                <a:lnTo>
                  <a:pt x="5333" y="3132581"/>
                </a:lnTo>
                <a:lnTo>
                  <a:pt x="5334" y="9905"/>
                </a:lnTo>
                <a:lnTo>
                  <a:pt x="9906" y="4572"/>
                </a:lnTo>
                <a:lnTo>
                  <a:pt x="9905" y="9905"/>
                </a:lnTo>
                <a:lnTo>
                  <a:pt x="4171949" y="9905"/>
                </a:lnTo>
                <a:lnTo>
                  <a:pt x="4171949" y="4571"/>
                </a:lnTo>
                <a:lnTo>
                  <a:pt x="4177283" y="9905"/>
                </a:lnTo>
                <a:lnTo>
                  <a:pt x="4177284" y="3132581"/>
                </a:lnTo>
                <a:lnTo>
                  <a:pt x="4181856" y="3132581"/>
                </a:lnTo>
                <a:close/>
              </a:path>
              <a:path w="4182110" h="3133090">
                <a:moveTo>
                  <a:pt x="9906" y="9905"/>
                </a:moveTo>
                <a:lnTo>
                  <a:pt x="9906" y="4572"/>
                </a:lnTo>
                <a:lnTo>
                  <a:pt x="5334" y="9905"/>
                </a:lnTo>
                <a:lnTo>
                  <a:pt x="9906" y="9905"/>
                </a:lnTo>
                <a:close/>
              </a:path>
              <a:path w="4182110" h="3133090">
                <a:moveTo>
                  <a:pt x="9906" y="3122676"/>
                </a:moveTo>
                <a:lnTo>
                  <a:pt x="9906" y="9905"/>
                </a:lnTo>
                <a:lnTo>
                  <a:pt x="5334" y="9905"/>
                </a:lnTo>
                <a:lnTo>
                  <a:pt x="5334" y="3122676"/>
                </a:lnTo>
                <a:lnTo>
                  <a:pt x="9906" y="3122676"/>
                </a:lnTo>
                <a:close/>
              </a:path>
              <a:path w="4182110" h="3133090">
                <a:moveTo>
                  <a:pt x="4177284" y="3122676"/>
                </a:moveTo>
                <a:lnTo>
                  <a:pt x="5334" y="3122676"/>
                </a:lnTo>
                <a:lnTo>
                  <a:pt x="9906" y="3127248"/>
                </a:lnTo>
                <a:lnTo>
                  <a:pt x="9906" y="3132581"/>
                </a:lnTo>
                <a:lnTo>
                  <a:pt x="4171950" y="3132581"/>
                </a:lnTo>
                <a:lnTo>
                  <a:pt x="4171950" y="3127248"/>
                </a:lnTo>
                <a:lnTo>
                  <a:pt x="4177284" y="3122676"/>
                </a:lnTo>
                <a:close/>
              </a:path>
              <a:path w="4182110" h="3133090">
                <a:moveTo>
                  <a:pt x="9906" y="3132581"/>
                </a:moveTo>
                <a:lnTo>
                  <a:pt x="9906" y="3127248"/>
                </a:lnTo>
                <a:lnTo>
                  <a:pt x="5334" y="3122676"/>
                </a:lnTo>
                <a:lnTo>
                  <a:pt x="5333" y="3132581"/>
                </a:lnTo>
                <a:lnTo>
                  <a:pt x="9906" y="3132581"/>
                </a:lnTo>
                <a:close/>
              </a:path>
              <a:path w="4182110" h="3133090">
                <a:moveTo>
                  <a:pt x="4177283" y="9905"/>
                </a:moveTo>
                <a:lnTo>
                  <a:pt x="4171949" y="4571"/>
                </a:lnTo>
                <a:lnTo>
                  <a:pt x="4171949" y="9905"/>
                </a:lnTo>
                <a:lnTo>
                  <a:pt x="4177283" y="9905"/>
                </a:lnTo>
                <a:close/>
              </a:path>
              <a:path w="4182110" h="3133090">
                <a:moveTo>
                  <a:pt x="4177284" y="3122676"/>
                </a:moveTo>
                <a:lnTo>
                  <a:pt x="4177283" y="9905"/>
                </a:lnTo>
                <a:lnTo>
                  <a:pt x="4171949" y="9905"/>
                </a:lnTo>
                <a:lnTo>
                  <a:pt x="4171950" y="3122676"/>
                </a:lnTo>
                <a:lnTo>
                  <a:pt x="4177284" y="3122676"/>
                </a:lnTo>
                <a:close/>
              </a:path>
              <a:path w="4182110" h="3133090">
                <a:moveTo>
                  <a:pt x="4177284" y="3132581"/>
                </a:moveTo>
                <a:lnTo>
                  <a:pt x="4177284" y="3122676"/>
                </a:lnTo>
                <a:lnTo>
                  <a:pt x="4171950" y="3127248"/>
                </a:lnTo>
                <a:lnTo>
                  <a:pt x="4171950" y="3132581"/>
                </a:lnTo>
                <a:lnTo>
                  <a:pt x="4177284" y="3132581"/>
                </a:lnTo>
                <a:close/>
              </a:path>
            </a:pathLst>
          </a:custGeom>
          <a:solidFill>
            <a:srgbClr val="000000"/>
          </a:solidFill>
        </p:spPr>
        <p:txBody>
          <a:bodyPr wrap="square" lIns="0" tIns="0" rIns="0" bIns="0" rtlCol="0"/>
          <a:lstStyle/>
          <a:p>
            <a:endParaRPr/>
          </a:p>
        </p:txBody>
      </p:sp>
      <p:sp>
        <p:nvSpPr>
          <p:cNvPr id="6" name="object 6"/>
          <p:cNvSpPr/>
          <p:nvPr/>
        </p:nvSpPr>
        <p:spPr>
          <a:xfrm>
            <a:off x="5624969" y="3470147"/>
            <a:ext cx="3849623" cy="2410967"/>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5621921" y="3467100"/>
            <a:ext cx="3857625" cy="2421255"/>
          </a:xfrm>
          <a:custGeom>
            <a:avLst/>
            <a:gdLst/>
            <a:ahLst/>
            <a:cxnLst/>
            <a:rect l="l" t="t" r="r" b="b"/>
            <a:pathLst>
              <a:path w="3857625" h="2421254">
                <a:moveTo>
                  <a:pt x="3857244" y="2420874"/>
                </a:moveTo>
                <a:lnTo>
                  <a:pt x="3857244" y="0"/>
                </a:lnTo>
                <a:lnTo>
                  <a:pt x="0" y="0"/>
                </a:lnTo>
                <a:lnTo>
                  <a:pt x="0" y="2420874"/>
                </a:lnTo>
                <a:lnTo>
                  <a:pt x="4572" y="2420874"/>
                </a:lnTo>
                <a:lnTo>
                  <a:pt x="4572" y="9906"/>
                </a:lnTo>
                <a:lnTo>
                  <a:pt x="9144" y="4572"/>
                </a:lnTo>
                <a:lnTo>
                  <a:pt x="9144" y="9906"/>
                </a:lnTo>
                <a:lnTo>
                  <a:pt x="3848100" y="9905"/>
                </a:lnTo>
                <a:lnTo>
                  <a:pt x="3848100" y="4572"/>
                </a:lnTo>
                <a:lnTo>
                  <a:pt x="3852671" y="9905"/>
                </a:lnTo>
                <a:lnTo>
                  <a:pt x="3852671" y="2420874"/>
                </a:lnTo>
                <a:lnTo>
                  <a:pt x="3857244" y="2420874"/>
                </a:lnTo>
                <a:close/>
              </a:path>
              <a:path w="3857625" h="2421254">
                <a:moveTo>
                  <a:pt x="9144" y="9906"/>
                </a:moveTo>
                <a:lnTo>
                  <a:pt x="9144" y="4572"/>
                </a:lnTo>
                <a:lnTo>
                  <a:pt x="4572" y="9906"/>
                </a:lnTo>
                <a:lnTo>
                  <a:pt x="9144" y="9906"/>
                </a:lnTo>
                <a:close/>
              </a:path>
              <a:path w="3857625" h="2421254">
                <a:moveTo>
                  <a:pt x="9144" y="2411730"/>
                </a:moveTo>
                <a:lnTo>
                  <a:pt x="9144" y="9906"/>
                </a:lnTo>
                <a:lnTo>
                  <a:pt x="4572" y="9906"/>
                </a:lnTo>
                <a:lnTo>
                  <a:pt x="4572" y="2411730"/>
                </a:lnTo>
                <a:lnTo>
                  <a:pt x="9144" y="2411730"/>
                </a:lnTo>
                <a:close/>
              </a:path>
              <a:path w="3857625" h="2421254">
                <a:moveTo>
                  <a:pt x="3852671" y="2411729"/>
                </a:moveTo>
                <a:lnTo>
                  <a:pt x="4572" y="2411730"/>
                </a:lnTo>
                <a:lnTo>
                  <a:pt x="9144" y="2416302"/>
                </a:lnTo>
                <a:lnTo>
                  <a:pt x="9144" y="2420874"/>
                </a:lnTo>
                <a:lnTo>
                  <a:pt x="3848100" y="2420874"/>
                </a:lnTo>
                <a:lnTo>
                  <a:pt x="3848100" y="2416302"/>
                </a:lnTo>
                <a:lnTo>
                  <a:pt x="3852671" y="2411729"/>
                </a:lnTo>
                <a:close/>
              </a:path>
              <a:path w="3857625" h="2421254">
                <a:moveTo>
                  <a:pt x="9144" y="2420874"/>
                </a:moveTo>
                <a:lnTo>
                  <a:pt x="9144" y="2416302"/>
                </a:lnTo>
                <a:lnTo>
                  <a:pt x="4572" y="2411730"/>
                </a:lnTo>
                <a:lnTo>
                  <a:pt x="4572" y="2420874"/>
                </a:lnTo>
                <a:lnTo>
                  <a:pt x="9144" y="2420874"/>
                </a:lnTo>
                <a:close/>
              </a:path>
              <a:path w="3857625" h="2421254">
                <a:moveTo>
                  <a:pt x="3852671" y="9905"/>
                </a:moveTo>
                <a:lnTo>
                  <a:pt x="3848100" y="4572"/>
                </a:lnTo>
                <a:lnTo>
                  <a:pt x="3848100" y="9905"/>
                </a:lnTo>
                <a:lnTo>
                  <a:pt x="3852671" y="9905"/>
                </a:lnTo>
                <a:close/>
              </a:path>
              <a:path w="3857625" h="2421254">
                <a:moveTo>
                  <a:pt x="3852671" y="2411729"/>
                </a:moveTo>
                <a:lnTo>
                  <a:pt x="3852671" y="9905"/>
                </a:lnTo>
                <a:lnTo>
                  <a:pt x="3848100" y="9905"/>
                </a:lnTo>
                <a:lnTo>
                  <a:pt x="3848100" y="2411729"/>
                </a:lnTo>
                <a:lnTo>
                  <a:pt x="3852671" y="2411729"/>
                </a:lnTo>
                <a:close/>
              </a:path>
              <a:path w="3857625" h="2421254">
                <a:moveTo>
                  <a:pt x="3852671" y="2420874"/>
                </a:moveTo>
                <a:lnTo>
                  <a:pt x="3852671" y="2411729"/>
                </a:lnTo>
                <a:lnTo>
                  <a:pt x="3848100" y="2416302"/>
                </a:lnTo>
                <a:lnTo>
                  <a:pt x="3848100" y="2420874"/>
                </a:lnTo>
                <a:lnTo>
                  <a:pt x="3852671" y="2420874"/>
                </a:lnTo>
                <a:close/>
              </a:path>
            </a:pathLst>
          </a:custGeom>
          <a:solidFill>
            <a:srgbClr val="000000"/>
          </a:solidFill>
        </p:spPr>
        <p:txBody>
          <a:bodyPr wrap="square" lIns="0" tIns="0" rIns="0" bIns="0" rtlCol="0"/>
          <a:lstStyle/>
          <a:p>
            <a:endParaRPr/>
          </a:p>
        </p:txBody>
      </p:sp>
      <p:sp>
        <p:nvSpPr>
          <p:cNvPr id="8" name="object 8"/>
          <p:cNvSpPr txBox="1"/>
          <p:nvPr/>
        </p:nvSpPr>
        <p:spPr>
          <a:xfrm>
            <a:off x="6147949" y="5939082"/>
            <a:ext cx="3173095" cy="452120"/>
          </a:xfrm>
          <a:prstGeom prst="rect">
            <a:avLst/>
          </a:prstGeom>
        </p:spPr>
        <p:txBody>
          <a:bodyPr vert="horz" wrap="square" lIns="0" tIns="12700" rIns="0" bIns="0" rtlCol="0">
            <a:spAutoFit/>
          </a:bodyPr>
          <a:lstStyle/>
          <a:p>
            <a:pPr marL="12700" marR="5080">
              <a:lnSpc>
                <a:spcPct val="100000"/>
              </a:lnSpc>
              <a:spcBef>
                <a:spcPts val="100"/>
              </a:spcBef>
            </a:pPr>
            <a:r>
              <a:rPr sz="1400" spc="-5" dirty="0">
                <a:latin typeface="Times New Roman"/>
                <a:cs typeface="Times New Roman"/>
                <a:hlinkClick r:id="rId4"/>
              </a:rPr>
              <a:t>http://www.ibm.com/developerworks/data/li </a:t>
            </a:r>
            <a:r>
              <a:rPr sz="1400" spc="-5" dirty="0">
                <a:latin typeface="Times New Roman"/>
                <a:cs typeface="Times New Roman"/>
              </a:rPr>
              <a:t> brary/techarticle/dm-0811wurst/</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21</a:t>
            </a:fld>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6783" y="795782"/>
            <a:ext cx="3395979" cy="513080"/>
          </a:xfrm>
          <a:prstGeom prst="rect">
            <a:avLst/>
          </a:prstGeom>
        </p:spPr>
        <p:txBody>
          <a:bodyPr vert="horz" wrap="square" lIns="0" tIns="12065" rIns="0" bIns="0" rtlCol="0">
            <a:spAutoFit/>
          </a:bodyPr>
          <a:lstStyle/>
          <a:p>
            <a:pPr marL="12700">
              <a:lnSpc>
                <a:spcPct val="100000"/>
              </a:lnSpc>
              <a:spcBef>
                <a:spcPts val="95"/>
              </a:spcBef>
            </a:pPr>
            <a:r>
              <a:rPr spc="-10" dirty="0"/>
              <a:t>Outlier</a:t>
            </a:r>
            <a:r>
              <a:rPr spc="-30" dirty="0"/>
              <a:t> </a:t>
            </a:r>
            <a:r>
              <a:rPr spc="-10" dirty="0"/>
              <a:t>detection</a:t>
            </a:r>
          </a:p>
        </p:txBody>
      </p:sp>
      <p:sp>
        <p:nvSpPr>
          <p:cNvPr id="3" name="object 3"/>
          <p:cNvSpPr txBox="1"/>
          <p:nvPr/>
        </p:nvSpPr>
        <p:spPr>
          <a:xfrm>
            <a:off x="1309249" y="1529587"/>
            <a:ext cx="7948295" cy="1998980"/>
          </a:xfrm>
          <a:prstGeom prst="rect">
            <a:avLst/>
          </a:prstGeom>
        </p:spPr>
        <p:txBody>
          <a:bodyPr vert="horz" wrap="square" lIns="0" tIns="12700" rIns="0" bIns="0" rtlCol="0">
            <a:spAutoFit/>
          </a:bodyPr>
          <a:lstStyle/>
          <a:p>
            <a:pPr marL="354965" indent="-342900">
              <a:lnSpc>
                <a:spcPct val="100000"/>
              </a:lnSpc>
              <a:spcBef>
                <a:spcPts val="100"/>
              </a:spcBef>
              <a:buChar char="•"/>
              <a:tabLst>
                <a:tab pos="354965" algn="l"/>
                <a:tab pos="355600" algn="l"/>
              </a:tabLst>
            </a:pPr>
            <a:r>
              <a:rPr sz="2800" spc="-5" dirty="0">
                <a:solidFill>
                  <a:srgbClr val="FF0000"/>
                </a:solidFill>
                <a:latin typeface="Comic Sans MS"/>
                <a:cs typeface="Comic Sans MS"/>
              </a:rPr>
              <a:t>Multivariate</a:t>
            </a:r>
            <a:endParaRPr sz="2800">
              <a:latin typeface="Comic Sans MS"/>
              <a:cs typeface="Comic Sans MS"/>
            </a:endParaRPr>
          </a:p>
          <a:p>
            <a:pPr marL="755650" lvl="1" indent="-286385">
              <a:lnSpc>
                <a:spcPct val="100000"/>
              </a:lnSpc>
              <a:spcBef>
                <a:spcPts val="3005"/>
              </a:spcBef>
              <a:buClr>
                <a:srgbClr val="FF0000"/>
              </a:buClr>
              <a:buChar char="•"/>
              <a:tabLst>
                <a:tab pos="755015" algn="l"/>
                <a:tab pos="755650" algn="l"/>
              </a:tabLst>
            </a:pPr>
            <a:r>
              <a:rPr sz="2400" dirty="0">
                <a:solidFill>
                  <a:srgbClr val="3333CC"/>
                </a:solidFill>
                <a:latin typeface="Comic Sans MS"/>
                <a:cs typeface="Comic Sans MS"/>
              </a:rPr>
              <a:t>Distance</a:t>
            </a:r>
            <a:r>
              <a:rPr sz="2400" spc="-5" dirty="0">
                <a:solidFill>
                  <a:srgbClr val="3333CC"/>
                </a:solidFill>
                <a:latin typeface="Comic Sans MS"/>
                <a:cs typeface="Comic Sans MS"/>
              </a:rPr>
              <a:t> based</a:t>
            </a:r>
            <a:endParaRPr sz="2400">
              <a:latin typeface="Comic Sans MS"/>
              <a:cs typeface="Comic Sans MS"/>
            </a:endParaRPr>
          </a:p>
          <a:p>
            <a:pPr marL="1155700" marR="5080" lvl="2" indent="-228600">
              <a:lnSpc>
                <a:spcPct val="110000"/>
              </a:lnSpc>
              <a:spcBef>
                <a:spcPts val="1010"/>
              </a:spcBef>
              <a:buClr>
                <a:srgbClr val="FF0000"/>
              </a:buClr>
              <a:buSzPct val="90000"/>
              <a:buChar char="•"/>
              <a:tabLst>
                <a:tab pos="1155065" algn="l"/>
                <a:tab pos="1155700" algn="l"/>
              </a:tabLst>
            </a:pPr>
            <a:r>
              <a:rPr sz="2000" spc="-5" dirty="0">
                <a:solidFill>
                  <a:srgbClr val="3333CC"/>
                </a:solidFill>
                <a:latin typeface="Comic Sans MS"/>
                <a:cs typeface="Comic Sans MS"/>
              </a:rPr>
              <a:t>An </a:t>
            </a:r>
            <a:r>
              <a:rPr sz="2000" spc="-10" dirty="0">
                <a:solidFill>
                  <a:srgbClr val="3333CC"/>
                </a:solidFill>
                <a:latin typeface="Comic Sans MS"/>
                <a:cs typeface="Comic Sans MS"/>
              </a:rPr>
              <a:t>instance </a:t>
            </a:r>
            <a:r>
              <a:rPr sz="2000" spc="-5" dirty="0">
                <a:solidFill>
                  <a:srgbClr val="3333CC"/>
                </a:solidFill>
                <a:latin typeface="Comic Sans MS"/>
                <a:cs typeface="Comic Sans MS"/>
              </a:rPr>
              <a:t>with very few </a:t>
            </a:r>
            <a:r>
              <a:rPr sz="2000" spc="-10" dirty="0">
                <a:solidFill>
                  <a:srgbClr val="3333CC"/>
                </a:solidFill>
                <a:latin typeface="Comic Sans MS"/>
                <a:cs typeface="Comic Sans MS"/>
              </a:rPr>
              <a:t>neighbors within </a:t>
            </a:r>
            <a:r>
              <a:rPr sz="2000" spc="-5" dirty="0">
                <a:solidFill>
                  <a:srgbClr val="3333CC"/>
                </a:solidFill>
                <a:latin typeface="Comic Sans MS"/>
                <a:cs typeface="Comic Sans MS"/>
              </a:rPr>
              <a:t>D is </a:t>
            </a:r>
            <a:r>
              <a:rPr sz="2000" spc="-10" dirty="0">
                <a:solidFill>
                  <a:srgbClr val="3333CC"/>
                </a:solidFill>
                <a:latin typeface="Comic Sans MS"/>
                <a:cs typeface="Comic Sans MS"/>
              </a:rPr>
              <a:t>regarded  </a:t>
            </a:r>
            <a:r>
              <a:rPr sz="2000" spc="-5" dirty="0">
                <a:solidFill>
                  <a:srgbClr val="3333CC"/>
                </a:solidFill>
                <a:latin typeface="Comic Sans MS"/>
                <a:cs typeface="Comic Sans MS"/>
              </a:rPr>
              <a:t>as an</a:t>
            </a:r>
            <a:r>
              <a:rPr sz="2000" spc="20" dirty="0">
                <a:solidFill>
                  <a:srgbClr val="3333CC"/>
                </a:solidFill>
                <a:latin typeface="Comic Sans MS"/>
                <a:cs typeface="Comic Sans MS"/>
              </a:rPr>
              <a:t> </a:t>
            </a:r>
            <a:r>
              <a:rPr sz="2000" spc="-10" dirty="0">
                <a:solidFill>
                  <a:srgbClr val="3333CC"/>
                </a:solidFill>
                <a:latin typeface="Comic Sans MS"/>
                <a:cs typeface="Comic Sans MS"/>
              </a:rPr>
              <a:t>outlier</a:t>
            </a:r>
            <a:endParaRPr sz="2000">
              <a:latin typeface="Comic Sans MS"/>
              <a:cs typeface="Comic Sans MS"/>
            </a:endParaRPr>
          </a:p>
        </p:txBody>
      </p:sp>
      <p:sp>
        <p:nvSpPr>
          <p:cNvPr id="4" name="object 4"/>
          <p:cNvSpPr/>
          <p:nvPr/>
        </p:nvSpPr>
        <p:spPr>
          <a:xfrm>
            <a:off x="5122049" y="3590544"/>
            <a:ext cx="3429761" cy="304342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78115" y="5107685"/>
            <a:ext cx="2419350" cy="1904238"/>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1161421" y="4658359"/>
            <a:ext cx="1160780"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Comic Sans MS"/>
                <a:cs typeface="Comic Sans MS"/>
              </a:rPr>
              <a:t>Knn</a:t>
            </a:r>
            <a:r>
              <a:rPr sz="1400" spc="-45" dirty="0">
                <a:latin typeface="Comic Sans MS"/>
                <a:cs typeface="Comic Sans MS"/>
              </a:rPr>
              <a:t> </a:t>
            </a:r>
            <a:r>
              <a:rPr sz="1400" spc="-5" dirty="0">
                <a:latin typeface="Comic Sans MS"/>
                <a:cs typeface="Comic Sans MS"/>
              </a:rPr>
              <a:t>algorithm</a:t>
            </a:r>
            <a:endParaRPr sz="1400">
              <a:latin typeface="Comic Sans MS"/>
              <a:cs typeface="Comic Sans MS"/>
            </a:endParaRPr>
          </a:p>
        </p:txBody>
      </p:sp>
      <p:sp>
        <p:nvSpPr>
          <p:cNvPr id="7" name="object 7"/>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40799" y="2019300"/>
            <a:ext cx="5811011" cy="414451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450981" y="6409677"/>
            <a:ext cx="7790815" cy="300355"/>
          </a:xfrm>
          <a:prstGeom prst="rect">
            <a:avLst/>
          </a:prstGeom>
        </p:spPr>
        <p:txBody>
          <a:bodyPr vert="horz" wrap="square" lIns="0" tIns="13335" rIns="0" bIns="0" rtlCol="0">
            <a:spAutoFit/>
          </a:bodyPr>
          <a:lstStyle/>
          <a:p>
            <a:pPr marL="12700">
              <a:lnSpc>
                <a:spcPct val="100000"/>
              </a:lnSpc>
              <a:spcBef>
                <a:spcPts val="105"/>
              </a:spcBef>
            </a:pPr>
            <a:r>
              <a:rPr sz="1800" dirty="0">
                <a:latin typeface="Comic Sans MS"/>
                <a:cs typeface="Comic Sans MS"/>
              </a:rPr>
              <a:t>A </a:t>
            </a:r>
            <a:r>
              <a:rPr sz="1800" spc="-5" dirty="0">
                <a:latin typeface="Comic Sans MS"/>
                <a:cs typeface="Comic Sans MS"/>
              </a:rPr>
              <a:t>bi-dimensional outlier that is not an outlier in either of its</a:t>
            </a:r>
            <a:r>
              <a:rPr sz="1800" spc="20" dirty="0">
                <a:latin typeface="Comic Sans MS"/>
                <a:cs typeface="Comic Sans MS"/>
              </a:rPr>
              <a:t> </a:t>
            </a:r>
            <a:r>
              <a:rPr sz="1800" spc="-5" dirty="0">
                <a:latin typeface="Comic Sans MS"/>
                <a:cs typeface="Comic Sans MS"/>
              </a:rPr>
              <a:t>projections.</a:t>
            </a:r>
            <a:endParaRPr sz="1800">
              <a:latin typeface="Comic Sans MS"/>
              <a:cs typeface="Comic Sans MS"/>
            </a:endParaRPr>
          </a:p>
        </p:txBody>
      </p:sp>
      <p:sp>
        <p:nvSpPr>
          <p:cNvPr id="4" name="object 4"/>
          <p:cNvSpPr/>
          <p:nvPr/>
        </p:nvSpPr>
        <p:spPr>
          <a:xfrm>
            <a:off x="7011034" y="2175510"/>
            <a:ext cx="886460" cy="801370"/>
          </a:xfrm>
          <a:custGeom>
            <a:avLst/>
            <a:gdLst/>
            <a:ahLst/>
            <a:cxnLst/>
            <a:rect l="l" t="t" r="r" b="b"/>
            <a:pathLst>
              <a:path w="886459" h="801369">
                <a:moveTo>
                  <a:pt x="626176" y="245414"/>
                </a:moveTo>
                <a:lnTo>
                  <a:pt x="224790" y="0"/>
                </a:lnTo>
                <a:lnTo>
                  <a:pt x="0" y="366522"/>
                </a:lnTo>
                <a:lnTo>
                  <a:pt x="26670" y="382877"/>
                </a:lnTo>
                <a:lnTo>
                  <a:pt x="26670" y="349758"/>
                </a:lnTo>
                <a:lnTo>
                  <a:pt x="39363" y="357527"/>
                </a:lnTo>
                <a:lnTo>
                  <a:pt x="221742" y="59089"/>
                </a:lnTo>
                <a:lnTo>
                  <a:pt x="221742" y="31242"/>
                </a:lnTo>
                <a:lnTo>
                  <a:pt x="241554" y="26670"/>
                </a:lnTo>
                <a:lnTo>
                  <a:pt x="241554" y="43391"/>
                </a:lnTo>
                <a:lnTo>
                  <a:pt x="618744" y="274707"/>
                </a:lnTo>
                <a:lnTo>
                  <a:pt x="618744" y="257555"/>
                </a:lnTo>
                <a:lnTo>
                  <a:pt x="626176" y="245414"/>
                </a:lnTo>
                <a:close/>
              </a:path>
              <a:path w="886459" h="801369">
                <a:moveTo>
                  <a:pt x="39363" y="357527"/>
                </a:moveTo>
                <a:lnTo>
                  <a:pt x="26670" y="349758"/>
                </a:lnTo>
                <a:lnTo>
                  <a:pt x="32004" y="369570"/>
                </a:lnTo>
                <a:lnTo>
                  <a:pt x="39363" y="357527"/>
                </a:lnTo>
                <a:close/>
              </a:path>
              <a:path w="886459" h="801369">
                <a:moveTo>
                  <a:pt x="441198" y="603504"/>
                </a:moveTo>
                <a:lnTo>
                  <a:pt x="39363" y="357527"/>
                </a:lnTo>
                <a:lnTo>
                  <a:pt x="32004" y="369570"/>
                </a:lnTo>
                <a:lnTo>
                  <a:pt x="26670" y="349758"/>
                </a:lnTo>
                <a:lnTo>
                  <a:pt x="26670" y="382877"/>
                </a:lnTo>
                <a:lnTo>
                  <a:pt x="401624" y="612821"/>
                </a:lnTo>
                <a:lnTo>
                  <a:pt x="409194" y="600456"/>
                </a:lnTo>
                <a:lnTo>
                  <a:pt x="413766" y="620268"/>
                </a:lnTo>
                <a:lnTo>
                  <a:pt x="413766" y="647988"/>
                </a:lnTo>
                <a:lnTo>
                  <a:pt x="441198" y="603504"/>
                </a:lnTo>
                <a:close/>
              </a:path>
              <a:path w="886459" h="801369">
                <a:moveTo>
                  <a:pt x="241554" y="26670"/>
                </a:moveTo>
                <a:lnTo>
                  <a:pt x="221742" y="31242"/>
                </a:lnTo>
                <a:lnTo>
                  <a:pt x="234120" y="38833"/>
                </a:lnTo>
                <a:lnTo>
                  <a:pt x="241554" y="26670"/>
                </a:lnTo>
                <a:close/>
              </a:path>
              <a:path w="886459" h="801369">
                <a:moveTo>
                  <a:pt x="234120" y="38833"/>
                </a:moveTo>
                <a:lnTo>
                  <a:pt x="221742" y="31242"/>
                </a:lnTo>
                <a:lnTo>
                  <a:pt x="221742" y="59089"/>
                </a:lnTo>
                <a:lnTo>
                  <a:pt x="234120" y="38833"/>
                </a:lnTo>
                <a:close/>
              </a:path>
              <a:path w="886459" h="801369">
                <a:moveTo>
                  <a:pt x="241554" y="43391"/>
                </a:moveTo>
                <a:lnTo>
                  <a:pt x="241554" y="26670"/>
                </a:lnTo>
                <a:lnTo>
                  <a:pt x="234120" y="38833"/>
                </a:lnTo>
                <a:lnTo>
                  <a:pt x="241554" y="43391"/>
                </a:lnTo>
                <a:close/>
              </a:path>
              <a:path w="886459" h="801369">
                <a:moveTo>
                  <a:pt x="413766" y="647988"/>
                </a:moveTo>
                <a:lnTo>
                  <a:pt x="413766" y="620268"/>
                </a:lnTo>
                <a:lnTo>
                  <a:pt x="401624" y="612821"/>
                </a:lnTo>
                <a:lnTo>
                  <a:pt x="286512" y="800862"/>
                </a:lnTo>
                <a:lnTo>
                  <a:pt x="313182" y="794457"/>
                </a:lnTo>
                <a:lnTo>
                  <a:pt x="313182" y="765048"/>
                </a:lnTo>
                <a:lnTo>
                  <a:pt x="346512" y="757048"/>
                </a:lnTo>
                <a:lnTo>
                  <a:pt x="413766" y="647988"/>
                </a:lnTo>
                <a:close/>
              </a:path>
              <a:path w="886459" h="801369">
                <a:moveTo>
                  <a:pt x="346512" y="757048"/>
                </a:moveTo>
                <a:lnTo>
                  <a:pt x="313182" y="765048"/>
                </a:lnTo>
                <a:lnTo>
                  <a:pt x="328422" y="786384"/>
                </a:lnTo>
                <a:lnTo>
                  <a:pt x="346512" y="757048"/>
                </a:lnTo>
                <a:close/>
              </a:path>
              <a:path w="886459" h="801369">
                <a:moveTo>
                  <a:pt x="865632" y="661784"/>
                </a:moveTo>
                <a:lnTo>
                  <a:pt x="865632" y="632460"/>
                </a:lnTo>
                <a:lnTo>
                  <a:pt x="854964" y="649986"/>
                </a:lnTo>
                <a:lnTo>
                  <a:pt x="851567" y="635835"/>
                </a:lnTo>
                <a:lnTo>
                  <a:pt x="346512" y="757048"/>
                </a:lnTo>
                <a:lnTo>
                  <a:pt x="328422" y="786384"/>
                </a:lnTo>
                <a:lnTo>
                  <a:pt x="313182" y="765048"/>
                </a:lnTo>
                <a:lnTo>
                  <a:pt x="313182" y="794457"/>
                </a:lnTo>
                <a:lnTo>
                  <a:pt x="865632" y="661784"/>
                </a:lnTo>
                <a:close/>
              </a:path>
              <a:path w="886459" h="801369">
                <a:moveTo>
                  <a:pt x="413766" y="620268"/>
                </a:moveTo>
                <a:lnTo>
                  <a:pt x="409194" y="600456"/>
                </a:lnTo>
                <a:lnTo>
                  <a:pt x="401624" y="612821"/>
                </a:lnTo>
                <a:lnTo>
                  <a:pt x="413766" y="620268"/>
                </a:lnTo>
                <a:close/>
              </a:path>
              <a:path w="886459" h="801369">
                <a:moveTo>
                  <a:pt x="638556" y="252983"/>
                </a:moveTo>
                <a:lnTo>
                  <a:pt x="626176" y="245414"/>
                </a:lnTo>
                <a:lnTo>
                  <a:pt x="618744" y="257555"/>
                </a:lnTo>
                <a:lnTo>
                  <a:pt x="638556" y="252983"/>
                </a:lnTo>
                <a:close/>
              </a:path>
              <a:path w="886459" h="801369">
                <a:moveTo>
                  <a:pt x="638556" y="280024"/>
                </a:moveTo>
                <a:lnTo>
                  <a:pt x="638556" y="252983"/>
                </a:lnTo>
                <a:lnTo>
                  <a:pt x="618744" y="257555"/>
                </a:lnTo>
                <a:lnTo>
                  <a:pt x="618744" y="274707"/>
                </a:lnTo>
                <a:lnTo>
                  <a:pt x="635508" y="284988"/>
                </a:lnTo>
                <a:lnTo>
                  <a:pt x="638556" y="280024"/>
                </a:lnTo>
                <a:close/>
              </a:path>
              <a:path w="886459" h="801369">
                <a:moveTo>
                  <a:pt x="886206" y="656844"/>
                </a:moveTo>
                <a:lnTo>
                  <a:pt x="741426" y="57149"/>
                </a:lnTo>
                <a:lnTo>
                  <a:pt x="626176" y="245414"/>
                </a:lnTo>
                <a:lnTo>
                  <a:pt x="638556" y="252983"/>
                </a:lnTo>
                <a:lnTo>
                  <a:pt x="638556" y="280024"/>
                </a:lnTo>
                <a:lnTo>
                  <a:pt x="722376" y="143534"/>
                </a:lnTo>
                <a:lnTo>
                  <a:pt x="722376" y="97535"/>
                </a:lnTo>
                <a:lnTo>
                  <a:pt x="748284" y="101345"/>
                </a:lnTo>
                <a:lnTo>
                  <a:pt x="748284" y="205485"/>
                </a:lnTo>
                <a:lnTo>
                  <a:pt x="851567" y="635835"/>
                </a:lnTo>
                <a:lnTo>
                  <a:pt x="865632" y="632460"/>
                </a:lnTo>
                <a:lnTo>
                  <a:pt x="865632" y="661784"/>
                </a:lnTo>
                <a:lnTo>
                  <a:pt x="886206" y="656844"/>
                </a:lnTo>
                <a:close/>
              </a:path>
              <a:path w="886459" h="801369">
                <a:moveTo>
                  <a:pt x="748284" y="101345"/>
                </a:moveTo>
                <a:lnTo>
                  <a:pt x="722376" y="97535"/>
                </a:lnTo>
                <a:lnTo>
                  <a:pt x="730313" y="130608"/>
                </a:lnTo>
                <a:lnTo>
                  <a:pt x="748284" y="101345"/>
                </a:lnTo>
                <a:close/>
              </a:path>
              <a:path w="886459" h="801369">
                <a:moveTo>
                  <a:pt x="730313" y="130608"/>
                </a:moveTo>
                <a:lnTo>
                  <a:pt x="722376" y="97535"/>
                </a:lnTo>
                <a:lnTo>
                  <a:pt x="722376" y="143534"/>
                </a:lnTo>
                <a:lnTo>
                  <a:pt x="730313" y="130608"/>
                </a:lnTo>
                <a:close/>
              </a:path>
              <a:path w="886459" h="801369">
                <a:moveTo>
                  <a:pt x="748284" y="205485"/>
                </a:moveTo>
                <a:lnTo>
                  <a:pt x="748284" y="101345"/>
                </a:lnTo>
                <a:lnTo>
                  <a:pt x="730313" y="130608"/>
                </a:lnTo>
                <a:lnTo>
                  <a:pt x="748284" y="205485"/>
                </a:lnTo>
                <a:close/>
              </a:path>
              <a:path w="886459" h="801369">
                <a:moveTo>
                  <a:pt x="865632" y="632460"/>
                </a:moveTo>
                <a:lnTo>
                  <a:pt x="851567" y="635835"/>
                </a:lnTo>
                <a:lnTo>
                  <a:pt x="854964" y="649986"/>
                </a:lnTo>
                <a:lnTo>
                  <a:pt x="865632" y="632460"/>
                </a:lnTo>
                <a:close/>
              </a:path>
            </a:pathLst>
          </a:custGeom>
          <a:solidFill>
            <a:srgbClr val="FF0000"/>
          </a:solid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23</a:t>
            </a:fld>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18017" y="1728215"/>
            <a:ext cx="2793492" cy="4215384"/>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057527" y="1797050"/>
            <a:ext cx="2645410" cy="330200"/>
          </a:xfrm>
          <a:prstGeom prst="rect">
            <a:avLst/>
          </a:prstGeom>
        </p:spPr>
        <p:txBody>
          <a:bodyPr vert="horz" wrap="square" lIns="0" tIns="12065" rIns="0" bIns="0" rtlCol="0">
            <a:spAutoFit/>
          </a:bodyPr>
          <a:lstStyle/>
          <a:p>
            <a:pPr marL="12700">
              <a:lnSpc>
                <a:spcPct val="100000"/>
              </a:lnSpc>
              <a:spcBef>
                <a:spcPts val="95"/>
              </a:spcBef>
            </a:pPr>
            <a:r>
              <a:rPr sz="2000" b="0" spc="-10" dirty="0">
                <a:solidFill>
                  <a:srgbClr val="000000"/>
                </a:solidFill>
                <a:latin typeface="Comic Sans MS"/>
                <a:cs typeface="Comic Sans MS"/>
              </a:rPr>
              <a:t>Recommended</a:t>
            </a:r>
            <a:r>
              <a:rPr sz="2000" b="0" spc="10" dirty="0">
                <a:solidFill>
                  <a:srgbClr val="000000"/>
                </a:solidFill>
                <a:latin typeface="Comic Sans MS"/>
                <a:cs typeface="Comic Sans MS"/>
              </a:rPr>
              <a:t> </a:t>
            </a:r>
            <a:r>
              <a:rPr sz="2000" b="0" spc="-10" dirty="0">
                <a:solidFill>
                  <a:srgbClr val="000000"/>
                </a:solidFill>
                <a:latin typeface="Comic Sans MS"/>
                <a:cs typeface="Comic Sans MS"/>
              </a:rPr>
              <a:t>reading</a:t>
            </a:r>
            <a:endParaRPr sz="2000">
              <a:latin typeface="Comic Sans MS"/>
              <a:cs typeface="Comic Sans MS"/>
            </a:endParaRPr>
          </a:p>
        </p:txBody>
      </p:sp>
      <p:sp>
        <p:nvSpPr>
          <p:cNvPr id="5" name="object 5"/>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24</a:t>
            </a:fld>
            <a:endParaRPr dirty="0"/>
          </a:p>
        </p:txBody>
      </p:sp>
      <p:sp>
        <p:nvSpPr>
          <p:cNvPr id="4" name="object 4"/>
          <p:cNvSpPr txBox="1"/>
          <p:nvPr/>
        </p:nvSpPr>
        <p:spPr>
          <a:xfrm>
            <a:off x="5057527" y="2636774"/>
            <a:ext cx="4170679" cy="2463800"/>
          </a:xfrm>
          <a:prstGeom prst="rect">
            <a:avLst/>
          </a:prstGeom>
        </p:spPr>
        <p:txBody>
          <a:bodyPr vert="horz" wrap="square" lIns="0" tIns="12065" rIns="0" bIns="0" rtlCol="0">
            <a:spAutoFit/>
          </a:bodyPr>
          <a:lstStyle/>
          <a:p>
            <a:pPr marL="12700" marR="5080">
              <a:lnSpc>
                <a:spcPct val="100000"/>
              </a:lnSpc>
              <a:spcBef>
                <a:spcPts val="95"/>
              </a:spcBef>
            </a:pPr>
            <a:r>
              <a:rPr sz="3200" spc="-5" dirty="0">
                <a:latin typeface="Comic Sans MS"/>
                <a:cs typeface="Comic Sans MS"/>
              </a:rPr>
              <a:t>Only with hard </a:t>
            </a:r>
            <a:r>
              <a:rPr sz="3200" spc="-10" dirty="0">
                <a:latin typeface="Comic Sans MS"/>
                <a:cs typeface="Comic Sans MS"/>
              </a:rPr>
              <a:t>work  </a:t>
            </a:r>
            <a:r>
              <a:rPr sz="3200" spc="-5" dirty="0">
                <a:latin typeface="Comic Sans MS"/>
                <a:cs typeface="Comic Sans MS"/>
              </a:rPr>
              <a:t>and a </a:t>
            </a:r>
            <a:r>
              <a:rPr sz="3200" spc="-10" dirty="0">
                <a:latin typeface="Comic Sans MS"/>
                <a:cs typeface="Comic Sans MS"/>
              </a:rPr>
              <a:t>favorable  </a:t>
            </a:r>
            <a:r>
              <a:rPr sz="3200" spc="-5" dirty="0">
                <a:latin typeface="Comic Sans MS"/>
                <a:cs typeface="Comic Sans MS"/>
              </a:rPr>
              <a:t>context you will have  the chance to </a:t>
            </a:r>
            <a:r>
              <a:rPr sz="3200" spc="-10" dirty="0">
                <a:latin typeface="Comic Sans MS"/>
                <a:cs typeface="Comic Sans MS"/>
              </a:rPr>
              <a:t>become  </a:t>
            </a:r>
            <a:r>
              <a:rPr sz="3200" spc="-5" dirty="0">
                <a:latin typeface="Comic Sans MS"/>
                <a:cs typeface="Comic Sans MS"/>
              </a:rPr>
              <a:t>an</a:t>
            </a:r>
            <a:r>
              <a:rPr sz="3200" spc="5" dirty="0">
                <a:latin typeface="Comic Sans MS"/>
                <a:cs typeface="Comic Sans MS"/>
              </a:rPr>
              <a:t> </a:t>
            </a:r>
            <a:r>
              <a:rPr sz="3200" spc="-5" dirty="0">
                <a:latin typeface="Comic Sans MS"/>
                <a:cs typeface="Comic Sans MS"/>
              </a:rPr>
              <a:t>outlier!!!</a:t>
            </a:r>
            <a:endParaRPr sz="3200">
              <a:latin typeface="Comic Sans MS"/>
              <a:cs typeface="Comic Sans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2075" y="4553966"/>
            <a:ext cx="6837680" cy="635635"/>
          </a:xfrm>
          <a:prstGeom prst="rect">
            <a:avLst/>
          </a:prstGeom>
        </p:spPr>
        <p:txBody>
          <a:bodyPr vert="horz" wrap="square" lIns="0" tIns="12700" rIns="0" bIns="0" rtlCol="0">
            <a:spAutoFit/>
          </a:bodyPr>
          <a:lstStyle/>
          <a:p>
            <a:pPr marL="12700">
              <a:lnSpc>
                <a:spcPct val="100000"/>
              </a:lnSpc>
              <a:spcBef>
                <a:spcPts val="100"/>
              </a:spcBef>
            </a:pPr>
            <a:r>
              <a:rPr sz="4000" dirty="0"/>
              <a:t>DATA</a:t>
            </a:r>
            <a:r>
              <a:rPr sz="4000" spc="-70" dirty="0"/>
              <a:t> </a:t>
            </a:r>
            <a:r>
              <a:rPr sz="4000" dirty="0"/>
              <a:t>TRANSFORMATION</a:t>
            </a:r>
            <a:endParaRPr sz="4000"/>
          </a:p>
        </p:txBody>
      </p:sp>
      <p:sp>
        <p:nvSpPr>
          <p:cNvPr id="3" name="object 3"/>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25</a:t>
            </a:fld>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9015" y="942848"/>
            <a:ext cx="2705735" cy="513080"/>
          </a:xfrm>
          <a:prstGeom prst="rect">
            <a:avLst/>
          </a:prstGeom>
        </p:spPr>
        <p:txBody>
          <a:bodyPr vert="horz" wrap="square" lIns="0" tIns="12065" rIns="0" bIns="0" rtlCol="0">
            <a:spAutoFit/>
          </a:bodyPr>
          <a:lstStyle/>
          <a:p>
            <a:pPr marL="12700">
              <a:lnSpc>
                <a:spcPct val="100000"/>
              </a:lnSpc>
              <a:spcBef>
                <a:spcPts val="95"/>
              </a:spcBef>
            </a:pPr>
            <a:r>
              <a:rPr spc="-10" dirty="0"/>
              <a:t>Normalization</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26</a:t>
            </a:fld>
            <a:endParaRPr dirty="0"/>
          </a:p>
        </p:txBody>
      </p:sp>
      <p:sp>
        <p:nvSpPr>
          <p:cNvPr id="3" name="object 3"/>
          <p:cNvSpPr txBox="1"/>
          <p:nvPr/>
        </p:nvSpPr>
        <p:spPr>
          <a:xfrm>
            <a:off x="1309249" y="2034321"/>
            <a:ext cx="7505065" cy="4296410"/>
          </a:xfrm>
          <a:prstGeom prst="rect">
            <a:avLst/>
          </a:prstGeom>
        </p:spPr>
        <p:txBody>
          <a:bodyPr vert="horz" wrap="square" lIns="0" tIns="12700" rIns="0" bIns="0" rtlCol="0">
            <a:spAutoFit/>
          </a:bodyPr>
          <a:lstStyle/>
          <a:p>
            <a:pPr marL="355600" marR="5080" indent="-342900">
              <a:lnSpc>
                <a:spcPct val="110000"/>
              </a:lnSpc>
              <a:spcBef>
                <a:spcPts val="100"/>
              </a:spcBef>
              <a:buClr>
                <a:srgbClr val="FF0000"/>
              </a:buClr>
              <a:buChar char="•"/>
              <a:tabLst>
                <a:tab pos="354965" algn="l"/>
                <a:tab pos="355600" algn="l"/>
              </a:tabLst>
            </a:pPr>
            <a:r>
              <a:rPr sz="2800" dirty="0">
                <a:solidFill>
                  <a:srgbClr val="3333CC"/>
                </a:solidFill>
                <a:latin typeface="Comic Sans MS"/>
                <a:cs typeface="Comic Sans MS"/>
              </a:rPr>
              <a:t>For </a:t>
            </a:r>
            <a:r>
              <a:rPr sz="2800" spc="-5" dirty="0">
                <a:solidFill>
                  <a:srgbClr val="3333CC"/>
                </a:solidFill>
                <a:latin typeface="Comic Sans MS"/>
                <a:cs typeface="Comic Sans MS"/>
              </a:rPr>
              <a:t>distance-based </a:t>
            </a:r>
            <a:r>
              <a:rPr sz="2800" dirty="0">
                <a:solidFill>
                  <a:srgbClr val="3333CC"/>
                </a:solidFill>
                <a:latin typeface="Comic Sans MS"/>
                <a:cs typeface="Comic Sans MS"/>
              </a:rPr>
              <a:t>methods, </a:t>
            </a:r>
            <a:r>
              <a:rPr sz="2800" spc="-5" dirty="0">
                <a:solidFill>
                  <a:srgbClr val="3333CC"/>
                </a:solidFill>
                <a:latin typeface="Comic Sans MS"/>
                <a:cs typeface="Comic Sans MS"/>
              </a:rPr>
              <a:t>normalization  </a:t>
            </a:r>
            <a:r>
              <a:rPr sz="2800" dirty="0">
                <a:solidFill>
                  <a:srgbClr val="3333CC"/>
                </a:solidFill>
                <a:latin typeface="Comic Sans MS"/>
                <a:cs typeface="Comic Sans MS"/>
              </a:rPr>
              <a:t>helps </a:t>
            </a:r>
            <a:r>
              <a:rPr sz="2800" spc="-5" dirty="0">
                <a:solidFill>
                  <a:srgbClr val="3333CC"/>
                </a:solidFill>
                <a:latin typeface="Comic Sans MS"/>
                <a:cs typeface="Comic Sans MS"/>
              </a:rPr>
              <a:t>to </a:t>
            </a:r>
            <a:r>
              <a:rPr sz="2800" dirty="0">
                <a:solidFill>
                  <a:srgbClr val="3333CC"/>
                </a:solidFill>
                <a:latin typeface="Comic Sans MS"/>
                <a:cs typeface="Comic Sans MS"/>
              </a:rPr>
              <a:t>prevent </a:t>
            </a:r>
            <a:r>
              <a:rPr sz="2800" spc="-5" dirty="0">
                <a:solidFill>
                  <a:srgbClr val="3333CC"/>
                </a:solidFill>
                <a:latin typeface="Comic Sans MS"/>
                <a:cs typeface="Comic Sans MS"/>
              </a:rPr>
              <a:t>that </a:t>
            </a:r>
            <a:r>
              <a:rPr sz="2800" dirty="0">
                <a:solidFill>
                  <a:srgbClr val="3333CC"/>
                </a:solidFill>
                <a:latin typeface="Comic Sans MS"/>
                <a:cs typeface="Comic Sans MS"/>
              </a:rPr>
              <a:t>attributes </a:t>
            </a:r>
            <a:r>
              <a:rPr sz="2800" spc="-5" dirty="0">
                <a:solidFill>
                  <a:srgbClr val="3333CC"/>
                </a:solidFill>
                <a:latin typeface="Comic Sans MS"/>
                <a:cs typeface="Comic Sans MS"/>
              </a:rPr>
              <a:t>with </a:t>
            </a:r>
            <a:r>
              <a:rPr sz="2800" dirty="0">
                <a:solidFill>
                  <a:srgbClr val="3333CC"/>
                </a:solidFill>
                <a:latin typeface="Comic Sans MS"/>
                <a:cs typeface="Comic Sans MS"/>
              </a:rPr>
              <a:t>large  </a:t>
            </a:r>
            <a:r>
              <a:rPr sz="2800" spc="-5" dirty="0">
                <a:solidFill>
                  <a:srgbClr val="3333CC"/>
                </a:solidFill>
                <a:latin typeface="Comic Sans MS"/>
                <a:cs typeface="Comic Sans MS"/>
              </a:rPr>
              <a:t>ranges </a:t>
            </a:r>
            <a:r>
              <a:rPr sz="2800" dirty="0">
                <a:solidFill>
                  <a:srgbClr val="3333CC"/>
                </a:solidFill>
                <a:latin typeface="Comic Sans MS"/>
                <a:cs typeface="Comic Sans MS"/>
              </a:rPr>
              <a:t>out-weight attributes </a:t>
            </a:r>
            <a:r>
              <a:rPr sz="2800" spc="-5" dirty="0">
                <a:solidFill>
                  <a:srgbClr val="3333CC"/>
                </a:solidFill>
                <a:latin typeface="Comic Sans MS"/>
                <a:cs typeface="Comic Sans MS"/>
              </a:rPr>
              <a:t>with </a:t>
            </a:r>
            <a:r>
              <a:rPr sz="2800" dirty="0">
                <a:solidFill>
                  <a:srgbClr val="3333CC"/>
                </a:solidFill>
                <a:latin typeface="Comic Sans MS"/>
                <a:cs typeface="Comic Sans MS"/>
              </a:rPr>
              <a:t>small  </a:t>
            </a:r>
            <a:r>
              <a:rPr sz="2800" spc="-5" dirty="0">
                <a:solidFill>
                  <a:srgbClr val="3333CC"/>
                </a:solidFill>
                <a:latin typeface="Comic Sans MS"/>
                <a:cs typeface="Comic Sans MS"/>
              </a:rPr>
              <a:t>ranges</a:t>
            </a:r>
            <a:endParaRPr sz="2800">
              <a:latin typeface="Comic Sans MS"/>
              <a:cs typeface="Comic Sans MS"/>
            </a:endParaRPr>
          </a:p>
          <a:p>
            <a:pPr>
              <a:lnSpc>
                <a:spcPct val="100000"/>
              </a:lnSpc>
              <a:buClr>
                <a:srgbClr val="FF0000"/>
              </a:buClr>
              <a:buFont typeface="Comic Sans MS"/>
              <a:buChar char="•"/>
            </a:pPr>
            <a:endParaRPr sz="3900">
              <a:latin typeface="Times New Roman"/>
              <a:cs typeface="Times New Roman"/>
            </a:endParaRPr>
          </a:p>
          <a:p>
            <a:pPr marL="755650" lvl="1" indent="-285750">
              <a:lnSpc>
                <a:spcPct val="100000"/>
              </a:lnSpc>
              <a:spcBef>
                <a:spcPts val="2835"/>
              </a:spcBef>
              <a:buClr>
                <a:srgbClr val="FF0000"/>
              </a:buClr>
              <a:buChar char="•"/>
              <a:tabLst>
                <a:tab pos="755015" algn="l"/>
                <a:tab pos="755650" algn="l"/>
              </a:tabLst>
            </a:pPr>
            <a:r>
              <a:rPr sz="2400" dirty="0">
                <a:solidFill>
                  <a:srgbClr val="3333CC"/>
                </a:solidFill>
                <a:latin typeface="Comic Sans MS"/>
                <a:cs typeface="Comic Sans MS"/>
              </a:rPr>
              <a:t>min-max</a:t>
            </a:r>
            <a:r>
              <a:rPr sz="2400" spc="-15" dirty="0">
                <a:solidFill>
                  <a:srgbClr val="3333CC"/>
                </a:solidFill>
                <a:latin typeface="Comic Sans MS"/>
                <a:cs typeface="Comic Sans MS"/>
              </a:rPr>
              <a:t> </a:t>
            </a:r>
            <a:r>
              <a:rPr sz="2400" spc="-5" dirty="0">
                <a:solidFill>
                  <a:srgbClr val="3333CC"/>
                </a:solidFill>
                <a:latin typeface="Comic Sans MS"/>
                <a:cs typeface="Comic Sans MS"/>
              </a:rPr>
              <a:t>normalization</a:t>
            </a:r>
            <a:endParaRPr sz="2400">
              <a:latin typeface="Comic Sans MS"/>
              <a:cs typeface="Comic Sans MS"/>
            </a:endParaRPr>
          </a:p>
          <a:p>
            <a:pPr marL="755650" lvl="1" indent="-285750">
              <a:lnSpc>
                <a:spcPct val="100000"/>
              </a:lnSpc>
              <a:spcBef>
                <a:spcPts val="1440"/>
              </a:spcBef>
              <a:buClr>
                <a:srgbClr val="FF0000"/>
              </a:buClr>
              <a:buChar char="•"/>
              <a:tabLst>
                <a:tab pos="755015" algn="l"/>
                <a:tab pos="755650" algn="l"/>
              </a:tabLst>
            </a:pPr>
            <a:r>
              <a:rPr sz="2400" spc="-5" dirty="0">
                <a:solidFill>
                  <a:srgbClr val="3333CC"/>
                </a:solidFill>
                <a:latin typeface="Comic Sans MS"/>
                <a:cs typeface="Comic Sans MS"/>
              </a:rPr>
              <a:t>z-score</a:t>
            </a:r>
            <a:r>
              <a:rPr sz="2400" spc="-15" dirty="0">
                <a:solidFill>
                  <a:srgbClr val="3333CC"/>
                </a:solidFill>
                <a:latin typeface="Comic Sans MS"/>
                <a:cs typeface="Comic Sans MS"/>
              </a:rPr>
              <a:t> </a:t>
            </a:r>
            <a:r>
              <a:rPr sz="2400" spc="-5" dirty="0">
                <a:solidFill>
                  <a:srgbClr val="3333CC"/>
                </a:solidFill>
                <a:latin typeface="Comic Sans MS"/>
                <a:cs typeface="Comic Sans MS"/>
              </a:rPr>
              <a:t>normalization</a:t>
            </a:r>
            <a:endParaRPr sz="2400">
              <a:latin typeface="Comic Sans MS"/>
              <a:cs typeface="Comic Sans MS"/>
            </a:endParaRPr>
          </a:p>
          <a:p>
            <a:pPr marL="755650" lvl="1" indent="-285750">
              <a:lnSpc>
                <a:spcPct val="100000"/>
              </a:lnSpc>
              <a:spcBef>
                <a:spcPts val="1440"/>
              </a:spcBef>
              <a:buClr>
                <a:srgbClr val="FF0000"/>
              </a:buClr>
              <a:buChar char="•"/>
              <a:tabLst>
                <a:tab pos="755015" algn="l"/>
                <a:tab pos="755650" algn="l"/>
              </a:tabLst>
            </a:pPr>
            <a:r>
              <a:rPr sz="2400" spc="-5" dirty="0">
                <a:solidFill>
                  <a:srgbClr val="3333CC"/>
                </a:solidFill>
                <a:latin typeface="Comic Sans MS"/>
                <a:cs typeface="Comic Sans MS"/>
              </a:rPr>
              <a:t>normalization by decimal</a:t>
            </a:r>
            <a:r>
              <a:rPr sz="2400" dirty="0">
                <a:solidFill>
                  <a:srgbClr val="3333CC"/>
                </a:solidFill>
                <a:latin typeface="Comic Sans MS"/>
                <a:cs typeface="Comic Sans MS"/>
              </a:rPr>
              <a:t> scaling</a:t>
            </a:r>
            <a:endParaRPr sz="2400">
              <a:latin typeface="Comic Sans MS"/>
              <a:cs typeface="Comic Sans M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9015" y="942848"/>
            <a:ext cx="2705735" cy="513080"/>
          </a:xfrm>
          <a:prstGeom prst="rect">
            <a:avLst/>
          </a:prstGeom>
        </p:spPr>
        <p:txBody>
          <a:bodyPr vert="horz" wrap="square" lIns="0" tIns="12065" rIns="0" bIns="0" rtlCol="0">
            <a:spAutoFit/>
          </a:bodyPr>
          <a:lstStyle/>
          <a:p>
            <a:pPr marL="12700">
              <a:lnSpc>
                <a:spcPct val="100000"/>
              </a:lnSpc>
              <a:spcBef>
                <a:spcPts val="95"/>
              </a:spcBef>
            </a:pPr>
            <a:r>
              <a:rPr spc="-10" dirty="0"/>
              <a:t>Normalization</a:t>
            </a:r>
          </a:p>
        </p:txBody>
      </p:sp>
      <p:sp>
        <p:nvSpPr>
          <p:cNvPr id="3" name="object 3"/>
          <p:cNvSpPr txBox="1"/>
          <p:nvPr/>
        </p:nvSpPr>
        <p:spPr>
          <a:xfrm>
            <a:off x="1309249" y="1824482"/>
            <a:ext cx="3006090" cy="330200"/>
          </a:xfrm>
          <a:prstGeom prst="rect">
            <a:avLst/>
          </a:prstGeom>
        </p:spPr>
        <p:txBody>
          <a:bodyPr vert="horz" wrap="square" lIns="0" tIns="12065" rIns="0" bIns="0" rtlCol="0">
            <a:spAutoFit/>
          </a:bodyPr>
          <a:lstStyle/>
          <a:p>
            <a:pPr marL="354965" indent="-342900">
              <a:lnSpc>
                <a:spcPct val="100000"/>
              </a:lnSpc>
              <a:spcBef>
                <a:spcPts val="95"/>
              </a:spcBef>
              <a:buClr>
                <a:srgbClr val="FF0000"/>
              </a:buClr>
              <a:buChar char="•"/>
              <a:tabLst>
                <a:tab pos="354965" algn="l"/>
                <a:tab pos="355600" algn="l"/>
              </a:tabLst>
            </a:pPr>
            <a:r>
              <a:rPr sz="2000" spc="-5" dirty="0">
                <a:solidFill>
                  <a:srgbClr val="3333CC"/>
                </a:solidFill>
                <a:latin typeface="Comic Sans MS"/>
                <a:cs typeface="Comic Sans MS"/>
              </a:rPr>
              <a:t>min-max</a:t>
            </a:r>
            <a:r>
              <a:rPr sz="2000" spc="-15" dirty="0">
                <a:solidFill>
                  <a:srgbClr val="3333CC"/>
                </a:solidFill>
                <a:latin typeface="Comic Sans MS"/>
                <a:cs typeface="Comic Sans MS"/>
              </a:rPr>
              <a:t> </a:t>
            </a:r>
            <a:r>
              <a:rPr sz="2000" spc="-10" dirty="0">
                <a:solidFill>
                  <a:srgbClr val="3333CC"/>
                </a:solidFill>
                <a:latin typeface="Comic Sans MS"/>
                <a:cs typeface="Comic Sans MS"/>
              </a:rPr>
              <a:t>normalization</a:t>
            </a:r>
            <a:endParaRPr sz="2000">
              <a:latin typeface="Comic Sans MS"/>
              <a:cs typeface="Comic Sans MS"/>
            </a:endParaRPr>
          </a:p>
        </p:txBody>
      </p:sp>
      <p:sp>
        <p:nvSpPr>
          <p:cNvPr id="4" name="object 4"/>
          <p:cNvSpPr txBox="1"/>
          <p:nvPr/>
        </p:nvSpPr>
        <p:spPr>
          <a:xfrm>
            <a:off x="1309249" y="3759954"/>
            <a:ext cx="2912110" cy="330200"/>
          </a:xfrm>
          <a:prstGeom prst="rect">
            <a:avLst/>
          </a:prstGeom>
        </p:spPr>
        <p:txBody>
          <a:bodyPr vert="horz" wrap="square" lIns="0" tIns="12065" rIns="0" bIns="0" rtlCol="0">
            <a:spAutoFit/>
          </a:bodyPr>
          <a:lstStyle/>
          <a:p>
            <a:pPr marL="354965" indent="-342900">
              <a:lnSpc>
                <a:spcPct val="100000"/>
              </a:lnSpc>
              <a:spcBef>
                <a:spcPts val="95"/>
              </a:spcBef>
              <a:buClr>
                <a:srgbClr val="FF0000"/>
              </a:buClr>
              <a:buChar char="•"/>
              <a:tabLst>
                <a:tab pos="354965" algn="l"/>
                <a:tab pos="355600" algn="l"/>
              </a:tabLst>
            </a:pPr>
            <a:r>
              <a:rPr sz="2000" spc="-10" dirty="0">
                <a:solidFill>
                  <a:srgbClr val="3333CC"/>
                </a:solidFill>
                <a:latin typeface="Comic Sans MS"/>
                <a:cs typeface="Comic Sans MS"/>
              </a:rPr>
              <a:t>z-score</a:t>
            </a:r>
            <a:r>
              <a:rPr sz="2000" dirty="0">
                <a:solidFill>
                  <a:srgbClr val="3333CC"/>
                </a:solidFill>
                <a:latin typeface="Comic Sans MS"/>
                <a:cs typeface="Comic Sans MS"/>
              </a:rPr>
              <a:t> </a:t>
            </a:r>
            <a:r>
              <a:rPr sz="2000" spc="-10" dirty="0">
                <a:solidFill>
                  <a:srgbClr val="3333CC"/>
                </a:solidFill>
                <a:latin typeface="Comic Sans MS"/>
                <a:cs typeface="Comic Sans MS"/>
              </a:rPr>
              <a:t>normalization</a:t>
            </a:r>
            <a:endParaRPr sz="2000">
              <a:latin typeface="Comic Sans MS"/>
              <a:cs typeface="Comic Sans MS"/>
            </a:endParaRPr>
          </a:p>
        </p:txBody>
      </p:sp>
      <p:sp>
        <p:nvSpPr>
          <p:cNvPr id="5" name="object 5"/>
          <p:cNvSpPr/>
          <p:nvPr/>
        </p:nvSpPr>
        <p:spPr>
          <a:xfrm>
            <a:off x="2500769" y="2479548"/>
            <a:ext cx="5420360" cy="590550"/>
          </a:xfrm>
          <a:custGeom>
            <a:avLst/>
            <a:gdLst/>
            <a:ahLst/>
            <a:cxnLst/>
            <a:rect l="l" t="t" r="r" b="b"/>
            <a:pathLst>
              <a:path w="5420359" h="590550">
                <a:moveTo>
                  <a:pt x="0" y="0"/>
                </a:moveTo>
                <a:lnTo>
                  <a:pt x="0" y="590550"/>
                </a:lnTo>
                <a:lnTo>
                  <a:pt x="5420106" y="590549"/>
                </a:lnTo>
                <a:lnTo>
                  <a:pt x="5420106" y="0"/>
                </a:lnTo>
                <a:lnTo>
                  <a:pt x="0" y="0"/>
                </a:lnTo>
                <a:close/>
              </a:path>
            </a:pathLst>
          </a:custGeom>
          <a:solidFill>
            <a:srgbClr val="EAEAEA"/>
          </a:solidFill>
        </p:spPr>
        <p:txBody>
          <a:bodyPr wrap="square" lIns="0" tIns="0" rIns="0" bIns="0" rtlCol="0"/>
          <a:lstStyle/>
          <a:p>
            <a:endParaRPr/>
          </a:p>
        </p:txBody>
      </p:sp>
      <p:sp>
        <p:nvSpPr>
          <p:cNvPr id="6" name="object 6"/>
          <p:cNvSpPr txBox="1"/>
          <p:nvPr/>
        </p:nvSpPr>
        <p:spPr>
          <a:xfrm>
            <a:off x="2975495" y="2457183"/>
            <a:ext cx="1212215" cy="300355"/>
          </a:xfrm>
          <a:prstGeom prst="rect">
            <a:avLst/>
          </a:prstGeom>
        </p:spPr>
        <p:txBody>
          <a:bodyPr vert="horz" wrap="square" lIns="0" tIns="13335" rIns="0" bIns="0" rtlCol="0">
            <a:spAutoFit/>
          </a:bodyPr>
          <a:lstStyle/>
          <a:p>
            <a:pPr>
              <a:lnSpc>
                <a:spcPct val="100000"/>
              </a:lnSpc>
              <a:spcBef>
                <a:spcPts val="105"/>
              </a:spcBef>
              <a:tabLst>
                <a:tab pos="212090" algn="l"/>
                <a:tab pos="1198880" algn="l"/>
              </a:tabLst>
            </a:pPr>
            <a:r>
              <a:rPr sz="1800" i="1" u="sng" dirty="0">
                <a:uFill>
                  <a:solidFill>
                    <a:srgbClr val="000000"/>
                  </a:solidFill>
                </a:uFill>
                <a:latin typeface="Times New Roman"/>
                <a:cs typeface="Times New Roman"/>
              </a:rPr>
              <a:t> 	v</a:t>
            </a:r>
            <a:r>
              <a:rPr sz="1800" i="1" u="sng" spc="-30" dirty="0">
                <a:uFill>
                  <a:solidFill>
                    <a:srgbClr val="000000"/>
                  </a:solidFill>
                </a:uFill>
                <a:latin typeface="Times New Roman"/>
                <a:cs typeface="Times New Roman"/>
              </a:rPr>
              <a:t> </a:t>
            </a:r>
            <a:r>
              <a:rPr sz="1800" u="sng" dirty="0">
                <a:uFill>
                  <a:solidFill>
                    <a:srgbClr val="000000"/>
                  </a:solidFill>
                </a:uFill>
                <a:latin typeface="Symbol"/>
                <a:cs typeface="Symbol"/>
              </a:rPr>
              <a:t></a:t>
            </a:r>
            <a:r>
              <a:rPr sz="1800" u="sng" spc="-140" dirty="0">
                <a:uFill>
                  <a:solidFill>
                    <a:srgbClr val="000000"/>
                  </a:solidFill>
                </a:uFill>
                <a:latin typeface="Times New Roman"/>
                <a:cs typeface="Times New Roman"/>
              </a:rPr>
              <a:t> </a:t>
            </a:r>
            <a:r>
              <a:rPr sz="1800" u="sng" spc="-15" dirty="0">
                <a:uFill>
                  <a:solidFill>
                    <a:srgbClr val="000000"/>
                  </a:solidFill>
                </a:uFill>
                <a:latin typeface="Comic Sans MS"/>
                <a:cs typeface="Comic Sans MS"/>
              </a:rPr>
              <a:t>min</a:t>
            </a:r>
            <a:r>
              <a:rPr sz="1800" u="sng" spc="-390" dirty="0">
                <a:uFill>
                  <a:solidFill>
                    <a:srgbClr val="000000"/>
                  </a:solidFill>
                </a:uFill>
                <a:latin typeface="Comic Sans MS"/>
                <a:cs typeface="Comic Sans MS"/>
              </a:rPr>
              <a:t> </a:t>
            </a:r>
            <a:r>
              <a:rPr sz="800" i="1" u="sng" spc="-25" dirty="0">
                <a:uFill>
                  <a:solidFill>
                    <a:srgbClr val="000000"/>
                  </a:solidFill>
                </a:uFill>
                <a:latin typeface="Comic Sans MS"/>
                <a:cs typeface="Comic Sans MS"/>
              </a:rPr>
              <a:t>v	</a:t>
            </a:r>
            <a:endParaRPr sz="800">
              <a:latin typeface="Comic Sans MS"/>
              <a:cs typeface="Comic Sans MS"/>
            </a:endParaRPr>
          </a:p>
        </p:txBody>
      </p:sp>
      <p:sp>
        <p:nvSpPr>
          <p:cNvPr id="7" name="object 7"/>
          <p:cNvSpPr txBox="1"/>
          <p:nvPr/>
        </p:nvSpPr>
        <p:spPr>
          <a:xfrm>
            <a:off x="4210642" y="2599673"/>
            <a:ext cx="2499360" cy="300355"/>
          </a:xfrm>
          <a:prstGeom prst="rect">
            <a:avLst/>
          </a:prstGeom>
        </p:spPr>
        <p:txBody>
          <a:bodyPr vert="horz" wrap="square" lIns="0" tIns="13335" rIns="0" bIns="0" rtlCol="0">
            <a:spAutoFit/>
          </a:bodyPr>
          <a:lstStyle/>
          <a:p>
            <a:pPr>
              <a:lnSpc>
                <a:spcPct val="100000"/>
              </a:lnSpc>
              <a:spcBef>
                <a:spcPts val="105"/>
              </a:spcBef>
            </a:pPr>
            <a:r>
              <a:rPr sz="1800" spc="-15" dirty="0">
                <a:latin typeface="Comic Sans MS"/>
                <a:cs typeface="Comic Sans MS"/>
              </a:rPr>
              <a:t>(new</a:t>
            </a:r>
            <a:r>
              <a:rPr sz="1800" spc="-215" dirty="0">
                <a:latin typeface="Comic Sans MS"/>
                <a:cs typeface="Comic Sans MS"/>
              </a:rPr>
              <a:t> </a:t>
            </a:r>
            <a:r>
              <a:rPr sz="1800" dirty="0">
                <a:latin typeface="Comic Sans MS"/>
                <a:cs typeface="Comic Sans MS"/>
              </a:rPr>
              <a:t>_</a:t>
            </a:r>
            <a:r>
              <a:rPr sz="1800" spc="-265" dirty="0">
                <a:latin typeface="Comic Sans MS"/>
                <a:cs typeface="Comic Sans MS"/>
              </a:rPr>
              <a:t> </a:t>
            </a:r>
            <a:r>
              <a:rPr sz="1800" spc="-10" dirty="0">
                <a:latin typeface="Comic Sans MS"/>
                <a:cs typeface="Comic Sans MS"/>
              </a:rPr>
              <a:t>max</a:t>
            </a:r>
            <a:r>
              <a:rPr sz="1800" spc="-370" dirty="0">
                <a:latin typeface="Comic Sans MS"/>
                <a:cs typeface="Comic Sans MS"/>
              </a:rPr>
              <a:t> </a:t>
            </a:r>
            <a:r>
              <a:rPr sz="800" i="1" spc="-25" dirty="0">
                <a:latin typeface="Comic Sans MS"/>
                <a:cs typeface="Comic Sans MS"/>
              </a:rPr>
              <a:t>v</a:t>
            </a:r>
            <a:r>
              <a:rPr sz="800" i="1" spc="114" dirty="0">
                <a:latin typeface="Comic Sans MS"/>
                <a:cs typeface="Comic Sans MS"/>
              </a:rPr>
              <a:t> </a:t>
            </a:r>
            <a:r>
              <a:rPr sz="1800" dirty="0">
                <a:latin typeface="Symbol"/>
                <a:cs typeface="Symbol"/>
              </a:rPr>
              <a:t></a:t>
            </a:r>
            <a:r>
              <a:rPr sz="1800" spc="-110" dirty="0">
                <a:latin typeface="Times New Roman"/>
                <a:cs typeface="Times New Roman"/>
              </a:rPr>
              <a:t> </a:t>
            </a:r>
            <a:r>
              <a:rPr sz="1800" spc="-15" dirty="0">
                <a:latin typeface="Comic Sans MS"/>
                <a:cs typeface="Comic Sans MS"/>
              </a:rPr>
              <a:t>new_min</a:t>
            </a:r>
            <a:r>
              <a:rPr sz="1800" spc="-50" dirty="0">
                <a:latin typeface="Comic Sans MS"/>
                <a:cs typeface="Comic Sans MS"/>
              </a:rPr>
              <a:t> </a:t>
            </a:r>
            <a:r>
              <a:rPr sz="1800" dirty="0">
                <a:latin typeface="Comic Sans MS"/>
                <a:cs typeface="Comic Sans MS"/>
              </a:rPr>
              <a:t>)</a:t>
            </a:r>
            <a:endParaRPr sz="1800">
              <a:latin typeface="Comic Sans MS"/>
              <a:cs typeface="Comic Sans MS"/>
            </a:endParaRPr>
          </a:p>
        </p:txBody>
      </p:sp>
      <p:sp>
        <p:nvSpPr>
          <p:cNvPr id="8" name="object 8"/>
          <p:cNvSpPr txBox="1"/>
          <p:nvPr/>
        </p:nvSpPr>
        <p:spPr>
          <a:xfrm>
            <a:off x="6546920" y="2599677"/>
            <a:ext cx="1330325" cy="300355"/>
          </a:xfrm>
          <a:prstGeom prst="rect">
            <a:avLst/>
          </a:prstGeom>
        </p:spPr>
        <p:txBody>
          <a:bodyPr vert="horz" wrap="square" lIns="0" tIns="13335" rIns="0" bIns="0" rtlCol="0">
            <a:spAutoFit/>
          </a:bodyPr>
          <a:lstStyle/>
          <a:p>
            <a:pPr>
              <a:lnSpc>
                <a:spcPct val="100000"/>
              </a:lnSpc>
              <a:spcBef>
                <a:spcPts val="105"/>
              </a:spcBef>
              <a:tabLst>
                <a:tab pos="203200" algn="l"/>
              </a:tabLst>
            </a:pPr>
            <a:r>
              <a:rPr sz="800" i="1" spc="-25" dirty="0">
                <a:latin typeface="Comic Sans MS"/>
                <a:cs typeface="Comic Sans MS"/>
              </a:rPr>
              <a:t>v	</a:t>
            </a:r>
            <a:r>
              <a:rPr sz="1800" spc="-25" dirty="0">
                <a:latin typeface="Symbol"/>
                <a:cs typeface="Symbol"/>
              </a:rPr>
              <a:t></a:t>
            </a:r>
            <a:r>
              <a:rPr sz="1800" spc="-90" dirty="0">
                <a:latin typeface="Times New Roman"/>
                <a:cs typeface="Times New Roman"/>
              </a:rPr>
              <a:t> </a:t>
            </a:r>
            <a:r>
              <a:rPr sz="1800" spc="-10" dirty="0">
                <a:latin typeface="Comic Sans MS"/>
                <a:cs typeface="Comic Sans MS"/>
              </a:rPr>
              <a:t>n</a:t>
            </a:r>
            <a:r>
              <a:rPr sz="1800" spc="-15" dirty="0">
                <a:latin typeface="Comic Sans MS"/>
                <a:cs typeface="Comic Sans MS"/>
              </a:rPr>
              <a:t>ew</a:t>
            </a:r>
            <a:r>
              <a:rPr sz="1800" spc="-20" dirty="0">
                <a:latin typeface="Comic Sans MS"/>
                <a:cs typeface="Comic Sans MS"/>
              </a:rPr>
              <a:t>_mi</a:t>
            </a:r>
            <a:r>
              <a:rPr sz="1800" spc="-15" dirty="0">
                <a:latin typeface="Comic Sans MS"/>
                <a:cs typeface="Comic Sans MS"/>
              </a:rPr>
              <a:t>n</a:t>
            </a:r>
            <a:r>
              <a:rPr sz="800" i="1" spc="-25" dirty="0">
                <a:latin typeface="Comic Sans MS"/>
                <a:cs typeface="Comic Sans MS"/>
              </a:rPr>
              <a:t>v</a:t>
            </a:r>
            <a:endParaRPr sz="800">
              <a:latin typeface="Comic Sans MS"/>
              <a:cs typeface="Comic Sans MS"/>
            </a:endParaRPr>
          </a:p>
        </p:txBody>
      </p:sp>
      <p:sp>
        <p:nvSpPr>
          <p:cNvPr id="9" name="object 9"/>
          <p:cNvSpPr txBox="1"/>
          <p:nvPr/>
        </p:nvSpPr>
        <p:spPr>
          <a:xfrm>
            <a:off x="2980058" y="2777219"/>
            <a:ext cx="1176655" cy="300355"/>
          </a:xfrm>
          <a:prstGeom prst="rect">
            <a:avLst/>
          </a:prstGeom>
        </p:spPr>
        <p:txBody>
          <a:bodyPr vert="horz" wrap="square" lIns="0" tIns="13335" rIns="0" bIns="0" rtlCol="0">
            <a:spAutoFit/>
          </a:bodyPr>
          <a:lstStyle/>
          <a:p>
            <a:pPr>
              <a:lnSpc>
                <a:spcPct val="100000"/>
              </a:lnSpc>
              <a:spcBef>
                <a:spcPts val="105"/>
              </a:spcBef>
            </a:pPr>
            <a:r>
              <a:rPr sz="1800" spc="-10" dirty="0">
                <a:latin typeface="Comic Sans MS"/>
                <a:cs typeface="Comic Sans MS"/>
              </a:rPr>
              <a:t>max</a:t>
            </a:r>
            <a:r>
              <a:rPr sz="1800" spc="-385" dirty="0">
                <a:latin typeface="Comic Sans MS"/>
                <a:cs typeface="Comic Sans MS"/>
              </a:rPr>
              <a:t> </a:t>
            </a:r>
            <a:r>
              <a:rPr sz="800" i="1" spc="-25" dirty="0">
                <a:latin typeface="Comic Sans MS"/>
                <a:cs typeface="Comic Sans MS"/>
              </a:rPr>
              <a:t>v</a:t>
            </a:r>
            <a:r>
              <a:rPr sz="800" i="1" spc="95" dirty="0">
                <a:latin typeface="Comic Sans MS"/>
                <a:cs typeface="Comic Sans MS"/>
              </a:rPr>
              <a:t> </a:t>
            </a:r>
            <a:r>
              <a:rPr sz="1800" dirty="0">
                <a:latin typeface="Symbol"/>
                <a:cs typeface="Symbol"/>
              </a:rPr>
              <a:t></a:t>
            </a:r>
            <a:r>
              <a:rPr sz="1800" spc="-130" dirty="0">
                <a:latin typeface="Times New Roman"/>
                <a:cs typeface="Times New Roman"/>
              </a:rPr>
              <a:t> </a:t>
            </a:r>
            <a:r>
              <a:rPr sz="1800" spc="-15" dirty="0">
                <a:latin typeface="Comic Sans MS"/>
                <a:cs typeface="Comic Sans MS"/>
              </a:rPr>
              <a:t>min</a:t>
            </a:r>
            <a:r>
              <a:rPr sz="1800" spc="-385" dirty="0">
                <a:latin typeface="Comic Sans MS"/>
                <a:cs typeface="Comic Sans MS"/>
              </a:rPr>
              <a:t> </a:t>
            </a:r>
            <a:r>
              <a:rPr sz="800" i="1" spc="-25" dirty="0">
                <a:latin typeface="Comic Sans MS"/>
                <a:cs typeface="Comic Sans MS"/>
              </a:rPr>
              <a:t>v</a:t>
            </a:r>
            <a:endParaRPr sz="800">
              <a:latin typeface="Comic Sans MS"/>
              <a:cs typeface="Comic Sans MS"/>
            </a:endParaRPr>
          </a:p>
        </p:txBody>
      </p:sp>
      <p:sp>
        <p:nvSpPr>
          <p:cNvPr id="10" name="object 10"/>
          <p:cNvSpPr txBox="1"/>
          <p:nvPr/>
        </p:nvSpPr>
        <p:spPr>
          <a:xfrm>
            <a:off x="2499239" y="2586646"/>
            <a:ext cx="419734" cy="316230"/>
          </a:xfrm>
          <a:prstGeom prst="rect">
            <a:avLst/>
          </a:prstGeom>
        </p:spPr>
        <p:txBody>
          <a:bodyPr vert="horz" wrap="square" lIns="0" tIns="13335" rIns="0" bIns="0" rtlCol="0">
            <a:spAutoFit/>
          </a:bodyPr>
          <a:lstStyle/>
          <a:p>
            <a:pPr>
              <a:lnSpc>
                <a:spcPct val="100000"/>
              </a:lnSpc>
              <a:spcBef>
                <a:spcPts val="105"/>
              </a:spcBef>
            </a:pPr>
            <a:r>
              <a:rPr sz="1900" i="1" spc="-50" dirty="0">
                <a:latin typeface="Comic Sans MS"/>
                <a:cs typeface="Comic Sans MS"/>
              </a:rPr>
              <a:t>v</a:t>
            </a:r>
            <a:r>
              <a:rPr sz="1900" i="1" spc="-260" dirty="0">
                <a:latin typeface="Comic Sans MS"/>
                <a:cs typeface="Comic Sans MS"/>
              </a:rPr>
              <a:t> </a:t>
            </a:r>
            <a:r>
              <a:rPr sz="1800" dirty="0">
                <a:latin typeface="Comic Sans MS"/>
                <a:cs typeface="Comic Sans MS"/>
              </a:rPr>
              <a:t>'</a:t>
            </a:r>
            <a:r>
              <a:rPr sz="1800" spc="-300" dirty="0">
                <a:latin typeface="Comic Sans MS"/>
                <a:cs typeface="Comic Sans MS"/>
              </a:rPr>
              <a:t> </a:t>
            </a:r>
            <a:r>
              <a:rPr sz="1800" dirty="0">
                <a:latin typeface="Symbol"/>
                <a:cs typeface="Symbol"/>
              </a:rPr>
              <a:t></a:t>
            </a:r>
            <a:endParaRPr sz="1800">
              <a:latin typeface="Symbol"/>
              <a:cs typeface="Symbol"/>
            </a:endParaRPr>
          </a:p>
        </p:txBody>
      </p:sp>
      <p:sp>
        <p:nvSpPr>
          <p:cNvPr id="11" name="object 11"/>
          <p:cNvSpPr/>
          <p:nvPr/>
        </p:nvSpPr>
        <p:spPr>
          <a:xfrm>
            <a:off x="4053725" y="4256532"/>
            <a:ext cx="971550" cy="645795"/>
          </a:xfrm>
          <a:custGeom>
            <a:avLst/>
            <a:gdLst/>
            <a:ahLst/>
            <a:cxnLst/>
            <a:rect l="l" t="t" r="r" b="b"/>
            <a:pathLst>
              <a:path w="971550" h="645795">
                <a:moveTo>
                  <a:pt x="0" y="0"/>
                </a:moveTo>
                <a:lnTo>
                  <a:pt x="0" y="645413"/>
                </a:lnTo>
                <a:lnTo>
                  <a:pt x="971550" y="645413"/>
                </a:lnTo>
                <a:lnTo>
                  <a:pt x="971550" y="0"/>
                </a:lnTo>
                <a:lnTo>
                  <a:pt x="0" y="0"/>
                </a:lnTo>
                <a:close/>
              </a:path>
            </a:pathLst>
          </a:custGeom>
          <a:solidFill>
            <a:srgbClr val="EAEAEA"/>
          </a:solidFill>
        </p:spPr>
        <p:txBody>
          <a:bodyPr wrap="square" lIns="0" tIns="0" rIns="0" bIns="0" rtlCol="0"/>
          <a:lstStyle/>
          <a:p>
            <a:endParaRPr/>
          </a:p>
        </p:txBody>
      </p:sp>
      <p:sp>
        <p:nvSpPr>
          <p:cNvPr id="12" name="object 12"/>
          <p:cNvSpPr/>
          <p:nvPr/>
        </p:nvSpPr>
        <p:spPr>
          <a:xfrm>
            <a:off x="4839347" y="4336541"/>
            <a:ext cx="114300" cy="0"/>
          </a:xfrm>
          <a:custGeom>
            <a:avLst/>
            <a:gdLst/>
            <a:ahLst/>
            <a:cxnLst/>
            <a:rect l="l" t="t" r="r" b="b"/>
            <a:pathLst>
              <a:path w="114300">
                <a:moveTo>
                  <a:pt x="0" y="0"/>
                </a:moveTo>
                <a:lnTo>
                  <a:pt x="114300" y="0"/>
                </a:lnTo>
              </a:path>
            </a:pathLst>
          </a:custGeom>
          <a:ln w="9499">
            <a:solidFill>
              <a:srgbClr val="000000"/>
            </a:solidFill>
          </a:ln>
        </p:spPr>
        <p:txBody>
          <a:bodyPr wrap="square" lIns="0" tIns="0" rIns="0" bIns="0" rtlCol="0"/>
          <a:lstStyle/>
          <a:p>
            <a:endParaRPr/>
          </a:p>
        </p:txBody>
      </p:sp>
      <p:sp>
        <p:nvSpPr>
          <p:cNvPr id="13" name="object 13"/>
          <p:cNvSpPr/>
          <p:nvPr/>
        </p:nvSpPr>
        <p:spPr>
          <a:xfrm>
            <a:off x="4498733" y="4560570"/>
            <a:ext cx="474345" cy="0"/>
          </a:xfrm>
          <a:custGeom>
            <a:avLst/>
            <a:gdLst/>
            <a:ahLst/>
            <a:cxnLst/>
            <a:rect l="l" t="t" r="r" b="b"/>
            <a:pathLst>
              <a:path w="474345">
                <a:moveTo>
                  <a:pt x="0" y="0"/>
                </a:moveTo>
                <a:lnTo>
                  <a:pt x="473964" y="0"/>
                </a:lnTo>
              </a:path>
            </a:pathLst>
          </a:custGeom>
          <a:ln w="9499">
            <a:solidFill>
              <a:srgbClr val="000000"/>
            </a:solidFill>
          </a:ln>
        </p:spPr>
        <p:txBody>
          <a:bodyPr wrap="square" lIns="0" tIns="0" rIns="0" bIns="0" rtlCol="0"/>
          <a:lstStyle/>
          <a:p>
            <a:endParaRPr/>
          </a:p>
        </p:txBody>
      </p:sp>
      <p:sp>
        <p:nvSpPr>
          <p:cNvPr id="14" name="object 14"/>
          <p:cNvSpPr txBox="1"/>
          <p:nvPr/>
        </p:nvSpPr>
        <p:spPr>
          <a:xfrm>
            <a:off x="1296549" y="4540296"/>
            <a:ext cx="4160520" cy="982344"/>
          </a:xfrm>
          <a:prstGeom prst="rect">
            <a:avLst/>
          </a:prstGeom>
        </p:spPr>
        <p:txBody>
          <a:bodyPr vert="horz" wrap="square" lIns="0" tIns="12065" rIns="0" bIns="0" rtlCol="0">
            <a:spAutoFit/>
          </a:bodyPr>
          <a:lstStyle/>
          <a:p>
            <a:pPr marR="621030" algn="r">
              <a:lnSpc>
                <a:spcPct val="100000"/>
              </a:lnSpc>
              <a:spcBef>
                <a:spcPts val="95"/>
              </a:spcBef>
            </a:pPr>
            <a:r>
              <a:rPr sz="1900" i="1" spc="-65" dirty="0">
                <a:latin typeface="Symbol"/>
                <a:cs typeface="Symbol"/>
              </a:rPr>
              <a:t></a:t>
            </a:r>
            <a:r>
              <a:rPr sz="1900" i="1" spc="-350" dirty="0">
                <a:latin typeface="Times New Roman"/>
                <a:cs typeface="Times New Roman"/>
              </a:rPr>
              <a:t> </a:t>
            </a:r>
            <a:r>
              <a:rPr sz="1575" i="1" spc="-7" baseline="-23809" dirty="0">
                <a:latin typeface="Times New Roman"/>
                <a:cs typeface="Times New Roman"/>
              </a:rPr>
              <a:t>v</a:t>
            </a:r>
            <a:endParaRPr sz="1575" baseline="-23809">
              <a:latin typeface="Times New Roman"/>
              <a:cs typeface="Times New Roman"/>
            </a:endParaRPr>
          </a:p>
          <a:p>
            <a:pPr>
              <a:lnSpc>
                <a:spcPct val="100000"/>
              </a:lnSpc>
              <a:spcBef>
                <a:spcPts val="40"/>
              </a:spcBef>
            </a:pPr>
            <a:endParaRPr sz="2450">
              <a:latin typeface="Times New Roman"/>
              <a:cs typeface="Times New Roman"/>
            </a:endParaRPr>
          </a:p>
          <a:p>
            <a:pPr marL="367665" indent="-342900">
              <a:lnSpc>
                <a:spcPct val="100000"/>
              </a:lnSpc>
              <a:buClr>
                <a:srgbClr val="FF0000"/>
              </a:buClr>
              <a:buChar char="•"/>
              <a:tabLst>
                <a:tab pos="367665" algn="l"/>
                <a:tab pos="368300" algn="l"/>
              </a:tabLst>
            </a:pPr>
            <a:r>
              <a:rPr sz="2000" spc="-10" dirty="0">
                <a:solidFill>
                  <a:srgbClr val="3333CC"/>
                </a:solidFill>
                <a:latin typeface="Comic Sans MS"/>
                <a:cs typeface="Comic Sans MS"/>
              </a:rPr>
              <a:t>normalization </a:t>
            </a:r>
            <a:r>
              <a:rPr sz="2000" spc="-5" dirty="0">
                <a:solidFill>
                  <a:srgbClr val="3333CC"/>
                </a:solidFill>
                <a:latin typeface="Comic Sans MS"/>
                <a:cs typeface="Comic Sans MS"/>
              </a:rPr>
              <a:t>by </a:t>
            </a:r>
            <a:r>
              <a:rPr sz="2000" spc="-10" dirty="0">
                <a:solidFill>
                  <a:srgbClr val="3333CC"/>
                </a:solidFill>
                <a:latin typeface="Comic Sans MS"/>
                <a:cs typeface="Comic Sans MS"/>
              </a:rPr>
              <a:t>decimal</a:t>
            </a:r>
            <a:r>
              <a:rPr sz="2000" spc="70" dirty="0">
                <a:solidFill>
                  <a:srgbClr val="3333CC"/>
                </a:solidFill>
                <a:latin typeface="Comic Sans MS"/>
                <a:cs typeface="Comic Sans MS"/>
              </a:rPr>
              <a:t> </a:t>
            </a:r>
            <a:r>
              <a:rPr sz="2000" spc="-10" dirty="0">
                <a:solidFill>
                  <a:srgbClr val="3333CC"/>
                </a:solidFill>
                <a:latin typeface="Comic Sans MS"/>
                <a:cs typeface="Comic Sans MS"/>
              </a:rPr>
              <a:t>scaling</a:t>
            </a:r>
            <a:endParaRPr sz="2000">
              <a:latin typeface="Comic Sans MS"/>
              <a:cs typeface="Comic Sans MS"/>
            </a:endParaRPr>
          </a:p>
        </p:txBody>
      </p:sp>
      <p:sp>
        <p:nvSpPr>
          <p:cNvPr id="15" name="object 15"/>
          <p:cNvSpPr txBox="1"/>
          <p:nvPr/>
        </p:nvSpPr>
        <p:spPr>
          <a:xfrm>
            <a:off x="4060322" y="4234734"/>
            <a:ext cx="909955" cy="299085"/>
          </a:xfrm>
          <a:prstGeom prst="rect">
            <a:avLst/>
          </a:prstGeom>
        </p:spPr>
        <p:txBody>
          <a:bodyPr vert="horz" wrap="square" lIns="0" tIns="11430" rIns="0" bIns="0" rtlCol="0">
            <a:spAutoFit/>
          </a:bodyPr>
          <a:lstStyle/>
          <a:p>
            <a:pPr marL="25400">
              <a:lnSpc>
                <a:spcPct val="100000"/>
              </a:lnSpc>
              <a:spcBef>
                <a:spcPts val="90"/>
              </a:spcBef>
            </a:pPr>
            <a:r>
              <a:rPr sz="2700" i="1" spc="-7" baseline="-33950" dirty="0">
                <a:latin typeface="Times New Roman"/>
                <a:cs typeface="Times New Roman"/>
              </a:rPr>
              <a:t>v </a:t>
            </a:r>
            <a:r>
              <a:rPr sz="2700" spc="-7" baseline="-33950" dirty="0">
                <a:latin typeface="Times New Roman"/>
                <a:cs typeface="Times New Roman"/>
              </a:rPr>
              <a:t>' </a:t>
            </a:r>
            <a:r>
              <a:rPr sz="2700" spc="-7" baseline="-33950" dirty="0">
                <a:latin typeface="Symbol"/>
                <a:cs typeface="Symbol"/>
              </a:rPr>
              <a:t></a:t>
            </a:r>
            <a:r>
              <a:rPr sz="2700" spc="-7" baseline="-33950" dirty="0">
                <a:latin typeface="Times New Roman"/>
                <a:cs typeface="Times New Roman"/>
              </a:rPr>
              <a:t> </a:t>
            </a:r>
            <a:r>
              <a:rPr sz="1800" i="1" spc="-5" dirty="0">
                <a:latin typeface="Times New Roman"/>
                <a:cs typeface="Times New Roman"/>
              </a:rPr>
              <a:t>v </a:t>
            </a:r>
            <a:r>
              <a:rPr sz="1800" spc="-5" dirty="0">
                <a:latin typeface="Symbol"/>
                <a:cs typeface="Symbol"/>
              </a:rPr>
              <a:t></a:t>
            </a:r>
            <a:r>
              <a:rPr sz="1800" spc="-335" dirty="0">
                <a:latin typeface="Times New Roman"/>
                <a:cs typeface="Times New Roman"/>
              </a:rPr>
              <a:t> </a:t>
            </a:r>
            <a:r>
              <a:rPr sz="1800" i="1" spc="-5" dirty="0">
                <a:latin typeface="Times New Roman"/>
                <a:cs typeface="Times New Roman"/>
              </a:rPr>
              <a:t>v</a:t>
            </a:r>
            <a:endParaRPr sz="1800">
              <a:latin typeface="Times New Roman"/>
              <a:cs typeface="Times New Roman"/>
            </a:endParaRPr>
          </a:p>
        </p:txBody>
      </p:sp>
      <p:sp>
        <p:nvSpPr>
          <p:cNvPr id="16" name="object 16"/>
          <p:cNvSpPr/>
          <p:nvPr/>
        </p:nvSpPr>
        <p:spPr>
          <a:xfrm>
            <a:off x="1662569" y="5764529"/>
            <a:ext cx="1005205" cy="798830"/>
          </a:xfrm>
          <a:custGeom>
            <a:avLst/>
            <a:gdLst/>
            <a:ahLst/>
            <a:cxnLst/>
            <a:rect l="l" t="t" r="r" b="b"/>
            <a:pathLst>
              <a:path w="1005205" h="798829">
                <a:moveTo>
                  <a:pt x="0" y="0"/>
                </a:moveTo>
                <a:lnTo>
                  <a:pt x="0" y="798576"/>
                </a:lnTo>
                <a:lnTo>
                  <a:pt x="1005077" y="798576"/>
                </a:lnTo>
                <a:lnTo>
                  <a:pt x="1005077" y="0"/>
                </a:lnTo>
                <a:lnTo>
                  <a:pt x="0" y="0"/>
                </a:lnTo>
                <a:close/>
              </a:path>
            </a:pathLst>
          </a:custGeom>
          <a:solidFill>
            <a:srgbClr val="EAEAEA"/>
          </a:solidFill>
        </p:spPr>
        <p:txBody>
          <a:bodyPr wrap="square" lIns="0" tIns="0" rIns="0" bIns="0" rtlCol="0"/>
          <a:lstStyle/>
          <a:p>
            <a:endParaRPr/>
          </a:p>
        </p:txBody>
      </p:sp>
      <p:sp>
        <p:nvSpPr>
          <p:cNvPr id="17" name="object 17"/>
          <p:cNvSpPr/>
          <p:nvPr/>
        </p:nvSpPr>
        <p:spPr>
          <a:xfrm>
            <a:off x="2183015" y="6176771"/>
            <a:ext cx="424180" cy="0"/>
          </a:xfrm>
          <a:custGeom>
            <a:avLst/>
            <a:gdLst/>
            <a:ahLst/>
            <a:cxnLst/>
            <a:rect l="l" t="t" r="r" b="b"/>
            <a:pathLst>
              <a:path w="424180">
                <a:moveTo>
                  <a:pt x="0" y="0"/>
                </a:moveTo>
                <a:lnTo>
                  <a:pt x="423672" y="0"/>
                </a:lnTo>
              </a:path>
            </a:pathLst>
          </a:custGeom>
          <a:ln w="12865">
            <a:solidFill>
              <a:srgbClr val="000000"/>
            </a:solidFill>
          </a:ln>
        </p:spPr>
        <p:txBody>
          <a:bodyPr wrap="square" lIns="0" tIns="0" rIns="0" bIns="0" rtlCol="0"/>
          <a:lstStyle/>
          <a:p>
            <a:endParaRPr/>
          </a:p>
        </p:txBody>
      </p:sp>
      <p:sp>
        <p:nvSpPr>
          <p:cNvPr id="18" name="object 18"/>
          <p:cNvSpPr txBox="1"/>
          <p:nvPr/>
        </p:nvSpPr>
        <p:spPr>
          <a:xfrm>
            <a:off x="2144654" y="5672682"/>
            <a:ext cx="444500" cy="897255"/>
          </a:xfrm>
          <a:prstGeom prst="rect">
            <a:avLst/>
          </a:prstGeom>
        </p:spPr>
        <p:txBody>
          <a:bodyPr vert="horz" wrap="square" lIns="0" tIns="81915" rIns="0" bIns="0" rtlCol="0">
            <a:spAutoFit/>
          </a:bodyPr>
          <a:lstStyle/>
          <a:p>
            <a:pPr marL="179705">
              <a:lnSpc>
                <a:spcPct val="100000"/>
              </a:lnSpc>
              <a:spcBef>
                <a:spcPts val="645"/>
              </a:spcBef>
            </a:pPr>
            <a:r>
              <a:rPr sz="2400" i="1" spc="15" dirty="0">
                <a:latin typeface="Times New Roman"/>
                <a:cs typeface="Times New Roman"/>
              </a:rPr>
              <a:t>v</a:t>
            </a:r>
            <a:endParaRPr sz="2400">
              <a:latin typeface="Times New Roman"/>
              <a:cs typeface="Times New Roman"/>
            </a:endParaRPr>
          </a:p>
          <a:p>
            <a:pPr marL="25400">
              <a:lnSpc>
                <a:spcPct val="100000"/>
              </a:lnSpc>
              <a:spcBef>
                <a:spcPts val="550"/>
              </a:spcBef>
            </a:pPr>
            <a:r>
              <a:rPr sz="2400" spc="15" dirty="0">
                <a:latin typeface="Times New Roman"/>
                <a:cs typeface="Times New Roman"/>
              </a:rPr>
              <a:t>10</a:t>
            </a:r>
            <a:r>
              <a:rPr sz="2400" spc="-365" dirty="0">
                <a:latin typeface="Times New Roman"/>
                <a:cs typeface="Times New Roman"/>
              </a:rPr>
              <a:t> </a:t>
            </a:r>
            <a:r>
              <a:rPr sz="1500" i="1" baseline="61111" dirty="0">
                <a:latin typeface="Times New Roman"/>
                <a:cs typeface="Times New Roman"/>
              </a:rPr>
              <a:t>j</a:t>
            </a:r>
            <a:endParaRPr sz="1500" baseline="61111">
              <a:latin typeface="Times New Roman"/>
              <a:cs typeface="Times New Roman"/>
            </a:endParaRPr>
          </a:p>
        </p:txBody>
      </p:sp>
      <p:sp>
        <p:nvSpPr>
          <p:cNvPr id="19" name="object 19"/>
          <p:cNvSpPr txBox="1"/>
          <p:nvPr/>
        </p:nvSpPr>
        <p:spPr>
          <a:xfrm>
            <a:off x="1704480" y="5931914"/>
            <a:ext cx="414020" cy="396875"/>
          </a:xfrm>
          <a:prstGeom prst="rect">
            <a:avLst/>
          </a:prstGeom>
        </p:spPr>
        <p:txBody>
          <a:bodyPr vert="horz" wrap="square" lIns="0" tIns="17145" rIns="0" bIns="0" rtlCol="0">
            <a:spAutoFit/>
          </a:bodyPr>
          <a:lstStyle/>
          <a:p>
            <a:pPr>
              <a:lnSpc>
                <a:spcPct val="100000"/>
              </a:lnSpc>
              <a:spcBef>
                <a:spcPts val="135"/>
              </a:spcBef>
            </a:pPr>
            <a:r>
              <a:rPr sz="2400" i="1" spc="35" dirty="0">
                <a:latin typeface="Times New Roman"/>
                <a:cs typeface="Times New Roman"/>
              </a:rPr>
              <a:t>v</a:t>
            </a:r>
            <a:r>
              <a:rPr sz="2400" spc="35" dirty="0">
                <a:latin typeface="Times New Roman"/>
                <a:cs typeface="Times New Roman"/>
              </a:rPr>
              <a:t>'</a:t>
            </a:r>
            <a:r>
              <a:rPr sz="2400" spc="-420" dirty="0">
                <a:latin typeface="Times New Roman"/>
                <a:cs typeface="Times New Roman"/>
              </a:rPr>
              <a:t> </a:t>
            </a:r>
            <a:r>
              <a:rPr sz="2400" spc="15" dirty="0">
                <a:latin typeface="Symbol"/>
                <a:cs typeface="Symbol"/>
              </a:rPr>
              <a:t></a:t>
            </a:r>
            <a:endParaRPr sz="2400">
              <a:latin typeface="Symbol"/>
              <a:cs typeface="Symbol"/>
            </a:endParaRPr>
          </a:p>
        </p:txBody>
      </p:sp>
      <p:sp>
        <p:nvSpPr>
          <p:cNvPr id="20" name="object 20"/>
          <p:cNvSpPr/>
          <p:nvPr/>
        </p:nvSpPr>
        <p:spPr>
          <a:xfrm>
            <a:off x="8307971" y="5692902"/>
            <a:ext cx="321310" cy="405130"/>
          </a:xfrm>
          <a:custGeom>
            <a:avLst/>
            <a:gdLst/>
            <a:ahLst/>
            <a:cxnLst/>
            <a:rect l="l" t="t" r="r" b="b"/>
            <a:pathLst>
              <a:path w="321309" h="405129">
                <a:moveTo>
                  <a:pt x="0" y="0"/>
                </a:moveTo>
                <a:lnTo>
                  <a:pt x="0" y="404622"/>
                </a:lnTo>
                <a:lnTo>
                  <a:pt x="320801" y="404622"/>
                </a:lnTo>
                <a:lnTo>
                  <a:pt x="320801" y="0"/>
                </a:lnTo>
                <a:lnTo>
                  <a:pt x="0" y="0"/>
                </a:lnTo>
                <a:close/>
              </a:path>
            </a:pathLst>
          </a:custGeom>
          <a:solidFill>
            <a:srgbClr val="FFFFCC"/>
          </a:solidFill>
        </p:spPr>
        <p:txBody>
          <a:bodyPr wrap="square" lIns="0" tIns="0" rIns="0" bIns="0" rtlCol="0"/>
          <a:lstStyle/>
          <a:p>
            <a:endParaRPr/>
          </a:p>
        </p:txBody>
      </p:sp>
      <p:sp>
        <p:nvSpPr>
          <p:cNvPr id="21" name="object 21"/>
          <p:cNvSpPr txBox="1"/>
          <p:nvPr/>
        </p:nvSpPr>
        <p:spPr>
          <a:xfrm>
            <a:off x="3090043" y="5615323"/>
            <a:ext cx="5953125" cy="991869"/>
          </a:xfrm>
          <a:prstGeom prst="rect">
            <a:avLst/>
          </a:prstGeom>
        </p:spPr>
        <p:txBody>
          <a:bodyPr vert="horz" wrap="square" lIns="0" tIns="16510" rIns="0" bIns="0" rtlCol="0">
            <a:spAutoFit/>
          </a:bodyPr>
          <a:lstStyle/>
          <a:p>
            <a:pPr marL="50800">
              <a:lnSpc>
                <a:spcPct val="100000"/>
              </a:lnSpc>
              <a:spcBef>
                <a:spcPts val="130"/>
              </a:spcBef>
            </a:pPr>
            <a:r>
              <a:rPr sz="1800" spc="-5" dirty="0">
                <a:latin typeface="Comic Sans MS"/>
                <a:cs typeface="Comic Sans MS"/>
              </a:rPr>
              <a:t>Where </a:t>
            </a:r>
            <a:r>
              <a:rPr sz="1900" i="1" spc="-40" dirty="0">
                <a:latin typeface="Comic Sans MS"/>
                <a:cs typeface="Comic Sans MS"/>
              </a:rPr>
              <a:t>j </a:t>
            </a:r>
            <a:r>
              <a:rPr sz="1800" spc="-5" dirty="0">
                <a:latin typeface="Comic Sans MS"/>
                <a:cs typeface="Comic Sans MS"/>
              </a:rPr>
              <a:t>is the smallest integer such that Max(| </a:t>
            </a:r>
            <a:r>
              <a:rPr sz="4050" i="1" spc="67" baseline="-6172" dirty="0">
                <a:latin typeface="Times New Roman"/>
                <a:cs typeface="Times New Roman"/>
              </a:rPr>
              <a:t>v</a:t>
            </a:r>
            <a:r>
              <a:rPr sz="4050" spc="67" baseline="-6172" dirty="0">
                <a:latin typeface="Times New Roman"/>
                <a:cs typeface="Times New Roman"/>
              </a:rPr>
              <a:t>'</a:t>
            </a:r>
            <a:r>
              <a:rPr sz="4050" spc="-397" baseline="-6172" dirty="0">
                <a:latin typeface="Times New Roman"/>
                <a:cs typeface="Times New Roman"/>
              </a:rPr>
              <a:t> </a:t>
            </a:r>
            <a:r>
              <a:rPr sz="1800" spc="-5" dirty="0">
                <a:latin typeface="Comic Sans MS"/>
                <a:cs typeface="Comic Sans MS"/>
              </a:rPr>
              <a:t>|)&lt;1</a:t>
            </a:r>
            <a:endParaRPr sz="1800">
              <a:latin typeface="Comic Sans MS"/>
              <a:cs typeface="Comic Sans MS"/>
            </a:endParaRPr>
          </a:p>
          <a:p>
            <a:pPr marL="426720">
              <a:lnSpc>
                <a:spcPct val="100000"/>
              </a:lnSpc>
              <a:spcBef>
                <a:spcPts val="2415"/>
              </a:spcBef>
              <a:tabLst>
                <a:tab pos="2983230" algn="l"/>
                <a:tab pos="4777740" algn="l"/>
              </a:tabLst>
            </a:pPr>
            <a:r>
              <a:rPr sz="1600" spc="-5" dirty="0">
                <a:latin typeface="Comic Sans MS"/>
                <a:cs typeface="Comic Sans MS"/>
              </a:rPr>
              <a:t>range: </a:t>
            </a:r>
            <a:r>
              <a:rPr sz="1600" dirty="0">
                <a:latin typeface="Comic Sans MS"/>
                <a:cs typeface="Comic Sans MS"/>
              </a:rPr>
              <a:t>-986 </a:t>
            </a:r>
            <a:r>
              <a:rPr sz="1600" spc="-5" dirty="0">
                <a:latin typeface="Comic Sans MS"/>
                <a:cs typeface="Comic Sans MS"/>
              </a:rPr>
              <a:t>to 917</a:t>
            </a:r>
            <a:r>
              <a:rPr sz="1600" spc="-15" dirty="0">
                <a:latin typeface="Comic Sans MS"/>
                <a:cs typeface="Comic Sans MS"/>
              </a:rPr>
              <a:t> </a:t>
            </a:r>
            <a:r>
              <a:rPr sz="1600" spc="-5" dirty="0">
                <a:latin typeface="Comic Sans MS"/>
                <a:cs typeface="Comic Sans MS"/>
              </a:rPr>
              <a:t>=&gt;</a:t>
            </a:r>
            <a:r>
              <a:rPr sz="1600" dirty="0">
                <a:latin typeface="Comic Sans MS"/>
                <a:cs typeface="Comic Sans MS"/>
              </a:rPr>
              <a:t> </a:t>
            </a:r>
            <a:r>
              <a:rPr sz="1600" spc="-5" dirty="0">
                <a:latin typeface="Comic Sans MS"/>
                <a:cs typeface="Comic Sans MS"/>
              </a:rPr>
              <a:t>j=3	</a:t>
            </a:r>
            <a:r>
              <a:rPr sz="1600" dirty="0">
                <a:latin typeface="Comic Sans MS"/>
                <a:cs typeface="Comic Sans MS"/>
              </a:rPr>
              <a:t>-986</a:t>
            </a:r>
            <a:r>
              <a:rPr sz="1600" spc="-5" dirty="0">
                <a:latin typeface="Comic Sans MS"/>
                <a:cs typeface="Comic Sans MS"/>
              </a:rPr>
              <a:t> </a:t>
            </a:r>
            <a:r>
              <a:rPr sz="1600" dirty="0">
                <a:latin typeface="Comic Sans MS"/>
                <a:cs typeface="Comic Sans MS"/>
              </a:rPr>
              <a:t>-&gt; -0.986	</a:t>
            </a:r>
            <a:r>
              <a:rPr sz="1600" spc="-5" dirty="0">
                <a:latin typeface="Comic Sans MS"/>
                <a:cs typeface="Comic Sans MS"/>
              </a:rPr>
              <a:t>917 </a:t>
            </a:r>
            <a:r>
              <a:rPr sz="1600" dirty="0">
                <a:latin typeface="Comic Sans MS"/>
                <a:cs typeface="Comic Sans MS"/>
              </a:rPr>
              <a:t>-&gt;</a:t>
            </a:r>
            <a:r>
              <a:rPr sz="1600" spc="-95" dirty="0">
                <a:latin typeface="Comic Sans MS"/>
                <a:cs typeface="Comic Sans MS"/>
              </a:rPr>
              <a:t> </a:t>
            </a:r>
            <a:r>
              <a:rPr sz="1600" spc="-5" dirty="0">
                <a:latin typeface="Comic Sans MS"/>
                <a:cs typeface="Comic Sans MS"/>
              </a:rPr>
              <a:t>0.917</a:t>
            </a:r>
            <a:endParaRPr sz="1600">
              <a:latin typeface="Comic Sans MS"/>
              <a:cs typeface="Comic Sans MS"/>
            </a:endParaRPr>
          </a:p>
        </p:txBody>
      </p:sp>
      <p:sp>
        <p:nvSpPr>
          <p:cNvPr id="23" name="object 23"/>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27</a:t>
            </a:fld>
            <a:endParaRPr dirty="0"/>
          </a:p>
        </p:txBody>
      </p:sp>
      <p:sp>
        <p:nvSpPr>
          <p:cNvPr id="22" name="object 22"/>
          <p:cNvSpPr txBox="1"/>
          <p:nvPr/>
        </p:nvSpPr>
        <p:spPr>
          <a:xfrm>
            <a:off x="5241169" y="4331271"/>
            <a:ext cx="2221865" cy="250825"/>
          </a:xfrm>
          <a:prstGeom prst="rect">
            <a:avLst/>
          </a:prstGeom>
        </p:spPr>
        <p:txBody>
          <a:bodyPr vert="horz" wrap="square" lIns="0" tIns="15875" rIns="0" bIns="0" rtlCol="0">
            <a:spAutoFit/>
          </a:bodyPr>
          <a:lstStyle/>
          <a:p>
            <a:pPr marL="12700">
              <a:lnSpc>
                <a:spcPct val="100000"/>
              </a:lnSpc>
              <a:spcBef>
                <a:spcPts val="125"/>
              </a:spcBef>
            </a:pPr>
            <a:r>
              <a:rPr sz="1450" i="1" spc="-35" dirty="0">
                <a:latin typeface="Comic Sans MS"/>
                <a:cs typeface="Comic Sans MS"/>
              </a:rPr>
              <a:t>does </a:t>
            </a:r>
            <a:r>
              <a:rPr sz="1450" i="1" spc="-30" dirty="0">
                <a:latin typeface="Comic Sans MS"/>
                <a:cs typeface="Comic Sans MS"/>
              </a:rPr>
              <a:t>not </a:t>
            </a:r>
            <a:r>
              <a:rPr sz="1450" i="1" spc="-25" dirty="0">
                <a:latin typeface="Comic Sans MS"/>
                <a:cs typeface="Comic Sans MS"/>
              </a:rPr>
              <a:t>eliminate</a:t>
            </a:r>
            <a:r>
              <a:rPr sz="1450" i="1" spc="-50" dirty="0">
                <a:latin typeface="Comic Sans MS"/>
                <a:cs typeface="Comic Sans MS"/>
              </a:rPr>
              <a:t> </a:t>
            </a:r>
            <a:r>
              <a:rPr sz="1450" i="1" spc="-25" dirty="0">
                <a:latin typeface="Comic Sans MS"/>
                <a:cs typeface="Comic Sans MS"/>
              </a:rPr>
              <a:t>outliers</a:t>
            </a:r>
            <a:endParaRPr sz="1450">
              <a:latin typeface="Comic Sans MS"/>
              <a:cs typeface="Comic Sans M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09055" y="6823395"/>
            <a:ext cx="186055" cy="212725"/>
          </a:xfrm>
          <a:prstGeom prst="rect">
            <a:avLst/>
          </a:prstGeom>
        </p:spPr>
        <p:txBody>
          <a:bodyPr vert="horz" wrap="square" lIns="0" tIns="15240" rIns="0" bIns="0" rtlCol="0">
            <a:spAutoFit/>
          </a:bodyPr>
          <a:lstStyle/>
          <a:p>
            <a:pPr>
              <a:lnSpc>
                <a:spcPct val="100000"/>
              </a:lnSpc>
              <a:spcBef>
                <a:spcPts val="120"/>
              </a:spcBef>
            </a:pPr>
            <a:r>
              <a:rPr sz="1200" spc="-5" dirty="0">
                <a:latin typeface="Comic Sans MS"/>
                <a:cs typeface="Comic Sans MS"/>
              </a:rPr>
              <a:t>53</a:t>
            </a:r>
            <a:endParaRPr sz="1200">
              <a:latin typeface="Comic Sans MS"/>
              <a:cs typeface="Comic Sans MS"/>
            </a:endParaRPr>
          </a:p>
        </p:txBody>
      </p:sp>
      <p:sp>
        <p:nvSpPr>
          <p:cNvPr id="3" name="object 3"/>
          <p:cNvSpPr/>
          <p:nvPr/>
        </p:nvSpPr>
        <p:spPr>
          <a:xfrm>
            <a:off x="4440059" y="681227"/>
            <a:ext cx="5395721" cy="639699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376051" y="1253489"/>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5" name="object 5"/>
          <p:cNvSpPr/>
          <p:nvPr/>
        </p:nvSpPr>
        <p:spPr>
          <a:xfrm>
            <a:off x="4376051" y="2275332"/>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6" name="object 6"/>
          <p:cNvSpPr/>
          <p:nvPr/>
        </p:nvSpPr>
        <p:spPr>
          <a:xfrm>
            <a:off x="4376051" y="2530601"/>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7" name="object 7"/>
          <p:cNvSpPr/>
          <p:nvPr/>
        </p:nvSpPr>
        <p:spPr>
          <a:xfrm>
            <a:off x="4376051" y="3552444"/>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8" name="object 8"/>
          <p:cNvSpPr/>
          <p:nvPr/>
        </p:nvSpPr>
        <p:spPr>
          <a:xfrm>
            <a:off x="4376051" y="3807714"/>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9" name="object 9"/>
          <p:cNvSpPr/>
          <p:nvPr/>
        </p:nvSpPr>
        <p:spPr>
          <a:xfrm>
            <a:off x="4376051" y="4062984"/>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10" name="object 10"/>
          <p:cNvSpPr/>
          <p:nvPr/>
        </p:nvSpPr>
        <p:spPr>
          <a:xfrm>
            <a:off x="4376051" y="4318253"/>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11" name="object 11"/>
          <p:cNvSpPr/>
          <p:nvPr/>
        </p:nvSpPr>
        <p:spPr>
          <a:xfrm>
            <a:off x="4376051" y="5084826"/>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sp>
        <p:nvSpPr>
          <p:cNvPr id="12" name="object 12"/>
          <p:cNvSpPr/>
          <p:nvPr/>
        </p:nvSpPr>
        <p:spPr>
          <a:xfrm>
            <a:off x="4376051" y="5595365"/>
            <a:ext cx="1270" cy="0"/>
          </a:xfrm>
          <a:custGeom>
            <a:avLst/>
            <a:gdLst/>
            <a:ahLst/>
            <a:cxnLst/>
            <a:rect l="l" t="t" r="r" b="b"/>
            <a:pathLst>
              <a:path w="1270">
                <a:moveTo>
                  <a:pt x="0" y="0"/>
                </a:moveTo>
                <a:lnTo>
                  <a:pt x="761" y="0"/>
                </a:lnTo>
              </a:path>
            </a:pathLst>
          </a:custGeom>
          <a:ln w="3175">
            <a:solidFill>
              <a:srgbClr val="DADCDD"/>
            </a:solidFill>
          </a:ln>
        </p:spPr>
        <p:txBody>
          <a:bodyPr wrap="square" lIns="0" tIns="0" rIns="0" bIns="0" rtlCol="0"/>
          <a:lstStyle/>
          <a:p>
            <a:endParaRPr/>
          </a:p>
        </p:txBody>
      </p:sp>
      <p:graphicFrame>
        <p:nvGraphicFramePr>
          <p:cNvPr id="13" name="object 13"/>
          <p:cNvGraphicFramePr>
            <a:graphicFrameLocks noGrp="1"/>
          </p:cNvGraphicFramePr>
          <p:nvPr/>
        </p:nvGraphicFramePr>
        <p:xfrm>
          <a:off x="841514" y="487680"/>
          <a:ext cx="3527424" cy="6645196"/>
        </p:xfrm>
        <a:graphic>
          <a:graphicData uri="http://schemas.openxmlformats.org/drawingml/2006/table">
            <a:tbl>
              <a:tblPr firstRow="1" bandRow="1">
                <a:tableStyleId>{2D5ABB26-0587-4C30-8999-92F81FD0307C}</a:tableStyleId>
              </a:tblPr>
              <a:tblGrid>
                <a:gridCol w="572135">
                  <a:extLst>
                    <a:ext uri="{9D8B030D-6E8A-4147-A177-3AD203B41FA5}">
                      <a16:colId xmlns:a16="http://schemas.microsoft.com/office/drawing/2014/main" val="20000"/>
                    </a:ext>
                  </a:extLst>
                </a:gridCol>
                <a:gridCol w="1247140">
                  <a:extLst>
                    <a:ext uri="{9D8B030D-6E8A-4147-A177-3AD203B41FA5}">
                      <a16:colId xmlns:a16="http://schemas.microsoft.com/office/drawing/2014/main" val="20001"/>
                    </a:ext>
                  </a:extLst>
                </a:gridCol>
                <a:gridCol w="675005">
                  <a:extLst>
                    <a:ext uri="{9D8B030D-6E8A-4147-A177-3AD203B41FA5}">
                      <a16:colId xmlns:a16="http://schemas.microsoft.com/office/drawing/2014/main" val="20002"/>
                    </a:ext>
                  </a:extLst>
                </a:gridCol>
                <a:gridCol w="1033144">
                  <a:extLst>
                    <a:ext uri="{9D8B030D-6E8A-4147-A177-3AD203B41FA5}">
                      <a16:colId xmlns:a16="http://schemas.microsoft.com/office/drawing/2014/main" val="20003"/>
                    </a:ext>
                  </a:extLst>
                </a:gridCol>
              </a:tblGrid>
              <a:tr h="255270">
                <a:tc>
                  <a:txBody>
                    <a:bodyPr/>
                    <a:lstStyle/>
                    <a:p>
                      <a:pPr algn="ctr">
                        <a:lnSpc>
                          <a:spcPts val="1789"/>
                        </a:lnSpc>
                        <a:spcBef>
                          <a:spcPts val="120"/>
                        </a:spcBef>
                      </a:pPr>
                      <a:r>
                        <a:rPr sz="1500" b="1" spc="25" dirty="0">
                          <a:latin typeface="Calibri"/>
                          <a:cs typeface="Calibri"/>
                        </a:rPr>
                        <a:t>Age</a:t>
                      </a:r>
                      <a:endParaRPr sz="1500">
                        <a:latin typeface="Calibri"/>
                        <a:cs typeface="Calibri"/>
                      </a:endParaRPr>
                    </a:p>
                  </a:txBody>
                  <a:tcPr marL="0" marR="0" marT="15240" marB="0">
                    <a:solidFill>
                      <a:srgbClr val="D8E4BC"/>
                    </a:solidFill>
                  </a:tcPr>
                </a:tc>
                <a:tc>
                  <a:txBody>
                    <a:bodyPr/>
                    <a:lstStyle/>
                    <a:p>
                      <a:pPr marL="3175" algn="ctr">
                        <a:lnSpc>
                          <a:spcPts val="1789"/>
                        </a:lnSpc>
                        <a:spcBef>
                          <a:spcPts val="120"/>
                        </a:spcBef>
                      </a:pPr>
                      <a:r>
                        <a:rPr sz="1500" b="1" dirty="0">
                          <a:latin typeface="Calibri"/>
                          <a:cs typeface="Calibri"/>
                        </a:rPr>
                        <a:t>min‐max</a:t>
                      </a:r>
                      <a:r>
                        <a:rPr sz="1500" b="1" spc="-30" dirty="0">
                          <a:latin typeface="Calibri"/>
                          <a:cs typeface="Calibri"/>
                        </a:rPr>
                        <a:t> </a:t>
                      </a:r>
                      <a:r>
                        <a:rPr sz="1500" b="1" spc="25" dirty="0">
                          <a:latin typeface="Calibri"/>
                          <a:cs typeface="Calibri"/>
                        </a:rPr>
                        <a:t>(0‐1)</a:t>
                      </a:r>
                      <a:endParaRPr sz="1500">
                        <a:latin typeface="Calibri"/>
                        <a:cs typeface="Calibri"/>
                      </a:endParaRPr>
                    </a:p>
                  </a:txBody>
                  <a:tcPr marL="0" marR="0" marT="15240" marB="0">
                    <a:solidFill>
                      <a:srgbClr val="D8E4BC"/>
                    </a:solidFill>
                  </a:tcPr>
                </a:tc>
                <a:tc>
                  <a:txBody>
                    <a:bodyPr/>
                    <a:lstStyle/>
                    <a:p>
                      <a:pPr marR="42545" algn="r">
                        <a:lnSpc>
                          <a:spcPts val="1789"/>
                        </a:lnSpc>
                        <a:spcBef>
                          <a:spcPts val="120"/>
                        </a:spcBef>
                      </a:pPr>
                      <a:r>
                        <a:rPr sz="1500" b="1" spc="30" dirty="0">
                          <a:latin typeface="Calibri"/>
                          <a:cs typeface="Calibri"/>
                        </a:rPr>
                        <a:t>z</a:t>
                      </a:r>
                      <a:r>
                        <a:rPr sz="1500" b="1" spc="10" dirty="0">
                          <a:latin typeface="Calibri"/>
                          <a:cs typeface="Calibri"/>
                        </a:rPr>
                        <a:t>‐</a:t>
                      </a:r>
                      <a:r>
                        <a:rPr sz="1500" b="1" spc="35" dirty="0">
                          <a:latin typeface="Calibri"/>
                          <a:cs typeface="Calibri"/>
                        </a:rPr>
                        <a:t>s</a:t>
                      </a:r>
                      <a:r>
                        <a:rPr sz="1500" b="1" dirty="0">
                          <a:latin typeface="Calibri"/>
                          <a:cs typeface="Calibri"/>
                        </a:rPr>
                        <a:t>c</a:t>
                      </a:r>
                      <a:r>
                        <a:rPr sz="1500" b="1" spc="-20" dirty="0">
                          <a:latin typeface="Calibri"/>
                          <a:cs typeface="Calibri"/>
                        </a:rPr>
                        <a:t>o</a:t>
                      </a:r>
                      <a:r>
                        <a:rPr sz="1500" b="1" spc="15" dirty="0">
                          <a:latin typeface="Calibri"/>
                          <a:cs typeface="Calibri"/>
                        </a:rPr>
                        <a:t>r</a:t>
                      </a:r>
                      <a:r>
                        <a:rPr sz="1500" b="1" dirty="0">
                          <a:latin typeface="Calibri"/>
                          <a:cs typeface="Calibri"/>
                        </a:rPr>
                        <a:t>e</a:t>
                      </a:r>
                      <a:endParaRPr sz="1500">
                        <a:latin typeface="Calibri"/>
                        <a:cs typeface="Calibri"/>
                      </a:endParaRPr>
                    </a:p>
                  </a:txBody>
                  <a:tcPr marL="0" marR="0" marT="15240" marB="0">
                    <a:solidFill>
                      <a:srgbClr val="D8E4BC"/>
                    </a:solidFill>
                  </a:tcPr>
                </a:tc>
                <a:tc>
                  <a:txBody>
                    <a:bodyPr/>
                    <a:lstStyle/>
                    <a:p>
                      <a:pPr marL="10160" algn="ctr">
                        <a:lnSpc>
                          <a:spcPts val="1789"/>
                        </a:lnSpc>
                        <a:spcBef>
                          <a:spcPts val="120"/>
                        </a:spcBef>
                      </a:pPr>
                      <a:r>
                        <a:rPr sz="1500" b="1" spc="15" dirty="0">
                          <a:latin typeface="Calibri"/>
                          <a:cs typeface="Calibri"/>
                        </a:rPr>
                        <a:t>dec.</a:t>
                      </a:r>
                      <a:r>
                        <a:rPr sz="1500" b="1" spc="-70" dirty="0">
                          <a:latin typeface="Calibri"/>
                          <a:cs typeface="Calibri"/>
                        </a:rPr>
                        <a:t> </a:t>
                      </a:r>
                      <a:r>
                        <a:rPr sz="1500" b="1" spc="15" dirty="0">
                          <a:latin typeface="Calibri"/>
                          <a:cs typeface="Calibri"/>
                        </a:rPr>
                        <a:t>scaling</a:t>
                      </a:r>
                      <a:endParaRPr sz="1500">
                        <a:latin typeface="Calibri"/>
                        <a:cs typeface="Calibri"/>
                      </a:endParaRPr>
                    </a:p>
                  </a:txBody>
                  <a:tcPr marL="0" marR="0" marT="15240" marB="0">
                    <a:solidFill>
                      <a:srgbClr val="D8E4BC"/>
                    </a:solidFill>
                  </a:tcPr>
                </a:tc>
                <a:extLst>
                  <a:ext uri="{0D108BD9-81ED-4DB2-BD59-A6C34878D82A}">
                    <a16:rowId xmlns:a16="http://schemas.microsoft.com/office/drawing/2014/main" val="10000"/>
                  </a:ext>
                </a:extLst>
              </a:tr>
              <a:tr h="284854">
                <a:tc>
                  <a:txBody>
                    <a:bodyPr/>
                    <a:lstStyle/>
                    <a:p>
                      <a:pPr marL="10795" algn="ctr">
                        <a:lnSpc>
                          <a:spcPct val="100000"/>
                        </a:lnSpc>
                        <a:spcBef>
                          <a:spcPts val="120"/>
                        </a:spcBef>
                      </a:pPr>
                      <a:r>
                        <a:rPr sz="1500" spc="35" dirty="0">
                          <a:latin typeface="Calibri"/>
                          <a:cs typeface="Calibri"/>
                        </a:rPr>
                        <a:t>44</a:t>
                      </a:r>
                      <a:endParaRPr sz="1500">
                        <a:latin typeface="Calibri"/>
                        <a:cs typeface="Calibri"/>
                      </a:endParaRPr>
                    </a:p>
                  </a:txBody>
                  <a:tcPr marL="0" marR="0" marT="15240" marB="0">
                    <a:solidFill>
                      <a:srgbClr val="EBF1DE"/>
                    </a:solidFill>
                  </a:tcPr>
                </a:tc>
                <a:tc>
                  <a:txBody>
                    <a:bodyPr/>
                    <a:lstStyle/>
                    <a:p>
                      <a:pPr marL="1270" algn="ctr">
                        <a:lnSpc>
                          <a:spcPct val="100000"/>
                        </a:lnSpc>
                        <a:spcBef>
                          <a:spcPts val="120"/>
                        </a:spcBef>
                      </a:pPr>
                      <a:r>
                        <a:rPr sz="1500" spc="35" dirty="0">
                          <a:latin typeface="Calibri"/>
                          <a:cs typeface="Calibri"/>
                        </a:rPr>
                        <a:t>0.421</a:t>
                      </a:r>
                      <a:endParaRPr sz="1500">
                        <a:latin typeface="Calibri"/>
                        <a:cs typeface="Calibri"/>
                      </a:endParaRPr>
                    </a:p>
                  </a:txBody>
                  <a:tcPr marL="0" marR="0" marT="15240" marB="0">
                    <a:solidFill>
                      <a:srgbClr val="EBF1DE"/>
                    </a:solidFill>
                  </a:tcPr>
                </a:tc>
                <a:tc>
                  <a:txBody>
                    <a:bodyPr/>
                    <a:lstStyle/>
                    <a:p>
                      <a:pPr marR="99060" algn="r">
                        <a:lnSpc>
                          <a:spcPct val="100000"/>
                        </a:lnSpc>
                        <a:spcBef>
                          <a:spcPts val="120"/>
                        </a:spcBef>
                      </a:pPr>
                      <a:r>
                        <a:rPr sz="1500" spc="25" dirty="0">
                          <a:latin typeface="Calibri"/>
                          <a:cs typeface="Calibri"/>
                        </a:rPr>
                        <a:t>0</a:t>
                      </a:r>
                      <a:r>
                        <a:rPr sz="1500" spc="15" dirty="0">
                          <a:latin typeface="Calibri"/>
                          <a:cs typeface="Calibri"/>
                        </a:rPr>
                        <a:t>.</a:t>
                      </a:r>
                      <a:r>
                        <a:rPr sz="1500" spc="25" dirty="0">
                          <a:latin typeface="Calibri"/>
                          <a:cs typeface="Calibri"/>
                        </a:rPr>
                        <a:t>450</a:t>
                      </a:r>
                      <a:endParaRPr sz="1500">
                        <a:latin typeface="Calibri"/>
                        <a:cs typeface="Calibri"/>
                      </a:endParaRPr>
                    </a:p>
                  </a:txBody>
                  <a:tcPr marL="0" marR="0" marT="15240" marB="0">
                    <a:solidFill>
                      <a:srgbClr val="EBF1DE"/>
                    </a:solidFill>
                  </a:tcPr>
                </a:tc>
                <a:tc>
                  <a:txBody>
                    <a:bodyPr/>
                    <a:lstStyle/>
                    <a:p>
                      <a:pPr marL="10160" algn="ctr">
                        <a:lnSpc>
                          <a:spcPct val="100000"/>
                        </a:lnSpc>
                        <a:spcBef>
                          <a:spcPts val="120"/>
                        </a:spcBef>
                      </a:pPr>
                      <a:r>
                        <a:rPr sz="1500" spc="35" dirty="0">
                          <a:latin typeface="Calibri"/>
                          <a:cs typeface="Calibri"/>
                        </a:rPr>
                        <a:t>0.44</a:t>
                      </a:r>
                      <a:endParaRPr sz="1500">
                        <a:latin typeface="Calibri"/>
                        <a:cs typeface="Calibri"/>
                      </a:endParaRPr>
                    </a:p>
                  </a:txBody>
                  <a:tcPr marL="0" marR="0" marT="15240" marB="0">
                    <a:solidFill>
                      <a:srgbClr val="EBF1DE"/>
                    </a:solidFill>
                  </a:tcPr>
                </a:tc>
                <a:extLst>
                  <a:ext uri="{0D108BD9-81ED-4DB2-BD59-A6C34878D82A}">
                    <a16:rowId xmlns:a16="http://schemas.microsoft.com/office/drawing/2014/main" val="10001"/>
                  </a:ext>
                </a:extLst>
              </a:tr>
              <a:tr h="255274">
                <a:tc>
                  <a:txBody>
                    <a:bodyPr/>
                    <a:lstStyle/>
                    <a:p>
                      <a:pPr marL="10795" algn="ctr">
                        <a:lnSpc>
                          <a:spcPts val="1685"/>
                        </a:lnSpc>
                      </a:pPr>
                      <a:r>
                        <a:rPr sz="1500" spc="35" dirty="0">
                          <a:latin typeface="Calibri"/>
                          <a:cs typeface="Calibri"/>
                        </a:rPr>
                        <a:t>35</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0.184</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450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0.35</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2"/>
                  </a:ext>
                </a:extLst>
              </a:tr>
              <a:tr h="255653">
                <a:tc>
                  <a:txBody>
                    <a:bodyPr/>
                    <a:lstStyle/>
                    <a:p>
                      <a:pPr marL="10795" algn="ctr">
                        <a:lnSpc>
                          <a:spcPts val="1685"/>
                        </a:lnSpc>
                      </a:pPr>
                      <a:r>
                        <a:rPr sz="1500" spc="35" dirty="0">
                          <a:latin typeface="Calibri"/>
                          <a:cs typeface="Calibri"/>
                        </a:rPr>
                        <a:t>34</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0.158</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550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0.34</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3"/>
                  </a:ext>
                </a:extLst>
              </a:tr>
              <a:tr h="255653">
                <a:tc>
                  <a:txBody>
                    <a:bodyPr/>
                    <a:lstStyle/>
                    <a:p>
                      <a:pPr marL="10795" algn="ctr">
                        <a:lnSpc>
                          <a:spcPts val="1689"/>
                        </a:lnSpc>
                      </a:pPr>
                      <a:r>
                        <a:rPr sz="1500" spc="35" dirty="0">
                          <a:latin typeface="Calibri"/>
                          <a:cs typeface="Calibri"/>
                        </a:rPr>
                        <a:t>34</a:t>
                      </a:r>
                      <a:endParaRPr sz="1500">
                        <a:latin typeface="Calibri"/>
                        <a:cs typeface="Calibri"/>
                      </a:endParaRPr>
                    </a:p>
                  </a:txBody>
                  <a:tcPr marL="0" marR="0" marT="0" marB="0">
                    <a:solidFill>
                      <a:srgbClr val="EBF1DE"/>
                    </a:solidFill>
                  </a:tcPr>
                </a:tc>
                <a:tc>
                  <a:txBody>
                    <a:bodyPr/>
                    <a:lstStyle/>
                    <a:p>
                      <a:pPr marL="1270" algn="ctr">
                        <a:lnSpc>
                          <a:spcPts val="1689"/>
                        </a:lnSpc>
                      </a:pPr>
                      <a:r>
                        <a:rPr sz="1500" spc="35" dirty="0">
                          <a:latin typeface="Calibri"/>
                          <a:cs typeface="Calibri"/>
                        </a:rPr>
                        <a:t>0.158</a:t>
                      </a:r>
                      <a:endParaRPr sz="1500">
                        <a:latin typeface="Calibri"/>
                        <a:cs typeface="Calibri"/>
                      </a:endParaRPr>
                    </a:p>
                  </a:txBody>
                  <a:tcPr marL="0" marR="0" marT="0" marB="0">
                    <a:solidFill>
                      <a:srgbClr val="EBF1DE"/>
                    </a:solidFill>
                  </a:tcPr>
                </a:tc>
                <a:tc>
                  <a:txBody>
                    <a:bodyPr/>
                    <a:lstStyle/>
                    <a:p>
                      <a:pPr marR="68580" algn="r">
                        <a:lnSpc>
                          <a:spcPts val="1689"/>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550</a:t>
                      </a:r>
                      <a:endParaRPr sz="1500">
                        <a:latin typeface="Calibri"/>
                        <a:cs typeface="Calibri"/>
                      </a:endParaRPr>
                    </a:p>
                  </a:txBody>
                  <a:tcPr marL="0" marR="0" marT="0" marB="0">
                    <a:solidFill>
                      <a:srgbClr val="EBF1DE"/>
                    </a:solidFill>
                  </a:tcPr>
                </a:tc>
                <a:tc>
                  <a:txBody>
                    <a:bodyPr/>
                    <a:lstStyle/>
                    <a:p>
                      <a:pPr marL="9525" algn="ctr">
                        <a:lnSpc>
                          <a:spcPts val="1689"/>
                        </a:lnSpc>
                      </a:pPr>
                      <a:r>
                        <a:rPr sz="1500" spc="35" dirty="0">
                          <a:latin typeface="Calibri"/>
                          <a:cs typeface="Calibri"/>
                        </a:rPr>
                        <a:t>0.34</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4"/>
                  </a:ext>
                </a:extLst>
              </a:tr>
              <a:tr h="255274">
                <a:tc>
                  <a:txBody>
                    <a:bodyPr/>
                    <a:lstStyle/>
                    <a:p>
                      <a:pPr marL="10795" algn="ctr">
                        <a:lnSpc>
                          <a:spcPts val="1685"/>
                        </a:lnSpc>
                      </a:pPr>
                      <a:r>
                        <a:rPr sz="1500" spc="35" dirty="0">
                          <a:latin typeface="Calibri"/>
                          <a:cs typeface="Calibri"/>
                        </a:rPr>
                        <a:t>39</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0.289</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050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0.39</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5"/>
                  </a:ext>
                </a:extLst>
              </a:tr>
              <a:tr h="255274">
                <a:tc>
                  <a:txBody>
                    <a:bodyPr/>
                    <a:lstStyle/>
                    <a:p>
                      <a:pPr marL="10795" algn="ctr">
                        <a:lnSpc>
                          <a:spcPts val="1685"/>
                        </a:lnSpc>
                      </a:pPr>
                      <a:r>
                        <a:rPr sz="1500" spc="35" dirty="0">
                          <a:latin typeface="Calibri"/>
                          <a:cs typeface="Calibri"/>
                        </a:rPr>
                        <a:t>41</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0.342</a:t>
                      </a:r>
                      <a:endParaRPr sz="1500">
                        <a:latin typeface="Calibri"/>
                        <a:cs typeface="Calibri"/>
                      </a:endParaRPr>
                    </a:p>
                  </a:txBody>
                  <a:tcPr marL="0" marR="0" marT="0" marB="0">
                    <a:solidFill>
                      <a:srgbClr val="EBF1DE"/>
                    </a:solidFill>
                  </a:tcPr>
                </a:tc>
                <a:tc>
                  <a:txBody>
                    <a:bodyPr/>
                    <a:lstStyle/>
                    <a:p>
                      <a:pPr marR="99060" algn="r">
                        <a:lnSpc>
                          <a:spcPts val="1685"/>
                        </a:lnSpc>
                      </a:pPr>
                      <a:r>
                        <a:rPr sz="1500" spc="25" dirty="0">
                          <a:latin typeface="Calibri"/>
                          <a:cs typeface="Calibri"/>
                        </a:rPr>
                        <a:t>0</a:t>
                      </a:r>
                      <a:r>
                        <a:rPr sz="1500" spc="15" dirty="0">
                          <a:latin typeface="Calibri"/>
                          <a:cs typeface="Calibri"/>
                        </a:rPr>
                        <a:t>.</a:t>
                      </a:r>
                      <a:r>
                        <a:rPr sz="1500" spc="25" dirty="0">
                          <a:latin typeface="Calibri"/>
                          <a:cs typeface="Calibri"/>
                        </a:rPr>
                        <a:t>150</a:t>
                      </a:r>
                      <a:endParaRPr sz="1500">
                        <a:latin typeface="Calibri"/>
                        <a:cs typeface="Calibri"/>
                      </a:endParaRPr>
                    </a:p>
                  </a:txBody>
                  <a:tcPr marL="0" marR="0" marT="0" marB="0">
                    <a:solidFill>
                      <a:srgbClr val="EBF1DE"/>
                    </a:solidFill>
                  </a:tcPr>
                </a:tc>
                <a:tc>
                  <a:txBody>
                    <a:bodyPr/>
                    <a:lstStyle/>
                    <a:p>
                      <a:pPr marL="10160" algn="ctr">
                        <a:lnSpc>
                          <a:spcPts val="1685"/>
                        </a:lnSpc>
                      </a:pPr>
                      <a:r>
                        <a:rPr sz="1500" spc="35" dirty="0">
                          <a:latin typeface="Calibri"/>
                          <a:cs typeface="Calibri"/>
                        </a:rPr>
                        <a:t>0.41</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6"/>
                  </a:ext>
                </a:extLst>
              </a:tr>
              <a:tr h="255274">
                <a:tc>
                  <a:txBody>
                    <a:bodyPr/>
                    <a:lstStyle/>
                    <a:p>
                      <a:pPr marL="10795" algn="ctr">
                        <a:lnSpc>
                          <a:spcPts val="1685"/>
                        </a:lnSpc>
                      </a:pPr>
                      <a:r>
                        <a:rPr sz="1500" spc="35" dirty="0">
                          <a:latin typeface="Calibri"/>
                          <a:cs typeface="Calibri"/>
                        </a:rPr>
                        <a:t>42</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0.368</a:t>
                      </a:r>
                      <a:endParaRPr sz="1500">
                        <a:latin typeface="Calibri"/>
                        <a:cs typeface="Calibri"/>
                      </a:endParaRPr>
                    </a:p>
                  </a:txBody>
                  <a:tcPr marL="0" marR="0" marT="0" marB="0">
                    <a:solidFill>
                      <a:srgbClr val="EBF1DE"/>
                    </a:solidFill>
                  </a:tcPr>
                </a:tc>
                <a:tc>
                  <a:txBody>
                    <a:bodyPr/>
                    <a:lstStyle/>
                    <a:p>
                      <a:pPr marR="99060" algn="r">
                        <a:lnSpc>
                          <a:spcPts val="1685"/>
                        </a:lnSpc>
                      </a:pPr>
                      <a:r>
                        <a:rPr sz="1500" spc="25" dirty="0">
                          <a:latin typeface="Calibri"/>
                          <a:cs typeface="Calibri"/>
                        </a:rPr>
                        <a:t>0</a:t>
                      </a:r>
                      <a:r>
                        <a:rPr sz="1500" spc="15" dirty="0">
                          <a:latin typeface="Calibri"/>
                          <a:cs typeface="Calibri"/>
                        </a:rPr>
                        <a:t>.</a:t>
                      </a:r>
                      <a:r>
                        <a:rPr sz="1500" spc="25" dirty="0">
                          <a:latin typeface="Calibri"/>
                          <a:cs typeface="Calibri"/>
                        </a:rPr>
                        <a:t>250</a:t>
                      </a:r>
                      <a:endParaRPr sz="1500">
                        <a:latin typeface="Calibri"/>
                        <a:cs typeface="Calibri"/>
                      </a:endParaRPr>
                    </a:p>
                  </a:txBody>
                  <a:tcPr marL="0" marR="0" marT="0" marB="0">
                    <a:solidFill>
                      <a:srgbClr val="EBF1DE"/>
                    </a:solidFill>
                  </a:tcPr>
                </a:tc>
                <a:tc>
                  <a:txBody>
                    <a:bodyPr/>
                    <a:lstStyle/>
                    <a:p>
                      <a:pPr marL="10160" algn="ctr">
                        <a:lnSpc>
                          <a:spcPts val="1685"/>
                        </a:lnSpc>
                      </a:pPr>
                      <a:r>
                        <a:rPr sz="1500" spc="35" dirty="0">
                          <a:latin typeface="Calibri"/>
                          <a:cs typeface="Calibri"/>
                        </a:rPr>
                        <a:t>0.42</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7"/>
                  </a:ext>
                </a:extLst>
              </a:tr>
              <a:tr h="255274">
                <a:tc>
                  <a:txBody>
                    <a:bodyPr/>
                    <a:lstStyle/>
                    <a:p>
                      <a:pPr marL="10795" algn="ctr">
                        <a:lnSpc>
                          <a:spcPts val="1685"/>
                        </a:lnSpc>
                      </a:pPr>
                      <a:r>
                        <a:rPr sz="1500" spc="35" dirty="0">
                          <a:latin typeface="Calibri"/>
                          <a:cs typeface="Calibri"/>
                        </a:rPr>
                        <a:t>31</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0.079</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849</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0.31</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8"/>
                  </a:ext>
                </a:extLst>
              </a:tr>
              <a:tr h="255653">
                <a:tc>
                  <a:txBody>
                    <a:bodyPr/>
                    <a:lstStyle/>
                    <a:p>
                      <a:pPr marL="10795" algn="ctr">
                        <a:lnSpc>
                          <a:spcPts val="1685"/>
                        </a:lnSpc>
                      </a:pPr>
                      <a:r>
                        <a:rPr sz="1500" spc="35" dirty="0">
                          <a:latin typeface="Calibri"/>
                          <a:cs typeface="Calibri"/>
                        </a:rPr>
                        <a:t>28</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0.000</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1</a:t>
                      </a:r>
                      <a:r>
                        <a:rPr sz="1500" spc="15" dirty="0">
                          <a:latin typeface="Calibri"/>
                          <a:cs typeface="Calibri"/>
                        </a:rPr>
                        <a:t>.</a:t>
                      </a:r>
                      <a:r>
                        <a:rPr sz="1500" spc="25" dirty="0">
                          <a:latin typeface="Calibri"/>
                          <a:cs typeface="Calibri"/>
                        </a:rPr>
                        <a:t>149</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0.28</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09"/>
                  </a:ext>
                </a:extLst>
              </a:tr>
              <a:tr h="255653">
                <a:tc>
                  <a:txBody>
                    <a:bodyPr/>
                    <a:lstStyle/>
                    <a:p>
                      <a:pPr marL="10795" algn="ctr">
                        <a:lnSpc>
                          <a:spcPts val="1689"/>
                        </a:lnSpc>
                      </a:pPr>
                      <a:r>
                        <a:rPr sz="1500" spc="35" dirty="0">
                          <a:latin typeface="Calibri"/>
                          <a:cs typeface="Calibri"/>
                        </a:rPr>
                        <a:t>30</a:t>
                      </a:r>
                      <a:endParaRPr sz="1500">
                        <a:latin typeface="Calibri"/>
                        <a:cs typeface="Calibri"/>
                      </a:endParaRPr>
                    </a:p>
                  </a:txBody>
                  <a:tcPr marL="0" marR="0" marT="0" marB="0">
                    <a:solidFill>
                      <a:srgbClr val="EBF1DE"/>
                    </a:solidFill>
                  </a:tcPr>
                </a:tc>
                <a:tc>
                  <a:txBody>
                    <a:bodyPr/>
                    <a:lstStyle/>
                    <a:p>
                      <a:pPr marL="1270" algn="ctr">
                        <a:lnSpc>
                          <a:spcPts val="1689"/>
                        </a:lnSpc>
                      </a:pPr>
                      <a:r>
                        <a:rPr sz="1500" spc="35" dirty="0">
                          <a:latin typeface="Calibri"/>
                          <a:cs typeface="Calibri"/>
                        </a:rPr>
                        <a:t>0.053</a:t>
                      </a:r>
                      <a:endParaRPr sz="1500">
                        <a:latin typeface="Calibri"/>
                        <a:cs typeface="Calibri"/>
                      </a:endParaRPr>
                    </a:p>
                  </a:txBody>
                  <a:tcPr marL="0" marR="0" marT="0" marB="0">
                    <a:solidFill>
                      <a:srgbClr val="EBF1DE"/>
                    </a:solidFill>
                  </a:tcPr>
                </a:tc>
                <a:tc>
                  <a:txBody>
                    <a:bodyPr/>
                    <a:lstStyle/>
                    <a:p>
                      <a:pPr marR="68580" algn="r">
                        <a:lnSpc>
                          <a:spcPts val="1689"/>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949</a:t>
                      </a:r>
                      <a:endParaRPr sz="1500">
                        <a:latin typeface="Calibri"/>
                        <a:cs typeface="Calibri"/>
                      </a:endParaRPr>
                    </a:p>
                  </a:txBody>
                  <a:tcPr marL="0" marR="0" marT="0" marB="0">
                    <a:solidFill>
                      <a:srgbClr val="EBF1DE"/>
                    </a:solidFill>
                  </a:tcPr>
                </a:tc>
                <a:tc>
                  <a:txBody>
                    <a:bodyPr/>
                    <a:lstStyle/>
                    <a:p>
                      <a:pPr marL="5715" algn="ctr">
                        <a:lnSpc>
                          <a:spcPts val="1689"/>
                        </a:lnSpc>
                      </a:pPr>
                      <a:r>
                        <a:rPr sz="1500" spc="25" dirty="0">
                          <a:latin typeface="Calibri"/>
                          <a:cs typeface="Calibri"/>
                        </a:rPr>
                        <a:t>0.3</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0"/>
                  </a:ext>
                </a:extLst>
              </a:tr>
              <a:tr h="255274">
                <a:tc>
                  <a:txBody>
                    <a:bodyPr/>
                    <a:lstStyle/>
                    <a:p>
                      <a:pPr marL="10795" algn="ctr">
                        <a:lnSpc>
                          <a:spcPts val="1685"/>
                        </a:lnSpc>
                      </a:pPr>
                      <a:r>
                        <a:rPr sz="1500" spc="35" dirty="0">
                          <a:latin typeface="Calibri"/>
                          <a:cs typeface="Calibri"/>
                        </a:rPr>
                        <a:t>38</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0.263</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150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0.38</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1"/>
                  </a:ext>
                </a:extLst>
              </a:tr>
              <a:tr h="255274">
                <a:tc>
                  <a:txBody>
                    <a:bodyPr/>
                    <a:lstStyle/>
                    <a:p>
                      <a:pPr marL="10795" algn="ctr">
                        <a:lnSpc>
                          <a:spcPts val="1685"/>
                        </a:lnSpc>
                      </a:pPr>
                      <a:r>
                        <a:rPr sz="1500" spc="35" dirty="0">
                          <a:latin typeface="Calibri"/>
                          <a:cs typeface="Calibri"/>
                        </a:rPr>
                        <a:t>36</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0.211</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350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0.36</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2"/>
                  </a:ext>
                </a:extLst>
              </a:tr>
              <a:tr h="255274">
                <a:tc>
                  <a:txBody>
                    <a:bodyPr/>
                    <a:lstStyle/>
                    <a:p>
                      <a:pPr marL="10795" algn="ctr">
                        <a:lnSpc>
                          <a:spcPts val="1685"/>
                        </a:lnSpc>
                      </a:pPr>
                      <a:r>
                        <a:rPr sz="1500" spc="35" dirty="0">
                          <a:latin typeface="Calibri"/>
                          <a:cs typeface="Calibri"/>
                        </a:rPr>
                        <a:t>42</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0.368</a:t>
                      </a:r>
                      <a:endParaRPr sz="1500">
                        <a:latin typeface="Calibri"/>
                        <a:cs typeface="Calibri"/>
                      </a:endParaRPr>
                    </a:p>
                  </a:txBody>
                  <a:tcPr marL="0" marR="0" marT="0" marB="0">
                    <a:solidFill>
                      <a:srgbClr val="EBF1DE"/>
                    </a:solidFill>
                  </a:tcPr>
                </a:tc>
                <a:tc>
                  <a:txBody>
                    <a:bodyPr/>
                    <a:lstStyle/>
                    <a:p>
                      <a:pPr marR="99060" algn="r">
                        <a:lnSpc>
                          <a:spcPts val="1685"/>
                        </a:lnSpc>
                      </a:pPr>
                      <a:r>
                        <a:rPr sz="1500" spc="25" dirty="0">
                          <a:latin typeface="Calibri"/>
                          <a:cs typeface="Calibri"/>
                        </a:rPr>
                        <a:t>0</a:t>
                      </a:r>
                      <a:r>
                        <a:rPr sz="1500" spc="15" dirty="0">
                          <a:latin typeface="Calibri"/>
                          <a:cs typeface="Calibri"/>
                        </a:rPr>
                        <a:t>.</a:t>
                      </a:r>
                      <a:r>
                        <a:rPr sz="1500" spc="25" dirty="0">
                          <a:latin typeface="Calibri"/>
                          <a:cs typeface="Calibri"/>
                        </a:rPr>
                        <a:t>250</a:t>
                      </a:r>
                      <a:endParaRPr sz="1500">
                        <a:latin typeface="Calibri"/>
                        <a:cs typeface="Calibri"/>
                      </a:endParaRPr>
                    </a:p>
                  </a:txBody>
                  <a:tcPr marL="0" marR="0" marT="0" marB="0">
                    <a:solidFill>
                      <a:srgbClr val="EBF1DE"/>
                    </a:solidFill>
                  </a:tcPr>
                </a:tc>
                <a:tc>
                  <a:txBody>
                    <a:bodyPr/>
                    <a:lstStyle/>
                    <a:p>
                      <a:pPr marL="10160" algn="ctr">
                        <a:lnSpc>
                          <a:spcPts val="1685"/>
                        </a:lnSpc>
                      </a:pPr>
                      <a:r>
                        <a:rPr sz="1500" spc="35" dirty="0">
                          <a:latin typeface="Calibri"/>
                          <a:cs typeface="Calibri"/>
                        </a:rPr>
                        <a:t>0.42</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3"/>
                  </a:ext>
                </a:extLst>
              </a:tr>
              <a:tr h="255653">
                <a:tc>
                  <a:txBody>
                    <a:bodyPr/>
                    <a:lstStyle/>
                    <a:p>
                      <a:pPr marL="10795" algn="ctr">
                        <a:lnSpc>
                          <a:spcPts val="1685"/>
                        </a:lnSpc>
                      </a:pPr>
                      <a:r>
                        <a:rPr sz="1500" spc="35" dirty="0">
                          <a:latin typeface="Calibri"/>
                          <a:cs typeface="Calibri"/>
                        </a:rPr>
                        <a:t>35</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0.184</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450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0.35</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4"/>
                  </a:ext>
                </a:extLst>
              </a:tr>
              <a:tr h="255653">
                <a:tc>
                  <a:txBody>
                    <a:bodyPr/>
                    <a:lstStyle/>
                    <a:p>
                      <a:pPr marL="10795" algn="ctr">
                        <a:lnSpc>
                          <a:spcPts val="1689"/>
                        </a:lnSpc>
                      </a:pPr>
                      <a:r>
                        <a:rPr sz="1500" spc="35" dirty="0">
                          <a:latin typeface="Calibri"/>
                          <a:cs typeface="Calibri"/>
                        </a:rPr>
                        <a:t>33</a:t>
                      </a:r>
                      <a:endParaRPr sz="1500">
                        <a:latin typeface="Calibri"/>
                        <a:cs typeface="Calibri"/>
                      </a:endParaRPr>
                    </a:p>
                  </a:txBody>
                  <a:tcPr marL="0" marR="0" marT="0" marB="0">
                    <a:solidFill>
                      <a:srgbClr val="EBF1DE"/>
                    </a:solidFill>
                  </a:tcPr>
                </a:tc>
                <a:tc>
                  <a:txBody>
                    <a:bodyPr/>
                    <a:lstStyle/>
                    <a:p>
                      <a:pPr marL="1270" algn="ctr">
                        <a:lnSpc>
                          <a:spcPts val="1689"/>
                        </a:lnSpc>
                      </a:pPr>
                      <a:r>
                        <a:rPr sz="1500" spc="35" dirty="0">
                          <a:latin typeface="Calibri"/>
                          <a:cs typeface="Calibri"/>
                        </a:rPr>
                        <a:t>0.132</a:t>
                      </a:r>
                      <a:endParaRPr sz="1500">
                        <a:latin typeface="Calibri"/>
                        <a:cs typeface="Calibri"/>
                      </a:endParaRPr>
                    </a:p>
                  </a:txBody>
                  <a:tcPr marL="0" marR="0" marT="0" marB="0">
                    <a:solidFill>
                      <a:srgbClr val="EBF1DE"/>
                    </a:solidFill>
                  </a:tcPr>
                </a:tc>
                <a:tc>
                  <a:txBody>
                    <a:bodyPr/>
                    <a:lstStyle/>
                    <a:p>
                      <a:pPr marR="68580" algn="r">
                        <a:lnSpc>
                          <a:spcPts val="1689"/>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649</a:t>
                      </a:r>
                      <a:endParaRPr sz="1500">
                        <a:latin typeface="Calibri"/>
                        <a:cs typeface="Calibri"/>
                      </a:endParaRPr>
                    </a:p>
                  </a:txBody>
                  <a:tcPr marL="0" marR="0" marT="0" marB="0">
                    <a:solidFill>
                      <a:srgbClr val="EBF1DE"/>
                    </a:solidFill>
                  </a:tcPr>
                </a:tc>
                <a:tc>
                  <a:txBody>
                    <a:bodyPr/>
                    <a:lstStyle/>
                    <a:p>
                      <a:pPr marL="9525" algn="ctr">
                        <a:lnSpc>
                          <a:spcPts val="1689"/>
                        </a:lnSpc>
                      </a:pPr>
                      <a:r>
                        <a:rPr sz="1500" spc="35" dirty="0">
                          <a:latin typeface="Calibri"/>
                          <a:cs typeface="Calibri"/>
                        </a:rPr>
                        <a:t>0.33</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5"/>
                  </a:ext>
                </a:extLst>
              </a:tr>
              <a:tr h="255274">
                <a:tc>
                  <a:txBody>
                    <a:bodyPr/>
                    <a:lstStyle/>
                    <a:p>
                      <a:pPr marL="10795" algn="ctr">
                        <a:lnSpc>
                          <a:spcPts val="1685"/>
                        </a:lnSpc>
                      </a:pPr>
                      <a:r>
                        <a:rPr sz="1500" spc="35" dirty="0">
                          <a:latin typeface="Calibri"/>
                          <a:cs typeface="Calibri"/>
                        </a:rPr>
                        <a:t>45</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0.447</a:t>
                      </a:r>
                      <a:endParaRPr sz="1500">
                        <a:latin typeface="Calibri"/>
                        <a:cs typeface="Calibri"/>
                      </a:endParaRPr>
                    </a:p>
                  </a:txBody>
                  <a:tcPr marL="0" marR="0" marT="0" marB="0">
                    <a:solidFill>
                      <a:srgbClr val="EBF1DE"/>
                    </a:solidFill>
                  </a:tcPr>
                </a:tc>
                <a:tc>
                  <a:txBody>
                    <a:bodyPr/>
                    <a:lstStyle/>
                    <a:p>
                      <a:pPr marR="99060" algn="r">
                        <a:lnSpc>
                          <a:spcPts val="1685"/>
                        </a:lnSpc>
                      </a:pPr>
                      <a:r>
                        <a:rPr sz="1500" spc="25" dirty="0">
                          <a:latin typeface="Calibri"/>
                          <a:cs typeface="Calibri"/>
                        </a:rPr>
                        <a:t>0</a:t>
                      </a:r>
                      <a:r>
                        <a:rPr sz="1500" spc="15" dirty="0">
                          <a:latin typeface="Calibri"/>
                          <a:cs typeface="Calibri"/>
                        </a:rPr>
                        <a:t>.</a:t>
                      </a:r>
                      <a:r>
                        <a:rPr sz="1500" spc="25" dirty="0">
                          <a:latin typeface="Calibri"/>
                          <a:cs typeface="Calibri"/>
                        </a:rPr>
                        <a:t>550</a:t>
                      </a:r>
                      <a:endParaRPr sz="1500">
                        <a:latin typeface="Calibri"/>
                        <a:cs typeface="Calibri"/>
                      </a:endParaRPr>
                    </a:p>
                  </a:txBody>
                  <a:tcPr marL="0" marR="0" marT="0" marB="0">
                    <a:solidFill>
                      <a:srgbClr val="EBF1DE"/>
                    </a:solidFill>
                  </a:tcPr>
                </a:tc>
                <a:tc>
                  <a:txBody>
                    <a:bodyPr/>
                    <a:lstStyle/>
                    <a:p>
                      <a:pPr marL="10160" algn="ctr">
                        <a:lnSpc>
                          <a:spcPts val="1685"/>
                        </a:lnSpc>
                      </a:pPr>
                      <a:r>
                        <a:rPr sz="1500" spc="35" dirty="0">
                          <a:latin typeface="Calibri"/>
                          <a:cs typeface="Calibri"/>
                        </a:rPr>
                        <a:t>0.45</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6"/>
                  </a:ext>
                </a:extLst>
              </a:tr>
              <a:tr h="255274">
                <a:tc>
                  <a:txBody>
                    <a:bodyPr/>
                    <a:lstStyle/>
                    <a:p>
                      <a:pPr marL="10795" algn="ctr">
                        <a:lnSpc>
                          <a:spcPts val="1685"/>
                        </a:lnSpc>
                      </a:pPr>
                      <a:r>
                        <a:rPr sz="1500" spc="35" dirty="0">
                          <a:latin typeface="Calibri"/>
                          <a:cs typeface="Calibri"/>
                        </a:rPr>
                        <a:t>34</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0.158</a:t>
                      </a:r>
                      <a:endParaRPr sz="1500">
                        <a:latin typeface="Calibri"/>
                        <a:cs typeface="Calibri"/>
                      </a:endParaRPr>
                    </a:p>
                  </a:txBody>
                  <a:tcPr marL="0" marR="0" marT="0" marB="0">
                    <a:solidFill>
                      <a:srgbClr val="EBF1DE"/>
                    </a:solidFill>
                  </a:tcPr>
                </a:tc>
                <a:tc>
                  <a:txBody>
                    <a:bodyPr/>
                    <a:lstStyle/>
                    <a:p>
                      <a:pPr marR="68580" algn="r">
                        <a:lnSpc>
                          <a:spcPts val="1685"/>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550</a:t>
                      </a:r>
                      <a:endParaRPr sz="1500">
                        <a:latin typeface="Calibri"/>
                        <a:cs typeface="Calibri"/>
                      </a:endParaRPr>
                    </a:p>
                  </a:txBody>
                  <a:tcPr marL="0" marR="0" marT="0" marB="0">
                    <a:solidFill>
                      <a:srgbClr val="EBF1DE"/>
                    </a:solidFill>
                  </a:tcPr>
                </a:tc>
                <a:tc>
                  <a:txBody>
                    <a:bodyPr/>
                    <a:lstStyle/>
                    <a:p>
                      <a:pPr marL="9525" algn="ctr">
                        <a:lnSpc>
                          <a:spcPts val="1685"/>
                        </a:lnSpc>
                      </a:pPr>
                      <a:r>
                        <a:rPr sz="1500" spc="35" dirty="0">
                          <a:latin typeface="Calibri"/>
                          <a:cs typeface="Calibri"/>
                        </a:rPr>
                        <a:t>0.34</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7"/>
                  </a:ext>
                </a:extLst>
              </a:tr>
              <a:tr h="255274">
                <a:tc>
                  <a:txBody>
                    <a:bodyPr/>
                    <a:lstStyle/>
                    <a:p>
                      <a:pPr marL="10795" algn="ctr">
                        <a:lnSpc>
                          <a:spcPts val="1685"/>
                        </a:lnSpc>
                      </a:pPr>
                      <a:r>
                        <a:rPr sz="1500" spc="35" dirty="0">
                          <a:latin typeface="Calibri"/>
                          <a:cs typeface="Calibri"/>
                        </a:rPr>
                        <a:t>65</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0.974</a:t>
                      </a:r>
                      <a:endParaRPr sz="1500">
                        <a:latin typeface="Calibri"/>
                        <a:cs typeface="Calibri"/>
                      </a:endParaRPr>
                    </a:p>
                  </a:txBody>
                  <a:tcPr marL="0" marR="0" marT="0" marB="0">
                    <a:solidFill>
                      <a:srgbClr val="EBF1DE"/>
                    </a:solidFill>
                  </a:tcPr>
                </a:tc>
                <a:tc>
                  <a:txBody>
                    <a:bodyPr/>
                    <a:lstStyle/>
                    <a:p>
                      <a:pPr marR="99060" algn="r">
                        <a:lnSpc>
                          <a:spcPts val="1685"/>
                        </a:lnSpc>
                      </a:pPr>
                      <a:r>
                        <a:rPr sz="1500" spc="25" dirty="0">
                          <a:latin typeface="Calibri"/>
                          <a:cs typeface="Calibri"/>
                        </a:rPr>
                        <a:t>2</a:t>
                      </a:r>
                      <a:r>
                        <a:rPr sz="1500" spc="15" dirty="0">
                          <a:latin typeface="Calibri"/>
                          <a:cs typeface="Calibri"/>
                        </a:rPr>
                        <a:t>.</a:t>
                      </a:r>
                      <a:r>
                        <a:rPr sz="1500" spc="25" dirty="0">
                          <a:latin typeface="Calibri"/>
                          <a:cs typeface="Calibri"/>
                        </a:rPr>
                        <a:t>548</a:t>
                      </a:r>
                      <a:endParaRPr sz="1500">
                        <a:latin typeface="Calibri"/>
                        <a:cs typeface="Calibri"/>
                      </a:endParaRPr>
                    </a:p>
                  </a:txBody>
                  <a:tcPr marL="0" marR="0" marT="0" marB="0">
                    <a:solidFill>
                      <a:srgbClr val="EBF1DE"/>
                    </a:solidFill>
                  </a:tcPr>
                </a:tc>
                <a:tc>
                  <a:txBody>
                    <a:bodyPr/>
                    <a:lstStyle/>
                    <a:p>
                      <a:pPr marL="10160" algn="ctr">
                        <a:lnSpc>
                          <a:spcPts val="1685"/>
                        </a:lnSpc>
                      </a:pPr>
                      <a:r>
                        <a:rPr sz="1500" spc="35" dirty="0">
                          <a:latin typeface="Calibri"/>
                          <a:cs typeface="Calibri"/>
                        </a:rPr>
                        <a:t>0.65</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8"/>
                  </a:ext>
                </a:extLst>
              </a:tr>
              <a:tr h="255653">
                <a:tc>
                  <a:txBody>
                    <a:bodyPr/>
                    <a:lstStyle/>
                    <a:p>
                      <a:pPr marL="10795" algn="ctr">
                        <a:lnSpc>
                          <a:spcPts val="1685"/>
                        </a:lnSpc>
                      </a:pPr>
                      <a:r>
                        <a:rPr sz="1500" spc="35" dirty="0">
                          <a:latin typeface="Calibri"/>
                          <a:cs typeface="Calibri"/>
                        </a:rPr>
                        <a:t>66</a:t>
                      </a:r>
                      <a:endParaRPr sz="1500">
                        <a:latin typeface="Calibri"/>
                        <a:cs typeface="Calibri"/>
                      </a:endParaRPr>
                    </a:p>
                  </a:txBody>
                  <a:tcPr marL="0" marR="0" marT="0" marB="0">
                    <a:solidFill>
                      <a:srgbClr val="EBF1DE"/>
                    </a:solidFill>
                  </a:tcPr>
                </a:tc>
                <a:tc>
                  <a:txBody>
                    <a:bodyPr/>
                    <a:lstStyle/>
                    <a:p>
                      <a:pPr marL="1270" algn="ctr">
                        <a:lnSpc>
                          <a:spcPts val="1685"/>
                        </a:lnSpc>
                      </a:pPr>
                      <a:r>
                        <a:rPr sz="1500" spc="35" dirty="0">
                          <a:latin typeface="Calibri"/>
                          <a:cs typeface="Calibri"/>
                        </a:rPr>
                        <a:t>1.000</a:t>
                      </a:r>
                      <a:endParaRPr sz="1500">
                        <a:latin typeface="Calibri"/>
                        <a:cs typeface="Calibri"/>
                      </a:endParaRPr>
                    </a:p>
                  </a:txBody>
                  <a:tcPr marL="0" marR="0" marT="0" marB="0">
                    <a:solidFill>
                      <a:srgbClr val="EBF1DE"/>
                    </a:solidFill>
                  </a:tcPr>
                </a:tc>
                <a:tc>
                  <a:txBody>
                    <a:bodyPr/>
                    <a:lstStyle/>
                    <a:p>
                      <a:pPr marR="99060" algn="r">
                        <a:lnSpc>
                          <a:spcPts val="1685"/>
                        </a:lnSpc>
                      </a:pPr>
                      <a:r>
                        <a:rPr sz="1500" spc="25" dirty="0">
                          <a:latin typeface="Calibri"/>
                          <a:cs typeface="Calibri"/>
                        </a:rPr>
                        <a:t>2</a:t>
                      </a:r>
                      <a:r>
                        <a:rPr sz="1500" spc="15" dirty="0">
                          <a:latin typeface="Calibri"/>
                          <a:cs typeface="Calibri"/>
                        </a:rPr>
                        <a:t>.</a:t>
                      </a:r>
                      <a:r>
                        <a:rPr sz="1500" spc="25" dirty="0">
                          <a:latin typeface="Calibri"/>
                          <a:cs typeface="Calibri"/>
                        </a:rPr>
                        <a:t>648</a:t>
                      </a:r>
                      <a:endParaRPr sz="1500">
                        <a:latin typeface="Calibri"/>
                        <a:cs typeface="Calibri"/>
                      </a:endParaRPr>
                    </a:p>
                  </a:txBody>
                  <a:tcPr marL="0" marR="0" marT="0" marB="0">
                    <a:solidFill>
                      <a:srgbClr val="EBF1DE"/>
                    </a:solidFill>
                  </a:tcPr>
                </a:tc>
                <a:tc>
                  <a:txBody>
                    <a:bodyPr/>
                    <a:lstStyle/>
                    <a:p>
                      <a:pPr marL="10160" algn="ctr">
                        <a:lnSpc>
                          <a:spcPts val="1685"/>
                        </a:lnSpc>
                      </a:pPr>
                      <a:r>
                        <a:rPr sz="1500" spc="35" dirty="0">
                          <a:latin typeface="Calibri"/>
                          <a:cs typeface="Calibri"/>
                        </a:rPr>
                        <a:t>0.66</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19"/>
                  </a:ext>
                </a:extLst>
              </a:tr>
              <a:tr h="235902">
                <a:tc>
                  <a:txBody>
                    <a:bodyPr/>
                    <a:lstStyle/>
                    <a:p>
                      <a:pPr marL="10795" algn="ctr">
                        <a:lnSpc>
                          <a:spcPts val="1689"/>
                        </a:lnSpc>
                      </a:pPr>
                      <a:r>
                        <a:rPr sz="1500" spc="35" dirty="0">
                          <a:latin typeface="Calibri"/>
                          <a:cs typeface="Calibri"/>
                        </a:rPr>
                        <a:t>38</a:t>
                      </a:r>
                      <a:endParaRPr sz="1500">
                        <a:latin typeface="Calibri"/>
                        <a:cs typeface="Calibri"/>
                      </a:endParaRPr>
                    </a:p>
                  </a:txBody>
                  <a:tcPr marL="0" marR="0" marT="0" marB="0">
                    <a:solidFill>
                      <a:srgbClr val="EBF1DE"/>
                    </a:solidFill>
                  </a:tcPr>
                </a:tc>
                <a:tc>
                  <a:txBody>
                    <a:bodyPr/>
                    <a:lstStyle/>
                    <a:p>
                      <a:pPr marL="1270" algn="ctr">
                        <a:lnSpc>
                          <a:spcPts val="1689"/>
                        </a:lnSpc>
                      </a:pPr>
                      <a:r>
                        <a:rPr sz="1500" spc="35" dirty="0">
                          <a:latin typeface="Calibri"/>
                          <a:cs typeface="Calibri"/>
                        </a:rPr>
                        <a:t>0.263</a:t>
                      </a:r>
                      <a:endParaRPr sz="1500">
                        <a:latin typeface="Calibri"/>
                        <a:cs typeface="Calibri"/>
                      </a:endParaRPr>
                    </a:p>
                  </a:txBody>
                  <a:tcPr marL="0" marR="0" marT="0" marB="0">
                    <a:solidFill>
                      <a:srgbClr val="EBF1DE"/>
                    </a:solidFill>
                  </a:tcPr>
                </a:tc>
                <a:tc>
                  <a:txBody>
                    <a:bodyPr/>
                    <a:lstStyle/>
                    <a:p>
                      <a:pPr marR="68580" algn="r">
                        <a:lnSpc>
                          <a:spcPts val="1689"/>
                        </a:lnSpc>
                      </a:pPr>
                      <a:r>
                        <a:rPr sz="1500" spc="10" dirty="0">
                          <a:latin typeface="Calibri"/>
                          <a:cs typeface="Calibri"/>
                        </a:rPr>
                        <a:t>‐</a:t>
                      </a:r>
                      <a:r>
                        <a:rPr sz="1500" spc="25" dirty="0">
                          <a:latin typeface="Calibri"/>
                          <a:cs typeface="Calibri"/>
                        </a:rPr>
                        <a:t>0</a:t>
                      </a:r>
                      <a:r>
                        <a:rPr sz="1500" spc="15" dirty="0">
                          <a:latin typeface="Calibri"/>
                          <a:cs typeface="Calibri"/>
                        </a:rPr>
                        <a:t>.</a:t>
                      </a:r>
                      <a:r>
                        <a:rPr sz="1500" spc="25" dirty="0">
                          <a:latin typeface="Calibri"/>
                          <a:cs typeface="Calibri"/>
                        </a:rPr>
                        <a:t>150</a:t>
                      </a:r>
                      <a:endParaRPr sz="1500">
                        <a:latin typeface="Calibri"/>
                        <a:cs typeface="Calibri"/>
                      </a:endParaRPr>
                    </a:p>
                  </a:txBody>
                  <a:tcPr marL="0" marR="0" marT="0" marB="0">
                    <a:solidFill>
                      <a:srgbClr val="EBF1DE"/>
                    </a:solidFill>
                  </a:tcPr>
                </a:tc>
                <a:tc>
                  <a:txBody>
                    <a:bodyPr/>
                    <a:lstStyle/>
                    <a:p>
                      <a:pPr marL="9525" algn="ctr">
                        <a:lnSpc>
                          <a:spcPts val="1689"/>
                        </a:lnSpc>
                      </a:pPr>
                      <a:r>
                        <a:rPr sz="1500" spc="35" dirty="0">
                          <a:latin typeface="Calibri"/>
                          <a:cs typeface="Calibri"/>
                        </a:rPr>
                        <a:t>0.38</a:t>
                      </a:r>
                      <a:endParaRPr sz="1500">
                        <a:latin typeface="Calibri"/>
                        <a:cs typeface="Calibri"/>
                      </a:endParaRPr>
                    </a:p>
                  </a:txBody>
                  <a:tcPr marL="0" marR="0" marT="0" marB="0">
                    <a:solidFill>
                      <a:srgbClr val="EBF1DE"/>
                    </a:solidFill>
                  </a:tcPr>
                </a:tc>
                <a:extLst>
                  <a:ext uri="{0D108BD9-81ED-4DB2-BD59-A6C34878D82A}">
                    <a16:rowId xmlns:a16="http://schemas.microsoft.com/office/drawing/2014/main" val="10020"/>
                  </a:ext>
                </a:extLst>
              </a:tr>
              <a:tr h="250317">
                <a:tc>
                  <a:txBody>
                    <a:bodyPr/>
                    <a:lstStyle/>
                    <a:p>
                      <a:pPr>
                        <a:lnSpc>
                          <a:spcPct val="100000"/>
                        </a:lnSpc>
                      </a:pPr>
                      <a:endParaRPr sz="1500">
                        <a:latin typeface="Times New Roman"/>
                        <a:cs typeface="Times New Roman"/>
                      </a:endParaRPr>
                    </a:p>
                  </a:txBody>
                  <a:tcPr marL="0" marR="0" marT="0" marB="0">
                    <a:lnL w="12700">
                      <a:solidFill>
                        <a:srgbClr val="DADCDD"/>
                      </a:solidFill>
                      <a:prstDash val="solid"/>
                    </a:lnL>
                    <a:lnR w="12700">
                      <a:solidFill>
                        <a:srgbClr val="DADCDD"/>
                      </a:solidFill>
                      <a:prstDash val="solid"/>
                    </a:lnR>
                    <a:solidFill>
                      <a:srgbClr val="FFFFCC"/>
                    </a:solidFill>
                  </a:tcPr>
                </a:tc>
                <a:tc>
                  <a:txBody>
                    <a:bodyPr/>
                    <a:lstStyle/>
                    <a:p>
                      <a:pPr>
                        <a:lnSpc>
                          <a:spcPct val="100000"/>
                        </a:lnSpc>
                      </a:pPr>
                      <a:endParaRPr sz="1500">
                        <a:latin typeface="Times New Roman"/>
                        <a:cs typeface="Times New Roman"/>
                      </a:endParaRPr>
                    </a:p>
                  </a:txBody>
                  <a:tcPr marL="0" marR="0" marT="0" marB="0">
                    <a:lnL w="12700">
                      <a:solidFill>
                        <a:srgbClr val="DADCDD"/>
                      </a:solidFill>
                      <a:prstDash val="solid"/>
                    </a:lnL>
                    <a:lnR w="12700">
                      <a:solidFill>
                        <a:srgbClr val="DADCDD"/>
                      </a:solidFill>
                      <a:prstDash val="solid"/>
                    </a:lnR>
                    <a:solidFill>
                      <a:srgbClr val="FFFFCC"/>
                    </a:solidFill>
                  </a:tcPr>
                </a:tc>
                <a:tc>
                  <a:txBody>
                    <a:bodyPr/>
                    <a:lstStyle/>
                    <a:p>
                      <a:pPr>
                        <a:lnSpc>
                          <a:spcPct val="100000"/>
                        </a:lnSpc>
                      </a:pPr>
                      <a:endParaRPr sz="1500">
                        <a:latin typeface="Times New Roman"/>
                        <a:cs typeface="Times New Roman"/>
                      </a:endParaRPr>
                    </a:p>
                  </a:txBody>
                  <a:tcPr marL="0" marR="0" marT="0" marB="0">
                    <a:lnL w="12700">
                      <a:solidFill>
                        <a:srgbClr val="DADCDD"/>
                      </a:solidFill>
                      <a:prstDash val="solid"/>
                    </a:lnL>
                    <a:lnR w="12700">
                      <a:solidFill>
                        <a:srgbClr val="DADCDD"/>
                      </a:solidFill>
                      <a:prstDash val="solid"/>
                    </a:lnR>
                    <a:solidFill>
                      <a:srgbClr val="FFFFCC"/>
                    </a:solidFill>
                  </a:tcPr>
                </a:tc>
                <a:tc>
                  <a:txBody>
                    <a:bodyPr/>
                    <a:lstStyle/>
                    <a:p>
                      <a:pPr>
                        <a:lnSpc>
                          <a:spcPct val="100000"/>
                        </a:lnSpc>
                      </a:pPr>
                      <a:endParaRPr sz="1500">
                        <a:latin typeface="Times New Roman"/>
                        <a:cs typeface="Times New Roman"/>
                      </a:endParaRPr>
                    </a:p>
                  </a:txBody>
                  <a:tcPr marL="0" marR="0" marT="0" marB="0">
                    <a:lnL w="12700">
                      <a:solidFill>
                        <a:srgbClr val="DADCDD"/>
                      </a:solidFill>
                      <a:prstDash val="solid"/>
                    </a:lnL>
                    <a:lnR w="12700">
                      <a:solidFill>
                        <a:srgbClr val="DADCDD"/>
                      </a:solidFill>
                      <a:prstDash val="solid"/>
                    </a:lnR>
                    <a:lnB w="12700">
                      <a:solidFill>
                        <a:srgbClr val="DADCDD"/>
                      </a:solidFill>
                      <a:prstDash val="solid"/>
                    </a:lnB>
                    <a:solidFill>
                      <a:srgbClr val="FFFFCC"/>
                    </a:solidFill>
                  </a:tcPr>
                </a:tc>
                <a:extLst>
                  <a:ext uri="{0D108BD9-81ED-4DB2-BD59-A6C34878D82A}">
                    <a16:rowId xmlns:a16="http://schemas.microsoft.com/office/drawing/2014/main" val="10021"/>
                  </a:ext>
                </a:extLst>
              </a:tr>
              <a:tr h="255460">
                <a:tc>
                  <a:txBody>
                    <a:bodyPr/>
                    <a:lstStyle/>
                    <a:p>
                      <a:pPr marL="10795" algn="ctr">
                        <a:lnSpc>
                          <a:spcPct val="100000"/>
                        </a:lnSpc>
                        <a:spcBef>
                          <a:spcPts val="80"/>
                        </a:spcBef>
                      </a:pPr>
                      <a:r>
                        <a:rPr sz="1500" spc="35" dirty="0">
                          <a:latin typeface="Calibri"/>
                          <a:cs typeface="Calibri"/>
                        </a:rPr>
                        <a:t>28</a:t>
                      </a:r>
                      <a:endParaRPr sz="1500">
                        <a:latin typeface="Calibri"/>
                        <a:cs typeface="Calibri"/>
                      </a:endParaRPr>
                    </a:p>
                  </a:txBody>
                  <a:tcPr marL="0" marR="0" marT="10160" marB="0">
                    <a:solidFill>
                      <a:srgbClr val="E4DFEC"/>
                    </a:solidFill>
                  </a:tcPr>
                </a:tc>
                <a:tc gridSpan="2">
                  <a:txBody>
                    <a:bodyPr/>
                    <a:lstStyle/>
                    <a:p>
                      <a:pPr marL="35560">
                        <a:lnSpc>
                          <a:spcPct val="100000"/>
                        </a:lnSpc>
                        <a:spcBef>
                          <a:spcPts val="80"/>
                        </a:spcBef>
                      </a:pPr>
                      <a:r>
                        <a:rPr sz="1500" dirty="0">
                          <a:latin typeface="Calibri"/>
                          <a:cs typeface="Calibri"/>
                        </a:rPr>
                        <a:t>minimun</a:t>
                      </a:r>
                      <a:endParaRPr sz="1500">
                        <a:latin typeface="Calibri"/>
                        <a:cs typeface="Calibri"/>
                      </a:endParaRPr>
                    </a:p>
                  </a:txBody>
                  <a:tcPr marL="0" marR="0" marT="10160" marB="0">
                    <a:solidFill>
                      <a:srgbClr val="CCC0DA"/>
                    </a:solidFill>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DADCDD"/>
                      </a:solidFill>
                      <a:prstDash val="solid"/>
                    </a:lnR>
                    <a:lnT w="12700">
                      <a:solidFill>
                        <a:srgbClr val="DADCDD"/>
                      </a:solidFill>
                      <a:prstDash val="solid"/>
                    </a:lnT>
                    <a:lnB w="12700">
                      <a:solidFill>
                        <a:srgbClr val="DADCDD"/>
                      </a:solidFill>
                      <a:prstDash val="solid"/>
                    </a:lnB>
                    <a:solidFill>
                      <a:srgbClr val="FFFFCC"/>
                    </a:solidFill>
                  </a:tcPr>
                </a:tc>
                <a:extLst>
                  <a:ext uri="{0D108BD9-81ED-4DB2-BD59-A6C34878D82A}">
                    <a16:rowId xmlns:a16="http://schemas.microsoft.com/office/drawing/2014/main" val="10022"/>
                  </a:ext>
                </a:extLst>
              </a:tr>
              <a:tr h="255269">
                <a:tc>
                  <a:txBody>
                    <a:bodyPr/>
                    <a:lstStyle/>
                    <a:p>
                      <a:pPr marL="10795" algn="ctr">
                        <a:lnSpc>
                          <a:spcPct val="100000"/>
                        </a:lnSpc>
                        <a:spcBef>
                          <a:spcPts val="80"/>
                        </a:spcBef>
                      </a:pPr>
                      <a:r>
                        <a:rPr sz="1500" spc="35" dirty="0">
                          <a:latin typeface="Calibri"/>
                          <a:cs typeface="Calibri"/>
                        </a:rPr>
                        <a:t>66</a:t>
                      </a:r>
                      <a:endParaRPr sz="1500">
                        <a:latin typeface="Calibri"/>
                        <a:cs typeface="Calibri"/>
                      </a:endParaRPr>
                    </a:p>
                  </a:txBody>
                  <a:tcPr marL="0" marR="0" marT="10160" marB="0">
                    <a:solidFill>
                      <a:srgbClr val="E4DFEC"/>
                    </a:solidFill>
                  </a:tcPr>
                </a:tc>
                <a:tc gridSpan="2">
                  <a:txBody>
                    <a:bodyPr/>
                    <a:lstStyle/>
                    <a:p>
                      <a:pPr marL="35560">
                        <a:lnSpc>
                          <a:spcPct val="100000"/>
                        </a:lnSpc>
                        <a:spcBef>
                          <a:spcPts val="80"/>
                        </a:spcBef>
                      </a:pPr>
                      <a:r>
                        <a:rPr sz="1500" dirty="0">
                          <a:latin typeface="Calibri"/>
                          <a:cs typeface="Calibri"/>
                        </a:rPr>
                        <a:t>maximum</a:t>
                      </a:r>
                      <a:endParaRPr sz="1500">
                        <a:latin typeface="Calibri"/>
                        <a:cs typeface="Calibri"/>
                      </a:endParaRPr>
                    </a:p>
                  </a:txBody>
                  <a:tcPr marL="0" marR="0" marT="10160" marB="0">
                    <a:solidFill>
                      <a:srgbClr val="CCC0DA"/>
                    </a:solidFill>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DADCDD"/>
                      </a:solidFill>
                      <a:prstDash val="solid"/>
                    </a:lnR>
                    <a:lnT w="12700">
                      <a:solidFill>
                        <a:srgbClr val="DADCDD"/>
                      </a:solidFill>
                      <a:prstDash val="solid"/>
                    </a:lnT>
                    <a:lnB w="12700">
                      <a:solidFill>
                        <a:srgbClr val="DADCDD"/>
                      </a:solidFill>
                      <a:prstDash val="solid"/>
                    </a:lnB>
                    <a:solidFill>
                      <a:srgbClr val="FFFFCC"/>
                    </a:solidFill>
                  </a:tcPr>
                </a:tc>
                <a:extLst>
                  <a:ext uri="{0D108BD9-81ED-4DB2-BD59-A6C34878D82A}">
                    <a16:rowId xmlns:a16="http://schemas.microsoft.com/office/drawing/2014/main" val="10023"/>
                  </a:ext>
                </a:extLst>
              </a:tr>
              <a:tr h="255841">
                <a:tc>
                  <a:txBody>
                    <a:bodyPr/>
                    <a:lstStyle/>
                    <a:p>
                      <a:pPr algn="ctr">
                        <a:lnSpc>
                          <a:spcPct val="100000"/>
                        </a:lnSpc>
                        <a:spcBef>
                          <a:spcPts val="80"/>
                        </a:spcBef>
                      </a:pPr>
                      <a:r>
                        <a:rPr sz="1500" spc="30" dirty="0">
                          <a:latin typeface="Calibri"/>
                          <a:cs typeface="Calibri"/>
                        </a:rPr>
                        <a:t>39.50</a:t>
                      </a:r>
                      <a:endParaRPr sz="1500">
                        <a:latin typeface="Calibri"/>
                        <a:cs typeface="Calibri"/>
                      </a:endParaRPr>
                    </a:p>
                  </a:txBody>
                  <a:tcPr marL="0" marR="0" marT="10160" marB="0">
                    <a:solidFill>
                      <a:srgbClr val="E4DFEC"/>
                    </a:solidFill>
                  </a:tcPr>
                </a:tc>
                <a:tc gridSpan="2">
                  <a:txBody>
                    <a:bodyPr/>
                    <a:lstStyle/>
                    <a:p>
                      <a:pPr marL="36195">
                        <a:lnSpc>
                          <a:spcPct val="100000"/>
                        </a:lnSpc>
                        <a:spcBef>
                          <a:spcPts val="80"/>
                        </a:spcBef>
                      </a:pPr>
                      <a:r>
                        <a:rPr sz="1500" spc="10" dirty="0">
                          <a:latin typeface="Calibri"/>
                          <a:cs typeface="Calibri"/>
                        </a:rPr>
                        <a:t>avgerage</a:t>
                      </a:r>
                      <a:endParaRPr sz="1500">
                        <a:latin typeface="Calibri"/>
                        <a:cs typeface="Calibri"/>
                      </a:endParaRPr>
                    </a:p>
                  </a:txBody>
                  <a:tcPr marL="0" marR="0" marT="10160" marB="0">
                    <a:solidFill>
                      <a:srgbClr val="CCC0DA"/>
                    </a:solidFill>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DADCDD"/>
                      </a:solidFill>
                      <a:prstDash val="solid"/>
                    </a:lnR>
                    <a:lnT w="12700">
                      <a:solidFill>
                        <a:srgbClr val="DADCDD"/>
                      </a:solidFill>
                      <a:prstDash val="solid"/>
                    </a:lnT>
                    <a:lnB w="12700">
                      <a:solidFill>
                        <a:srgbClr val="DADCDD"/>
                      </a:solidFill>
                      <a:prstDash val="solid"/>
                    </a:lnB>
                    <a:solidFill>
                      <a:srgbClr val="FFFFCC"/>
                    </a:solidFill>
                  </a:tcPr>
                </a:tc>
                <a:extLst>
                  <a:ext uri="{0D108BD9-81ED-4DB2-BD59-A6C34878D82A}">
                    <a16:rowId xmlns:a16="http://schemas.microsoft.com/office/drawing/2014/main" val="10024"/>
                  </a:ext>
                </a:extLst>
              </a:tr>
              <a:tr h="254698">
                <a:tc>
                  <a:txBody>
                    <a:bodyPr/>
                    <a:lstStyle/>
                    <a:p>
                      <a:pPr algn="ctr">
                        <a:lnSpc>
                          <a:spcPct val="100000"/>
                        </a:lnSpc>
                        <a:spcBef>
                          <a:spcPts val="75"/>
                        </a:spcBef>
                      </a:pPr>
                      <a:r>
                        <a:rPr sz="1500" spc="30" dirty="0">
                          <a:latin typeface="Calibri"/>
                          <a:cs typeface="Calibri"/>
                        </a:rPr>
                        <a:t>10.01</a:t>
                      </a:r>
                      <a:endParaRPr sz="1500">
                        <a:latin typeface="Calibri"/>
                        <a:cs typeface="Calibri"/>
                      </a:endParaRPr>
                    </a:p>
                  </a:txBody>
                  <a:tcPr marL="0" marR="0" marT="9525" marB="0">
                    <a:solidFill>
                      <a:srgbClr val="E4DFEC"/>
                    </a:solidFill>
                  </a:tcPr>
                </a:tc>
                <a:tc gridSpan="2">
                  <a:txBody>
                    <a:bodyPr/>
                    <a:lstStyle/>
                    <a:p>
                      <a:pPr marL="35560">
                        <a:lnSpc>
                          <a:spcPct val="100000"/>
                        </a:lnSpc>
                        <a:spcBef>
                          <a:spcPts val="75"/>
                        </a:spcBef>
                      </a:pPr>
                      <a:r>
                        <a:rPr sz="1500" spc="10" dirty="0">
                          <a:latin typeface="Calibri"/>
                          <a:cs typeface="Calibri"/>
                        </a:rPr>
                        <a:t>standard</a:t>
                      </a:r>
                      <a:r>
                        <a:rPr sz="1500" spc="-20" dirty="0">
                          <a:latin typeface="Calibri"/>
                          <a:cs typeface="Calibri"/>
                        </a:rPr>
                        <a:t> </a:t>
                      </a:r>
                      <a:r>
                        <a:rPr sz="1500" spc="-5" dirty="0">
                          <a:latin typeface="Calibri"/>
                          <a:cs typeface="Calibri"/>
                        </a:rPr>
                        <a:t>deviation</a:t>
                      </a:r>
                      <a:endParaRPr sz="1500">
                        <a:latin typeface="Calibri"/>
                        <a:cs typeface="Calibri"/>
                      </a:endParaRPr>
                    </a:p>
                  </a:txBody>
                  <a:tcPr marL="0" marR="0" marT="9525" marB="0">
                    <a:solidFill>
                      <a:srgbClr val="CCC0DA"/>
                    </a:solidFill>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DADCDD"/>
                      </a:solidFill>
                      <a:prstDash val="solid"/>
                    </a:lnR>
                    <a:lnT w="12700">
                      <a:solidFill>
                        <a:srgbClr val="DADCDD"/>
                      </a:solidFill>
                      <a:prstDash val="solid"/>
                    </a:lnT>
                    <a:lnB w="12700">
                      <a:solidFill>
                        <a:srgbClr val="DADCDD"/>
                      </a:solidFill>
                      <a:prstDash val="solid"/>
                    </a:lnB>
                    <a:solidFill>
                      <a:srgbClr val="FFFFCC"/>
                    </a:solidFill>
                  </a:tcPr>
                </a:tc>
                <a:extLst>
                  <a:ext uri="{0D108BD9-81ED-4DB2-BD59-A6C34878D82A}">
                    <a16:rowId xmlns:a16="http://schemas.microsoft.com/office/drawing/2014/main" val="1002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9479" y="4553966"/>
            <a:ext cx="4180840" cy="635635"/>
          </a:xfrm>
          <a:prstGeom prst="rect">
            <a:avLst/>
          </a:prstGeom>
        </p:spPr>
        <p:txBody>
          <a:bodyPr vert="horz" wrap="square" lIns="0" tIns="12700" rIns="0" bIns="0" rtlCol="0">
            <a:spAutoFit/>
          </a:bodyPr>
          <a:lstStyle/>
          <a:p>
            <a:pPr marL="12700">
              <a:lnSpc>
                <a:spcPct val="100000"/>
              </a:lnSpc>
              <a:spcBef>
                <a:spcPts val="100"/>
              </a:spcBef>
            </a:pPr>
            <a:r>
              <a:rPr sz="4000" dirty="0"/>
              <a:t>MISSING</a:t>
            </a:r>
            <a:r>
              <a:rPr sz="4000" spc="-55" dirty="0"/>
              <a:t> </a:t>
            </a:r>
            <a:r>
              <a:rPr sz="4000" dirty="0"/>
              <a:t>DATA</a:t>
            </a:r>
            <a:endParaRPr sz="4000"/>
          </a:p>
        </p:txBody>
      </p:sp>
      <p:sp>
        <p:nvSpPr>
          <p:cNvPr id="3" name="object 3"/>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29</a:t>
            </a:fld>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87501" y="942848"/>
            <a:ext cx="2552065" cy="513080"/>
          </a:xfrm>
          <a:prstGeom prst="rect">
            <a:avLst/>
          </a:prstGeom>
        </p:spPr>
        <p:txBody>
          <a:bodyPr vert="horz" wrap="square" lIns="0" tIns="12065" rIns="0" bIns="0" rtlCol="0">
            <a:spAutoFit/>
          </a:bodyPr>
          <a:lstStyle/>
          <a:p>
            <a:pPr marL="12700">
              <a:lnSpc>
                <a:spcPct val="100000"/>
              </a:lnSpc>
              <a:spcBef>
                <a:spcPts val="95"/>
              </a:spcBef>
            </a:pPr>
            <a:r>
              <a:rPr spc="-5" dirty="0"/>
              <a:t>Missing</a:t>
            </a:r>
            <a:r>
              <a:rPr spc="-25" dirty="0"/>
              <a:t> </a:t>
            </a:r>
            <a:r>
              <a:rPr spc="-5" dirty="0"/>
              <a:t>Data</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30</a:t>
            </a:fld>
            <a:endParaRPr dirty="0"/>
          </a:p>
        </p:txBody>
      </p:sp>
      <p:sp>
        <p:nvSpPr>
          <p:cNvPr id="3" name="object 3"/>
          <p:cNvSpPr txBox="1"/>
          <p:nvPr/>
        </p:nvSpPr>
        <p:spPr>
          <a:xfrm>
            <a:off x="1309249" y="1655559"/>
            <a:ext cx="8059420" cy="5031105"/>
          </a:xfrm>
          <a:prstGeom prst="rect">
            <a:avLst/>
          </a:prstGeom>
        </p:spPr>
        <p:txBody>
          <a:bodyPr vert="horz" wrap="square" lIns="0" tIns="13335" rIns="0" bIns="0" rtlCol="0">
            <a:spAutoFit/>
          </a:bodyPr>
          <a:lstStyle/>
          <a:p>
            <a:pPr marL="355600" indent="-342900">
              <a:lnSpc>
                <a:spcPct val="100000"/>
              </a:lnSpc>
              <a:spcBef>
                <a:spcPts val="105"/>
              </a:spcBef>
              <a:buClr>
                <a:srgbClr val="FF0000"/>
              </a:buClr>
              <a:buChar char="•"/>
              <a:tabLst>
                <a:tab pos="354965" algn="l"/>
                <a:tab pos="355600" algn="l"/>
              </a:tabLst>
            </a:pPr>
            <a:r>
              <a:rPr sz="1800" dirty="0">
                <a:solidFill>
                  <a:srgbClr val="3333CC"/>
                </a:solidFill>
                <a:latin typeface="Comic Sans MS"/>
                <a:cs typeface="Comic Sans MS"/>
              </a:rPr>
              <a:t>Data </a:t>
            </a:r>
            <a:r>
              <a:rPr sz="1800" spc="-5" dirty="0">
                <a:solidFill>
                  <a:srgbClr val="3333CC"/>
                </a:solidFill>
                <a:latin typeface="Comic Sans MS"/>
                <a:cs typeface="Comic Sans MS"/>
              </a:rPr>
              <a:t>is </a:t>
            </a:r>
            <a:r>
              <a:rPr sz="1800" spc="-5" dirty="0">
                <a:solidFill>
                  <a:srgbClr val="008000"/>
                </a:solidFill>
                <a:latin typeface="Comic Sans MS"/>
                <a:cs typeface="Comic Sans MS"/>
              </a:rPr>
              <a:t>not always</a:t>
            </a:r>
            <a:r>
              <a:rPr sz="1800" spc="-10" dirty="0">
                <a:solidFill>
                  <a:srgbClr val="008000"/>
                </a:solidFill>
                <a:latin typeface="Comic Sans MS"/>
                <a:cs typeface="Comic Sans MS"/>
              </a:rPr>
              <a:t> </a:t>
            </a:r>
            <a:r>
              <a:rPr sz="1800" spc="-5" dirty="0">
                <a:solidFill>
                  <a:srgbClr val="008000"/>
                </a:solidFill>
                <a:latin typeface="Comic Sans MS"/>
                <a:cs typeface="Comic Sans MS"/>
              </a:rPr>
              <a:t>available</a:t>
            </a:r>
            <a:endParaRPr sz="1800">
              <a:latin typeface="Comic Sans MS"/>
              <a:cs typeface="Comic Sans MS"/>
            </a:endParaRPr>
          </a:p>
          <a:p>
            <a:pPr marL="755650" marR="545465" lvl="1" indent="-285750">
              <a:lnSpc>
                <a:spcPts val="1730"/>
              </a:lnSpc>
              <a:spcBef>
                <a:spcPts val="1770"/>
              </a:spcBef>
              <a:buClr>
                <a:srgbClr val="FF0000"/>
              </a:buClr>
              <a:buChar char="•"/>
              <a:tabLst>
                <a:tab pos="755015" algn="l"/>
                <a:tab pos="755650" algn="l"/>
              </a:tabLst>
            </a:pPr>
            <a:r>
              <a:rPr sz="1600" dirty="0">
                <a:solidFill>
                  <a:srgbClr val="3333CC"/>
                </a:solidFill>
                <a:latin typeface="Comic Sans MS"/>
                <a:cs typeface="Comic Sans MS"/>
              </a:rPr>
              <a:t>E.g., many </a:t>
            </a:r>
            <a:r>
              <a:rPr sz="1600" spc="-5" dirty="0">
                <a:solidFill>
                  <a:srgbClr val="3333CC"/>
                </a:solidFill>
                <a:latin typeface="Comic Sans MS"/>
                <a:cs typeface="Comic Sans MS"/>
              </a:rPr>
              <a:t>tuples </a:t>
            </a:r>
            <a:r>
              <a:rPr sz="1600" dirty="0">
                <a:solidFill>
                  <a:srgbClr val="3333CC"/>
                </a:solidFill>
                <a:latin typeface="Comic Sans MS"/>
                <a:cs typeface="Comic Sans MS"/>
              </a:rPr>
              <a:t>have </a:t>
            </a:r>
            <a:r>
              <a:rPr sz="1600" spc="-5" dirty="0">
                <a:solidFill>
                  <a:srgbClr val="3333CC"/>
                </a:solidFill>
                <a:latin typeface="Comic Sans MS"/>
                <a:cs typeface="Comic Sans MS"/>
              </a:rPr>
              <a:t>no recorded value for </a:t>
            </a:r>
            <a:r>
              <a:rPr sz="1600" dirty="0">
                <a:solidFill>
                  <a:srgbClr val="3333CC"/>
                </a:solidFill>
                <a:latin typeface="Comic Sans MS"/>
                <a:cs typeface="Comic Sans MS"/>
              </a:rPr>
              <a:t>several attributes, such as  customer </a:t>
            </a:r>
            <a:r>
              <a:rPr sz="1600" spc="-5" dirty="0">
                <a:solidFill>
                  <a:srgbClr val="3333CC"/>
                </a:solidFill>
                <a:latin typeface="Comic Sans MS"/>
                <a:cs typeface="Comic Sans MS"/>
              </a:rPr>
              <a:t>income in </a:t>
            </a:r>
            <a:r>
              <a:rPr sz="1600" dirty="0">
                <a:solidFill>
                  <a:srgbClr val="3333CC"/>
                </a:solidFill>
                <a:latin typeface="Comic Sans MS"/>
                <a:cs typeface="Comic Sans MS"/>
              </a:rPr>
              <a:t>sales</a:t>
            </a:r>
            <a:r>
              <a:rPr sz="1600" spc="-35" dirty="0">
                <a:solidFill>
                  <a:srgbClr val="3333CC"/>
                </a:solidFill>
                <a:latin typeface="Comic Sans MS"/>
                <a:cs typeface="Comic Sans MS"/>
              </a:rPr>
              <a:t> </a:t>
            </a:r>
            <a:r>
              <a:rPr sz="1600" spc="-5" dirty="0">
                <a:solidFill>
                  <a:srgbClr val="3333CC"/>
                </a:solidFill>
                <a:latin typeface="Comic Sans MS"/>
                <a:cs typeface="Comic Sans MS"/>
              </a:rPr>
              <a:t>data</a:t>
            </a:r>
            <a:endParaRPr sz="1600">
              <a:latin typeface="Comic Sans MS"/>
              <a:cs typeface="Comic Sans MS"/>
            </a:endParaRPr>
          </a:p>
          <a:p>
            <a:pPr lvl="1">
              <a:lnSpc>
                <a:spcPct val="100000"/>
              </a:lnSpc>
              <a:spcBef>
                <a:spcPts val="50"/>
              </a:spcBef>
              <a:buClr>
                <a:srgbClr val="FF0000"/>
              </a:buClr>
              <a:buFont typeface="Comic Sans MS"/>
              <a:buChar char="•"/>
            </a:pPr>
            <a:endParaRPr sz="2750">
              <a:latin typeface="Times New Roman"/>
              <a:cs typeface="Times New Roman"/>
            </a:endParaRPr>
          </a:p>
          <a:p>
            <a:pPr marL="355600" indent="-342900">
              <a:lnSpc>
                <a:spcPct val="100000"/>
              </a:lnSpc>
              <a:spcBef>
                <a:spcPts val="5"/>
              </a:spcBef>
              <a:buClr>
                <a:srgbClr val="FF0000"/>
              </a:buClr>
              <a:buChar char="•"/>
              <a:tabLst>
                <a:tab pos="354965" algn="l"/>
                <a:tab pos="355600" algn="l"/>
              </a:tabLst>
            </a:pPr>
            <a:r>
              <a:rPr sz="1800" spc="-5" dirty="0">
                <a:solidFill>
                  <a:srgbClr val="008000"/>
                </a:solidFill>
                <a:latin typeface="Comic Sans MS"/>
                <a:cs typeface="Comic Sans MS"/>
              </a:rPr>
              <a:t>Missing </a:t>
            </a:r>
            <a:r>
              <a:rPr sz="1800" spc="-5" dirty="0">
                <a:solidFill>
                  <a:srgbClr val="3333CC"/>
                </a:solidFill>
                <a:latin typeface="Comic Sans MS"/>
                <a:cs typeface="Comic Sans MS"/>
              </a:rPr>
              <a:t>data may be </a:t>
            </a:r>
            <a:r>
              <a:rPr sz="1800" spc="-5" dirty="0">
                <a:solidFill>
                  <a:srgbClr val="008000"/>
                </a:solidFill>
                <a:latin typeface="Comic Sans MS"/>
                <a:cs typeface="Comic Sans MS"/>
              </a:rPr>
              <a:t>due</a:t>
            </a:r>
            <a:r>
              <a:rPr sz="1800" dirty="0">
                <a:solidFill>
                  <a:srgbClr val="008000"/>
                </a:solidFill>
                <a:latin typeface="Comic Sans MS"/>
                <a:cs typeface="Comic Sans MS"/>
              </a:rPr>
              <a:t> </a:t>
            </a:r>
            <a:r>
              <a:rPr sz="1800" spc="-5" dirty="0">
                <a:solidFill>
                  <a:srgbClr val="008000"/>
                </a:solidFill>
                <a:latin typeface="Comic Sans MS"/>
                <a:cs typeface="Comic Sans MS"/>
              </a:rPr>
              <a:t>to</a:t>
            </a:r>
            <a:endParaRPr sz="1800">
              <a:latin typeface="Comic Sans MS"/>
              <a:cs typeface="Comic Sans MS"/>
            </a:endParaRPr>
          </a:p>
          <a:p>
            <a:pPr marL="755650" lvl="1" indent="-285750">
              <a:lnSpc>
                <a:spcPct val="100000"/>
              </a:lnSpc>
              <a:spcBef>
                <a:spcPts val="1555"/>
              </a:spcBef>
              <a:buClr>
                <a:srgbClr val="FF0000"/>
              </a:buClr>
              <a:buChar char="•"/>
              <a:tabLst>
                <a:tab pos="755015" algn="l"/>
                <a:tab pos="755650" algn="l"/>
              </a:tabLst>
            </a:pPr>
            <a:r>
              <a:rPr sz="1600" dirty="0">
                <a:solidFill>
                  <a:srgbClr val="3333CC"/>
                </a:solidFill>
                <a:latin typeface="Comic Sans MS"/>
                <a:cs typeface="Comic Sans MS"/>
              </a:rPr>
              <a:t>equipment</a:t>
            </a:r>
            <a:r>
              <a:rPr sz="1600" spc="-25" dirty="0">
                <a:solidFill>
                  <a:srgbClr val="3333CC"/>
                </a:solidFill>
                <a:latin typeface="Comic Sans MS"/>
                <a:cs typeface="Comic Sans MS"/>
              </a:rPr>
              <a:t> </a:t>
            </a:r>
            <a:r>
              <a:rPr sz="1600" dirty="0">
                <a:solidFill>
                  <a:srgbClr val="3333CC"/>
                </a:solidFill>
                <a:latin typeface="Comic Sans MS"/>
                <a:cs typeface="Comic Sans MS"/>
              </a:rPr>
              <a:t>malfunction</a:t>
            </a:r>
            <a:endParaRPr sz="1600">
              <a:latin typeface="Comic Sans MS"/>
              <a:cs typeface="Comic Sans MS"/>
            </a:endParaRPr>
          </a:p>
          <a:p>
            <a:pPr marL="755650" lvl="1" indent="-285750">
              <a:lnSpc>
                <a:spcPct val="100000"/>
              </a:lnSpc>
              <a:spcBef>
                <a:spcPts val="575"/>
              </a:spcBef>
              <a:buClr>
                <a:srgbClr val="FF0000"/>
              </a:buClr>
              <a:buChar char="•"/>
              <a:tabLst>
                <a:tab pos="755015" algn="l"/>
                <a:tab pos="755650" algn="l"/>
              </a:tabLst>
            </a:pPr>
            <a:r>
              <a:rPr sz="1600" spc="-5" dirty="0">
                <a:solidFill>
                  <a:srgbClr val="3333CC"/>
                </a:solidFill>
                <a:latin typeface="Comic Sans MS"/>
                <a:cs typeface="Comic Sans MS"/>
              </a:rPr>
              <a:t>inconsistent with </a:t>
            </a:r>
            <a:r>
              <a:rPr sz="1600" dirty="0">
                <a:solidFill>
                  <a:srgbClr val="3333CC"/>
                </a:solidFill>
                <a:latin typeface="Comic Sans MS"/>
                <a:cs typeface="Comic Sans MS"/>
              </a:rPr>
              <a:t>other </a:t>
            </a:r>
            <a:r>
              <a:rPr sz="1600" spc="-5" dirty="0">
                <a:solidFill>
                  <a:srgbClr val="3333CC"/>
                </a:solidFill>
                <a:latin typeface="Comic Sans MS"/>
                <a:cs typeface="Comic Sans MS"/>
              </a:rPr>
              <a:t>recorded data </a:t>
            </a:r>
            <a:r>
              <a:rPr sz="1600" dirty="0">
                <a:solidFill>
                  <a:srgbClr val="3333CC"/>
                </a:solidFill>
                <a:latin typeface="Comic Sans MS"/>
                <a:cs typeface="Comic Sans MS"/>
              </a:rPr>
              <a:t>and </a:t>
            </a:r>
            <a:r>
              <a:rPr sz="1600" spc="-5" dirty="0">
                <a:solidFill>
                  <a:srgbClr val="3333CC"/>
                </a:solidFill>
                <a:latin typeface="Comic Sans MS"/>
                <a:cs typeface="Comic Sans MS"/>
              </a:rPr>
              <a:t>thus</a:t>
            </a:r>
            <a:r>
              <a:rPr sz="1600" spc="-65" dirty="0">
                <a:solidFill>
                  <a:srgbClr val="3333CC"/>
                </a:solidFill>
                <a:latin typeface="Comic Sans MS"/>
                <a:cs typeface="Comic Sans MS"/>
              </a:rPr>
              <a:t> </a:t>
            </a:r>
            <a:r>
              <a:rPr sz="1600" spc="-5" dirty="0">
                <a:solidFill>
                  <a:srgbClr val="3333CC"/>
                </a:solidFill>
                <a:latin typeface="Comic Sans MS"/>
                <a:cs typeface="Comic Sans MS"/>
              </a:rPr>
              <a:t>deleted</a:t>
            </a:r>
            <a:endParaRPr sz="1600">
              <a:latin typeface="Comic Sans MS"/>
              <a:cs typeface="Comic Sans MS"/>
            </a:endParaRPr>
          </a:p>
          <a:p>
            <a:pPr marL="755650" lvl="1" indent="-285750">
              <a:lnSpc>
                <a:spcPct val="100000"/>
              </a:lnSpc>
              <a:spcBef>
                <a:spcPts val="575"/>
              </a:spcBef>
              <a:buClr>
                <a:srgbClr val="FF0000"/>
              </a:buClr>
              <a:buChar char="•"/>
              <a:tabLst>
                <a:tab pos="755015" algn="l"/>
                <a:tab pos="755650" algn="l"/>
              </a:tabLst>
            </a:pPr>
            <a:r>
              <a:rPr sz="1600" spc="-5" dirty="0">
                <a:solidFill>
                  <a:srgbClr val="3333CC"/>
                </a:solidFill>
                <a:latin typeface="Comic Sans MS"/>
                <a:cs typeface="Comic Sans MS"/>
              </a:rPr>
              <a:t>data not </a:t>
            </a:r>
            <a:r>
              <a:rPr sz="1600" dirty="0">
                <a:solidFill>
                  <a:srgbClr val="3333CC"/>
                </a:solidFill>
                <a:latin typeface="Comic Sans MS"/>
                <a:cs typeface="Comic Sans MS"/>
              </a:rPr>
              <a:t>entered </a:t>
            </a:r>
            <a:r>
              <a:rPr sz="1600" spc="-5" dirty="0">
                <a:solidFill>
                  <a:srgbClr val="3333CC"/>
                </a:solidFill>
                <a:latin typeface="Comic Sans MS"/>
                <a:cs typeface="Comic Sans MS"/>
              </a:rPr>
              <a:t>due to</a:t>
            </a:r>
            <a:r>
              <a:rPr sz="1600" spc="-60" dirty="0">
                <a:solidFill>
                  <a:srgbClr val="3333CC"/>
                </a:solidFill>
                <a:latin typeface="Comic Sans MS"/>
                <a:cs typeface="Comic Sans MS"/>
              </a:rPr>
              <a:t> </a:t>
            </a:r>
            <a:r>
              <a:rPr sz="1600" dirty="0">
                <a:solidFill>
                  <a:srgbClr val="3333CC"/>
                </a:solidFill>
                <a:latin typeface="Comic Sans MS"/>
                <a:cs typeface="Comic Sans MS"/>
              </a:rPr>
              <a:t>misunderstanding</a:t>
            </a:r>
            <a:endParaRPr sz="1600">
              <a:latin typeface="Comic Sans MS"/>
              <a:cs typeface="Comic Sans MS"/>
            </a:endParaRPr>
          </a:p>
          <a:p>
            <a:pPr marL="755650" lvl="1" indent="-285750">
              <a:lnSpc>
                <a:spcPct val="100000"/>
              </a:lnSpc>
              <a:spcBef>
                <a:spcPts val="580"/>
              </a:spcBef>
              <a:buClr>
                <a:srgbClr val="FF0000"/>
              </a:buClr>
              <a:buChar char="•"/>
              <a:tabLst>
                <a:tab pos="755015" algn="l"/>
                <a:tab pos="755650" algn="l"/>
              </a:tabLst>
            </a:pPr>
            <a:r>
              <a:rPr sz="1600" dirty="0">
                <a:solidFill>
                  <a:srgbClr val="3333CC"/>
                </a:solidFill>
                <a:latin typeface="Comic Sans MS"/>
                <a:cs typeface="Comic Sans MS"/>
              </a:rPr>
              <a:t>certain </a:t>
            </a:r>
            <a:r>
              <a:rPr sz="1600" spc="-5" dirty="0">
                <a:solidFill>
                  <a:srgbClr val="3333CC"/>
                </a:solidFill>
                <a:latin typeface="Comic Sans MS"/>
                <a:cs typeface="Comic Sans MS"/>
              </a:rPr>
              <a:t>data </a:t>
            </a:r>
            <a:r>
              <a:rPr sz="1600" dirty="0">
                <a:solidFill>
                  <a:srgbClr val="3333CC"/>
                </a:solidFill>
                <a:latin typeface="Comic Sans MS"/>
                <a:cs typeface="Comic Sans MS"/>
              </a:rPr>
              <a:t>may </a:t>
            </a:r>
            <a:r>
              <a:rPr sz="1600" spc="-5" dirty="0">
                <a:solidFill>
                  <a:srgbClr val="3333CC"/>
                </a:solidFill>
                <a:latin typeface="Comic Sans MS"/>
                <a:cs typeface="Comic Sans MS"/>
              </a:rPr>
              <a:t>not be </a:t>
            </a:r>
            <a:r>
              <a:rPr sz="1600" dirty="0">
                <a:solidFill>
                  <a:srgbClr val="3333CC"/>
                </a:solidFill>
                <a:latin typeface="Comic Sans MS"/>
                <a:cs typeface="Comic Sans MS"/>
              </a:rPr>
              <a:t>considered </a:t>
            </a:r>
            <a:r>
              <a:rPr sz="1600" spc="-5" dirty="0">
                <a:solidFill>
                  <a:srgbClr val="3333CC"/>
                </a:solidFill>
                <a:latin typeface="Comic Sans MS"/>
                <a:cs typeface="Comic Sans MS"/>
              </a:rPr>
              <a:t>important </a:t>
            </a:r>
            <a:r>
              <a:rPr sz="1600" dirty="0">
                <a:solidFill>
                  <a:srgbClr val="3333CC"/>
                </a:solidFill>
                <a:latin typeface="Comic Sans MS"/>
                <a:cs typeface="Comic Sans MS"/>
              </a:rPr>
              <a:t>at </a:t>
            </a:r>
            <a:r>
              <a:rPr sz="1600" spc="-5" dirty="0">
                <a:solidFill>
                  <a:srgbClr val="3333CC"/>
                </a:solidFill>
                <a:latin typeface="Comic Sans MS"/>
                <a:cs typeface="Comic Sans MS"/>
              </a:rPr>
              <a:t>the time </a:t>
            </a:r>
            <a:r>
              <a:rPr sz="1600" dirty="0">
                <a:solidFill>
                  <a:srgbClr val="3333CC"/>
                </a:solidFill>
                <a:latin typeface="Comic Sans MS"/>
                <a:cs typeface="Comic Sans MS"/>
              </a:rPr>
              <a:t>of</a:t>
            </a:r>
            <a:r>
              <a:rPr sz="1600" spc="-105" dirty="0">
                <a:solidFill>
                  <a:srgbClr val="3333CC"/>
                </a:solidFill>
                <a:latin typeface="Comic Sans MS"/>
                <a:cs typeface="Comic Sans MS"/>
              </a:rPr>
              <a:t> </a:t>
            </a:r>
            <a:r>
              <a:rPr sz="1600" dirty="0">
                <a:solidFill>
                  <a:srgbClr val="3333CC"/>
                </a:solidFill>
                <a:latin typeface="Comic Sans MS"/>
                <a:cs typeface="Comic Sans MS"/>
              </a:rPr>
              <a:t>entry</a:t>
            </a:r>
            <a:endParaRPr sz="1600">
              <a:latin typeface="Comic Sans MS"/>
              <a:cs typeface="Comic Sans MS"/>
            </a:endParaRPr>
          </a:p>
          <a:p>
            <a:pPr marL="755650" lvl="1" indent="-285750">
              <a:lnSpc>
                <a:spcPct val="100000"/>
              </a:lnSpc>
              <a:spcBef>
                <a:spcPts val="575"/>
              </a:spcBef>
              <a:buClr>
                <a:srgbClr val="FF0000"/>
              </a:buClr>
              <a:buChar char="•"/>
              <a:tabLst>
                <a:tab pos="755015" algn="l"/>
                <a:tab pos="755650" algn="l"/>
              </a:tabLst>
            </a:pPr>
            <a:r>
              <a:rPr sz="1600" spc="-5" dirty="0">
                <a:solidFill>
                  <a:srgbClr val="3333CC"/>
                </a:solidFill>
                <a:latin typeface="Comic Sans MS"/>
                <a:cs typeface="Comic Sans MS"/>
              </a:rPr>
              <a:t>not register </a:t>
            </a:r>
            <a:r>
              <a:rPr sz="1600" dirty="0">
                <a:solidFill>
                  <a:srgbClr val="3333CC"/>
                </a:solidFill>
                <a:latin typeface="Comic Sans MS"/>
                <a:cs typeface="Comic Sans MS"/>
              </a:rPr>
              <a:t>history or changes of </a:t>
            </a:r>
            <a:r>
              <a:rPr sz="1600" spc="-5" dirty="0">
                <a:solidFill>
                  <a:srgbClr val="3333CC"/>
                </a:solidFill>
                <a:latin typeface="Comic Sans MS"/>
                <a:cs typeface="Comic Sans MS"/>
              </a:rPr>
              <a:t>the</a:t>
            </a:r>
            <a:r>
              <a:rPr sz="1600" spc="-60" dirty="0">
                <a:solidFill>
                  <a:srgbClr val="3333CC"/>
                </a:solidFill>
                <a:latin typeface="Comic Sans MS"/>
                <a:cs typeface="Comic Sans MS"/>
              </a:rPr>
              <a:t> </a:t>
            </a:r>
            <a:r>
              <a:rPr sz="1600" spc="-5" dirty="0">
                <a:solidFill>
                  <a:srgbClr val="3333CC"/>
                </a:solidFill>
                <a:latin typeface="Comic Sans MS"/>
                <a:cs typeface="Comic Sans MS"/>
              </a:rPr>
              <a:t>data</a:t>
            </a:r>
            <a:endParaRPr sz="1600">
              <a:latin typeface="Comic Sans MS"/>
              <a:cs typeface="Comic Sans MS"/>
            </a:endParaRPr>
          </a:p>
          <a:p>
            <a:pPr lvl="1">
              <a:lnSpc>
                <a:spcPct val="100000"/>
              </a:lnSpc>
              <a:spcBef>
                <a:spcPts val="20"/>
              </a:spcBef>
              <a:buClr>
                <a:srgbClr val="FF0000"/>
              </a:buClr>
              <a:buFont typeface="Comic Sans MS"/>
              <a:buChar char="•"/>
            </a:pPr>
            <a:endParaRPr sz="2800">
              <a:latin typeface="Times New Roman"/>
              <a:cs typeface="Times New Roman"/>
            </a:endParaRPr>
          </a:p>
          <a:p>
            <a:pPr marL="355600" indent="-342900">
              <a:lnSpc>
                <a:spcPct val="100000"/>
              </a:lnSpc>
              <a:spcBef>
                <a:spcPts val="5"/>
              </a:spcBef>
              <a:buClr>
                <a:srgbClr val="FF0000"/>
              </a:buClr>
              <a:buChar char="•"/>
              <a:tabLst>
                <a:tab pos="354965" algn="l"/>
                <a:tab pos="355600" algn="l"/>
              </a:tabLst>
            </a:pPr>
            <a:r>
              <a:rPr sz="1800" spc="-5" dirty="0">
                <a:solidFill>
                  <a:srgbClr val="3333CC"/>
                </a:solidFill>
                <a:latin typeface="Comic Sans MS"/>
                <a:cs typeface="Comic Sans MS"/>
              </a:rPr>
              <a:t>Missing data </a:t>
            </a:r>
            <a:r>
              <a:rPr sz="1800" spc="-5" dirty="0">
                <a:solidFill>
                  <a:srgbClr val="008000"/>
                </a:solidFill>
                <a:latin typeface="Comic Sans MS"/>
                <a:cs typeface="Comic Sans MS"/>
              </a:rPr>
              <a:t>may </a:t>
            </a:r>
            <a:r>
              <a:rPr sz="1800" spc="-5" dirty="0">
                <a:solidFill>
                  <a:srgbClr val="3333CC"/>
                </a:solidFill>
                <a:latin typeface="Comic Sans MS"/>
                <a:cs typeface="Comic Sans MS"/>
              </a:rPr>
              <a:t>need to </a:t>
            </a:r>
            <a:r>
              <a:rPr sz="1800" spc="-5" dirty="0">
                <a:solidFill>
                  <a:srgbClr val="008000"/>
                </a:solidFill>
                <a:latin typeface="Comic Sans MS"/>
                <a:cs typeface="Comic Sans MS"/>
              </a:rPr>
              <a:t>be</a:t>
            </a:r>
            <a:r>
              <a:rPr sz="1800" spc="5" dirty="0">
                <a:solidFill>
                  <a:srgbClr val="008000"/>
                </a:solidFill>
                <a:latin typeface="Comic Sans MS"/>
                <a:cs typeface="Comic Sans MS"/>
              </a:rPr>
              <a:t> </a:t>
            </a:r>
            <a:r>
              <a:rPr sz="1800" spc="-5" dirty="0">
                <a:solidFill>
                  <a:srgbClr val="008000"/>
                </a:solidFill>
                <a:latin typeface="Comic Sans MS"/>
                <a:cs typeface="Comic Sans MS"/>
              </a:rPr>
              <a:t>inferred</a:t>
            </a:r>
            <a:r>
              <a:rPr sz="1800" spc="-5" dirty="0">
                <a:solidFill>
                  <a:srgbClr val="3333CC"/>
                </a:solidFill>
                <a:latin typeface="Comic Sans MS"/>
                <a:cs typeface="Comic Sans MS"/>
              </a:rPr>
              <a:t>.</a:t>
            </a:r>
            <a:endParaRPr sz="1800">
              <a:latin typeface="Comic Sans MS"/>
              <a:cs typeface="Comic Sans MS"/>
            </a:endParaRPr>
          </a:p>
          <a:p>
            <a:pPr marL="355600" marR="5080" indent="-342900">
              <a:lnSpc>
                <a:spcPts val="1939"/>
              </a:lnSpc>
              <a:spcBef>
                <a:spcPts val="1975"/>
              </a:spcBef>
              <a:buClr>
                <a:srgbClr val="FF0000"/>
              </a:buClr>
              <a:buChar char="•"/>
              <a:tabLst>
                <a:tab pos="354965" algn="l"/>
                <a:tab pos="355600" algn="l"/>
              </a:tabLst>
            </a:pPr>
            <a:r>
              <a:rPr sz="1800" spc="-5" dirty="0">
                <a:solidFill>
                  <a:srgbClr val="3333CC"/>
                </a:solidFill>
                <a:latin typeface="Comic Sans MS"/>
                <a:cs typeface="Comic Sans MS"/>
              </a:rPr>
              <a:t>Missing values may </a:t>
            </a:r>
            <a:r>
              <a:rPr sz="1800" spc="-5" dirty="0">
                <a:solidFill>
                  <a:srgbClr val="008000"/>
                </a:solidFill>
                <a:latin typeface="Comic Sans MS"/>
                <a:cs typeface="Comic Sans MS"/>
              </a:rPr>
              <a:t>carry some information </a:t>
            </a:r>
            <a:r>
              <a:rPr sz="1800" spc="-5" dirty="0">
                <a:solidFill>
                  <a:srgbClr val="3333CC"/>
                </a:solidFill>
                <a:latin typeface="Comic Sans MS"/>
                <a:cs typeface="Comic Sans MS"/>
              </a:rPr>
              <a:t>content: e.g. </a:t>
            </a:r>
            <a:r>
              <a:rPr sz="1800" dirty="0">
                <a:solidFill>
                  <a:srgbClr val="3333CC"/>
                </a:solidFill>
                <a:latin typeface="Comic Sans MS"/>
                <a:cs typeface="Comic Sans MS"/>
              </a:rPr>
              <a:t>a </a:t>
            </a:r>
            <a:r>
              <a:rPr sz="1800" spc="-5" dirty="0">
                <a:solidFill>
                  <a:srgbClr val="3333CC"/>
                </a:solidFill>
                <a:latin typeface="Comic Sans MS"/>
                <a:cs typeface="Comic Sans MS"/>
              </a:rPr>
              <a:t>credit  application may carry information by noting which field the applicant did  not</a:t>
            </a:r>
            <a:r>
              <a:rPr sz="1800" spc="-10" dirty="0">
                <a:solidFill>
                  <a:srgbClr val="3333CC"/>
                </a:solidFill>
                <a:latin typeface="Comic Sans MS"/>
                <a:cs typeface="Comic Sans MS"/>
              </a:rPr>
              <a:t> </a:t>
            </a:r>
            <a:r>
              <a:rPr sz="1800" spc="-5" dirty="0">
                <a:solidFill>
                  <a:srgbClr val="3333CC"/>
                </a:solidFill>
                <a:latin typeface="Comic Sans MS"/>
                <a:cs typeface="Comic Sans MS"/>
              </a:rPr>
              <a:t>complete</a:t>
            </a:r>
            <a:endParaRPr sz="1800">
              <a:latin typeface="Comic Sans MS"/>
              <a:cs typeface="Comic Sans M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2053" y="942848"/>
            <a:ext cx="2863215" cy="513080"/>
          </a:xfrm>
          <a:prstGeom prst="rect">
            <a:avLst/>
          </a:prstGeom>
        </p:spPr>
        <p:txBody>
          <a:bodyPr vert="horz" wrap="square" lIns="0" tIns="12065" rIns="0" bIns="0" rtlCol="0">
            <a:spAutoFit/>
          </a:bodyPr>
          <a:lstStyle/>
          <a:p>
            <a:pPr marL="12700">
              <a:lnSpc>
                <a:spcPct val="100000"/>
              </a:lnSpc>
              <a:spcBef>
                <a:spcPts val="95"/>
              </a:spcBef>
            </a:pPr>
            <a:r>
              <a:rPr spc="-5" dirty="0"/>
              <a:t>Missing</a:t>
            </a:r>
            <a:r>
              <a:rPr spc="-15" dirty="0"/>
              <a:t> </a:t>
            </a:r>
            <a:r>
              <a:rPr spc="-5" dirty="0"/>
              <a:t>Values</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31</a:t>
            </a:fld>
            <a:endParaRPr dirty="0"/>
          </a:p>
        </p:txBody>
      </p:sp>
      <p:sp>
        <p:nvSpPr>
          <p:cNvPr id="3" name="object 3"/>
          <p:cNvSpPr txBox="1"/>
          <p:nvPr/>
        </p:nvSpPr>
        <p:spPr>
          <a:xfrm>
            <a:off x="1183520" y="2078227"/>
            <a:ext cx="8163559" cy="3972560"/>
          </a:xfrm>
          <a:prstGeom prst="rect">
            <a:avLst/>
          </a:prstGeom>
        </p:spPr>
        <p:txBody>
          <a:bodyPr vert="horz" wrap="square" lIns="0" tIns="12065" rIns="0" bIns="0" rtlCol="0">
            <a:spAutoFit/>
          </a:bodyPr>
          <a:lstStyle/>
          <a:p>
            <a:pPr marL="355600" indent="-343535">
              <a:lnSpc>
                <a:spcPct val="100000"/>
              </a:lnSpc>
              <a:spcBef>
                <a:spcPts val="95"/>
              </a:spcBef>
              <a:buClr>
                <a:srgbClr val="FF0000"/>
              </a:buClr>
              <a:buChar char="•"/>
              <a:tabLst>
                <a:tab pos="354965" algn="l"/>
                <a:tab pos="356235" algn="l"/>
              </a:tabLst>
            </a:pPr>
            <a:r>
              <a:rPr sz="2000" spc="-10" dirty="0">
                <a:solidFill>
                  <a:srgbClr val="3333CC"/>
                </a:solidFill>
                <a:latin typeface="Comic Sans MS"/>
                <a:cs typeface="Comic Sans MS"/>
              </a:rPr>
              <a:t>There </a:t>
            </a:r>
            <a:r>
              <a:rPr sz="2000" spc="-5" dirty="0">
                <a:solidFill>
                  <a:srgbClr val="3333CC"/>
                </a:solidFill>
                <a:latin typeface="Comic Sans MS"/>
                <a:cs typeface="Comic Sans MS"/>
              </a:rPr>
              <a:t>are </a:t>
            </a:r>
            <a:r>
              <a:rPr sz="2000" spc="-10" dirty="0">
                <a:solidFill>
                  <a:srgbClr val="3333CC"/>
                </a:solidFill>
                <a:latin typeface="Comic Sans MS"/>
                <a:cs typeface="Comic Sans MS"/>
              </a:rPr>
              <a:t>always </a:t>
            </a:r>
            <a:r>
              <a:rPr sz="2000" spc="-5" dirty="0">
                <a:solidFill>
                  <a:srgbClr val="3333CC"/>
                </a:solidFill>
                <a:latin typeface="Comic Sans MS"/>
                <a:cs typeface="Comic Sans MS"/>
              </a:rPr>
              <a:t>MVs in a real</a:t>
            </a:r>
            <a:r>
              <a:rPr sz="2000" spc="120" dirty="0">
                <a:solidFill>
                  <a:srgbClr val="3333CC"/>
                </a:solidFill>
                <a:latin typeface="Comic Sans MS"/>
                <a:cs typeface="Comic Sans MS"/>
              </a:rPr>
              <a:t> </a:t>
            </a:r>
            <a:r>
              <a:rPr sz="2000" spc="-10" dirty="0">
                <a:solidFill>
                  <a:srgbClr val="3333CC"/>
                </a:solidFill>
                <a:latin typeface="Comic Sans MS"/>
                <a:cs typeface="Comic Sans MS"/>
              </a:rPr>
              <a:t>dataset</a:t>
            </a:r>
            <a:endParaRPr sz="2000">
              <a:latin typeface="Comic Sans MS"/>
              <a:cs typeface="Comic Sans MS"/>
            </a:endParaRPr>
          </a:p>
          <a:p>
            <a:pPr marL="355600" indent="-343535">
              <a:lnSpc>
                <a:spcPct val="100000"/>
              </a:lnSpc>
              <a:spcBef>
                <a:spcPts val="2400"/>
              </a:spcBef>
              <a:buClr>
                <a:srgbClr val="FF0000"/>
              </a:buClr>
              <a:buChar char="•"/>
              <a:tabLst>
                <a:tab pos="354965" algn="l"/>
                <a:tab pos="356235" algn="l"/>
              </a:tabLst>
            </a:pPr>
            <a:r>
              <a:rPr sz="2000" spc="-5" dirty="0">
                <a:solidFill>
                  <a:srgbClr val="3333CC"/>
                </a:solidFill>
                <a:latin typeface="Comic Sans MS"/>
                <a:cs typeface="Comic Sans MS"/>
              </a:rPr>
              <a:t>MVs may have an </a:t>
            </a:r>
            <a:r>
              <a:rPr sz="2000" spc="-10" dirty="0">
                <a:solidFill>
                  <a:srgbClr val="3333CC"/>
                </a:solidFill>
                <a:latin typeface="Comic Sans MS"/>
                <a:cs typeface="Comic Sans MS"/>
              </a:rPr>
              <a:t>impact </a:t>
            </a:r>
            <a:r>
              <a:rPr sz="2000" spc="-5" dirty="0">
                <a:solidFill>
                  <a:srgbClr val="3333CC"/>
                </a:solidFill>
                <a:latin typeface="Comic Sans MS"/>
                <a:cs typeface="Comic Sans MS"/>
              </a:rPr>
              <a:t>on </a:t>
            </a:r>
            <a:r>
              <a:rPr sz="2000" spc="-10" dirty="0">
                <a:solidFill>
                  <a:srgbClr val="3333CC"/>
                </a:solidFill>
                <a:latin typeface="Comic Sans MS"/>
                <a:cs typeface="Comic Sans MS"/>
              </a:rPr>
              <a:t>modelling, </a:t>
            </a:r>
            <a:r>
              <a:rPr sz="2000" spc="-5" dirty="0">
                <a:solidFill>
                  <a:srgbClr val="3333CC"/>
                </a:solidFill>
                <a:latin typeface="Comic Sans MS"/>
                <a:cs typeface="Comic Sans MS"/>
              </a:rPr>
              <a:t>in fact, they can </a:t>
            </a:r>
            <a:r>
              <a:rPr sz="2000" spc="-10" dirty="0">
                <a:solidFill>
                  <a:srgbClr val="3333CC"/>
                </a:solidFill>
                <a:latin typeface="Comic Sans MS"/>
                <a:cs typeface="Comic Sans MS"/>
              </a:rPr>
              <a:t>destroy</a:t>
            </a:r>
            <a:r>
              <a:rPr sz="2000" spc="204" dirty="0">
                <a:solidFill>
                  <a:srgbClr val="3333CC"/>
                </a:solidFill>
                <a:latin typeface="Comic Sans MS"/>
                <a:cs typeface="Comic Sans MS"/>
              </a:rPr>
              <a:t> </a:t>
            </a:r>
            <a:r>
              <a:rPr sz="2000" spc="-10" dirty="0">
                <a:solidFill>
                  <a:srgbClr val="3333CC"/>
                </a:solidFill>
                <a:latin typeface="Comic Sans MS"/>
                <a:cs typeface="Comic Sans MS"/>
              </a:rPr>
              <a:t>it!</a:t>
            </a:r>
            <a:endParaRPr sz="2000">
              <a:latin typeface="Comic Sans MS"/>
              <a:cs typeface="Comic Sans MS"/>
            </a:endParaRPr>
          </a:p>
          <a:p>
            <a:pPr marL="355600" marR="6350" indent="-343535">
              <a:lnSpc>
                <a:spcPct val="110000"/>
              </a:lnSpc>
              <a:spcBef>
                <a:spcPts val="2160"/>
              </a:spcBef>
              <a:buClr>
                <a:srgbClr val="FF0000"/>
              </a:buClr>
              <a:buChar char="•"/>
              <a:tabLst>
                <a:tab pos="354965" algn="l"/>
                <a:tab pos="356235" algn="l"/>
              </a:tabLst>
            </a:pPr>
            <a:r>
              <a:rPr sz="2000" spc="-5" dirty="0">
                <a:solidFill>
                  <a:srgbClr val="3333CC"/>
                </a:solidFill>
                <a:latin typeface="Comic Sans MS"/>
                <a:cs typeface="Comic Sans MS"/>
              </a:rPr>
              <a:t>Some tools </a:t>
            </a:r>
            <a:r>
              <a:rPr sz="2000" spc="-10" dirty="0">
                <a:solidFill>
                  <a:srgbClr val="3333CC"/>
                </a:solidFill>
                <a:latin typeface="Comic Sans MS"/>
                <a:cs typeface="Comic Sans MS"/>
              </a:rPr>
              <a:t>ignore </a:t>
            </a:r>
            <a:r>
              <a:rPr sz="2000" spc="-5" dirty="0">
                <a:solidFill>
                  <a:srgbClr val="3333CC"/>
                </a:solidFill>
                <a:latin typeface="Comic Sans MS"/>
                <a:cs typeface="Comic Sans MS"/>
              </a:rPr>
              <a:t>missing </a:t>
            </a:r>
            <a:r>
              <a:rPr sz="2000" spc="-10" dirty="0">
                <a:solidFill>
                  <a:srgbClr val="3333CC"/>
                </a:solidFill>
                <a:latin typeface="Comic Sans MS"/>
                <a:cs typeface="Comic Sans MS"/>
              </a:rPr>
              <a:t>values, </a:t>
            </a:r>
            <a:r>
              <a:rPr sz="2000" spc="-5" dirty="0">
                <a:solidFill>
                  <a:srgbClr val="3333CC"/>
                </a:solidFill>
                <a:latin typeface="Comic Sans MS"/>
                <a:cs typeface="Comic Sans MS"/>
              </a:rPr>
              <a:t>others use some metric to fill </a:t>
            </a:r>
            <a:r>
              <a:rPr sz="2000" spc="-10" dirty="0">
                <a:solidFill>
                  <a:srgbClr val="3333CC"/>
                </a:solidFill>
                <a:latin typeface="Comic Sans MS"/>
                <a:cs typeface="Comic Sans MS"/>
              </a:rPr>
              <a:t>in  replacements</a:t>
            </a:r>
            <a:endParaRPr sz="2000">
              <a:latin typeface="Comic Sans MS"/>
              <a:cs typeface="Comic Sans MS"/>
            </a:endParaRPr>
          </a:p>
          <a:p>
            <a:pPr marL="755650" lvl="1" indent="-287020">
              <a:lnSpc>
                <a:spcPct val="100000"/>
              </a:lnSpc>
              <a:spcBef>
                <a:spcPts val="2190"/>
              </a:spcBef>
              <a:buClr>
                <a:srgbClr val="FF0000"/>
              </a:buClr>
              <a:buChar char="•"/>
              <a:tabLst>
                <a:tab pos="755015" algn="l"/>
                <a:tab pos="756285" algn="l"/>
              </a:tabLst>
            </a:pPr>
            <a:r>
              <a:rPr sz="1800" spc="-5" dirty="0">
                <a:solidFill>
                  <a:srgbClr val="3333CC"/>
                </a:solidFill>
                <a:latin typeface="Comic Sans MS"/>
                <a:cs typeface="Comic Sans MS"/>
              </a:rPr>
              <a:t>The modeller should avoid default automated replacement</a:t>
            </a:r>
            <a:r>
              <a:rPr sz="1800" spc="105" dirty="0">
                <a:solidFill>
                  <a:srgbClr val="3333CC"/>
                </a:solidFill>
                <a:latin typeface="Comic Sans MS"/>
                <a:cs typeface="Comic Sans MS"/>
              </a:rPr>
              <a:t> </a:t>
            </a:r>
            <a:r>
              <a:rPr sz="1800" spc="-5" dirty="0">
                <a:solidFill>
                  <a:srgbClr val="3333CC"/>
                </a:solidFill>
                <a:latin typeface="Comic Sans MS"/>
                <a:cs typeface="Comic Sans MS"/>
              </a:rPr>
              <a:t>techniques</a:t>
            </a:r>
            <a:endParaRPr sz="1800">
              <a:latin typeface="Comic Sans MS"/>
              <a:cs typeface="Comic Sans MS"/>
            </a:endParaRPr>
          </a:p>
          <a:p>
            <a:pPr marL="1155700" lvl="2" indent="-229235">
              <a:lnSpc>
                <a:spcPct val="100000"/>
              </a:lnSpc>
              <a:spcBef>
                <a:spcPts val="985"/>
              </a:spcBef>
              <a:buClr>
                <a:srgbClr val="FF0000"/>
              </a:buClr>
              <a:buSzPct val="87500"/>
              <a:buChar char="•"/>
              <a:tabLst>
                <a:tab pos="1155065" algn="l"/>
                <a:tab pos="1155700" algn="l"/>
              </a:tabLst>
            </a:pPr>
            <a:r>
              <a:rPr sz="1600" dirty="0">
                <a:solidFill>
                  <a:srgbClr val="3333CC"/>
                </a:solidFill>
                <a:latin typeface="Comic Sans MS"/>
                <a:cs typeface="Comic Sans MS"/>
              </a:rPr>
              <a:t>Difficult </a:t>
            </a:r>
            <a:r>
              <a:rPr sz="1600" spc="-5" dirty="0">
                <a:solidFill>
                  <a:srgbClr val="3333CC"/>
                </a:solidFill>
                <a:latin typeface="Comic Sans MS"/>
                <a:cs typeface="Comic Sans MS"/>
              </a:rPr>
              <a:t>to know </a:t>
            </a:r>
            <a:r>
              <a:rPr sz="1600" dirty="0">
                <a:solidFill>
                  <a:srgbClr val="3333CC"/>
                </a:solidFill>
                <a:latin typeface="Comic Sans MS"/>
                <a:cs typeface="Comic Sans MS"/>
              </a:rPr>
              <a:t>limitations, problems and </a:t>
            </a:r>
            <a:r>
              <a:rPr sz="1600" spc="-5" dirty="0">
                <a:solidFill>
                  <a:srgbClr val="3333CC"/>
                </a:solidFill>
                <a:latin typeface="Comic Sans MS"/>
                <a:cs typeface="Comic Sans MS"/>
              </a:rPr>
              <a:t>introduced</a:t>
            </a:r>
            <a:r>
              <a:rPr sz="1600" spc="-110" dirty="0">
                <a:solidFill>
                  <a:srgbClr val="3333CC"/>
                </a:solidFill>
                <a:latin typeface="Comic Sans MS"/>
                <a:cs typeface="Comic Sans MS"/>
              </a:rPr>
              <a:t> </a:t>
            </a:r>
            <a:r>
              <a:rPr sz="1600" spc="-5" dirty="0">
                <a:solidFill>
                  <a:srgbClr val="3333CC"/>
                </a:solidFill>
                <a:latin typeface="Comic Sans MS"/>
                <a:cs typeface="Comic Sans MS"/>
              </a:rPr>
              <a:t>bias</a:t>
            </a:r>
            <a:endParaRPr sz="1600">
              <a:latin typeface="Comic Sans MS"/>
              <a:cs typeface="Comic Sans MS"/>
            </a:endParaRPr>
          </a:p>
          <a:p>
            <a:pPr lvl="2">
              <a:lnSpc>
                <a:spcPct val="100000"/>
              </a:lnSpc>
              <a:buClr>
                <a:srgbClr val="FF0000"/>
              </a:buClr>
              <a:buFont typeface="Comic Sans MS"/>
              <a:buChar char="•"/>
            </a:pPr>
            <a:endParaRPr sz="2200">
              <a:latin typeface="Times New Roman"/>
              <a:cs typeface="Times New Roman"/>
            </a:endParaRPr>
          </a:p>
          <a:p>
            <a:pPr marL="355600" marR="948690" indent="-343535">
              <a:lnSpc>
                <a:spcPct val="110000"/>
              </a:lnSpc>
              <a:spcBef>
                <a:spcPts val="1375"/>
              </a:spcBef>
              <a:buClr>
                <a:srgbClr val="FF0000"/>
              </a:buClr>
              <a:buChar char="•"/>
              <a:tabLst>
                <a:tab pos="354965" algn="l"/>
                <a:tab pos="356235" algn="l"/>
              </a:tabLst>
            </a:pPr>
            <a:r>
              <a:rPr sz="2000" spc="-10" dirty="0">
                <a:solidFill>
                  <a:srgbClr val="3333CC"/>
                </a:solidFill>
                <a:latin typeface="Comic Sans MS"/>
                <a:cs typeface="Comic Sans MS"/>
              </a:rPr>
              <a:t>Replacing </a:t>
            </a:r>
            <a:r>
              <a:rPr sz="2000" spc="-5" dirty="0">
                <a:solidFill>
                  <a:srgbClr val="3333CC"/>
                </a:solidFill>
                <a:latin typeface="Comic Sans MS"/>
                <a:cs typeface="Comic Sans MS"/>
              </a:rPr>
              <a:t>missing </a:t>
            </a:r>
            <a:r>
              <a:rPr sz="2000" spc="-10" dirty="0">
                <a:solidFill>
                  <a:srgbClr val="3333CC"/>
                </a:solidFill>
                <a:latin typeface="Comic Sans MS"/>
                <a:cs typeface="Comic Sans MS"/>
              </a:rPr>
              <a:t>values without </a:t>
            </a:r>
            <a:r>
              <a:rPr sz="2000" spc="-5" dirty="0">
                <a:solidFill>
                  <a:srgbClr val="3333CC"/>
                </a:solidFill>
                <a:latin typeface="Comic Sans MS"/>
                <a:cs typeface="Comic Sans MS"/>
              </a:rPr>
              <a:t>elsewhere capturing </a:t>
            </a:r>
            <a:r>
              <a:rPr sz="2000" spc="-10" dirty="0">
                <a:solidFill>
                  <a:srgbClr val="3333CC"/>
                </a:solidFill>
                <a:latin typeface="Comic Sans MS"/>
                <a:cs typeface="Comic Sans MS"/>
              </a:rPr>
              <a:t>that  information removes information </a:t>
            </a:r>
            <a:r>
              <a:rPr sz="2000" spc="-5" dirty="0">
                <a:solidFill>
                  <a:srgbClr val="3333CC"/>
                </a:solidFill>
                <a:latin typeface="Comic Sans MS"/>
                <a:cs typeface="Comic Sans MS"/>
              </a:rPr>
              <a:t>from the</a:t>
            </a:r>
            <a:r>
              <a:rPr sz="2000" spc="95" dirty="0">
                <a:solidFill>
                  <a:srgbClr val="3333CC"/>
                </a:solidFill>
                <a:latin typeface="Comic Sans MS"/>
                <a:cs typeface="Comic Sans MS"/>
              </a:rPr>
              <a:t> </a:t>
            </a:r>
            <a:r>
              <a:rPr sz="2000" spc="-10" dirty="0">
                <a:solidFill>
                  <a:srgbClr val="3333CC"/>
                </a:solidFill>
                <a:latin typeface="Comic Sans MS"/>
                <a:cs typeface="Comic Sans MS"/>
              </a:rPr>
              <a:t>dataset</a:t>
            </a:r>
            <a:endParaRPr sz="2000">
              <a:latin typeface="Comic Sans MS"/>
              <a:cs typeface="Comic Sans M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46990">
              <a:lnSpc>
                <a:spcPct val="100000"/>
              </a:lnSpc>
              <a:spcBef>
                <a:spcPts val="95"/>
              </a:spcBef>
            </a:pPr>
            <a:r>
              <a:rPr spc="-5" dirty="0"/>
              <a:t>How to </a:t>
            </a:r>
            <a:r>
              <a:rPr spc="-10" dirty="0"/>
              <a:t>Handle </a:t>
            </a:r>
            <a:r>
              <a:rPr spc="-5" dirty="0"/>
              <a:t>Missing</a:t>
            </a:r>
            <a:r>
              <a:rPr spc="55" dirty="0"/>
              <a:t> </a:t>
            </a:r>
            <a:r>
              <a:rPr spc="-5" dirty="0"/>
              <a:t>Data?</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32</a:t>
            </a:fld>
            <a:endParaRPr dirty="0"/>
          </a:p>
        </p:txBody>
      </p:sp>
      <p:sp>
        <p:nvSpPr>
          <p:cNvPr id="3" name="object 3"/>
          <p:cNvSpPr txBox="1"/>
          <p:nvPr/>
        </p:nvSpPr>
        <p:spPr>
          <a:xfrm>
            <a:off x="1309249" y="2078227"/>
            <a:ext cx="7946390" cy="4542790"/>
          </a:xfrm>
          <a:prstGeom prst="rect">
            <a:avLst/>
          </a:prstGeom>
        </p:spPr>
        <p:txBody>
          <a:bodyPr vert="horz" wrap="square" lIns="0" tIns="12065" rIns="0" bIns="0" rtlCol="0">
            <a:spAutoFit/>
          </a:bodyPr>
          <a:lstStyle/>
          <a:p>
            <a:pPr marL="354965" indent="-342900">
              <a:lnSpc>
                <a:spcPct val="100000"/>
              </a:lnSpc>
              <a:spcBef>
                <a:spcPts val="95"/>
              </a:spcBef>
              <a:buClr>
                <a:srgbClr val="FF0000"/>
              </a:buClr>
              <a:buChar char="•"/>
              <a:tabLst>
                <a:tab pos="354965" algn="l"/>
                <a:tab pos="355600" algn="l"/>
              </a:tabLst>
            </a:pPr>
            <a:r>
              <a:rPr sz="2000" spc="-10" dirty="0">
                <a:solidFill>
                  <a:srgbClr val="008000"/>
                </a:solidFill>
                <a:latin typeface="Comic Sans MS"/>
                <a:cs typeface="Comic Sans MS"/>
              </a:rPr>
              <a:t>Ignore records </a:t>
            </a:r>
            <a:r>
              <a:rPr sz="2000" spc="-5" dirty="0">
                <a:solidFill>
                  <a:srgbClr val="3333CC"/>
                </a:solidFill>
                <a:latin typeface="Comic Sans MS"/>
                <a:cs typeface="Comic Sans MS"/>
              </a:rPr>
              <a:t>(use only cases with all</a:t>
            </a:r>
            <a:r>
              <a:rPr sz="2000" spc="114" dirty="0">
                <a:solidFill>
                  <a:srgbClr val="3333CC"/>
                </a:solidFill>
                <a:latin typeface="Comic Sans MS"/>
                <a:cs typeface="Comic Sans MS"/>
              </a:rPr>
              <a:t> </a:t>
            </a:r>
            <a:r>
              <a:rPr sz="2000" spc="-10" dirty="0">
                <a:solidFill>
                  <a:srgbClr val="3333CC"/>
                </a:solidFill>
                <a:latin typeface="Comic Sans MS"/>
                <a:cs typeface="Comic Sans MS"/>
              </a:rPr>
              <a:t>values)</a:t>
            </a:r>
            <a:endParaRPr sz="2000">
              <a:latin typeface="Comic Sans MS"/>
              <a:cs typeface="Comic Sans MS"/>
            </a:endParaRPr>
          </a:p>
          <a:p>
            <a:pPr marL="755650" marR="5080" lvl="1" indent="-286385">
              <a:lnSpc>
                <a:spcPct val="110000"/>
              </a:lnSpc>
              <a:spcBef>
                <a:spcPts val="1970"/>
              </a:spcBef>
              <a:buClr>
                <a:srgbClr val="FF0000"/>
              </a:buClr>
              <a:buChar char="•"/>
              <a:tabLst>
                <a:tab pos="755015" algn="l"/>
                <a:tab pos="756285" algn="l"/>
              </a:tabLst>
            </a:pPr>
            <a:r>
              <a:rPr sz="1800" spc="-5" dirty="0">
                <a:solidFill>
                  <a:srgbClr val="3333CC"/>
                </a:solidFill>
                <a:latin typeface="Comic Sans MS"/>
                <a:cs typeface="Comic Sans MS"/>
              </a:rPr>
              <a:t>Usually done when class label is missing as most prediction methods  do not handle missing data well</a:t>
            </a:r>
            <a:endParaRPr sz="1800">
              <a:latin typeface="Comic Sans MS"/>
              <a:cs typeface="Comic Sans MS"/>
            </a:endParaRPr>
          </a:p>
          <a:p>
            <a:pPr marL="755650" marR="56515" lvl="1" indent="-286385">
              <a:lnSpc>
                <a:spcPct val="110000"/>
              </a:lnSpc>
              <a:spcBef>
                <a:spcPts val="865"/>
              </a:spcBef>
              <a:buClr>
                <a:srgbClr val="FF0000"/>
              </a:buClr>
              <a:buChar char="•"/>
              <a:tabLst>
                <a:tab pos="755015" algn="l"/>
                <a:tab pos="756285" algn="l"/>
              </a:tabLst>
            </a:pPr>
            <a:r>
              <a:rPr sz="1800" spc="-5" dirty="0">
                <a:solidFill>
                  <a:srgbClr val="3333CC"/>
                </a:solidFill>
                <a:latin typeface="Comic Sans MS"/>
                <a:cs typeface="Comic Sans MS"/>
              </a:rPr>
              <a:t>Not effective when the percentage of missing values per attribute  varies considerably as it can lead to insufficient and/or biased  sample sizes</a:t>
            </a:r>
            <a:endParaRPr sz="1800">
              <a:latin typeface="Comic Sans MS"/>
              <a:cs typeface="Comic Sans MS"/>
            </a:endParaRPr>
          </a:p>
          <a:p>
            <a:pPr marL="354965" indent="-342900">
              <a:lnSpc>
                <a:spcPct val="100000"/>
              </a:lnSpc>
              <a:spcBef>
                <a:spcPts val="1295"/>
              </a:spcBef>
              <a:buClr>
                <a:srgbClr val="FF0000"/>
              </a:buClr>
              <a:buChar char="•"/>
              <a:tabLst>
                <a:tab pos="354965" algn="l"/>
                <a:tab pos="355600" algn="l"/>
              </a:tabLst>
            </a:pPr>
            <a:r>
              <a:rPr sz="2000" spc="-10" dirty="0">
                <a:solidFill>
                  <a:srgbClr val="008000"/>
                </a:solidFill>
                <a:latin typeface="Comic Sans MS"/>
                <a:cs typeface="Comic Sans MS"/>
              </a:rPr>
              <a:t>Ignore </a:t>
            </a:r>
            <a:r>
              <a:rPr sz="2000" spc="-5" dirty="0">
                <a:solidFill>
                  <a:srgbClr val="008000"/>
                </a:solidFill>
                <a:latin typeface="Comic Sans MS"/>
                <a:cs typeface="Comic Sans MS"/>
              </a:rPr>
              <a:t>attributes </a:t>
            </a:r>
            <a:r>
              <a:rPr sz="2000" spc="-5" dirty="0">
                <a:solidFill>
                  <a:srgbClr val="3333CC"/>
                </a:solidFill>
                <a:latin typeface="Comic Sans MS"/>
                <a:cs typeface="Comic Sans MS"/>
              </a:rPr>
              <a:t>with </a:t>
            </a:r>
            <a:r>
              <a:rPr sz="2000" spc="-10" dirty="0">
                <a:solidFill>
                  <a:srgbClr val="3333CC"/>
                </a:solidFill>
                <a:latin typeface="Comic Sans MS"/>
                <a:cs typeface="Comic Sans MS"/>
              </a:rPr>
              <a:t>missing</a:t>
            </a:r>
            <a:r>
              <a:rPr sz="2000" spc="45" dirty="0">
                <a:solidFill>
                  <a:srgbClr val="3333CC"/>
                </a:solidFill>
                <a:latin typeface="Comic Sans MS"/>
                <a:cs typeface="Comic Sans MS"/>
              </a:rPr>
              <a:t> </a:t>
            </a:r>
            <a:r>
              <a:rPr sz="2000" spc="-10" dirty="0">
                <a:solidFill>
                  <a:srgbClr val="3333CC"/>
                </a:solidFill>
                <a:latin typeface="Comic Sans MS"/>
                <a:cs typeface="Comic Sans MS"/>
              </a:rPr>
              <a:t>values</a:t>
            </a:r>
            <a:endParaRPr sz="2000">
              <a:latin typeface="Comic Sans MS"/>
              <a:cs typeface="Comic Sans MS"/>
            </a:endParaRPr>
          </a:p>
          <a:p>
            <a:pPr marL="755650" marR="804545" lvl="1" indent="-286385">
              <a:lnSpc>
                <a:spcPct val="110000"/>
              </a:lnSpc>
              <a:spcBef>
                <a:spcPts val="1970"/>
              </a:spcBef>
              <a:buClr>
                <a:srgbClr val="FF0000"/>
              </a:buClr>
              <a:buChar char="•"/>
              <a:tabLst>
                <a:tab pos="755015" algn="l"/>
                <a:tab pos="756285" algn="l"/>
              </a:tabLst>
            </a:pPr>
            <a:r>
              <a:rPr sz="1800" spc="-5" dirty="0">
                <a:solidFill>
                  <a:srgbClr val="3333CC"/>
                </a:solidFill>
                <a:latin typeface="Comic Sans MS"/>
                <a:cs typeface="Comic Sans MS"/>
              </a:rPr>
              <a:t>Use only features (attributes) with all values (may leave out  important features)</a:t>
            </a:r>
            <a:endParaRPr sz="1800">
              <a:latin typeface="Comic Sans MS"/>
              <a:cs typeface="Comic Sans MS"/>
            </a:endParaRPr>
          </a:p>
          <a:p>
            <a:pPr marL="354965" indent="-342900">
              <a:lnSpc>
                <a:spcPct val="100000"/>
              </a:lnSpc>
              <a:spcBef>
                <a:spcPts val="1295"/>
              </a:spcBef>
              <a:buClr>
                <a:srgbClr val="FF0000"/>
              </a:buClr>
              <a:buChar char="•"/>
              <a:tabLst>
                <a:tab pos="354965" algn="l"/>
                <a:tab pos="355600" algn="l"/>
              </a:tabLst>
            </a:pPr>
            <a:r>
              <a:rPr sz="2000" spc="-5" dirty="0">
                <a:solidFill>
                  <a:srgbClr val="008000"/>
                </a:solidFill>
                <a:latin typeface="Comic Sans MS"/>
                <a:cs typeface="Comic Sans MS"/>
              </a:rPr>
              <a:t>Fill in </a:t>
            </a:r>
            <a:r>
              <a:rPr sz="2000" spc="-5" dirty="0">
                <a:solidFill>
                  <a:srgbClr val="3333CC"/>
                </a:solidFill>
                <a:latin typeface="Comic Sans MS"/>
                <a:cs typeface="Comic Sans MS"/>
              </a:rPr>
              <a:t>the </a:t>
            </a:r>
            <a:r>
              <a:rPr sz="2000" spc="-10" dirty="0">
                <a:solidFill>
                  <a:srgbClr val="3333CC"/>
                </a:solidFill>
                <a:latin typeface="Comic Sans MS"/>
                <a:cs typeface="Comic Sans MS"/>
              </a:rPr>
              <a:t>missing </a:t>
            </a:r>
            <a:r>
              <a:rPr sz="2000" spc="-5" dirty="0">
                <a:solidFill>
                  <a:srgbClr val="3333CC"/>
                </a:solidFill>
                <a:latin typeface="Comic Sans MS"/>
                <a:cs typeface="Comic Sans MS"/>
              </a:rPr>
              <a:t>value</a:t>
            </a:r>
            <a:r>
              <a:rPr sz="2000" spc="75" dirty="0">
                <a:solidFill>
                  <a:srgbClr val="3333CC"/>
                </a:solidFill>
                <a:latin typeface="Comic Sans MS"/>
                <a:cs typeface="Comic Sans MS"/>
              </a:rPr>
              <a:t> </a:t>
            </a:r>
            <a:r>
              <a:rPr sz="2000" spc="-10" dirty="0">
                <a:solidFill>
                  <a:srgbClr val="3333CC"/>
                </a:solidFill>
                <a:latin typeface="Comic Sans MS"/>
                <a:cs typeface="Comic Sans MS"/>
              </a:rPr>
              <a:t>manually</a:t>
            </a:r>
            <a:endParaRPr sz="2000">
              <a:latin typeface="Comic Sans MS"/>
              <a:cs typeface="Comic Sans MS"/>
            </a:endParaRPr>
          </a:p>
          <a:p>
            <a:pPr marL="824230" lvl="1" indent="-354330">
              <a:lnSpc>
                <a:spcPct val="100000"/>
              </a:lnSpc>
              <a:spcBef>
                <a:spcPts val="2185"/>
              </a:spcBef>
              <a:buClr>
                <a:srgbClr val="FF0000"/>
              </a:buClr>
              <a:buChar char="•"/>
              <a:tabLst>
                <a:tab pos="823594" algn="l"/>
                <a:tab pos="824230" algn="l"/>
              </a:tabLst>
            </a:pPr>
            <a:r>
              <a:rPr sz="1800" spc="-5" dirty="0">
                <a:solidFill>
                  <a:srgbClr val="3333CC"/>
                </a:solidFill>
                <a:latin typeface="Comic Sans MS"/>
                <a:cs typeface="Comic Sans MS"/>
              </a:rPr>
              <a:t>tedious </a:t>
            </a:r>
            <a:r>
              <a:rPr sz="1800" dirty="0">
                <a:solidFill>
                  <a:srgbClr val="3333CC"/>
                </a:solidFill>
                <a:latin typeface="Comic Sans MS"/>
                <a:cs typeface="Comic Sans MS"/>
              </a:rPr>
              <a:t>+ </a:t>
            </a:r>
            <a:r>
              <a:rPr sz="1800" spc="-5" dirty="0">
                <a:solidFill>
                  <a:srgbClr val="3333CC"/>
                </a:solidFill>
                <a:latin typeface="Comic Sans MS"/>
                <a:cs typeface="Comic Sans MS"/>
              </a:rPr>
              <a:t>infeasible?</a:t>
            </a:r>
            <a:endParaRPr sz="1800">
              <a:latin typeface="Comic Sans MS"/>
              <a:cs typeface="Comic Sans M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46990">
              <a:lnSpc>
                <a:spcPct val="100000"/>
              </a:lnSpc>
              <a:spcBef>
                <a:spcPts val="95"/>
              </a:spcBef>
            </a:pPr>
            <a:r>
              <a:rPr spc="-5" dirty="0"/>
              <a:t>How to </a:t>
            </a:r>
            <a:r>
              <a:rPr spc="-10" dirty="0"/>
              <a:t>Handle </a:t>
            </a:r>
            <a:r>
              <a:rPr spc="-5" dirty="0"/>
              <a:t>Missing</a:t>
            </a:r>
            <a:r>
              <a:rPr spc="55" dirty="0"/>
              <a:t> </a:t>
            </a:r>
            <a:r>
              <a:rPr spc="-5" dirty="0"/>
              <a:t>Data?</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33</a:t>
            </a:fld>
            <a:endParaRPr dirty="0"/>
          </a:p>
        </p:txBody>
      </p:sp>
      <p:sp>
        <p:nvSpPr>
          <p:cNvPr id="3" name="object 3"/>
          <p:cNvSpPr txBox="1"/>
          <p:nvPr/>
        </p:nvSpPr>
        <p:spPr>
          <a:xfrm>
            <a:off x="1309249" y="2078227"/>
            <a:ext cx="7612380" cy="4353560"/>
          </a:xfrm>
          <a:prstGeom prst="rect">
            <a:avLst/>
          </a:prstGeom>
        </p:spPr>
        <p:txBody>
          <a:bodyPr vert="horz" wrap="square" lIns="0" tIns="12065" rIns="0" bIns="0" rtlCol="0">
            <a:spAutoFit/>
          </a:bodyPr>
          <a:lstStyle/>
          <a:p>
            <a:pPr marL="354965" indent="-342900">
              <a:lnSpc>
                <a:spcPct val="100000"/>
              </a:lnSpc>
              <a:spcBef>
                <a:spcPts val="95"/>
              </a:spcBef>
              <a:buClr>
                <a:srgbClr val="FF0000"/>
              </a:buClr>
              <a:buChar char="•"/>
              <a:tabLst>
                <a:tab pos="354965" algn="l"/>
                <a:tab pos="355600" algn="l"/>
              </a:tabLst>
            </a:pPr>
            <a:r>
              <a:rPr sz="2000" spc="-5" dirty="0">
                <a:solidFill>
                  <a:srgbClr val="3333CC"/>
                </a:solidFill>
                <a:latin typeface="Comic Sans MS"/>
                <a:cs typeface="Comic Sans MS"/>
              </a:rPr>
              <a:t>Use a </a:t>
            </a:r>
            <a:r>
              <a:rPr sz="2000" spc="-5" dirty="0">
                <a:solidFill>
                  <a:srgbClr val="008000"/>
                </a:solidFill>
                <a:latin typeface="Comic Sans MS"/>
                <a:cs typeface="Comic Sans MS"/>
              </a:rPr>
              <a:t>global </a:t>
            </a:r>
            <a:r>
              <a:rPr sz="2000" spc="-10" dirty="0">
                <a:solidFill>
                  <a:srgbClr val="008000"/>
                </a:solidFill>
                <a:latin typeface="Comic Sans MS"/>
                <a:cs typeface="Comic Sans MS"/>
              </a:rPr>
              <a:t>constant </a:t>
            </a:r>
            <a:r>
              <a:rPr sz="2000" spc="-5" dirty="0">
                <a:solidFill>
                  <a:srgbClr val="3333CC"/>
                </a:solidFill>
                <a:latin typeface="Comic Sans MS"/>
                <a:cs typeface="Comic Sans MS"/>
              </a:rPr>
              <a:t>to fill in the </a:t>
            </a:r>
            <a:r>
              <a:rPr sz="2000" spc="-10" dirty="0">
                <a:solidFill>
                  <a:srgbClr val="3333CC"/>
                </a:solidFill>
                <a:latin typeface="Comic Sans MS"/>
                <a:cs typeface="Comic Sans MS"/>
              </a:rPr>
              <a:t>missing</a:t>
            </a:r>
            <a:r>
              <a:rPr sz="2000" spc="100" dirty="0">
                <a:solidFill>
                  <a:srgbClr val="3333CC"/>
                </a:solidFill>
                <a:latin typeface="Comic Sans MS"/>
                <a:cs typeface="Comic Sans MS"/>
              </a:rPr>
              <a:t> </a:t>
            </a:r>
            <a:r>
              <a:rPr sz="2000" spc="-10" dirty="0">
                <a:solidFill>
                  <a:srgbClr val="3333CC"/>
                </a:solidFill>
                <a:latin typeface="Comic Sans MS"/>
                <a:cs typeface="Comic Sans MS"/>
              </a:rPr>
              <a:t>value</a:t>
            </a:r>
            <a:endParaRPr sz="2000">
              <a:latin typeface="Comic Sans MS"/>
              <a:cs typeface="Comic Sans MS"/>
            </a:endParaRPr>
          </a:p>
          <a:p>
            <a:pPr marL="824230" lvl="1" indent="-354965">
              <a:lnSpc>
                <a:spcPct val="100000"/>
              </a:lnSpc>
              <a:spcBef>
                <a:spcPts val="2190"/>
              </a:spcBef>
              <a:buClr>
                <a:srgbClr val="FF0000"/>
              </a:buClr>
              <a:buChar char="•"/>
              <a:tabLst>
                <a:tab pos="823594" algn="l"/>
                <a:tab pos="824230" algn="l"/>
                <a:tab pos="2640330" algn="l"/>
              </a:tabLst>
            </a:pPr>
            <a:r>
              <a:rPr sz="1800" spc="-5" dirty="0">
                <a:solidFill>
                  <a:srgbClr val="3333CC"/>
                </a:solidFill>
                <a:latin typeface="Comic Sans MS"/>
                <a:cs typeface="Comic Sans MS"/>
              </a:rPr>
              <a:t>e.g.,</a:t>
            </a:r>
            <a:r>
              <a:rPr sz="1800" spc="10" dirty="0">
                <a:solidFill>
                  <a:srgbClr val="3333CC"/>
                </a:solidFill>
                <a:latin typeface="Comic Sans MS"/>
                <a:cs typeface="Comic Sans MS"/>
              </a:rPr>
              <a:t> </a:t>
            </a:r>
            <a:r>
              <a:rPr sz="1800" spc="-5" dirty="0">
                <a:solidFill>
                  <a:srgbClr val="3333CC"/>
                </a:solidFill>
                <a:latin typeface="Comic Sans MS"/>
                <a:cs typeface="Comic Sans MS"/>
              </a:rPr>
              <a:t>“unknown”.	(May create </a:t>
            </a:r>
            <a:r>
              <a:rPr sz="1800" dirty="0">
                <a:solidFill>
                  <a:srgbClr val="3333CC"/>
                </a:solidFill>
                <a:latin typeface="Comic Sans MS"/>
                <a:cs typeface="Comic Sans MS"/>
              </a:rPr>
              <a:t>a </a:t>
            </a:r>
            <a:r>
              <a:rPr sz="1800" spc="-5" dirty="0">
                <a:solidFill>
                  <a:srgbClr val="3333CC"/>
                </a:solidFill>
                <a:latin typeface="Comic Sans MS"/>
                <a:cs typeface="Comic Sans MS"/>
              </a:rPr>
              <a:t>new class!)</a:t>
            </a:r>
            <a:endParaRPr sz="1800">
              <a:latin typeface="Comic Sans MS"/>
              <a:cs typeface="Comic Sans MS"/>
            </a:endParaRPr>
          </a:p>
          <a:p>
            <a:pPr lvl="1">
              <a:lnSpc>
                <a:spcPct val="100000"/>
              </a:lnSpc>
              <a:buClr>
                <a:srgbClr val="FF0000"/>
              </a:buClr>
              <a:buFont typeface="Comic Sans MS"/>
              <a:buChar char="•"/>
            </a:pPr>
            <a:endParaRPr sz="2500">
              <a:latin typeface="Times New Roman"/>
              <a:cs typeface="Times New Roman"/>
            </a:endParaRPr>
          </a:p>
          <a:p>
            <a:pPr marL="354965" indent="-342900">
              <a:lnSpc>
                <a:spcPct val="100000"/>
              </a:lnSpc>
              <a:spcBef>
                <a:spcPts val="1655"/>
              </a:spcBef>
              <a:buClr>
                <a:srgbClr val="FF0000"/>
              </a:buClr>
              <a:buChar char="•"/>
              <a:tabLst>
                <a:tab pos="354965" algn="l"/>
                <a:tab pos="355600" algn="l"/>
              </a:tabLst>
            </a:pPr>
            <a:r>
              <a:rPr sz="2000" spc="-5" dirty="0">
                <a:solidFill>
                  <a:srgbClr val="3333CC"/>
                </a:solidFill>
                <a:latin typeface="Comic Sans MS"/>
                <a:cs typeface="Comic Sans MS"/>
              </a:rPr>
              <a:t>Use the </a:t>
            </a:r>
            <a:r>
              <a:rPr sz="2000" spc="-5" dirty="0">
                <a:solidFill>
                  <a:srgbClr val="008000"/>
                </a:solidFill>
                <a:latin typeface="Comic Sans MS"/>
                <a:cs typeface="Comic Sans MS"/>
              </a:rPr>
              <a:t>attribute mean </a:t>
            </a:r>
            <a:r>
              <a:rPr sz="2000" spc="-5" dirty="0">
                <a:solidFill>
                  <a:srgbClr val="3333CC"/>
                </a:solidFill>
                <a:latin typeface="Comic Sans MS"/>
                <a:cs typeface="Comic Sans MS"/>
              </a:rPr>
              <a:t>to fill in the </a:t>
            </a:r>
            <a:r>
              <a:rPr sz="2000" spc="-10" dirty="0">
                <a:solidFill>
                  <a:srgbClr val="3333CC"/>
                </a:solidFill>
                <a:latin typeface="Comic Sans MS"/>
                <a:cs typeface="Comic Sans MS"/>
              </a:rPr>
              <a:t>missing</a:t>
            </a:r>
            <a:r>
              <a:rPr sz="2000" spc="90" dirty="0">
                <a:solidFill>
                  <a:srgbClr val="3333CC"/>
                </a:solidFill>
                <a:latin typeface="Comic Sans MS"/>
                <a:cs typeface="Comic Sans MS"/>
              </a:rPr>
              <a:t> </a:t>
            </a:r>
            <a:r>
              <a:rPr sz="2000" spc="-10" dirty="0">
                <a:solidFill>
                  <a:srgbClr val="3333CC"/>
                </a:solidFill>
                <a:latin typeface="Comic Sans MS"/>
                <a:cs typeface="Comic Sans MS"/>
              </a:rPr>
              <a:t>value</a:t>
            </a:r>
            <a:endParaRPr sz="2000">
              <a:latin typeface="Comic Sans MS"/>
              <a:cs typeface="Comic Sans MS"/>
            </a:endParaRPr>
          </a:p>
          <a:p>
            <a:pPr marL="755650" lvl="1" indent="-286385">
              <a:lnSpc>
                <a:spcPct val="100000"/>
              </a:lnSpc>
              <a:spcBef>
                <a:spcPts val="2190"/>
              </a:spcBef>
              <a:buClr>
                <a:srgbClr val="FF0000"/>
              </a:buClr>
              <a:buChar char="•"/>
              <a:tabLst>
                <a:tab pos="755015" algn="l"/>
                <a:tab pos="756285" algn="l"/>
              </a:tabLst>
            </a:pPr>
            <a:r>
              <a:rPr sz="1800" spc="-5" dirty="0">
                <a:solidFill>
                  <a:srgbClr val="3333CC"/>
                </a:solidFill>
                <a:latin typeface="Comic Sans MS"/>
                <a:cs typeface="Comic Sans MS"/>
              </a:rPr>
              <a:t>It will do the least harm to the mean of existing</a:t>
            </a:r>
            <a:r>
              <a:rPr sz="1800" spc="40" dirty="0">
                <a:solidFill>
                  <a:srgbClr val="3333CC"/>
                </a:solidFill>
                <a:latin typeface="Comic Sans MS"/>
                <a:cs typeface="Comic Sans MS"/>
              </a:rPr>
              <a:t> </a:t>
            </a:r>
            <a:r>
              <a:rPr sz="1800" spc="-5" dirty="0">
                <a:solidFill>
                  <a:srgbClr val="3333CC"/>
                </a:solidFill>
                <a:latin typeface="Comic Sans MS"/>
                <a:cs typeface="Comic Sans MS"/>
              </a:rPr>
              <a:t>data</a:t>
            </a:r>
            <a:endParaRPr sz="1800">
              <a:latin typeface="Comic Sans MS"/>
              <a:cs typeface="Comic Sans MS"/>
            </a:endParaRPr>
          </a:p>
          <a:p>
            <a:pPr marL="755650" lvl="1" indent="-286385">
              <a:lnSpc>
                <a:spcPct val="100000"/>
              </a:lnSpc>
              <a:spcBef>
                <a:spcPts val="1080"/>
              </a:spcBef>
              <a:buClr>
                <a:srgbClr val="FF0000"/>
              </a:buClr>
              <a:buChar char="•"/>
              <a:tabLst>
                <a:tab pos="755015" algn="l"/>
                <a:tab pos="756285" algn="l"/>
              </a:tabLst>
            </a:pPr>
            <a:r>
              <a:rPr sz="1800" spc="-5" dirty="0">
                <a:solidFill>
                  <a:srgbClr val="3333CC"/>
                </a:solidFill>
                <a:latin typeface="Comic Sans MS"/>
                <a:cs typeface="Comic Sans MS"/>
              </a:rPr>
              <a:t>If the mean is to be unbiased</a:t>
            </a:r>
            <a:endParaRPr sz="1800">
              <a:latin typeface="Comic Sans MS"/>
              <a:cs typeface="Comic Sans MS"/>
            </a:endParaRPr>
          </a:p>
          <a:p>
            <a:pPr marL="755650" lvl="1" indent="-286385">
              <a:lnSpc>
                <a:spcPct val="100000"/>
              </a:lnSpc>
              <a:spcBef>
                <a:spcPts val="1080"/>
              </a:spcBef>
              <a:buClr>
                <a:srgbClr val="FF0000"/>
              </a:buClr>
              <a:buChar char="•"/>
              <a:tabLst>
                <a:tab pos="755015" algn="l"/>
                <a:tab pos="756285" algn="l"/>
              </a:tabLst>
            </a:pPr>
            <a:r>
              <a:rPr sz="1800" spc="-5" dirty="0">
                <a:solidFill>
                  <a:srgbClr val="3333CC"/>
                </a:solidFill>
                <a:latin typeface="Comic Sans MS"/>
                <a:cs typeface="Comic Sans MS"/>
              </a:rPr>
              <a:t>What if the standard deviation is to be</a:t>
            </a:r>
            <a:r>
              <a:rPr sz="1800" spc="20" dirty="0">
                <a:solidFill>
                  <a:srgbClr val="3333CC"/>
                </a:solidFill>
                <a:latin typeface="Comic Sans MS"/>
                <a:cs typeface="Comic Sans MS"/>
              </a:rPr>
              <a:t> </a:t>
            </a:r>
            <a:r>
              <a:rPr sz="1800" spc="-5" dirty="0">
                <a:solidFill>
                  <a:srgbClr val="3333CC"/>
                </a:solidFill>
                <a:latin typeface="Comic Sans MS"/>
                <a:cs typeface="Comic Sans MS"/>
              </a:rPr>
              <a:t>unbiased?</a:t>
            </a:r>
            <a:endParaRPr sz="1800">
              <a:latin typeface="Comic Sans MS"/>
              <a:cs typeface="Comic Sans MS"/>
            </a:endParaRPr>
          </a:p>
          <a:p>
            <a:pPr lvl="1">
              <a:lnSpc>
                <a:spcPct val="100000"/>
              </a:lnSpc>
              <a:spcBef>
                <a:spcPts val="35"/>
              </a:spcBef>
              <a:buClr>
                <a:srgbClr val="FF0000"/>
              </a:buClr>
              <a:buFont typeface="Comic Sans MS"/>
              <a:buChar char="•"/>
            </a:pPr>
            <a:endParaRPr sz="3700">
              <a:latin typeface="Times New Roman"/>
              <a:cs typeface="Times New Roman"/>
            </a:endParaRPr>
          </a:p>
          <a:p>
            <a:pPr marL="354965" marR="5080" indent="-342900">
              <a:lnSpc>
                <a:spcPct val="110000"/>
              </a:lnSpc>
              <a:buClr>
                <a:srgbClr val="FF0000"/>
              </a:buClr>
              <a:buChar char="•"/>
              <a:tabLst>
                <a:tab pos="354965" algn="l"/>
                <a:tab pos="355600" algn="l"/>
              </a:tabLst>
            </a:pPr>
            <a:r>
              <a:rPr sz="2000" spc="-5" dirty="0">
                <a:solidFill>
                  <a:srgbClr val="3333CC"/>
                </a:solidFill>
                <a:latin typeface="Comic Sans MS"/>
                <a:cs typeface="Comic Sans MS"/>
              </a:rPr>
              <a:t>Use the </a:t>
            </a:r>
            <a:r>
              <a:rPr sz="2000" spc="-10" dirty="0">
                <a:solidFill>
                  <a:srgbClr val="3333CC"/>
                </a:solidFill>
                <a:latin typeface="Comic Sans MS"/>
                <a:cs typeface="Comic Sans MS"/>
              </a:rPr>
              <a:t>attribute </a:t>
            </a:r>
            <a:r>
              <a:rPr sz="2000" spc="-5" dirty="0">
                <a:solidFill>
                  <a:srgbClr val="008000"/>
                </a:solidFill>
                <a:latin typeface="Comic Sans MS"/>
                <a:cs typeface="Comic Sans MS"/>
              </a:rPr>
              <a:t>mean </a:t>
            </a:r>
            <a:r>
              <a:rPr sz="2000" spc="-5" dirty="0">
                <a:solidFill>
                  <a:srgbClr val="3333CC"/>
                </a:solidFill>
                <a:latin typeface="Comic Sans MS"/>
                <a:cs typeface="Comic Sans MS"/>
              </a:rPr>
              <a:t>for all </a:t>
            </a:r>
            <a:r>
              <a:rPr sz="2000" spc="-10" dirty="0">
                <a:solidFill>
                  <a:srgbClr val="3333CC"/>
                </a:solidFill>
                <a:latin typeface="Comic Sans MS"/>
                <a:cs typeface="Comic Sans MS"/>
              </a:rPr>
              <a:t>samples belonging </a:t>
            </a:r>
            <a:r>
              <a:rPr sz="2000" spc="-5" dirty="0">
                <a:solidFill>
                  <a:srgbClr val="3333CC"/>
                </a:solidFill>
                <a:latin typeface="Comic Sans MS"/>
                <a:cs typeface="Comic Sans MS"/>
              </a:rPr>
              <a:t>to the </a:t>
            </a:r>
            <a:r>
              <a:rPr sz="2000" spc="-10" dirty="0">
                <a:solidFill>
                  <a:srgbClr val="008000"/>
                </a:solidFill>
                <a:latin typeface="Comic Sans MS"/>
                <a:cs typeface="Comic Sans MS"/>
              </a:rPr>
              <a:t>same  </a:t>
            </a:r>
            <a:r>
              <a:rPr sz="2000" spc="-5" dirty="0">
                <a:solidFill>
                  <a:srgbClr val="008000"/>
                </a:solidFill>
                <a:latin typeface="Comic Sans MS"/>
                <a:cs typeface="Comic Sans MS"/>
              </a:rPr>
              <a:t>class </a:t>
            </a:r>
            <a:r>
              <a:rPr sz="2000" spc="-5" dirty="0">
                <a:solidFill>
                  <a:srgbClr val="3333CC"/>
                </a:solidFill>
                <a:latin typeface="Comic Sans MS"/>
                <a:cs typeface="Comic Sans MS"/>
              </a:rPr>
              <a:t>to fill in the </a:t>
            </a:r>
            <a:r>
              <a:rPr sz="2000" spc="-10" dirty="0">
                <a:solidFill>
                  <a:srgbClr val="3333CC"/>
                </a:solidFill>
                <a:latin typeface="Comic Sans MS"/>
                <a:cs typeface="Comic Sans MS"/>
              </a:rPr>
              <a:t>missing</a:t>
            </a:r>
            <a:r>
              <a:rPr sz="2000" spc="60" dirty="0">
                <a:solidFill>
                  <a:srgbClr val="3333CC"/>
                </a:solidFill>
                <a:latin typeface="Comic Sans MS"/>
                <a:cs typeface="Comic Sans MS"/>
              </a:rPr>
              <a:t> </a:t>
            </a:r>
            <a:r>
              <a:rPr sz="2000" spc="-10" dirty="0">
                <a:solidFill>
                  <a:srgbClr val="3333CC"/>
                </a:solidFill>
                <a:latin typeface="Comic Sans MS"/>
                <a:cs typeface="Comic Sans MS"/>
              </a:rPr>
              <a:t>value</a:t>
            </a:r>
            <a:endParaRPr sz="2000">
              <a:latin typeface="Comic Sans MS"/>
              <a:cs typeface="Comic Sans M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46990">
              <a:lnSpc>
                <a:spcPct val="100000"/>
              </a:lnSpc>
              <a:spcBef>
                <a:spcPts val="95"/>
              </a:spcBef>
            </a:pPr>
            <a:r>
              <a:rPr spc="-5" dirty="0"/>
              <a:t>How to </a:t>
            </a:r>
            <a:r>
              <a:rPr spc="-10" dirty="0"/>
              <a:t>Handle </a:t>
            </a:r>
            <a:r>
              <a:rPr spc="-5" dirty="0"/>
              <a:t>Missing</a:t>
            </a:r>
            <a:r>
              <a:rPr spc="55" dirty="0"/>
              <a:t> </a:t>
            </a:r>
            <a:r>
              <a:rPr spc="-5" dirty="0"/>
              <a:t>Data?</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34</a:t>
            </a:fld>
            <a:endParaRPr dirty="0"/>
          </a:p>
        </p:txBody>
      </p:sp>
      <p:sp>
        <p:nvSpPr>
          <p:cNvPr id="3" name="object 3"/>
          <p:cNvSpPr txBox="1"/>
          <p:nvPr/>
        </p:nvSpPr>
        <p:spPr>
          <a:xfrm>
            <a:off x="1309249" y="2078227"/>
            <a:ext cx="7421880" cy="3805554"/>
          </a:xfrm>
          <a:prstGeom prst="rect">
            <a:avLst/>
          </a:prstGeom>
        </p:spPr>
        <p:txBody>
          <a:bodyPr vert="horz" wrap="square" lIns="0" tIns="12065" rIns="0" bIns="0" rtlCol="0">
            <a:spAutoFit/>
          </a:bodyPr>
          <a:lstStyle/>
          <a:p>
            <a:pPr marL="354965" indent="-342900">
              <a:lnSpc>
                <a:spcPct val="100000"/>
              </a:lnSpc>
              <a:spcBef>
                <a:spcPts val="95"/>
              </a:spcBef>
              <a:buClr>
                <a:srgbClr val="FF0000"/>
              </a:buClr>
              <a:buChar char="•"/>
              <a:tabLst>
                <a:tab pos="354965" algn="l"/>
                <a:tab pos="355600" algn="l"/>
              </a:tabLst>
            </a:pPr>
            <a:r>
              <a:rPr sz="2000" spc="-5" dirty="0">
                <a:solidFill>
                  <a:srgbClr val="3333CC"/>
                </a:solidFill>
                <a:latin typeface="Comic Sans MS"/>
                <a:cs typeface="Comic Sans MS"/>
              </a:rPr>
              <a:t>Use the </a:t>
            </a:r>
            <a:r>
              <a:rPr sz="2000" spc="-5" dirty="0">
                <a:solidFill>
                  <a:srgbClr val="008000"/>
                </a:solidFill>
                <a:latin typeface="Comic Sans MS"/>
                <a:cs typeface="Comic Sans MS"/>
              </a:rPr>
              <a:t>most probable value </a:t>
            </a:r>
            <a:r>
              <a:rPr sz="2000" spc="-5" dirty="0">
                <a:solidFill>
                  <a:srgbClr val="3333CC"/>
                </a:solidFill>
                <a:latin typeface="Comic Sans MS"/>
                <a:cs typeface="Comic Sans MS"/>
              </a:rPr>
              <a:t>to fill in the </a:t>
            </a:r>
            <a:r>
              <a:rPr sz="2000" spc="-10" dirty="0">
                <a:solidFill>
                  <a:srgbClr val="3333CC"/>
                </a:solidFill>
                <a:latin typeface="Comic Sans MS"/>
                <a:cs typeface="Comic Sans MS"/>
              </a:rPr>
              <a:t>missing</a:t>
            </a:r>
            <a:r>
              <a:rPr sz="2000" spc="125" dirty="0">
                <a:solidFill>
                  <a:srgbClr val="3333CC"/>
                </a:solidFill>
                <a:latin typeface="Comic Sans MS"/>
                <a:cs typeface="Comic Sans MS"/>
              </a:rPr>
              <a:t> </a:t>
            </a:r>
            <a:r>
              <a:rPr sz="2000" spc="-10" dirty="0">
                <a:solidFill>
                  <a:srgbClr val="3333CC"/>
                </a:solidFill>
                <a:latin typeface="Comic Sans MS"/>
                <a:cs typeface="Comic Sans MS"/>
              </a:rPr>
              <a:t>value</a:t>
            </a:r>
            <a:endParaRPr sz="2000">
              <a:latin typeface="Comic Sans MS"/>
              <a:cs typeface="Comic Sans MS"/>
            </a:endParaRPr>
          </a:p>
          <a:p>
            <a:pPr marL="755650" lvl="1" indent="-287020">
              <a:lnSpc>
                <a:spcPct val="100000"/>
              </a:lnSpc>
              <a:spcBef>
                <a:spcPts val="2190"/>
              </a:spcBef>
              <a:buClr>
                <a:srgbClr val="FF0000"/>
              </a:buClr>
              <a:buChar char="•"/>
              <a:tabLst>
                <a:tab pos="755015" algn="l"/>
                <a:tab pos="756285" algn="l"/>
              </a:tabLst>
            </a:pPr>
            <a:r>
              <a:rPr sz="1800" spc="-5" dirty="0">
                <a:solidFill>
                  <a:srgbClr val="3333CC"/>
                </a:solidFill>
                <a:latin typeface="Comic Sans MS"/>
                <a:cs typeface="Comic Sans MS"/>
              </a:rPr>
              <a:t>Inference-based such as Bayesian formula or decision</a:t>
            </a:r>
            <a:r>
              <a:rPr sz="1800" spc="20" dirty="0">
                <a:solidFill>
                  <a:srgbClr val="3333CC"/>
                </a:solidFill>
                <a:latin typeface="Comic Sans MS"/>
                <a:cs typeface="Comic Sans MS"/>
              </a:rPr>
              <a:t> </a:t>
            </a:r>
            <a:r>
              <a:rPr sz="1800" spc="-5" dirty="0">
                <a:solidFill>
                  <a:srgbClr val="3333CC"/>
                </a:solidFill>
                <a:latin typeface="Comic Sans MS"/>
                <a:cs typeface="Comic Sans MS"/>
              </a:rPr>
              <a:t>tree</a:t>
            </a:r>
            <a:endParaRPr sz="1800">
              <a:latin typeface="Comic Sans MS"/>
              <a:cs typeface="Comic Sans MS"/>
            </a:endParaRPr>
          </a:p>
          <a:p>
            <a:pPr lvl="1">
              <a:lnSpc>
                <a:spcPct val="100000"/>
              </a:lnSpc>
              <a:spcBef>
                <a:spcPts val="45"/>
              </a:spcBef>
              <a:buClr>
                <a:srgbClr val="FF0000"/>
              </a:buClr>
              <a:buFont typeface="Comic Sans MS"/>
              <a:buChar char="•"/>
            </a:pPr>
            <a:endParaRPr sz="3400">
              <a:latin typeface="Times New Roman"/>
              <a:cs typeface="Times New Roman"/>
            </a:endParaRPr>
          </a:p>
          <a:p>
            <a:pPr marL="755650" lvl="1" indent="-286385">
              <a:lnSpc>
                <a:spcPct val="100000"/>
              </a:lnSpc>
              <a:spcBef>
                <a:spcPts val="5"/>
              </a:spcBef>
              <a:buClr>
                <a:srgbClr val="FF0000"/>
              </a:buClr>
              <a:buChar char="•"/>
              <a:tabLst>
                <a:tab pos="755015" algn="l"/>
                <a:tab pos="756285" algn="l"/>
              </a:tabLst>
            </a:pPr>
            <a:r>
              <a:rPr sz="1800" spc="-5" dirty="0">
                <a:solidFill>
                  <a:srgbClr val="3333CC"/>
                </a:solidFill>
                <a:latin typeface="Comic Sans MS"/>
                <a:cs typeface="Comic Sans MS"/>
              </a:rPr>
              <a:t>Identify relationships among</a:t>
            </a:r>
            <a:r>
              <a:rPr sz="1800" spc="-10" dirty="0">
                <a:solidFill>
                  <a:srgbClr val="3333CC"/>
                </a:solidFill>
                <a:latin typeface="Comic Sans MS"/>
                <a:cs typeface="Comic Sans MS"/>
              </a:rPr>
              <a:t> </a:t>
            </a:r>
            <a:r>
              <a:rPr sz="1800" spc="-5" dirty="0">
                <a:solidFill>
                  <a:srgbClr val="3333CC"/>
                </a:solidFill>
                <a:latin typeface="Comic Sans MS"/>
                <a:cs typeface="Comic Sans MS"/>
              </a:rPr>
              <a:t>variables</a:t>
            </a:r>
            <a:endParaRPr sz="1800">
              <a:latin typeface="Comic Sans MS"/>
              <a:cs typeface="Comic Sans MS"/>
            </a:endParaRPr>
          </a:p>
          <a:p>
            <a:pPr marL="1155700" lvl="2" indent="-228600">
              <a:lnSpc>
                <a:spcPct val="100000"/>
              </a:lnSpc>
              <a:spcBef>
                <a:spcPts val="985"/>
              </a:spcBef>
              <a:buClr>
                <a:srgbClr val="FF0000"/>
              </a:buClr>
              <a:buSzPct val="87500"/>
              <a:buChar char="•"/>
              <a:tabLst>
                <a:tab pos="1155065" algn="l"/>
                <a:tab pos="1155700" algn="l"/>
              </a:tabLst>
            </a:pPr>
            <a:r>
              <a:rPr sz="1600" dirty="0">
                <a:solidFill>
                  <a:srgbClr val="3333CC"/>
                </a:solidFill>
                <a:latin typeface="Comic Sans MS"/>
                <a:cs typeface="Comic Sans MS"/>
              </a:rPr>
              <a:t>Linear </a:t>
            </a:r>
            <a:r>
              <a:rPr sz="1600" spc="-5" dirty="0">
                <a:solidFill>
                  <a:srgbClr val="3333CC"/>
                </a:solidFill>
                <a:latin typeface="Comic Sans MS"/>
                <a:cs typeface="Comic Sans MS"/>
              </a:rPr>
              <a:t>regression, </a:t>
            </a:r>
            <a:r>
              <a:rPr sz="1600" dirty="0">
                <a:solidFill>
                  <a:srgbClr val="3333CC"/>
                </a:solidFill>
                <a:latin typeface="Comic Sans MS"/>
                <a:cs typeface="Comic Sans MS"/>
              </a:rPr>
              <a:t>Multiple linear </a:t>
            </a:r>
            <a:r>
              <a:rPr sz="1600" spc="-5" dirty="0">
                <a:solidFill>
                  <a:srgbClr val="3333CC"/>
                </a:solidFill>
                <a:latin typeface="Comic Sans MS"/>
                <a:cs typeface="Comic Sans MS"/>
              </a:rPr>
              <a:t>regression, </a:t>
            </a:r>
            <a:r>
              <a:rPr sz="1600" dirty="0">
                <a:solidFill>
                  <a:srgbClr val="3333CC"/>
                </a:solidFill>
                <a:latin typeface="Comic Sans MS"/>
                <a:cs typeface="Comic Sans MS"/>
              </a:rPr>
              <a:t>Nonlinear</a:t>
            </a:r>
            <a:r>
              <a:rPr sz="1600" spc="-80" dirty="0">
                <a:solidFill>
                  <a:srgbClr val="3333CC"/>
                </a:solidFill>
                <a:latin typeface="Comic Sans MS"/>
                <a:cs typeface="Comic Sans MS"/>
              </a:rPr>
              <a:t> </a:t>
            </a:r>
            <a:r>
              <a:rPr sz="1600" spc="-5" dirty="0">
                <a:solidFill>
                  <a:srgbClr val="3333CC"/>
                </a:solidFill>
                <a:latin typeface="Comic Sans MS"/>
                <a:cs typeface="Comic Sans MS"/>
              </a:rPr>
              <a:t>regression</a:t>
            </a:r>
            <a:endParaRPr sz="1600">
              <a:latin typeface="Comic Sans MS"/>
              <a:cs typeface="Comic Sans MS"/>
            </a:endParaRPr>
          </a:p>
          <a:p>
            <a:pPr lvl="2">
              <a:lnSpc>
                <a:spcPct val="100000"/>
              </a:lnSpc>
              <a:buClr>
                <a:srgbClr val="FF0000"/>
              </a:buClr>
              <a:buFont typeface="Comic Sans MS"/>
              <a:buChar char="•"/>
            </a:pPr>
            <a:endParaRPr sz="2200">
              <a:latin typeface="Times New Roman"/>
              <a:cs typeface="Times New Roman"/>
            </a:endParaRPr>
          </a:p>
          <a:p>
            <a:pPr marL="755650" lvl="1" indent="-286385">
              <a:lnSpc>
                <a:spcPct val="100000"/>
              </a:lnSpc>
              <a:spcBef>
                <a:spcPts val="1405"/>
              </a:spcBef>
              <a:buClr>
                <a:srgbClr val="FF0000"/>
              </a:buClr>
              <a:buChar char="•"/>
              <a:tabLst>
                <a:tab pos="755015" algn="l"/>
                <a:tab pos="756285" algn="l"/>
              </a:tabLst>
            </a:pPr>
            <a:r>
              <a:rPr sz="1800" spc="-5" dirty="0">
                <a:solidFill>
                  <a:srgbClr val="3333CC"/>
                </a:solidFill>
                <a:latin typeface="Comic Sans MS"/>
                <a:cs typeface="Comic Sans MS"/>
              </a:rPr>
              <a:t>Nearest-Neighbour</a:t>
            </a:r>
            <a:r>
              <a:rPr sz="1800" dirty="0">
                <a:solidFill>
                  <a:srgbClr val="3333CC"/>
                </a:solidFill>
                <a:latin typeface="Comic Sans MS"/>
                <a:cs typeface="Comic Sans MS"/>
              </a:rPr>
              <a:t> </a:t>
            </a:r>
            <a:r>
              <a:rPr sz="1800" spc="-5" dirty="0">
                <a:solidFill>
                  <a:srgbClr val="3333CC"/>
                </a:solidFill>
                <a:latin typeface="Comic Sans MS"/>
                <a:cs typeface="Comic Sans MS"/>
              </a:rPr>
              <a:t>estimator</a:t>
            </a:r>
            <a:endParaRPr sz="1800">
              <a:latin typeface="Comic Sans MS"/>
              <a:cs typeface="Comic Sans MS"/>
            </a:endParaRPr>
          </a:p>
          <a:p>
            <a:pPr marL="1155700" marR="123825" lvl="2" indent="-228600">
              <a:lnSpc>
                <a:spcPct val="110000"/>
              </a:lnSpc>
              <a:spcBef>
                <a:spcPts val="790"/>
              </a:spcBef>
              <a:buClr>
                <a:srgbClr val="FF0000"/>
              </a:buClr>
              <a:buSzPct val="87500"/>
              <a:buChar char="•"/>
              <a:tabLst>
                <a:tab pos="1155065" algn="l"/>
                <a:tab pos="1155700" algn="l"/>
              </a:tabLst>
            </a:pPr>
            <a:r>
              <a:rPr sz="1600" dirty="0">
                <a:solidFill>
                  <a:srgbClr val="3333CC"/>
                </a:solidFill>
                <a:latin typeface="Comic Sans MS"/>
                <a:cs typeface="Comic Sans MS"/>
              </a:rPr>
              <a:t>Finding </a:t>
            </a:r>
            <a:r>
              <a:rPr sz="1600" spc="-5" dirty="0">
                <a:solidFill>
                  <a:srgbClr val="3333CC"/>
                </a:solidFill>
                <a:latin typeface="Comic Sans MS"/>
                <a:cs typeface="Comic Sans MS"/>
              </a:rPr>
              <a:t>the </a:t>
            </a:r>
            <a:r>
              <a:rPr sz="1600" dirty="0">
                <a:solidFill>
                  <a:srgbClr val="3333CC"/>
                </a:solidFill>
                <a:latin typeface="Comic Sans MS"/>
                <a:cs typeface="Comic Sans MS"/>
              </a:rPr>
              <a:t>k </a:t>
            </a:r>
            <a:r>
              <a:rPr sz="1600" spc="-5" dirty="0">
                <a:solidFill>
                  <a:srgbClr val="3333CC"/>
                </a:solidFill>
                <a:latin typeface="Comic Sans MS"/>
                <a:cs typeface="Comic Sans MS"/>
              </a:rPr>
              <a:t>neighbours nearest to the </a:t>
            </a:r>
            <a:r>
              <a:rPr sz="1600" dirty="0">
                <a:solidFill>
                  <a:srgbClr val="3333CC"/>
                </a:solidFill>
                <a:latin typeface="Comic Sans MS"/>
                <a:cs typeface="Comic Sans MS"/>
              </a:rPr>
              <a:t>point and </a:t>
            </a:r>
            <a:r>
              <a:rPr sz="1600" spc="-5" dirty="0">
                <a:solidFill>
                  <a:srgbClr val="3333CC"/>
                </a:solidFill>
                <a:latin typeface="Comic Sans MS"/>
                <a:cs typeface="Comic Sans MS"/>
              </a:rPr>
              <a:t>fill in the </a:t>
            </a:r>
            <a:r>
              <a:rPr sz="1600" dirty="0">
                <a:solidFill>
                  <a:srgbClr val="3333CC"/>
                </a:solidFill>
                <a:latin typeface="Comic Sans MS"/>
                <a:cs typeface="Comic Sans MS"/>
              </a:rPr>
              <a:t>most  </a:t>
            </a:r>
            <a:r>
              <a:rPr sz="1600" spc="-5" dirty="0">
                <a:solidFill>
                  <a:srgbClr val="3333CC"/>
                </a:solidFill>
                <a:latin typeface="Comic Sans MS"/>
                <a:cs typeface="Comic Sans MS"/>
              </a:rPr>
              <a:t>frequent value </a:t>
            </a:r>
            <a:r>
              <a:rPr sz="1600" dirty="0">
                <a:solidFill>
                  <a:srgbClr val="3333CC"/>
                </a:solidFill>
                <a:latin typeface="Comic Sans MS"/>
                <a:cs typeface="Comic Sans MS"/>
              </a:rPr>
              <a:t>or </a:t>
            </a:r>
            <a:r>
              <a:rPr sz="1600" spc="-5" dirty="0">
                <a:solidFill>
                  <a:srgbClr val="3333CC"/>
                </a:solidFill>
                <a:latin typeface="Comic Sans MS"/>
                <a:cs typeface="Comic Sans MS"/>
              </a:rPr>
              <a:t>the </a:t>
            </a:r>
            <a:r>
              <a:rPr sz="1600" dirty="0">
                <a:solidFill>
                  <a:srgbClr val="3333CC"/>
                </a:solidFill>
                <a:latin typeface="Comic Sans MS"/>
                <a:cs typeface="Comic Sans MS"/>
              </a:rPr>
              <a:t>average</a:t>
            </a:r>
            <a:r>
              <a:rPr sz="1600" spc="-20" dirty="0">
                <a:solidFill>
                  <a:srgbClr val="3333CC"/>
                </a:solidFill>
                <a:latin typeface="Comic Sans MS"/>
                <a:cs typeface="Comic Sans MS"/>
              </a:rPr>
              <a:t> </a:t>
            </a:r>
            <a:r>
              <a:rPr sz="1600" spc="-5" dirty="0">
                <a:solidFill>
                  <a:srgbClr val="3333CC"/>
                </a:solidFill>
                <a:latin typeface="Comic Sans MS"/>
                <a:cs typeface="Comic Sans MS"/>
              </a:rPr>
              <a:t>value</a:t>
            </a:r>
            <a:endParaRPr sz="1600">
              <a:latin typeface="Comic Sans MS"/>
              <a:cs typeface="Comic Sans MS"/>
            </a:endParaRPr>
          </a:p>
          <a:p>
            <a:pPr marL="1155700" lvl="2" indent="-228600">
              <a:lnSpc>
                <a:spcPct val="100000"/>
              </a:lnSpc>
              <a:spcBef>
                <a:spcPts val="960"/>
              </a:spcBef>
              <a:buClr>
                <a:srgbClr val="FF0000"/>
              </a:buClr>
              <a:buSzPct val="87500"/>
              <a:buChar char="•"/>
              <a:tabLst>
                <a:tab pos="1155065" algn="l"/>
                <a:tab pos="1155700" algn="l"/>
              </a:tabLst>
            </a:pPr>
            <a:r>
              <a:rPr sz="1600" dirty="0">
                <a:solidFill>
                  <a:srgbClr val="3333CC"/>
                </a:solidFill>
                <a:latin typeface="Comic Sans MS"/>
                <a:cs typeface="Comic Sans MS"/>
              </a:rPr>
              <a:t>Finding </a:t>
            </a:r>
            <a:r>
              <a:rPr sz="1600" spc="-5" dirty="0">
                <a:solidFill>
                  <a:srgbClr val="3333CC"/>
                </a:solidFill>
                <a:latin typeface="Comic Sans MS"/>
                <a:cs typeface="Comic Sans MS"/>
              </a:rPr>
              <a:t>neighbours in </a:t>
            </a:r>
            <a:r>
              <a:rPr sz="1600" dirty="0">
                <a:solidFill>
                  <a:srgbClr val="3333CC"/>
                </a:solidFill>
                <a:latin typeface="Comic Sans MS"/>
                <a:cs typeface="Comic Sans MS"/>
              </a:rPr>
              <a:t>a large </a:t>
            </a:r>
            <a:r>
              <a:rPr sz="1600" spc="-5" dirty="0">
                <a:solidFill>
                  <a:srgbClr val="3333CC"/>
                </a:solidFill>
                <a:latin typeface="Comic Sans MS"/>
                <a:cs typeface="Comic Sans MS"/>
              </a:rPr>
              <a:t>dataset </a:t>
            </a:r>
            <a:r>
              <a:rPr sz="1600" dirty="0">
                <a:solidFill>
                  <a:srgbClr val="3333CC"/>
                </a:solidFill>
                <a:latin typeface="Comic Sans MS"/>
                <a:cs typeface="Comic Sans MS"/>
              </a:rPr>
              <a:t>may </a:t>
            </a:r>
            <a:r>
              <a:rPr sz="1600" spc="-5" dirty="0">
                <a:solidFill>
                  <a:srgbClr val="3333CC"/>
                </a:solidFill>
                <a:latin typeface="Comic Sans MS"/>
                <a:cs typeface="Comic Sans MS"/>
              </a:rPr>
              <a:t>be</a:t>
            </a:r>
            <a:r>
              <a:rPr sz="1600" spc="-50" dirty="0">
                <a:solidFill>
                  <a:srgbClr val="3333CC"/>
                </a:solidFill>
                <a:latin typeface="Comic Sans MS"/>
                <a:cs typeface="Comic Sans MS"/>
              </a:rPr>
              <a:t> </a:t>
            </a:r>
            <a:r>
              <a:rPr sz="1600" dirty="0">
                <a:solidFill>
                  <a:srgbClr val="3333CC"/>
                </a:solidFill>
                <a:latin typeface="Comic Sans MS"/>
                <a:cs typeface="Comic Sans MS"/>
              </a:rPr>
              <a:t>slow</a:t>
            </a:r>
            <a:endParaRPr sz="1600">
              <a:latin typeface="Comic Sans MS"/>
              <a:cs typeface="Comic Sans M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135515" y="2289810"/>
            <a:ext cx="4011167" cy="401116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437515" y="942848"/>
            <a:ext cx="3849370" cy="513080"/>
          </a:xfrm>
          <a:prstGeom prst="rect">
            <a:avLst/>
          </a:prstGeom>
        </p:spPr>
        <p:txBody>
          <a:bodyPr vert="horz" wrap="square" lIns="0" tIns="12065" rIns="0" bIns="0" rtlCol="0">
            <a:spAutoFit/>
          </a:bodyPr>
          <a:lstStyle/>
          <a:p>
            <a:pPr marL="12700">
              <a:lnSpc>
                <a:spcPct val="100000"/>
              </a:lnSpc>
              <a:spcBef>
                <a:spcPts val="95"/>
              </a:spcBef>
            </a:pPr>
            <a:r>
              <a:rPr spc="-10" dirty="0"/>
              <a:t>Nearest-Neighbour</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35</a:t>
            </a:fld>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46990">
              <a:lnSpc>
                <a:spcPct val="100000"/>
              </a:lnSpc>
              <a:spcBef>
                <a:spcPts val="95"/>
              </a:spcBef>
            </a:pPr>
            <a:r>
              <a:rPr spc="-5" dirty="0"/>
              <a:t>How to </a:t>
            </a:r>
            <a:r>
              <a:rPr spc="-10" dirty="0"/>
              <a:t>Handle </a:t>
            </a:r>
            <a:r>
              <a:rPr spc="-5" dirty="0"/>
              <a:t>Missing</a:t>
            </a:r>
            <a:r>
              <a:rPr spc="55" dirty="0"/>
              <a:t> </a:t>
            </a:r>
            <a:r>
              <a:rPr spc="-5" dirty="0"/>
              <a:t>Data?</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36</a:t>
            </a:fld>
            <a:endParaRPr dirty="0"/>
          </a:p>
        </p:txBody>
      </p:sp>
      <p:sp>
        <p:nvSpPr>
          <p:cNvPr id="3" name="object 3"/>
          <p:cNvSpPr txBox="1"/>
          <p:nvPr/>
        </p:nvSpPr>
        <p:spPr>
          <a:xfrm>
            <a:off x="1309249" y="2047448"/>
            <a:ext cx="7948295" cy="3134360"/>
          </a:xfrm>
          <a:prstGeom prst="rect">
            <a:avLst/>
          </a:prstGeom>
        </p:spPr>
        <p:txBody>
          <a:bodyPr vert="horz" wrap="square" lIns="0" tIns="12700" rIns="0" bIns="0" rtlCol="0">
            <a:spAutoFit/>
          </a:bodyPr>
          <a:lstStyle/>
          <a:p>
            <a:pPr marL="354965" marR="73025" indent="-342900">
              <a:lnSpc>
                <a:spcPct val="110000"/>
              </a:lnSpc>
              <a:spcBef>
                <a:spcPts val="100"/>
              </a:spcBef>
              <a:buClr>
                <a:srgbClr val="FF0000"/>
              </a:buClr>
              <a:buChar char="•"/>
              <a:tabLst>
                <a:tab pos="354965" algn="l"/>
                <a:tab pos="355600" algn="l"/>
              </a:tabLst>
            </a:pPr>
            <a:r>
              <a:rPr sz="2000" spc="-5" dirty="0">
                <a:solidFill>
                  <a:srgbClr val="3333CC"/>
                </a:solidFill>
                <a:latin typeface="Comic Sans MS"/>
                <a:cs typeface="Comic Sans MS"/>
              </a:rPr>
              <a:t>Note that, it is as </a:t>
            </a:r>
            <a:r>
              <a:rPr sz="2000" spc="-10" dirty="0">
                <a:solidFill>
                  <a:srgbClr val="3333CC"/>
                </a:solidFill>
                <a:latin typeface="Comic Sans MS"/>
                <a:cs typeface="Comic Sans MS"/>
              </a:rPr>
              <a:t>important </a:t>
            </a:r>
            <a:r>
              <a:rPr sz="2000" spc="-5" dirty="0">
                <a:solidFill>
                  <a:srgbClr val="3333CC"/>
                </a:solidFill>
                <a:latin typeface="Comic Sans MS"/>
                <a:cs typeface="Comic Sans MS"/>
              </a:rPr>
              <a:t>to </a:t>
            </a:r>
            <a:r>
              <a:rPr sz="2000" spc="-5" dirty="0">
                <a:solidFill>
                  <a:srgbClr val="008000"/>
                </a:solidFill>
                <a:latin typeface="Comic Sans MS"/>
                <a:cs typeface="Comic Sans MS"/>
              </a:rPr>
              <a:t>avoid adding bias </a:t>
            </a:r>
            <a:r>
              <a:rPr sz="2000" spc="-5" dirty="0">
                <a:solidFill>
                  <a:srgbClr val="3333CC"/>
                </a:solidFill>
                <a:latin typeface="Comic Sans MS"/>
                <a:cs typeface="Comic Sans MS"/>
              </a:rPr>
              <a:t>and </a:t>
            </a:r>
            <a:r>
              <a:rPr sz="2000" spc="-10" dirty="0">
                <a:solidFill>
                  <a:srgbClr val="3333CC"/>
                </a:solidFill>
                <a:latin typeface="Comic Sans MS"/>
                <a:cs typeface="Comic Sans MS"/>
              </a:rPr>
              <a:t>distortion  </a:t>
            </a:r>
            <a:r>
              <a:rPr sz="2000" spc="-5" dirty="0">
                <a:solidFill>
                  <a:srgbClr val="3333CC"/>
                </a:solidFill>
                <a:latin typeface="Comic Sans MS"/>
                <a:cs typeface="Comic Sans MS"/>
              </a:rPr>
              <a:t>to the data as it is to make the </a:t>
            </a:r>
            <a:r>
              <a:rPr sz="2000" spc="-10" dirty="0">
                <a:solidFill>
                  <a:srgbClr val="3333CC"/>
                </a:solidFill>
                <a:latin typeface="Comic Sans MS"/>
                <a:cs typeface="Comic Sans MS"/>
              </a:rPr>
              <a:t>information</a:t>
            </a:r>
            <a:r>
              <a:rPr sz="2000" spc="95" dirty="0">
                <a:solidFill>
                  <a:srgbClr val="3333CC"/>
                </a:solidFill>
                <a:latin typeface="Comic Sans MS"/>
                <a:cs typeface="Comic Sans MS"/>
              </a:rPr>
              <a:t> </a:t>
            </a:r>
            <a:r>
              <a:rPr sz="2000" spc="-5" dirty="0">
                <a:solidFill>
                  <a:srgbClr val="3333CC"/>
                </a:solidFill>
                <a:latin typeface="Comic Sans MS"/>
                <a:cs typeface="Comic Sans MS"/>
              </a:rPr>
              <a:t>available.</a:t>
            </a:r>
            <a:endParaRPr sz="2000">
              <a:latin typeface="Comic Sans MS"/>
              <a:cs typeface="Comic Sans MS"/>
            </a:endParaRPr>
          </a:p>
          <a:p>
            <a:pPr marL="755650" lvl="1" indent="-286385">
              <a:lnSpc>
                <a:spcPct val="100000"/>
              </a:lnSpc>
              <a:spcBef>
                <a:spcPts val="2185"/>
              </a:spcBef>
              <a:buClr>
                <a:srgbClr val="FF0000"/>
              </a:buClr>
              <a:buChar char="•"/>
              <a:tabLst>
                <a:tab pos="755015" algn="l"/>
                <a:tab pos="756285" algn="l"/>
              </a:tabLst>
            </a:pPr>
            <a:r>
              <a:rPr sz="1800" spc="-5" dirty="0">
                <a:solidFill>
                  <a:srgbClr val="3333CC"/>
                </a:solidFill>
                <a:latin typeface="Comic Sans MS"/>
                <a:cs typeface="Comic Sans MS"/>
              </a:rPr>
              <a:t>bias is added when </a:t>
            </a:r>
            <a:r>
              <a:rPr sz="1800" dirty="0">
                <a:solidFill>
                  <a:srgbClr val="3333CC"/>
                </a:solidFill>
                <a:latin typeface="Comic Sans MS"/>
                <a:cs typeface="Comic Sans MS"/>
              </a:rPr>
              <a:t>a </a:t>
            </a:r>
            <a:r>
              <a:rPr sz="1800" spc="-5" dirty="0">
                <a:solidFill>
                  <a:srgbClr val="3333CC"/>
                </a:solidFill>
                <a:latin typeface="Comic Sans MS"/>
                <a:cs typeface="Comic Sans MS"/>
              </a:rPr>
              <a:t>wrong value is filled-in</a:t>
            </a:r>
            <a:endParaRPr sz="1800">
              <a:latin typeface="Comic Sans MS"/>
              <a:cs typeface="Comic Sans MS"/>
            </a:endParaRPr>
          </a:p>
          <a:p>
            <a:pPr lvl="1">
              <a:lnSpc>
                <a:spcPct val="100000"/>
              </a:lnSpc>
              <a:spcBef>
                <a:spcPts val="40"/>
              </a:spcBef>
              <a:buClr>
                <a:srgbClr val="FF0000"/>
              </a:buClr>
              <a:buFont typeface="Comic Sans MS"/>
              <a:buChar char="•"/>
            </a:pPr>
            <a:endParaRPr sz="3700">
              <a:latin typeface="Times New Roman"/>
              <a:cs typeface="Times New Roman"/>
            </a:endParaRPr>
          </a:p>
          <a:p>
            <a:pPr marL="354965" marR="5080" indent="-342900">
              <a:lnSpc>
                <a:spcPct val="110000"/>
              </a:lnSpc>
              <a:buClr>
                <a:srgbClr val="FF0000"/>
              </a:buClr>
              <a:buChar char="•"/>
              <a:tabLst>
                <a:tab pos="354965" algn="l"/>
                <a:tab pos="355600" algn="l"/>
              </a:tabLst>
            </a:pPr>
            <a:r>
              <a:rPr sz="2000" spc="-5" dirty="0">
                <a:solidFill>
                  <a:srgbClr val="3333CC"/>
                </a:solidFill>
                <a:latin typeface="Comic Sans MS"/>
                <a:cs typeface="Comic Sans MS"/>
              </a:rPr>
              <a:t>No </a:t>
            </a:r>
            <a:r>
              <a:rPr sz="2000" spc="-10" dirty="0">
                <a:solidFill>
                  <a:srgbClr val="3333CC"/>
                </a:solidFill>
                <a:latin typeface="Comic Sans MS"/>
                <a:cs typeface="Comic Sans MS"/>
              </a:rPr>
              <a:t>matter </a:t>
            </a:r>
            <a:r>
              <a:rPr sz="2000" spc="-5" dirty="0">
                <a:solidFill>
                  <a:srgbClr val="3333CC"/>
                </a:solidFill>
                <a:latin typeface="Comic Sans MS"/>
                <a:cs typeface="Comic Sans MS"/>
              </a:rPr>
              <a:t>what </a:t>
            </a:r>
            <a:r>
              <a:rPr sz="2000" spc="-10" dirty="0">
                <a:solidFill>
                  <a:srgbClr val="3333CC"/>
                </a:solidFill>
                <a:latin typeface="Comic Sans MS"/>
                <a:cs typeface="Comic Sans MS"/>
              </a:rPr>
              <a:t>techniques </a:t>
            </a:r>
            <a:r>
              <a:rPr sz="2000" spc="-5" dirty="0">
                <a:solidFill>
                  <a:srgbClr val="3333CC"/>
                </a:solidFill>
                <a:latin typeface="Comic Sans MS"/>
                <a:cs typeface="Comic Sans MS"/>
              </a:rPr>
              <a:t>you use to conquer the problem, </a:t>
            </a:r>
            <a:r>
              <a:rPr sz="2000" spc="-10" dirty="0">
                <a:solidFill>
                  <a:srgbClr val="3333CC"/>
                </a:solidFill>
                <a:latin typeface="Comic Sans MS"/>
                <a:cs typeface="Comic Sans MS"/>
              </a:rPr>
              <a:t>it  </a:t>
            </a:r>
            <a:r>
              <a:rPr sz="2000" spc="-5" dirty="0">
                <a:solidFill>
                  <a:srgbClr val="3333CC"/>
                </a:solidFill>
                <a:latin typeface="Comic Sans MS"/>
                <a:cs typeface="Comic Sans MS"/>
              </a:rPr>
              <a:t>comes at a price. </a:t>
            </a:r>
            <a:r>
              <a:rPr sz="2000" spc="-5" dirty="0">
                <a:solidFill>
                  <a:srgbClr val="008000"/>
                </a:solidFill>
                <a:latin typeface="Comic Sans MS"/>
                <a:cs typeface="Comic Sans MS"/>
              </a:rPr>
              <a:t>The more </a:t>
            </a:r>
            <a:r>
              <a:rPr sz="2000" spc="-10" dirty="0">
                <a:solidFill>
                  <a:srgbClr val="008000"/>
                </a:solidFill>
                <a:latin typeface="Comic Sans MS"/>
                <a:cs typeface="Comic Sans MS"/>
              </a:rPr>
              <a:t>guessing </a:t>
            </a:r>
            <a:r>
              <a:rPr sz="2000" spc="-5" dirty="0">
                <a:solidFill>
                  <a:srgbClr val="3333CC"/>
                </a:solidFill>
                <a:latin typeface="Comic Sans MS"/>
                <a:cs typeface="Comic Sans MS"/>
              </a:rPr>
              <a:t>you have to do, </a:t>
            </a:r>
            <a:r>
              <a:rPr sz="2000" spc="-5" dirty="0">
                <a:solidFill>
                  <a:srgbClr val="008000"/>
                </a:solidFill>
                <a:latin typeface="Comic Sans MS"/>
                <a:cs typeface="Comic Sans MS"/>
              </a:rPr>
              <a:t>the </a:t>
            </a:r>
            <a:r>
              <a:rPr sz="2000" spc="-10" dirty="0">
                <a:solidFill>
                  <a:srgbClr val="008000"/>
                </a:solidFill>
                <a:latin typeface="Comic Sans MS"/>
                <a:cs typeface="Comic Sans MS"/>
              </a:rPr>
              <a:t>further  </a:t>
            </a:r>
            <a:r>
              <a:rPr sz="2000" spc="-5" dirty="0">
                <a:solidFill>
                  <a:srgbClr val="008000"/>
                </a:solidFill>
                <a:latin typeface="Comic Sans MS"/>
                <a:cs typeface="Comic Sans MS"/>
              </a:rPr>
              <a:t>away from the real data </a:t>
            </a:r>
            <a:r>
              <a:rPr sz="2000" spc="-5" dirty="0">
                <a:solidFill>
                  <a:srgbClr val="3333CC"/>
                </a:solidFill>
                <a:latin typeface="Comic Sans MS"/>
                <a:cs typeface="Comic Sans MS"/>
              </a:rPr>
              <a:t>the </a:t>
            </a:r>
            <a:r>
              <a:rPr sz="2000" spc="-10" dirty="0">
                <a:solidFill>
                  <a:srgbClr val="3333CC"/>
                </a:solidFill>
                <a:latin typeface="Comic Sans MS"/>
                <a:cs typeface="Comic Sans MS"/>
              </a:rPr>
              <a:t>database becomes. </a:t>
            </a:r>
            <a:r>
              <a:rPr sz="2000" spc="-5" dirty="0">
                <a:solidFill>
                  <a:srgbClr val="3333CC"/>
                </a:solidFill>
                <a:latin typeface="Comic Sans MS"/>
                <a:cs typeface="Comic Sans MS"/>
              </a:rPr>
              <a:t>Thus, in turn, </a:t>
            </a:r>
            <a:r>
              <a:rPr sz="2000" spc="-10" dirty="0">
                <a:solidFill>
                  <a:srgbClr val="3333CC"/>
                </a:solidFill>
                <a:latin typeface="Comic Sans MS"/>
                <a:cs typeface="Comic Sans MS"/>
              </a:rPr>
              <a:t>it  </a:t>
            </a:r>
            <a:r>
              <a:rPr sz="2000" spc="-5" dirty="0">
                <a:solidFill>
                  <a:srgbClr val="3333CC"/>
                </a:solidFill>
                <a:latin typeface="Comic Sans MS"/>
                <a:cs typeface="Comic Sans MS"/>
              </a:rPr>
              <a:t>can affect the accuracy and </a:t>
            </a:r>
            <a:r>
              <a:rPr sz="2000" spc="-10" dirty="0">
                <a:solidFill>
                  <a:srgbClr val="3333CC"/>
                </a:solidFill>
                <a:latin typeface="Comic Sans MS"/>
                <a:cs typeface="Comic Sans MS"/>
              </a:rPr>
              <a:t>validation </a:t>
            </a:r>
            <a:r>
              <a:rPr sz="2000" spc="-5" dirty="0">
                <a:solidFill>
                  <a:srgbClr val="3333CC"/>
                </a:solidFill>
                <a:latin typeface="Comic Sans MS"/>
                <a:cs typeface="Comic Sans MS"/>
              </a:rPr>
              <a:t>of the </a:t>
            </a:r>
            <a:r>
              <a:rPr sz="2000" spc="-10" dirty="0">
                <a:solidFill>
                  <a:srgbClr val="3333CC"/>
                </a:solidFill>
                <a:latin typeface="Comic Sans MS"/>
                <a:cs typeface="Comic Sans MS"/>
              </a:rPr>
              <a:t>mining</a:t>
            </a:r>
            <a:r>
              <a:rPr sz="2000" spc="165" dirty="0">
                <a:solidFill>
                  <a:srgbClr val="3333CC"/>
                </a:solidFill>
                <a:latin typeface="Comic Sans MS"/>
                <a:cs typeface="Comic Sans MS"/>
              </a:rPr>
              <a:t> </a:t>
            </a:r>
            <a:r>
              <a:rPr sz="2000" spc="-10" dirty="0">
                <a:solidFill>
                  <a:srgbClr val="3333CC"/>
                </a:solidFill>
                <a:latin typeface="Comic Sans MS"/>
                <a:cs typeface="Comic Sans MS"/>
              </a:rPr>
              <a:t>results.</a:t>
            </a:r>
            <a:endParaRPr sz="2000">
              <a:latin typeface="Comic Sans MS"/>
              <a:cs typeface="Comic Sans M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4691" y="942848"/>
            <a:ext cx="1793875" cy="513080"/>
          </a:xfrm>
          <a:prstGeom prst="rect">
            <a:avLst/>
          </a:prstGeom>
        </p:spPr>
        <p:txBody>
          <a:bodyPr vert="horz" wrap="square" lIns="0" tIns="12065" rIns="0" bIns="0" rtlCol="0">
            <a:spAutoFit/>
          </a:bodyPr>
          <a:lstStyle/>
          <a:p>
            <a:pPr marL="12700">
              <a:lnSpc>
                <a:spcPct val="100000"/>
              </a:lnSpc>
              <a:spcBef>
                <a:spcPts val="95"/>
              </a:spcBef>
            </a:pPr>
            <a:r>
              <a:rPr spc="-10" dirty="0"/>
              <a:t>Summary</a:t>
            </a:r>
          </a:p>
        </p:txBody>
      </p:sp>
      <p:sp>
        <p:nvSpPr>
          <p:cNvPr id="4" name="object 4"/>
          <p:cNvSpPr txBox="1">
            <a:spLocks noGrp="1"/>
          </p:cNvSpPr>
          <p:nvPr>
            <p:ph type="sldNum" sz="quarter" idx="7"/>
          </p:nvPr>
        </p:nvSpPr>
        <p:spPr>
          <a:prstGeom prst="rect">
            <a:avLst/>
          </a:prstGeom>
        </p:spPr>
        <p:txBody>
          <a:bodyPr vert="horz" wrap="square" lIns="0" tIns="27940" rIns="0" bIns="0" rtlCol="0">
            <a:spAutoFit/>
          </a:bodyPr>
          <a:lstStyle/>
          <a:p>
            <a:pPr marL="38100">
              <a:lnSpc>
                <a:spcPct val="100000"/>
              </a:lnSpc>
              <a:spcBef>
                <a:spcPts val="220"/>
              </a:spcBef>
            </a:pPr>
            <a:fld id="{81D60167-4931-47E6-BA6A-407CBD079E47}" type="slidenum">
              <a:rPr dirty="0"/>
              <a:t>37</a:t>
            </a:fld>
            <a:endParaRPr dirty="0"/>
          </a:p>
        </p:txBody>
      </p:sp>
      <p:sp>
        <p:nvSpPr>
          <p:cNvPr id="3" name="object 3"/>
          <p:cNvSpPr txBox="1"/>
          <p:nvPr/>
        </p:nvSpPr>
        <p:spPr>
          <a:xfrm>
            <a:off x="1309249" y="2040889"/>
            <a:ext cx="7781290" cy="4250055"/>
          </a:xfrm>
          <a:prstGeom prst="rect">
            <a:avLst/>
          </a:prstGeom>
        </p:spPr>
        <p:txBody>
          <a:bodyPr vert="horz" wrap="square" lIns="0" tIns="12700" rIns="0" bIns="0" rtlCol="0">
            <a:spAutoFit/>
          </a:bodyPr>
          <a:lstStyle/>
          <a:p>
            <a:pPr marL="355600" marR="301625" indent="-342900">
              <a:lnSpc>
                <a:spcPct val="110000"/>
              </a:lnSpc>
              <a:spcBef>
                <a:spcPts val="100"/>
              </a:spcBef>
              <a:buClr>
                <a:srgbClr val="FF0000"/>
              </a:buClr>
              <a:buChar char="•"/>
              <a:tabLst>
                <a:tab pos="354965" algn="l"/>
                <a:tab pos="355600" algn="l"/>
              </a:tabLst>
            </a:pPr>
            <a:r>
              <a:rPr sz="2400" dirty="0">
                <a:solidFill>
                  <a:srgbClr val="3333CC"/>
                </a:solidFill>
                <a:latin typeface="Comic Sans MS"/>
                <a:cs typeface="Comic Sans MS"/>
              </a:rPr>
              <a:t>Every </a:t>
            </a:r>
            <a:r>
              <a:rPr sz="2400" spc="-5" dirty="0">
                <a:solidFill>
                  <a:srgbClr val="3333CC"/>
                </a:solidFill>
                <a:latin typeface="Comic Sans MS"/>
                <a:cs typeface="Comic Sans MS"/>
              </a:rPr>
              <a:t>real world data </a:t>
            </a:r>
            <a:r>
              <a:rPr sz="2400" dirty="0">
                <a:solidFill>
                  <a:srgbClr val="3333CC"/>
                </a:solidFill>
                <a:latin typeface="Comic Sans MS"/>
                <a:cs typeface="Comic Sans MS"/>
              </a:rPr>
              <a:t>set </a:t>
            </a:r>
            <a:r>
              <a:rPr sz="2400" spc="-5" dirty="0">
                <a:solidFill>
                  <a:srgbClr val="3333CC"/>
                </a:solidFill>
                <a:latin typeface="Comic Sans MS"/>
                <a:cs typeface="Comic Sans MS"/>
              </a:rPr>
              <a:t>needs </a:t>
            </a:r>
            <a:r>
              <a:rPr sz="2400" dirty="0">
                <a:solidFill>
                  <a:srgbClr val="3333CC"/>
                </a:solidFill>
                <a:latin typeface="Comic Sans MS"/>
                <a:cs typeface="Comic Sans MS"/>
              </a:rPr>
              <a:t>some </a:t>
            </a:r>
            <a:r>
              <a:rPr sz="2400" spc="-5" dirty="0">
                <a:solidFill>
                  <a:srgbClr val="3333CC"/>
                </a:solidFill>
                <a:latin typeface="Comic Sans MS"/>
                <a:cs typeface="Comic Sans MS"/>
              </a:rPr>
              <a:t>kind </a:t>
            </a:r>
            <a:r>
              <a:rPr sz="2400" dirty="0">
                <a:solidFill>
                  <a:srgbClr val="3333CC"/>
                </a:solidFill>
                <a:latin typeface="Comic Sans MS"/>
                <a:cs typeface="Comic Sans MS"/>
              </a:rPr>
              <a:t>of</a:t>
            </a:r>
            <a:r>
              <a:rPr sz="2400" spc="-140" dirty="0">
                <a:solidFill>
                  <a:srgbClr val="3333CC"/>
                </a:solidFill>
                <a:latin typeface="Comic Sans MS"/>
                <a:cs typeface="Comic Sans MS"/>
              </a:rPr>
              <a:t> </a:t>
            </a:r>
            <a:r>
              <a:rPr sz="2400" spc="-5" dirty="0">
                <a:solidFill>
                  <a:srgbClr val="3333CC"/>
                </a:solidFill>
                <a:latin typeface="Comic Sans MS"/>
                <a:cs typeface="Comic Sans MS"/>
              </a:rPr>
              <a:t>data  </a:t>
            </a:r>
            <a:r>
              <a:rPr sz="2400" dirty="0">
                <a:solidFill>
                  <a:srgbClr val="3333CC"/>
                </a:solidFill>
                <a:latin typeface="Comic Sans MS"/>
                <a:cs typeface="Comic Sans MS"/>
              </a:rPr>
              <a:t>pre-processing</a:t>
            </a:r>
            <a:endParaRPr sz="2400">
              <a:latin typeface="Comic Sans MS"/>
              <a:cs typeface="Comic Sans MS"/>
            </a:endParaRPr>
          </a:p>
          <a:p>
            <a:pPr marL="755015" lvl="1" indent="-285750">
              <a:lnSpc>
                <a:spcPct val="100000"/>
              </a:lnSpc>
              <a:spcBef>
                <a:spcPts val="2545"/>
              </a:spcBef>
              <a:buClr>
                <a:srgbClr val="FF0000"/>
              </a:buClr>
              <a:buChar char="•"/>
              <a:tabLst>
                <a:tab pos="755015" algn="l"/>
                <a:tab pos="755650" algn="l"/>
              </a:tabLst>
            </a:pPr>
            <a:r>
              <a:rPr sz="2000" spc="-5" dirty="0">
                <a:solidFill>
                  <a:srgbClr val="3333CC"/>
                </a:solidFill>
                <a:latin typeface="Comic Sans MS"/>
                <a:cs typeface="Comic Sans MS"/>
              </a:rPr>
              <a:t>Deal with </a:t>
            </a:r>
            <a:r>
              <a:rPr sz="2000" spc="-10" dirty="0">
                <a:solidFill>
                  <a:srgbClr val="3333CC"/>
                </a:solidFill>
                <a:latin typeface="Comic Sans MS"/>
                <a:cs typeface="Comic Sans MS"/>
              </a:rPr>
              <a:t>missing</a:t>
            </a:r>
            <a:r>
              <a:rPr sz="2000" spc="30" dirty="0">
                <a:solidFill>
                  <a:srgbClr val="3333CC"/>
                </a:solidFill>
                <a:latin typeface="Comic Sans MS"/>
                <a:cs typeface="Comic Sans MS"/>
              </a:rPr>
              <a:t> </a:t>
            </a:r>
            <a:r>
              <a:rPr sz="2000" spc="-10" dirty="0">
                <a:solidFill>
                  <a:srgbClr val="3333CC"/>
                </a:solidFill>
                <a:latin typeface="Comic Sans MS"/>
                <a:cs typeface="Comic Sans MS"/>
              </a:rPr>
              <a:t>values</a:t>
            </a:r>
            <a:endParaRPr sz="2000">
              <a:latin typeface="Comic Sans MS"/>
              <a:cs typeface="Comic Sans MS"/>
            </a:endParaRPr>
          </a:p>
          <a:p>
            <a:pPr marL="755015" lvl="1" indent="-285750">
              <a:lnSpc>
                <a:spcPct val="100000"/>
              </a:lnSpc>
              <a:spcBef>
                <a:spcPts val="1200"/>
              </a:spcBef>
              <a:buClr>
                <a:srgbClr val="FF0000"/>
              </a:buClr>
              <a:buChar char="•"/>
              <a:tabLst>
                <a:tab pos="755015" algn="l"/>
                <a:tab pos="755650" algn="l"/>
              </a:tabLst>
            </a:pPr>
            <a:r>
              <a:rPr sz="2000" spc="-5" dirty="0">
                <a:solidFill>
                  <a:srgbClr val="3333CC"/>
                </a:solidFill>
                <a:latin typeface="Comic Sans MS"/>
                <a:cs typeface="Comic Sans MS"/>
              </a:rPr>
              <a:t>Correct </a:t>
            </a:r>
            <a:r>
              <a:rPr sz="2000" spc="-10" dirty="0">
                <a:solidFill>
                  <a:srgbClr val="3333CC"/>
                </a:solidFill>
                <a:latin typeface="Comic Sans MS"/>
                <a:cs typeface="Comic Sans MS"/>
              </a:rPr>
              <a:t>erroneous</a:t>
            </a:r>
            <a:r>
              <a:rPr sz="2000" spc="30" dirty="0">
                <a:solidFill>
                  <a:srgbClr val="3333CC"/>
                </a:solidFill>
                <a:latin typeface="Comic Sans MS"/>
                <a:cs typeface="Comic Sans MS"/>
              </a:rPr>
              <a:t> </a:t>
            </a:r>
            <a:r>
              <a:rPr sz="2000" spc="-10" dirty="0">
                <a:solidFill>
                  <a:srgbClr val="3333CC"/>
                </a:solidFill>
                <a:latin typeface="Comic Sans MS"/>
                <a:cs typeface="Comic Sans MS"/>
              </a:rPr>
              <a:t>values</a:t>
            </a:r>
            <a:endParaRPr sz="2000">
              <a:latin typeface="Comic Sans MS"/>
              <a:cs typeface="Comic Sans MS"/>
            </a:endParaRPr>
          </a:p>
          <a:p>
            <a:pPr marL="755015" lvl="1" indent="-285750">
              <a:lnSpc>
                <a:spcPct val="100000"/>
              </a:lnSpc>
              <a:spcBef>
                <a:spcPts val="1200"/>
              </a:spcBef>
              <a:buClr>
                <a:srgbClr val="FF0000"/>
              </a:buClr>
              <a:buChar char="•"/>
              <a:tabLst>
                <a:tab pos="755015" algn="l"/>
                <a:tab pos="755650" algn="l"/>
              </a:tabLst>
            </a:pPr>
            <a:r>
              <a:rPr sz="2000" spc="-10" dirty="0">
                <a:solidFill>
                  <a:srgbClr val="3333CC"/>
                </a:solidFill>
                <a:latin typeface="Comic Sans MS"/>
                <a:cs typeface="Comic Sans MS"/>
              </a:rPr>
              <a:t>Select relevant</a:t>
            </a:r>
            <a:r>
              <a:rPr sz="2000" spc="50" dirty="0">
                <a:solidFill>
                  <a:srgbClr val="3333CC"/>
                </a:solidFill>
                <a:latin typeface="Comic Sans MS"/>
                <a:cs typeface="Comic Sans MS"/>
              </a:rPr>
              <a:t> </a:t>
            </a:r>
            <a:r>
              <a:rPr sz="2000" spc="-5" dirty="0">
                <a:solidFill>
                  <a:srgbClr val="3333CC"/>
                </a:solidFill>
                <a:latin typeface="Comic Sans MS"/>
                <a:cs typeface="Comic Sans MS"/>
              </a:rPr>
              <a:t>attributes</a:t>
            </a:r>
            <a:endParaRPr sz="2000">
              <a:latin typeface="Comic Sans MS"/>
              <a:cs typeface="Comic Sans MS"/>
            </a:endParaRPr>
          </a:p>
          <a:p>
            <a:pPr marL="755015" lvl="1" indent="-285750">
              <a:lnSpc>
                <a:spcPct val="100000"/>
              </a:lnSpc>
              <a:spcBef>
                <a:spcPts val="1200"/>
              </a:spcBef>
              <a:buClr>
                <a:srgbClr val="FF0000"/>
              </a:buClr>
              <a:buChar char="•"/>
              <a:tabLst>
                <a:tab pos="755015" algn="l"/>
                <a:tab pos="755650" algn="l"/>
              </a:tabLst>
            </a:pPr>
            <a:r>
              <a:rPr sz="2000" spc="-10" dirty="0">
                <a:solidFill>
                  <a:srgbClr val="3333CC"/>
                </a:solidFill>
                <a:latin typeface="Comic Sans MS"/>
                <a:cs typeface="Comic Sans MS"/>
              </a:rPr>
              <a:t>Adapt </a:t>
            </a:r>
            <a:r>
              <a:rPr sz="2000" spc="-5" dirty="0">
                <a:solidFill>
                  <a:srgbClr val="3333CC"/>
                </a:solidFill>
                <a:latin typeface="Comic Sans MS"/>
                <a:cs typeface="Comic Sans MS"/>
              </a:rPr>
              <a:t>data set </a:t>
            </a:r>
            <a:r>
              <a:rPr sz="2000" spc="-10" dirty="0">
                <a:solidFill>
                  <a:srgbClr val="3333CC"/>
                </a:solidFill>
                <a:latin typeface="Comic Sans MS"/>
                <a:cs typeface="Comic Sans MS"/>
              </a:rPr>
              <a:t>format </a:t>
            </a:r>
            <a:r>
              <a:rPr sz="2000" spc="-5" dirty="0">
                <a:solidFill>
                  <a:srgbClr val="3333CC"/>
                </a:solidFill>
                <a:latin typeface="Comic Sans MS"/>
                <a:cs typeface="Comic Sans MS"/>
              </a:rPr>
              <a:t>to the software tool to be</a:t>
            </a:r>
            <a:r>
              <a:rPr sz="2000" spc="85" dirty="0">
                <a:solidFill>
                  <a:srgbClr val="3333CC"/>
                </a:solidFill>
                <a:latin typeface="Comic Sans MS"/>
                <a:cs typeface="Comic Sans MS"/>
              </a:rPr>
              <a:t> </a:t>
            </a:r>
            <a:r>
              <a:rPr sz="2000" spc="-5" dirty="0">
                <a:solidFill>
                  <a:srgbClr val="3333CC"/>
                </a:solidFill>
                <a:latin typeface="Comic Sans MS"/>
                <a:cs typeface="Comic Sans MS"/>
              </a:rPr>
              <a:t>used</a:t>
            </a:r>
            <a:endParaRPr sz="2000">
              <a:latin typeface="Comic Sans MS"/>
              <a:cs typeface="Comic Sans MS"/>
            </a:endParaRPr>
          </a:p>
          <a:p>
            <a:pPr lvl="1">
              <a:lnSpc>
                <a:spcPct val="100000"/>
              </a:lnSpc>
              <a:buClr>
                <a:srgbClr val="FF0000"/>
              </a:buClr>
              <a:buFont typeface="Comic Sans MS"/>
              <a:buChar char="•"/>
            </a:pPr>
            <a:endParaRPr sz="2800">
              <a:latin typeface="Times New Roman"/>
              <a:cs typeface="Times New Roman"/>
            </a:endParaRPr>
          </a:p>
          <a:p>
            <a:pPr marL="355600" marR="5080" indent="-342900">
              <a:lnSpc>
                <a:spcPct val="110000"/>
              </a:lnSpc>
              <a:spcBef>
                <a:spcPts val="1625"/>
              </a:spcBef>
              <a:buClr>
                <a:srgbClr val="FF0000"/>
              </a:buClr>
              <a:buChar char="•"/>
              <a:tabLst>
                <a:tab pos="354965" algn="l"/>
                <a:tab pos="355600" algn="l"/>
              </a:tabLst>
            </a:pPr>
            <a:r>
              <a:rPr sz="2400" spc="-5" dirty="0">
                <a:solidFill>
                  <a:srgbClr val="3333CC"/>
                </a:solidFill>
                <a:latin typeface="Comic Sans MS"/>
                <a:cs typeface="Comic Sans MS"/>
              </a:rPr>
              <a:t>In </a:t>
            </a:r>
            <a:r>
              <a:rPr sz="2400" dirty="0">
                <a:solidFill>
                  <a:srgbClr val="3333CC"/>
                </a:solidFill>
                <a:latin typeface="Comic Sans MS"/>
                <a:cs typeface="Comic Sans MS"/>
              </a:rPr>
              <a:t>general, </a:t>
            </a:r>
            <a:r>
              <a:rPr sz="2400" spc="-5" dirty="0">
                <a:solidFill>
                  <a:srgbClr val="3333CC"/>
                </a:solidFill>
                <a:latin typeface="Comic Sans MS"/>
                <a:cs typeface="Comic Sans MS"/>
              </a:rPr>
              <a:t>data </a:t>
            </a:r>
            <a:r>
              <a:rPr sz="2400" dirty="0">
                <a:solidFill>
                  <a:srgbClr val="3333CC"/>
                </a:solidFill>
                <a:latin typeface="Comic Sans MS"/>
                <a:cs typeface="Comic Sans MS"/>
              </a:rPr>
              <a:t>pre-processing consumes more</a:t>
            </a:r>
            <a:r>
              <a:rPr sz="2400" spc="-125" dirty="0">
                <a:solidFill>
                  <a:srgbClr val="3333CC"/>
                </a:solidFill>
                <a:latin typeface="Comic Sans MS"/>
                <a:cs typeface="Comic Sans MS"/>
              </a:rPr>
              <a:t> </a:t>
            </a:r>
            <a:r>
              <a:rPr sz="2400" spc="-5" dirty="0">
                <a:solidFill>
                  <a:srgbClr val="3333CC"/>
                </a:solidFill>
                <a:latin typeface="Comic Sans MS"/>
                <a:cs typeface="Comic Sans MS"/>
              </a:rPr>
              <a:t>than  60% of </a:t>
            </a:r>
            <a:r>
              <a:rPr sz="2400" dirty="0">
                <a:solidFill>
                  <a:srgbClr val="3333CC"/>
                </a:solidFill>
                <a:latin typeface="Comic Sans MS"/>
                <a:cs typeface="Comic Sans MS"/>
              </a:rPr>
              <a:t>a </a:t>
            </a:r>
            <a:r>
              <a:rPr sz="2400" spc="-5" dirty="0">
                <a:solidFill>
                  <a:srgbClr val="3333CC"/>
                </a:solidFill>
                <a:latin typeface="Comic Sans MS"/>
                <a:cs typeface="Comic Sans MS"/>
              </a:rPr>
              <a:t>data </a:t>
            </a:r>
            <a:r>
              <a:rPr sz="2400" dirty="0">
                <a:solidFill>
                  <a:srgbClr val="3333CC"/>
                </a:solidFill>
                <a:latin typeface="Comic Sans MS"/>
                <a:cs typeface="Comic Sans MS"/>
              </a:rPr>
              <a:t>mining project</a:t>
            </a:r>
            <a:r>
              <a:rPr sz="2400" spc="-25" dirty="0">
                <a:solidFill>
                  <a:srgbClr val="3333CC"/>
                </a:solidFill>
                <a:latin typeface="Comic Sans MS"/>
                <a:cs typeface="Comic Sans MS"/>
              </a:rPr>
              <a:t> </a:t>
            </a:r>
            <a:r>
              <a:rPr sz="2400" spc="-5" dirty="0">
                <a:solidFill>
                  <a:srgbClr val="3333CC"/>
                </a:solidFill>
                <a:latin typeface="Comic Sans MS"/>
                <a:cs typeface="Comic Sans MS"/>
              </a:rPr>
              <a:t>effort</a:t>
            </a:r>
            <a:endParaRPr sz="2400">
              <a:latin typeface="Comic Sans MS"/>
              <a:cs typeface="Comic Sans M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1E8CE95-B15E-4010-A45D-939450B16B56}"/>
              </a:ext>
            </a:extLst>
          </p:cNvPr>
          <p:cNvSpPr>
            <a:spLocks noGrp="1" noChangeArrowheads="1"/>
          </p:cNvSpPr>
          <p:nvPr>
            <p:ph type="title"/>
          </p:nvPr>
        </p:nvSpPr>
        <p:spPr>
          <a:xfrm>
            <a:off x="3498003" y="420159"/>
            <a:ext cx="3781425" cy="492443"/>
          </a:xfrm>
        </p:spPr>
        <p:txBody>
          <a:bodyPr/>
          <a:lstStyle/>
          <a:p>
            <a:pPr eaLnBrk="1" hangingPunct="1"/>
            <a:r>
              <a:rPr lang="en-US" altLang="en-US">
                <a:solidFill>
                  <a:schemeClr val="accent2"/>
                </a:solidFill>
              </a:rPr>
              <a:t>Noisy Data</a:t>
            </a:r>
          </a:p>
        </p:txBody>
      </p:sp>
      <p:sp>
        <p:nvSpPr>
          <p:cNvPr id="17411" name="Rectangle 3">
            <a:extLst>
              <a:ext uri="{FF2B5EF4-FFF2-40B4-BE49-F238E27FC236}">
                <a16:creationId xmlns:a16="http://schemas.microsoft.com/office/drawing/2014/main" id="{3DE29951-4ABB-4712-9D09-D0E394EC1053}"/>
              </a:ext>
            </a:extLst>
          </p:cNvPr>
          <p:cNvSpPr>
            <a:spLocks noGrp="1" noChangeArrowheads="1"/>
          </p:cNvSpPr>
          <p:nvPr>
            <p:ph type="body" idx="1"/>
          </p:nvPr>
        </p:nvSpPr>
        <p:spPr>
          <a:xfrm>
            <a:off x="619919" y="1848697"/>
            <a:ext cx="9264491" cy="4135748"/>
          </a:xfrm>
        </p:spPr>
        <p:txBody>
          <a:bodyPr/>
          <a:lstStyle/>
          <a:p>
            <a:pPr eaLnBrk="1" hangingPunct="1">
              <a:lnSpc>
                <a:spcPct val="80000"/>
              </a:lnSpc>
            </a:pPr>
            <a:r>
              <a:rPr lang="en-US" altLang="en-US" sz="3088"/>
              <a:t>Q: What is noise? </a:t>
            </a:r>
          </a:p>
          <a:p>
            <a:pPr eaLnBrk="1" hangingPunct="1">
              <a:lnSpc>
                <a:spcPct val="80000"/>
              </a:lnSpc>
            </a:pPr>
            <a:r>
              <a:rPr lang="en-US" altLang="en-US" sz="3088"/>
              <a:t>A: Random error in a measured variable.</a:t>
            </a:r>
          </a:p>
          <a:p>
            <a:pPr eaLnBrk="1" hangingPunct="1">
              <a:lnSpc>
                <a:spcPct val="80000"/>
              </a:lnSpc>
            </a:pPr>
            <a:r>
              <a:rPr lang="en-US" altLang="en-US" sz="3088"/>
              <a:t>Incorrect attribute values may be due to</a:t>
            </a:r>
          </a:p>
          <a:p>
            <a:pPr lvl="1" eaLnBrk="1" hangingPunct="1">
              <a:lnSpc>
                <a:spcPct val="80000"/>
              </a:lnSpc>
            </a:pPr>
            <a:r>
              <a:rPr lang="en-US" altLang="en-US" sz="2647"/>
              <a:t>faulty data collection instruments</a:t>
            </a:r>
          </a:p>
          <a:p>
            <a:pPr lvl="1" eaLnBrk="1" hangingPunct="1">
              <a:lnSpc>
                <a:spcPct val="80000"/>
              </a:lnSpc>
            </a:pPr>
            <a:r>
              <a:rPr lang="en-US" altLang="en-US" sz="2647"/>
              <a:t>data entry problems</a:t>
            </a:r>
          </a:p>
          <a:p>
            <a:pPr lvl="1" eaLnBrk="1" hangingPunct="1">
              <a:lnSpc>
                <a:spcPct val="80000"/>
              </a:lnSpc>
            </a:pPr>
            <a:r>
              <a:rPr lang="en-US" altLang="en-US" sz="2647"/>
              <a:t>data transmission problems</a:t>
            </a:r>
          </a:p>
          <a:p>
            <a:pPr lvl="1" eaLnBrk="1" hangingPunct="1">
              <a:lnSpc>
                <a:spcPct val="80000"/>
              </a:lnSpc>
            </a:pPr>
            <a:r>
              <a:rPr lang="en-US" altLang="en-US" sz="2647"/>
              <a:t>technology limitation</a:t>
            </a:r>
          </a:p>
          <a:p>
            <a:pPr lvl="1" eaLnBrk="1" hangingPunct="1">
              <a:lnSpc>
                <a:spcPct val="80000"/>
              </a:lnSpc>
            </a:pPr>
            <a:r>
              <a:rPr lang="en-US" altLang="en-US" sz="2647"/>
              <a:t>inconsistency in naming convention </a:t>
            </a:r>
          </a:p>
          <a:p>
            <a:pPr eaLnBrk="1" hangingPunct="1">
              <a:lnSpc>
                <a:spcPct val="80000"/>
              </a:lnSpc>
            </a:pPr>
            <a:r>
              <a:rPr lang="en-US" altLang="en-US" sz="3088"/>
              <a:t>Other data problems which requires data cleaning</a:t>
            </a:r>
          </a:p>
          <a:p>
            <a:pPr lvl="1" eaLnBrk="1" hangingPunct="1">
              <a:lnSpc>
                <a:spcPct val="80000"/>
              </a:lnSpc>
            </a:pPr>
            <a:r>
              <a:rPr lang="en-US" altLang="en-US" sz="2647"/>
              <a:t>duplicate records</a:t>
            </a:r>
          </a:p>
          <a:p>
            <a:pPr lvl="1" eaLnBrk="1" hangingPunct="1">
              <a:lnSpc>
                <a:spcPct val="80000"/>
              </a:lnSpc>
            </a:pPr>
            <a:r>
              <a:rPr lang="en-US" altLang="en-US" sz="2647"/>
              <a:t>incomplete data</a:t>
            </a:r>
          </a:p>
          <a:p>
            <a:pPr lvl="1" eaLnBrk="1" hangingPunct="1">
              <a:lnSpc>
                <a:spcPct val="80000"/>
              </a:lnSpc>
            </a:pPr>
            <a:r>
              <a:rPr lang="en-US" altLang="en-US" sz="2647"/>
              <a:t>inconsistent data</a:t>
            </a:r>
          </a:p>
        </p:txBody>
      </p:sp>
    </p:spTree>
  </p:cSld>
  <p:clrMapOvr>
    <a:masterClrMapping/>
  </p:clrMapOvr>
  <p:transition>
    <p:checke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A3D41DD-7EB1-41D7-BBD8-2E2A7E5F593F}"/>
              </a:ext>
            </a:extLst>
          </p:cNvPr>
          <p:cNvSpPr>
            <a:spLocks noGrp="1" noChangeArrowheads="1"/>
          </p:cNvSpPr>
          <p:nvPr>
            <p:ph type="title"/>
          </p:nvPr>
        </p:nvSpPr>
        <p:spPr>
          <a:xfrm>
            <a:off x="1229148" y="420158"/>
            <a:ext cx="8403167" cy="492443"/>
          </a:xfrm>
        </p:spPr>
        <p:txBody>
          <a:bodyPr/>
          <a:lstStyle/>
          <a:p>
            <a:pPr eaLnBrk="1" hangingPunct="1"/>
            <a:r>
              <a:rPr lang="en-US" altLang="en-US">
                <a:solidFill>
                  <a:schemeClr val="accent2"/>
                </a:solidFill>
              </a:rPr>
              <a:t>How to Handle Noisy Data?</a:t>
            </a:r>
          </a:p>
        </p:txBody>
      </p:sp>
      <p:sp>
        <p:nvSpPr>
          <p:cNvPr id="19459" name="Rectangle 3">
            <a:extLst>
              <a:ext uri="{FF2B5EF4-FFF2-40B4-BE49-F238E27FC236}">
                <a16:creationId xmlns:a16="http://schemas.microsoft.com/office/drawing/2014/main" id="{6159EA34-FF73-4EF6-A66F-6D7A3D2C2680}"/>
              </a:ext>
            </a:extLst>
          </p:cNvPr>
          <p:cNvSpPr>
            <a:spLocks noGrp="1" noChangeArrowheads="1"/>
          </p:cNvSpPr>
          <p:nvPr>
            <p:ph type="body" idx="1"/>
          </p:nvPr>
        </p:nvSpPr>
        <p:spPr>
          <a:xfrm>
            <a:off x="640927" y="1596602"/>
            <a:ext cx="9264491" cy="4704878"/>
          </a:xfrm>
        </p:spPr>
        <p:txBody>
          <a:bodyPr/>
          <a:lstStyle/>
          <a:p>
            <a:pPr eaLnBrk="1" hangingPunct="1">
              <a:lnSpc>
                <a:spcPct val="90000"/>
              </a:lnSpc>
            </a:pPr>
            <a:r>
              <a:rPr lang="en-US" altLang="en-US" sz="3088"/>
              <a:t>Binning method:</a:t>
            </a:r>
          </a:p>
          <a:p>
            <a:pPr lvl="1" eaLnBrk="1" hangingPunct="1">
              <a:lnSpc>
                <a:spcPct val="90000"/>
              </a:lnSpc>
            </a:pPr>
            <a:r>
              <a:rPr lang="en-US" altLang="en-US" sz="2647"/>
              <a:t>first sort data and partition into (equi-depth) bins</a:t>
            </a:r>
          </a:p>
          <a:p>
            <a:pPr lvl="1" eaLnBrk="1" hangingPunct="1">
              <a:lnSpc>
                <a:spcPct val="90000"/>
              </a:lnSpc>
            </a:pPr>
            <a:r>
              <a:rPr lang="en-US" altLang="en-US" sz="2647"/>
              <a:t>then one can </a:t>
            </a:r>
            <a:r>
              <a:rPr lang="en-US" altLang="en-US" sz="2647">
                <a:solidFill>
                  <a:schemeClr val="accent2"/>
                </a:solidFill>
              </a:rPr>
              <a:t>smooth by bin means,  smooth by bin median, smooth by bin boundaries</a:t>
            </a:r>
            <a:r>
              <a:rPr lang="en-US" altLang="en-US" sz="2647"/>
              <a:t>, etc.</a:t>
            </a:r>
          </a:p>
          <a:p>
            <a:pPr lvl="1" eaLnBrk="1" hangingPunct="1">
              <a:lnSpc>
                <a:spcPct val="90000"/>
              </a:lnSpc>
            </a:pPr>
            <a:r>
              <a:rPr lang="en-US" altLang="en-US" sz="2647"/>
              <a:t>used also for discretization (discussed later)</a:t>
            </a:r>
          </a:p>
          <a:p>
            <a:pPr eaLnBrk="1" hangingPunct="1">
              <a:lnSpc>
                <a:spcPct val="90000"/>
              </a:lnSpc>
            </a:pPr>
            <a:r>
              <a:rPr lang="en-US" altLang="en-US" sz="3088"/>
              <a:t>Clustering</a:t>
            </a:r>
          </a:p>
          <a:p>
            <a:pPr lvl="1" eaLnBrk="1" hangingPunct="1">
              <a:lnSpc>
                <a:spcPct val="90000"/>
              </a:lnSpc>
            </a:pPr>
            <a:r>
              <a:rPr lang="en-US" altLang="en-US" sz="2647"/>
              <a:t>detect and remove outliers</a:t>
            </a:r>
          </a:p>
          <a:p>
            <a:pPr eaLnBrk="1" hangingPunct="1">
              <a:lnSpc>
                <a:spcPct val="90000"/>
              </a:lnSpc>
            </a:pPr>
            <a:r>
              <a:rPr lang="en-US" altLang="en-US" sz="3088"/>
              <a:t>Semi-automated method: combined computer and human inspection</a:t>
            </a:r>
          </a:p>
          <a:p>
            <a:pPr lvl="1" eaLnBrk="1" hangingPunct="1">
              <a:lnSpc>
                <a:spcPct val="90000"/>
              </a:lnSpc>
            </a:pPr>
            <a:r>
              <a:rPr lang="en-US" altLang="en-US" sz="2647"/>
              <a:t>detect suspicious values and check manually</a:t>
            </a:r>
          </a:p>
          <a:p>
            <a:pPr eaLnBrk="1" hangingPunct="1">
              <a:lnSpc>
                <a:spcPct val="90000"/>
              </a:lnSpc>
            </a:pPr>
            <a:r>
              <a:rPr lang="en-US" altLang="en-US" sz="3088"/>
              <a:t>Regression</a:t>
            </a:r>
          </a:p>
          <a:p>
            <a:pPr lvl="1" eaLnBrk="1" hangingPunct="1">
              <a:lnSpc>
                <a:spcPct val="90000"/>
              </a:lnSpc>
            </a:pPr>
            <a:r>
              <a:rPr lang="en-US" altLang="en-US" sz="2647"/>
              <a:t>smooth by fitting the data into regression functions</a:t>
            </a:r>
          </a:p>
        </p:txBody>
      </p:sp>
    </p:spTree>
  </p:cSld>
  <p:clrMapOvr>
    <a:masterClrMapping/>
  </p:clrMapOvr>
  <p:transition>
    <p:checke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311D1BA-235F-4AB7-8E5D-3A87F8051264}"/>
              </a:ext>
            </a:extLst>
          </p:cNvPr>
          <p:cNvSpPr>
            <a:spLocks noGrp="1" noChangeArrowheads="1"/>
          </p:cNvSpPr>
          <p:nvPr>
            <p:ph type="title"/>
          </p:nvPr>
        </p:nvSpPr>
        <p:spPr>
          <a:xfrm>
            <a:off x="724958" y="336127"/>
            <a:ext cx="9327515" cy="1357551"/>
          </a:xfrm>
        </p:spPr>
        <p:txBody>
          <a:bodyPr/>
          <a:lstStyle/>
          <a:p>
            <a:pPr eaLnBrk="1" hangingPunct="1"/>
            <a:r>
              <a:rPr lang="en-US" altLang="en-US" sz="4411">
                <a:solidFill>
                  <a:schemeClr val="accent2"/>
                </a:solidFill>
              </a:rPr>
              <a:t>Simple Discretization Methods: Binning</a:t>
            </a:r>
            <a:endParaRPr lang="en-US" altLang="en-US">
              <a:solidFill>
                <a:schemeClr val="accent2"/>
              </a:solidFill>
            </a:endParaRPr>
          </a:p>
        </p:txBody>
      </p:sp>
      <p:sp>
        <p:nvSpPr>
          <p:cNvPr id="21507" name="Rectangle 3">
            <a:extLst>
              <a:ext uri="{FF2B5EF4-FFF2-40B4-BE49-F238E27FC236}">
                <a16:creationId xmlns:a16="http://schemas.microsoft.com/office/drawing/2014/main" id="{F1DB5E8C-C1E3-4353-9FB7-BFB31F9BCB88}"/>
              </a:ext>
            </a:extLst>
          </p:cNvPr>
          <p:cNvSpPr>
            <a:spLocks noGrp="1" noChangeArrowheads="1"/>
          </p:cNvSpPr>
          <p:nvPr>
            <p:ph type="body" idx="1"/>
          </p:nvPr>
        </p:nvSpPr>
        <p:spPr>
          <a:xfrm>
            <a:off x="657829" y="2105025"/>
            <a:ext cx="9075420" cy="4521751"/>
          </a:xfrm>
        </p:spPr>
        <p:txBody>
          <a:bodyPr/>
          <a:lstStyle/>
          <a:p>
            <a:pPr eaLnBrk="1" hangingPunct="1">
              <a:lnSpc>
                <a:spcPct val="90000"/>
              </a:lnSpc>
            </a:pPr>
            <a:r>
              <a:rPr lang="en-US" altLang="en-US" sz="3088" dirty="0">
                <a:solidFill>
                  <a:schemeClr val="accent2"/>
                </a:solidFill>
              </a:rPr>
              <a:t>Equal-width</a:t>
            </a:r>
            <a:r>
              <a:rPr lang="en-US" altLang="en-US" sz="3088" dirty="0"/>
              <a:t> (distance) partitioning:</a:t>
            </a:r>
          </a:p>
          <a:p>
            <a:pPr lvl="1" eaLnBrk="1" hangingPunct="1">
              <a:lnSpc>
                <a:spcPct val="90000"/>
              </a:lnSpc>
              <a:spcBef>
                <a:spcPct val="0"/>
              </a:spcBef>
            </a:pPr>
            <a:r>
              <a:rPr lang="en-US" altLang="en-US" sz="2647" dirty="0"/>
              <a:t>It divides the range into </a:t>
            </a:r>
            <a:r>
              <a:rPr lang="en-US" altLang="en-US" sz="2647" i="1" dirty="0"/>
              <a:t>N</a:t>
            </a:r>
            <a:r>
              <a:rPr lang="en-US" altLang="en-US" sz="2647" dirty="0"/>
              <a:t> intervals of equal size: </a:t>
            </a:r>
            <a:r>
              <a:rPr lang="en-US" altLang="en-US" sz="2647" dirty="0">
                <a:solidFill>
                  <a:srgbClr val="39513E"/>
                </a:solidFill>
              </a:rPr>
              <a:t>uniform grid</a:t>
            </a:r>
            <a:endParaRPr lang="en-US" altLang="en-US" sz="2647" dirty="0">
              <a:solidFill>
                <a:schemeClr val="hlink"/>
              </a:solidFill>
            </a:endParaRPr>
          </a:p>
          <a:p>
            <a:pPr lvl="1" eaLnBrk="1" hangingPunct="1">
              <a:lnSpc>
                <a:spcPct val="90000"/>
              </a:lnSpc>
              <a:spcBef>
                <a:spcPct val="0"/>
              </a:spcBef>
            </a:pPr>
            <a:r>
              <a:rPr lang="en-US" altLang="en-US" sz="2647" dirty="0"/>
              <a:t>if </a:t>
            </a:r>
            <a:r>
              <a:rPr lang="en-US" altLang="en-US" sz="2647" i="1" dirty="0"/>
              <a:t>A</a:t>
            </a:r>
            <a:r>
              <a:rPr lang="en-US" altLang="en-US" sz="2647" dirty="0"/>
              <a:t> and </a:t>
            </a:r>
            <a:r>
              <a:rPr lang="en-US" altLang="en-US" sz="2647" i="1" dirty="0"/>
              <a:t>B</a:t>
            </a:r>
            <a:r>
              <a:rPr lang="en-US" altLang="en-US" sz="2647" dirty="0"/>
              <a:t> are the lowest and highest values of the attribute, the width of intervals will be: </a:t>
            </a:r>
            <a:r>
              <a:rPr lang="en-US" altLang="en-US" sz="2647" i="1" dirty="0"/>
              <a:t>W </a:t>
            </a:r>
            <a:r>
              <a:rPr lang="en-US" altLang="en-US" sz="2647" dirty="0"/>
              <a:t>= (</a:t>
            </a:r>
            <a:r>
              <a:rPr lang="en-US" altLang="en-US" sz="2647" i="1" dirty="0"/>
              <a:t>B</a:t>
            </a:r>
            <a:r>
              <a:rPr lang="en-US" altLang="en-US" sz="2647" dirty="0"/>
              <a:t>-</a:t>
            </a:r>
            <a:r>
              <a:rPr lang="en-US" altLang="en-US" sz="2647" i="1" dirty="0"/>
              <a:t>A</a:t>
            </a:r>
            <a:r>
              <a:rPr lang="en-US" altLang="en-US" sz="2647" dirty="0"/>
              <a:t>)/</a:t>
            </a:r>
            <a:r>
              <a:rPr lang="en-US" altLang="en-US" sz="2647" i="1" dirty="0"/>
              <a:t>N.</a:t>
            </a:r>
            <a:endParaRPr lang="en-US" altLang="en-US" sz="2647" dirty="0"/>
          </a:p>
          <a:p>
            <a:pPr lvl="1" eaLnBrk="1" hangingPunct="1">
              <a:lnSpc>
                <a:spcPct val="90000"/>
              </a:lnSpc>
              <a:spcBef>
                <a:spcPct val="0"/>
              </a:spcBef>
            </a:pPr>
            <a:r>
              <a:rPr lang="en-US" altLang="en-US" sz="2647" dirty="0"/>
              <a:t>The most straightforward</a:t>
            </a:r>
          </a:p>
          <a:p>
            <a:pPr lvl="1" eaLnBrk="1" hangingPunct="1">
              <a:lnSpc>
                <a:spcPct val="90000"/>
              </a:lnSpc>
              <a:spcBef>
                <a:spcPct val="0"/>
              </a:spcBef>
            </a:pPr>
            <a:r>
              <a:rPr lang="en-US" altLang="en-US" sz="2647" dirty="0"/>
              <a:t>But outliers may dominate presentation</a:t>
            </a:r>
          </a:p>
          <a:p>
            <a:pPr lvl="1" eaLnBrk="1" hangingPunct="1">
              <a:lnSpc>
                <a:spcPct val="90000"/>
              </a:lnSpc>
              <a:spcBef>
                <a:spcPct val="0"/>
              </a:spcBef>
            </a:pPr>
            <a:r>
              <a:rPr lang="en-US" altLang="en-US" sz="2647" dirty="0"/>
              <a:t>Skewed data is not handled well.</a:t>
            </a:r>
            <a:endParaRPr lang="en-US" altLang="en-US" sz="2647" i="1" dirty="0"/>
          </a:p>
          <a:p>
            <a:pPr eaLnBrk="1" hangingPunct="1">
              <a:lnSpc>
                <a:spcPct val="90000"/>
              </a:lnSpc>
            </a:pPr>
            <a:r>
              <a:rPr lang="en-US" altLang="en-US" sz="3088" dirty="0">
                <a:solidFill>
                  <a:schemeClr val="accent2"/>
                </a:solidFill>
              </a:rPr>
              <a:t>Equal-depth</a:t>
            </a:r>
            <a:r>
              <a:rPr lang="en-US" altLang="en-US" sz="3088" dirty="0"/>
              <a:t> (frequency) partitioning:</a:t>
            </a:r>
          </a:p>
          <a:p>
            <a:pPr lvl="1" eaLnBrk="1" hangingPunct="1">
              <a:lnSpc>
                <a:spcPct val="90000"/>
              </a:lnSpc>
              <a:spcBef>
                <a:spcPct val="0"/>
              </a:spcBef>
            </a:pPr>
            <a:r>
              <a:rPr lang="en-US" altLang="en-US" sz="2647" dirty="0"/>
              <a:t>It divides the range into </a:t>
            </a:r>
            <a:r>
              <a:rPr lang="en-US" altLang="en-US" sz="2647" i="1" dirty="0"/>
              <a:t>N</a:t>
            </a:r>
            <a:r>
              <a:rPr lang="en-US" altLang="en-US" sz="2647" dirty="0"/>
              <a:t> intervals, each containing approximately same number of samples</a:t>
            </a:r>
          </a:p>
          <a:p>
            <a:pPr lvl="1" eaLnBrk="1" hangingPunct="1">
              <a:lnSpc>
                <a:spcPct val="90000"/>
              </a:lnSpc>
              <a:spcBef>
                <a:spcPct val="0"/>
              </a:spcBef>
            </a:pPr>
            <a:r>
              <a:rPr lang="en-US" altLang="en-US" sz="2647" dirty="0"/>
              <a:t>Good data scaling</a:t>
            </a:r>
          </a:p>
          <a:p>
            <a:pPr lvl="1" eaLnBrk="1" hangingPunct="1">
              <a:lnSpc>
                <a:spcPct val="90000"/>
              </a:lnSpc>
              <a:spcBef>
                <a:spcPct val="0"/>
              </a:spcBef>
            </a:pPr>
            <a:r>
              <a:rPr lang="en-US" altLang="en-US" sz="2647" dirty="0"/>
              <a:t>Managing categorical attributes can be tricky.</a:t>
            </a:r>
          </a:p>
        </p:txBody>
      </p:sp>
    </p:spTree>
  </p:cSld>
  <p:clrMapOvr>
    <a:masterClrMapping/>
  </p:clrMapOvr>
  <p:transition>
    <p:checke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FBACF44-22E7-4C35-A127-8F06ABB1BC67}"/>
              </a:ext>
            </a:extLst>
          </p:cNvPr>
          <p:cNvSpPr>
            <a:spLocks noGrp="1" noChangeArrowheads="1"/>
          </p:cNvSpPr>
          <p:nvPr>
            <p:ph type="title"/>
          </p:nvPr>
        </p:nvSpPr>
        <p:spPr>
          <a:xfrm>
            <a:off x="556895" y="252096"/>
            <a:ext cx="9327515" cy="1357551"/>
          </a:xfrm>
        </p:spPr>
        <p:txBody>
          <a:bodyPr/>
          <a:lstStyle/>
          <a:p>
            <a:pPr eaLnBrk="1" hangingPunct="1"/>
            <a:r>
              <a:rPr lang="en-US" altLang="en-US" sz="4411">
                <a:solidFill>
                  <a:schemeClr val="accent2"/>
                </a:solidFill>
              </a:rPr>
              <a:t>Binning Methods for Data Smoothing</a:t>
            </a:r>
          </a:p>
        </p:txBody>
      </p:sp>
      <p:sp>
        <p:nvSpPr>
          <p:cNvPr id="23555" name="Rectangle 3">
            <a:extLst>
              <a:ext uri="{FF2B5EF4-FFF2-40B4-BE49-F238E27FC236}">
                <a16:creationId xmlns:a16="http://schemas.microsoft.com/office/drawing/2014/main" id="{2B9DF25A-81C8-4387-A492-156CF89396F5}"/>
              </a:ext>
            </a:extLst>
          </p:cNvPr>
          <p:cNvSpPr>
            <a:spLocks noGrp="1" noChangeArrowheads="1"/>
          </p:cNvSpPr>
          <p:nvPr>
            <p:ph type="body" idx="1"/>
          </p:nvPr>
        </p:nvSpPr>
        <p:spPr>
          <a:xfrm>
            <a:off x="977053" y="2105025"/>
            <a:ext cx="8907357" cy="4653582"/>
          </a:xfrm>
        </p:spPr>
        <p:txBody>
          <a:bodyPr/>
          <a:lstStyle/>
          <a:p>
            <a:pPr eaLnBrk="1" hangingPunct="1">
              <a:lnSpc>
                <a:spcPct val="90000"/>
              </a:lnSpc>
              <a:buFontTx/>
              <a:buNone/>
            </a:pPr>
            <a:r>
              <a:rPr lang="en-US" altLang="en-US" sz="2400" dirty="0"/>
              <a:t>*  Sorted data for price (in dollars): 4, 8, 9, 15, 21, 21, 24, 25, 26, 28, 29, 34</a:t>
            </a:r>
          </a:p>
          <a:p>
            <a:pPr eaLnBrk="1" hangingPunct="1">
              <a:lnSpc>
                <a:spcPct val="90000"/>
              </a:lnSpc>
              <a:buFontTx/>
              <a:buNone/>
            </a:pPr>
            <a:r>
              <a:rPr lang="en-US" altLang="en-US" sz="2400" dirty="0"/>
              <a:t>*  Partition into (</a:t>
            </a:r>
            <a:r>
              <a:rPr lang="en-US" altLang="en-US" sz="2400" dirty="0" err="1"/>
              <a:t>equi</a:t>
            </a:r>
            <a:r>
              <a:rPr lang="en-US" altLang="en-US" sz="2400" dirty="0"/>
              <a:t>-depth) bins:</a:t>
            </a:r>
          </a:p>
          <a:p>
            <a:pPr eaLnBrk="1" hangingPunct="1">
              <a:lnSpc>
                <a:spcPct val="90000"/>
              </a:lnSpc>
              <a:buFontTx/>
              <a:buNone/>
            </a:pPr>
            <a:r>
              <a:rPr lang="en-US" altLang="en-US" sz="2400" dirty="0"/>
              <a:t>      - Bin 1: 4, 8, 9, 15</a:t>
            </a:r>
          </a:p>
          <a:p>
            <a:pPr eaLnBrk="1" hangingPunct="1">
              <a:lnSpc>
                <a:spcPct val="90000"/>
              </a:lnSpc>
              <a:buFontTx/>
              <a:buNone/>
            </a:pPr>
            <a:r>
              <a:rPr lang="en-US" altLang="en-US" sz="2400" dirty="0"/>
              <a:t>      - Bin 2: 21, 21, 24, 25</a:t>
            </a:r>
          </a:p>
          <a:p>
            <a:pPr eaLnBrk="1" hangingPunct="1">
              <a:lnSpc>
                <a:spcPct val="90000"/>
              </a:lnSpc>
              <a:buFontTx/>
              <a:buNone/>
            </a:pPr>
            <a:r>
              <a:rPr lang="en-US" altLang="en-US" sz="2400" dirty="0"/>
              <a:t>      - Bin 3: 26, 28, 29, 34</a:t>
            </a:r>
          </a:p>
          <a:p>
            <a:pPr eaLnBrk="1" hangingPunct="1">
              <a:lnSpc>
                <a:spcPct val="90000"/>
              </a:lnSpc>
              <a:buFontTx/>
              <a:buNone/>
            </a:pPr>
            <a:r>
              <a:rPr lang="en-US" altLang="en-US" sz="2400" dirty="0"/>
              <a:t>*  Smoothing by bin means:</a:t>
            </a:r>
          </a:p>
          <a:p>
            <a:pPr eaLnBrk="1" hangingPunct="1">
              <a:lnSpc>
                <a:spcPct val="90000"/>
              </a:lnSpc>
              <a:buFontTx/>
              <a:buNone/>
            </a:pPr>
            <a:r>
              <a:rPr lang="en-US" altLang="en-US" sz="2400" dirty="0"/>
              <a:t>      - Bin 1: 9, 9, 9, 9</a:t>
            </a:r>
          </a:p>
          <a:p>
            <a:pPr eaLnBrk="1" hangingPunct="1">
              <a:lnSpc>
                <a:spcPct val="90000"/>
              </a:lnSpc>
              <a:buFontTx/>
              <a:buNone/>
            </a:pPr>
            <a:r>
              <a:rPr lang="en-US" altLang="en-US" sz="2400" dirty="0"/>
              <a:t>      - Bin 2: 23, 23, 23, 23</a:t>
            </a:r>
          </a:p>
          <a:p>
            <a:pPr eaLnBrk="1" hangingPunct="1">
              <a:lnSpc>
                <a:spcPct val="90000"/>
              </a:lnSpc>
              <a:buFontTx/>
              <a:buNone/>
            </a:pPr>
            <a:r>
              <a:rPr lang="en-US" altLang="en-US" sz="2400" dirty="0"/>
              <a:t>      - Bin 3: 29, 29, 29, 29</a:t>
            </a:r>
          </a:p>
          <a:p>
            <a:pPr eaLnBrk="1" hangingPunct="1">
              <a:lnSpc>
                <a:spcPct val="90000"/>
              </a:lnSpc>
              <a:buFontTx/>
              <a:buNone/>
            </a:pPr>
            <a:r>
              <a:rPr lang="en-US" altLang="en-US" sz="2400" dirty="0"/>
              <a:t>*  Smoothing by bin boundaries:</a:t>
            </a:r>
          </a:p>
          <a:p>
            <a:pPr eaLnBrk="1" hangingPunct="1">
              <a:lnSpc>
                <a:spcPct val="90000"/>
              </a:lnSpc>
              <a:buFontTx/>
              <a:buNone/>
            </a:pPr>
            <a:r>
              <a:rPr lang="en-US" altLang="en-US" sz="2400" dirty="0"/>
              <a:t>      - Bin 1: 4, 4, 4, 15</a:t>
            </a:r>
          </a:p>
          <a:p>
            <a:pPr eaLnBrk="1" hangingPunct="1">
              <a:lnSpc>
                <a:spcPct val="90000"/>
              </a:lnSpc>
              <a:buFontTx/>
              <a:buNone/>
            </a:pPr>
            <a:r>
              <a:rPr lang="en-US" altLang="en-US" sz="2400" dirty="0"/>
              <a:t>      - Bin 2: 21, 21, 25, 25</a:t>
            </a:r>
          </a:p>
          <a:p>
            <a:pPr eaLnBrk="1" hangingPunct="1">
              <a:lnSpc>
                <a:spcPct val="90000"/>
              </a:lnSpc>
              <a:buFontTx/>
              <a:buNone/>
            </a:pPr>
            <a:r>
              <a:rPr lang="en-US" altLang="en-US" sz="2400" dirty="0"/>
              <a:t>      - Bin 3: 26, 26, 26, 34</a:t>
            </a:r>
          </a:p>
        </p:txBody>
      </p:sp>
    </p:spTree>
  </p:cSld>
  <p:clrMapOvr>
    <a:masterClrMapping/>
  </p:clrMapOvr>
  <p:transition>
    <p:checke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C093716-E162-4307-867B-A67AD32C5C67}"/>
              </a:ext>
            </a:extLst>
          </p:cNvPr>
          <p:cNvSpPr>
            <a:spLocks noGrp="1" noChangeArrowheads="1"/>
          </p:cNvSpPr>
          <p:nvPr>
            <p:ph type="title"/>
          </p:nvPr>
        </p:nvSpPr>
        <p:spPr>
          <a:xfrm>
            <a:off x="808990" y="420158"/>
            <a:ext cx="8823325" cy="492443"/>
          </a:xfrm>
        </p:spPr>
        <p:txBody>
          <a:bodyPr/>
          <a:lstStyle/>
          <a:p>
            <a:pPr eaLnBrk="1" hangingPunct="1"/>
            <a:r>
              <a:rPr lang="en-US" altLang="en-US">
                <a:solidFill>
                  <a:schemeClr val="accent2"/>
                </a:solidFill>
              </a:rPr>
              <a:t>How to Handle Inconsistent Data?</a:t>
            </a:r>
          </a:p>
        </p:txBody>
      </p:sp>
      <p:sp>
        <p:nvSpPr>
          <p:cNvPr id="25603" name="Rectangle 3">
            <a:extLst>
              <a:ext uri="{FF2B5EF4-FFF2-40B4-BE49-F238E27FC236}">
                <a16:creationId xmlns:a16="http://schemas.microsoft.com/office/drawing/2014/main" id="{9274A2D9-2568-413B-B1CF-86BA66F6DB20}"/>
              </a:ext>
            </a:extLst>
          </p:cNvPr>
          <p:cNvSpPr>
            <a:spLocks noGrp="1" noChangeArrowheads="1"/>
          </p:cNvSpPr>
          <p:nvPr>
            <p:ph type="body" idx="1"/>
          </p:nvPr>
        </p:nvSpPr>
        <p:spPr>
          <a:xfrm>
            <a:off x="640927" y="1596602"/>
            <a:ext cx="9264491" cy="1169551"/>
          </a:xfrm>
        </p:spPr>
        <p:txBody>
          <a:bodyPr/>
          <a:lstStyle/>
          <a:p>
            <a:pPr eaLnBrk="1" hangingPunct="1"/>
            <a:r>
              <a:rPr lang="en-US" altLang="en-US"/>
              <a:t>Manual correction using external references</a:t>
            </a:r>
          </a:p>
          <a:p>
            <a:pPr eaLnBrk="1" hangingPunct="1"/>
            <a:r>
              <a:rPr lang="en-US" altLang="en-US"/>
              <a:t>Semi-automatic using various tools</a:t>
            </a:r>
          </a:p>
          <a:p>
            <a:pPr lvl="1" eaLnBrk="1" hangingPunct="1"/>
            <a:r>
              <a:rPr lang="en-US" altLang="en-US"/>
              <a:t>To detect violation of known functional dependencies and data constraints</a:t>
            </a:r>
          </a:p>
          <a:p>
            <a:pPr lvl="1" eaLnBrk="1" hangingPunct="1"/>
            <a:r>
              <a:rPr lang="en-US" altLang="en-US"/>
              <a:t>To correct redundant data</a:t>
            </a:r>
          </a:p>
        </p:txBody>
      </p:sp>
    </p:spTree>
  </p:cSld>
  <p:clrMapOvr>
    <a:masterClrMapping/>
  </p:clrMapOvr>
  <p:transition>
    <p:checke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CFC6159-682F-4D23-955F-ACABAE2B1BB4}"/>
              </a:ext>
            </a:extLst>
          </p:cNvPr>
          <p:cNvSpPr>
            <a:spLocks noGrp="1" noChangeArrowheads="1"/>
          </p:cNvSpPr>
          <p:nvPr>
            <p:ph type="title"/>
          </p:nvPr>
        </p:nvSpPr>
        <p:spPr>
          <a:xfrm>
            <a:off x="3161877" y="588222"/>
            <a:ext cx="4453678" cy="492443"/>
          </a:xfrm>
        </p:spPr>
        <p:txBody>
          <a:bodyPr/>
          <a:lstStyle/>
          <a:p>
            <a:pPr eaLnBrk="1" hangingPunct="1"/>
            <a:r>
              <a:rPr lang="en-US" altLang="en-US">
                <a:solidFill>
                  <a:schemeClr val="accent2"/>
                </a:solidFill>
              </a:rPr>
              <a:t>Data Integration</a:t>
            </a:r>
          </a:p>
        </p:txBody>
      </p:sp>
      <p:sp>
        <p:nvSpPr>
          <p:cNvPr id="27651" name="Rectangle 3">
            <a:extLst>
              <a:ext uri="{FF2B5EF4-FFF2-40B4-BE49-F238E27FC236}">
                <a16:creationId xmlns:a16="http://schemas.microsoft.com/office/drawing/2014/main" id="{2A3FD66D-6BE8-47B0-90A2-AC7B35078A47}"/>
              </a:ext>
            </a:extLst>
          </p:cNvPr>
          <p:cNvSpPr>
            <a:spLocks noGrp="1" noChangeArrowheads="1"/>
          </p:cNvSpPr>
          <p:nvPr>
            <p:ph type="body" idx="1"/>
          </p:nvPr>
        </p:nvSpPr>
        <p:spPr>
          <a:xfrm>
            <a:off x="724958" y="1764665"/>
            <a:ext cx="9411547" cy="4216154"/>
          </a:xfrm>
        </p:spPr>
        <p:txBody>
          <a:bodyPr/>
          <a:lstStyle/>
          <a:p>
            <a:pPr eaLnBrk="1" hangingPunct="1">
              <a:lnSpc>
                <a:spcPct val="90000"/>
              </a:lnSpc>
            </a:pPr>
            <a:r>
              <a:rPr lang="en-US" altLang="en-US" sz="3088"/>
              <a:t>Data integration: </a:t>
            </a:r>
          </a:p>
          <a:p>
            <a:pPr lvl="1" eaLnBrk="1" hangingPunct="1">
              <a:lnSpc>
                <a:spcPct val="90000"/>
              </a:lnSpc>
            </a:pPr>
            <a:r>
              <a:rPr lang="en-US" altLang="en-US" sz="2647"/>
              <a:t>combines data from multiple sources into a coherent store</a:t>
            </a:r>
          </a:p>
          <a:p>
            <a:pPr eaLnBrk="1" hangingPunct="1">
              <a:lnSpc>
                <a:spcPct val="90000"/>
              </a:lnSpc>
            </a:pPr>
            <a:r>
              <a:rPr lang="en-US" altLang="en-US" sz="3088"/>
              <a:t>Schema integration</a:t>
            </a:r>
          </a:p>
          <a:p>
            <a:pPr lvl="1" eaLnBrk="1" hangingPunct="1">
              <a:lnSpc>
                <a:spcPct val="90000"/>
              </a:lnSpc>
            </a:pPr>
            <a:r>
              <a:rPr lang="en-US" altLang="en-US" sz="2647"/>
              <a:t>integrate metadata from different sources</a:t>
            </a:r>
          </a:p>
          <a:p>
            <a:pPr lvl="1" eaLnBrk="1" hangingPunct="1">
              <a:lnSpc>
                <a:spcPct val="90000"/>
              </a:lnSpc>
            </a:pPr>
            <a:r>
              <a:rPr lang="en-US" altLang="en-US" sz="2647"/>
              <a:t>Entity identification problem: identify real world entities from multiple data sources, e.g., A.cust-id </a:t>
            </a:r>
            <a:r>
              <a:rPr lang="en-US" altLang="en-US" sz="2647">
                <a:sym typeface="Symbol" panose="05050102010706020507" pitchFamily="18" charset="2"/>
              </a:rPr>
              <a:t> B.</a:t>
            </a:r>
            <a:r>
              <a:rPr lang="en-US" altLang="en-US" sz="2647"/>
              <a:t>cust-#</a:t>
            </a:r>
          </a:p>
          <a:p>
            <a:pPr eaLnBrk="1" hangingPunct="1">
              <a:lnSpc>
                <a:spcPct val="90000"/>
              </a:lnSpc>
            </a:pPr>
            <a:r>
              <a:rPr lang="en-US" altLang="en-US" sz="3088"/>
              <a:t>Detecting and resolving data value conflicts</a:t>
            </a:r>
          </a:p>
          <a:p>
            <a:pPr lvl="1" eaLnBrk="1" hangingPunct="1">
              <a:lnSpc>
                <a:spcPct val="90000"/>
              </a:lnSpc>
            </a:pPr>
            <a:r>
              <a:rPr lang="en-US" altLang="en-US" sz="2647"/>
              <a:t>for the same real world entity, attribute values from different sources are different</a:t>
            </a:r>
          </a:p>
          <a:p>
            <a:pPr lvl="1" eaLnBrk="1" hangingPunct="1">
              <a:lnSpc>
                <a:spcPct val="90000"/>
              </a:lnSpc>
            </a:pPr>
            <a:r>
              <a:rPr lang="en-US" altLang="en-US" sz="2647"/>
              <a:t>possible reasons: different representations, different scales, e.g., metric vs. British units, different currency</a:t>
            </a:r>
          </a:p>
        </p:txBody>
      </p:sp>
    </p:spTree>
  </p:cSld>
  <p:clrMapOvr>
    <a:masterClrMapping/>
  </p:clrMapOvr>
  <p:transition>
    <p:checke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654BE09-EEAF-4F62-96A4-7B3761AB4207}"/>
              </a:ext>
            </a:extLst>
          </p:cNvPr>
          <p:cNvSpPr>
            <a:spLocks noGrp="1" noChangeArrowheads="1"/>
          </p:cNvSpPr>
          <p:nvPr>
            <p:ph type="title"/>
          </p:nvPr>
        </p:nvSpPr>
        <p:spPr>
          <a:xfrm>
            <a:off x="1565275" y="252095"/>
            <a:ext cx="7478818" cy="1008380"/>
          </a:xfrm>
        </p:spPr>
        <p:txBody>
          <a:bodyPr/>
          <a:lstStyle/>
          <a:p>
            <a:pPr eaLnBrk="1" hangingPunct="1"/>
            <a:r>
              <a:rPr lang="en-US" altLang="en-US">
                <a:solidFill>
                  <a:schemeClr val="accent2"/>
                </a:solidFill>
              </a:rPr>
              <a:t>Handling </a:t>
            </a:r>
            <a:r>
              <a:rPr lang="en-US" altLang="en-US" u="sng">
                <a:solidFill>
                  <a:schemeClr val="accent2"/>
                </a:solidFill>
              </a:rPr>
              <a:t>Redundant Data</a:t>
            </a:r>
            <a:r>
              <a:rPr lang="en-US" altLang="en-US">
                <a:solidFill>
                  <a:schemeClr val="accent2"/>
                </a:solidFill>
              </a:rPr>
              <a:t> in Data Integration</a:t>
            </a:r>
          </a:p>
        </p:txBody>
      </p:sp>
      <p:sp>
        <p:nvSpPr>
          <p:cNvPr id="29699" name="Rectangle 3">
            <a:extLst>
              <a:ext uri="{FF2B5EF4-FFF2-40B4-BE49-F238E27FC236}">
                <a16:creationId xmlns:a16="http://schemas.microsoft.com/office/drawing/2014/main" id="{5F986277-1C30-4894-985D-9CA9BB26EDEE}"/>
              </a:ext>
            </a:extLst>
          </p:cNvPr>
          <p:cNvSpPr>
            <a:spLocks noGrp="1" noChangeArrowheads="1"/>
          </p:cNvSpPr>
          <p:nvPr>
            <p:ph type="body" idx="1"/>
          </p:nvPr>
        </p:nvSpPr>
        <p:spPr>
          <a:xfrm>
            <a:off x="304800" y="1764665"/>
            <a:ext cx="10083800" cy="4850880"/>
          </a:xfrm>
        </p:spPr>
        <p:txBody>
          <a:bodyPr/>
          <a:lstStyle/>
          <a:p>
            <a:pPr eaLnBrk="1" hangingPunct="1">
              <a:lnSpc>
                <a:spcPct val="110000"/>
              </a:lnSpc>
            </a:pPr>
            <a:r>
              <a:rPr lang="en-US" altLang="en-US" sz="2400" dirty="0"/>
              <a:t>Redundant data occur often when integrating multiple DBs</a:t>
            </a:r>
          </a:p>
          <a:p>
            <a:pPr lvl="1" eaLnBrk="1" hangingPunct="1">
              <a:lnSpc>
                <a:spcPct val="110000"/>
              </a:lnSpc>
            </a:pPr>
            <a:r>
              <a:rPr lang="en-US" altLang="en-US" sz="2400" dirty="0"/>
              <a:t>The same attribute may have different names in different databases</a:t>
            </a:r>
          </a:p>
          <a:p>
            <a:pPr lvl="1" eaLnBrk="1" hangingPunct="1">
              <a:lnSpc>
                <a:spcPct val="110000"/>
              </a:lnSpc>
            </a:pPr>
            <a:r>
              <a:rPr lang="en-US" altLang="en-US" sz="2400" dirty="0"/>
              <a:t>One attribute may be a “derived” attribute in another table, e.g., annual revenue</a:t>
            </a:r>
          </a:p>
          <a:p>
            <a:pPr eaLnBrk="1" hangingPunct="1">
              <a:lnSpc>
                <a:spcPct val="110000"/>
              </a:lnSpc>
            </a:pPr>
            <a:r>
              <a:rPr lang="en-US" altLang="en-US" sz="2400" dirty="0"/>
              <a:t>Redundant data may be able to be detected by correlational analysis</a:t>
            </a:r>
          </a:p>
          <a:p>
            <a:pPr eaLnBrk="1" hangingPunct="1">
              <a:lnSpc>
                <a:spcPct val="110000"/>
              </a:lnSpc>
              <a:buFontTx/>
              <a:buNone/>
            </a:pPr>
            <a:endParaRPr lang="en-US" altLang="en-US" sz="2400" dirty="0"/>
          </a:p>
          <a:p>
            <a:pPr eaLnBrk="1" hangingPunct="1">
              <a:lnSpc>
                <a:spcPct val="110000"/>
              </a:lnSpc>
              <a:buFontTx/>
              <a:buNone/>
            </a:pPr>
            <a:endParaRPr lang="en-US" altLang="en-US" sz="2400" dirty="0"/>
          </a:p>
          <a:p>
            <a:pPr eaLnBrk="1" hangingPunct="1">
              <a:lnSpc>
                <a:spcPct val="110000"/>
              </a:lnSpc>
            </a:pPr>
            <a:endParaRPr lang="en-US" altLang="en-US" sz="2400" dirty="0">
              <a:solidFill>
                <a:schemeClr val="accent2"/>
              </a:solidFill>
            </a:endParaRPr>
          </a:p>
          <a:p>
            <a:pPr eaLnBrk="1" hangingPunct="1">
              <a:lnSpc>
                <a:spcPct val="110000"/>
              </a:lnSpc>
            </a:pPr>
            <a:endParaRPr lang="en-US" altLang="en-US" sz="2400" dirty="0">
              <a:solidFill>
                <a:schemeClr val="accent2"/>
              </a:solidFill>
            </a:endParaRPr>
          </a:p>
          <a:p>
            <a:pPr eaLnBrk="1" hangingPunct="1">
              <a:lnSpc>
                <a:spcPct val="110000"/>
              </a:lnSpc>
            </a:pPr>
            <a:endParaRPr lang="en-US" altLang="en-US" sz="2400" dirty="0">
              <a:solidFill>
                <a:schemeClr val="accent2"/>
              </a:solidFill>
            </a:endParaRPr>
          </a:p>
          <a:p>
            <a:pPr eaLnBrk="1" hangingPunct="1">
              <a:lnSpc>
                <a:spcPct val="110000"/>
              </a:lnSpc>
            </a:pPr>
            <a:r>
              <a:rPr lang="en-US" altLang="en-US" sz="2400" dirty="0">
                <a:solidFill>
                  <a:schemeClr val="accent2"/>
                </a:solidFill>
              </a:rPr>
              <a:t>Careful integration </a:t>
            </a:r>
            <a:r>
              <a:rPr lang="en-US" altLang="en-US" sz="2400" dirty="0">
                <a:solidFill>
                  <a:schemeClr val="tx2"/>
                </a:solidFill>
              </a:rPr>
              <a:t>can</a:t>
            </a:r>
            <a:r>
              <a:rPr lang="en-US" altLang="en-US" sz="2400" dirty="0"/>
              <a:t> help reduce/avoid redundancies and inconsistencies and improve mining speed and quality</a:t>
            </a:r>
          </a:p>
        </p:txBody>
      </p:sp>
      <p:graphicFrame>
        <p:nvGraphicFramePr>
          <p:cNvPr id="29700" name="Object 6">
            <a:extLst>
              <a:ext uri="{FF2B5EF4-FFF2-40B4-BE49-F238E27FC236}">
                <a16:creationId xmlns:a16="http://schemas.microsoft.com/office/drawing/2014/main" id="{A1D844C4-857F-4490-ABD3-4DFB56217A6E}"/>
              </a:ext>
            </a:extLst>
          </p:cNvPr>
          <p:cNvGraphicFramePr>
            <a:graphicFrameLocks noChangeAspect="1"/>
          </p:cNvGraphicFramePr>
          <p:nvPr>
            <p:extLst>
              <p:ext uri="{D42A27DB-BD31-4B8C-83A1-F6EECF244321}">
                <p14:modId xmlns:p14="http://schemas.microsoft.com/office/powerpoint/2010/main" val="3171348078"/>
              </p:ext>
            </p:extLst>
          </p:nvPr>
        </p:nvGraphicFramePr>
        <p:xfrm>
          <a:off x="3020907" y="3781425"/>
          <a:ext cx="3697393" cy="1188699"/>
        </p:xfrm>
        <a:graphic>
          <a:graphicData uri="http://schemas.openxmlformats.org/presentationml/2006/ole">
            <mc:AlternateContent xmlns:mc="http://schemas.openxmlformats.org/markup-compatibility/2006">
              <mc:Choice xmlns:v="urn:schemas-microsoft-com:vml" Requires="v">
                <p:oleObj spid="_x0000_s1029" name="Equation" r:id="rId4" imgW="1422400" imgH="457200" progId="Equation.3">
                  <p:embed/>
                </p:oleObj>
              </mc:Choice>
              <mc:Fallback>
                <p:oleObj name="Equation" r:id="rId4" imgW="1422400" imgH="457200" progId="Equation.3">
                  <p:embed/>
                  <p:pic>
                    <p:nvPicPr>
                      <p:cNvPr id="29700" name="Object 6">
                        <a:extLst>
                          <a:ext uri="{FF2B5EF4-FFF2-40B4-BE49-F238E27FC236}">
                            <a16:creationId xmlns:a16="http://schemas.microsoft.com/office/drawing/2014/main" id="{A1D844C4-857F-4490-ABD3-4DFB56217A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0907" y="3781425"/>
                        <a:ext cx="3697393" cy="11886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hecke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57988EB-18F3-46CC-A880-29EB0ACE0993}"/>
              </a:ext>
            </a:extLst>
          </p:cNvPr>
          <p:cNvSpPr>
            <a:spLocks noGrp="1" noChangeArrowheads="1"/>
          </p:cNvSpPr>
          <p:nvPr>
            <p:ph type="title"/>
          </p:nvPr>
        </p:nvSpPr>
        <p:spPr>
          <a:xfrm>
            <a:off x="1817370" y="336127"/>
            <a:ext cx="7478818" cy="678776"/>
          </a:xfrm>
        </p:spPr>
        <p:txBody>
          <a:bodyPr/>
          <a:lstStyle/>
          <a:p>
            <a:pPr eaLnBrk="1" hangingPunct="1"/>
            <a:r>
              <a:rPr lang="en-US" altLang="en-US" sz="4411">
                <a:solidFill>
                  <a:schemeClr val="accent2"/>
                </a:solidFill>
              </a:rPr>
              <a:t>Data Reduction</a:t>
            </a:r>
            <a:endParaRPr lang="en-US" altLang="en-US">
              <a:solidFill>
                <a:schemeClr val="accent2"/>
              </a:solidFill>
            </a:endParaRPr>
          </a:p>
        </p:txBody>
      </p:sp>
      <p:sp>
        <p:nvSpPr>
          <p:cNvPr id="35843" name="Rectangle 3">
            <a:extLst>
              <a:ext uri="{FF2B5EF4-FFF2-40B4-BE49-F238E27FC236}">
                <a16:creationId xmlns:a16="http://schemas.microsoft.com/office/drawing/2014/main" id="{CD6FB686-9296-4C95-AEFC-53F711E27F4C}"/>
              </a:ext>
            </a:extLst>
          </p:cNvPr>
          <p:cNvSpPr>
            <a:spLocks noGrp="1" noChangeArrowheads="1"/>
          </p:cNvSpPr>
          <p:nvPr>
            <p:ph type="body" idx="1"/>
          </p:nvPr>
        </p:nvSpPr>
        <p:spPr>
          <a:xfrm>
            <a:off x="640927" y="1596602"/>
            <a:ext cx="9495578" cy="2179956"/>
          </a:xfrm>
        </p:spPr>
        <p:txBody>
          <a:bodyPr/>
          <a:lstStyle/>
          <a:p>
            <a:pPr eaLnBrk="1" hangingPunct="1">
              <a:lnSpc>
                <a:spcPct val="90000"/>
              </a:lnSpc>
            </a:pPr>
            <a:r>
              <a:rPr lang="en-US" altLang="en-US" sz="3970">
                <a:solidFill>
                  <a:schemeClr val="accent2"/>
                </a:solidFill>
              </a:rPr>
              <a:t>Problem:</a:t>
            </a:r>
            <a:r>
              <a:rPr lang="en-US" altLang="en-US"/>
              <a:t> </a:t>
            </a:r>
          </a:p>
          <a:p>
            <a:pPr eaLnBrk="1" hangingPunct="1">
              <a:lnSpc>
                <a:spcPct val="90000"/>
              </a:lnSpc>
              <a:buFontTx/>
              <a:buNone/>
            </a:pPr>
            <a:r>
              <a:rPr lang="en-US" altLang="en-US"/>
              <a:t>   Data Warehouse may store terabytes of data: Complex data analysis/mining may take a very long time to run on the complete data set</a:t>
            </a:r>
          </a:p>
          <a:p>
            <a:pPr eaLnBrk="1" hangingPunct="1">
              <a:lnSpc>
                <a:spcPct val="90000"/>
              </a:lnSpc>
              <a:buFontTx/>
              <a:buNone/>
            </a:pPr>
            <a:endParaRPr lang="en-US" altLang="en-US"/>
          </a:p>
          <a:p>
            <a:pPr eaLnBrk="1" hangingPunct="1">
              <a:lnSpc>
                <a:spcPct val="90000"/>
              </a:lnSpc>
            </a:pPr>
            <a:r>
              <a:rPr lang="en-US" altLang="en-US" sz="3970">
                <a:solidFill>
                  <a:srgbClr val="CC3300"/>
                </a:solidFill>
              </a:rPr>
              <a:t>Solution?</a:t>
            </a:r>
          </a:p>
          <a:p>
            <a:pPr lvl="1" eaLnBrk="1" hangingPunct="1">
              <a:lnSpc>
                <a:spcPct val="90000"/>
              </a:lnSpc>
            </a:pPr>
            <a:r>
              <a:rPr lang="en-US" altLang="en-US"/>
              <a:t>Data reduction… </a:t>
            </a:r>
          </a:p>
        </p:txBody>
      </p:sp>
    </p:spTree>
  </p:cSld>
  <p:clrMapOvr>
    <a:masterClrMapping/>
  </p:clrMapOvr>
  <p:transition>
    <p:checke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A5B8025C-E7B5-4900-89C9-3ACBB6AB2F58}"/>
              </a:ext>
            </a:extLst>
          </p:cNvPr>
          <p:cNvSpPr>
            <a:spLocks noChangeArrowheads="1"/>
          </p:cNvSpPr>
          <p:nvPr/>
        </p:nvSpPr>
        <p:spPr bwMode="auto">
          <a:xfrm>
            <a:off x="1145117" y="1260476"/>
            <a:ext cx="8739293" cy="4191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pPr>
            <a:r>
              <a:rPr lang="en-US" altLang="en-US" sz="2400" dirty="0"/>
              <a:t>Obtains a reduced representation of the data set that is much smaller in volume but yet produces the same (or almost the same) analytical results</a:t>
            </a:r>
          </a:p>
          <a:p>
            <a:pPr eaLnBrk="1" hangingPunct="1">
              <a:lnSpc>
                <a:spcPct val="90000"/>
              </a:lnSpc>
              <a:spcBef>
                <a:spcPct val="50000"/>
              </a:spcBef>
            </a:pPr>
            <a:r>
              <a:rPr lang="en-US" altLang="en-US" sz="2400" dirty="0">
                <a:solidFill>
                  <a:schemeClr val="accent2"/>
                </a:solidFill>
              </a:rPr>
              <a:t>Data reduction strategies</a:t>
            </a:r>
          </a:p>
          <a:p>
            <a:pPr lvl="1" eaLnBrk="1" hangingPunct="1">
              <a:lnSpc>
                <a:spcPct val="90000"/>
              </a:lnSpc>
              <a:spcBef>
                <a:spcPct val="50000"/>
              </a:spcBef>
            </a:pPr>
            <a:r>
              <a:rPr lang="en-US" altLang="en-US" sz="2400" dirty="0">
                <a:solidFill>
                  <a:schemeClr val="tx2"/>
                </a:solidFill>
              </a:rPr>
              <a:t>Data cube aggregation</a:t>
            </a:r>
          </a:p>
          <a:p>
            <a:pPr lvl="1" eaLnBrk="1" hangingPunct="1">
              <a:lnSpc>
                <a:spcPct val="90000"/>
              </a:lnSpc>
              <a:spcBef>
                <a:spcPct val="50000"/>
              </a:spcBef>
            </a:pPr>
            <a:r>
              <a:rPr lang="en-US" altLang="en-US" sz="2400" dirty="0">
                <a:solidFill>
                  <a:schemeClr val="tx2"/>
                </a:solidFill>
              </a:rPr>
              <a:t>Dimensionality reduction</a:t>
            </a:r>
          </a:p>
          <a:p>
            <a:pPr lvl="1" eaLnBrk="1" hangingPunct="1">
              <a:lnSpc>
                <a:spcPct val="90000"/>
              </a:lnSpc>
              <a:spcBef>
                <a:spcPct val="50000"/>
              </a:spcBef>
            </a:pPr>
            <a:r>
              <a:rPr lang="en-US" altLang="en-US" sz="2400" dirty="0">
                <a:solidFill>
                  <a:schemeClr val="tx2"/>
                </a:solidFill>
              </a:rPr>
              <a:t>Data compression</a:t>
            </a:r>
          </a:p>
          <a:p>
            <a:pPr lvl="1" eaLnBrk="1" hangingPunct="1">
              <a:lnSpc>
                <a:spcPct val="90000"/>
              </a:lnSpc>
              <a:spcBef>
                <a:spcPct val="50000"/>
              </a:spcBef>
            </a:pPr>
            <a:r>
              <a:rPr lang="en-US" altLang="en-US" sz="2400" dirty="0">
                <a:solidFill>
                  <a:schemeClr val="tx2"/>
                </a:solidFill>
              </a:rPr>
              <a:t>Numerosity reduction</a:t>
            </a:r>
          </a:p>
          <a:p>
            <a:pPr lvl="1" eaLnBrk="1" hangingPunct="1">
              <a:lnSpc>
                <a:spcPct val="90000"/>
              </a:lnSpc>
              <a:spcBef>
                <a:spcPct val="50000"/>
              </a:spcBef>
            </a:pPr>
            <a:r>
              <a:rPr lang="en-US" altLang="en-US" sz="2400" dirty="0">
                <a:solidFill>
                  <a:schemeClr val="tx2"/>
                </a:solidFill>
              </a:rPr>
              <a:t>Discretization and concept hierarchy generation</a:t>
            </a:r>
          </a:p>
        </p:txBody>
      </p:sp>
      <p:sp>
        <p:nvSpPr>
          <p:cNvPr id="37891" name="Rectangle 3">
            <a:extLst>
              <a:ext uri="{FF2B5EF4-FFF2-40B4-BE49-F238E27FC236}">
                <a16:creationId xmlns:a16="http://schemas.microsoft.com/office/drawing/2014/main" id="{F5486EFA-EB36-4C74-990D-135056106D04}"/>
              </a:ext>
            </a:extLst>
          </p:cNvPr>
          <p:cNvSpPr>
            <a:spLocks noChangeArrowheads="1"/>
          </p:cNvSpPr>
          <p:nvPr/>
        </p:nvSpPr>
        <p:spPr bwMode="auto">
          <a:xfrm>
            <a:off x="3413972" y="336127"/>
            <a:ext cx="3717684" cy="771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4411">
                <a:solidFill>
                  <a:schemeClr val="accent2"/>
                </a:solidFill>
              </a:rPr>
              <a:t>Data Reduction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AF5C2BD-82F3-40E2-BDD4-63207796DE42}"/>
              </a:ext>
            </a:extLst>
          </p:cNvPr>
          <p:cNvSpPr>
            <a:spLocks noGrp="1" noChangeArrowheads="1"/>
          </p:cNvSpPr>
          <p:nvPr>
            <p:ph type="title"/>
          </p:nvPr>
        </p:nvSpPr>
        <p:spPr>
          <a:xfrm>
            <a:off x="1481243" y="504190"/>
            <a:ext cx="7814945" cy="492443"/>
          </a:xfrm>
        </p:spPr>
        <p:txBody>
          <a:bodyPr/>
          <a:lstStyle/>
          <a:p>
            <a:pPr eaLnBrk="1" hangingPunct="1"/>
            <a:r>
              <a:rPr lang="en-US" altLang="en-US">
                <a:solidFill>
                  <a:schemeClr val="accent2"/>
                </a:solidFill>
              </a:rPr>
              <a:t>Dimensionality Reduction</a:t>
            </a:r>
          </a:p>
        </p:txBody>
      </p:sp>
      <p:sp>
        <p:nvSpPr>
          <p:cNvPr id="39939" name="Rectangle 3">
            <a:extLst>
              <a:ext uri="{FF2B5EF4-FFF2-40B4-BE49-F238E27FC236}">
                <a16:creationId xmlns:a16="http://schemas.microsoft.com/office/drawing/2014/main" id="{3AF6C7E6-B7B6-42F6-BC85-E83056856F96}"/>
              </a:ext>
            </a:extLst>
          </p:cNvPr>
          <p:cNvSpPr>
            <a:spLocks noGrp="1" noChangeArrowheads="1"/>
          </p:cNvSpPr>
          <p:nvPr>
            <p:ph type="body" idx="1"/>
          </p:nvPr>
        </p:nvSpPr>
        <p:spPr>
          <a:xfrm>
            <a:off x="304800" y="1596602"/>
            <a:ext cx="10083800" cy="5010474"/>
          </a:xfrm>
        </p:spPr>
        <p:txBody>
          <a:bodyPr/>
          <a:lstStyle/>
          <a:p>
            <a:pPr eaLnBrk="1" hangingPunct="1">
              <a:lnSpc>
                <a:spcPct val="90000"/>
              </a:lnSpc>
            </a:pPr>
            <a:r>
              <a:rPr lang="en-US" altLang="en-US" sz="3088">
                <a:solidFill>
                  <a:srgbClr val="CC3300"/>
                </a:solidFill>
              </a:rPr>
              <a:t>Problem:</a:t>
            </a:r>
            <a:r>
              <a:rPr lang="en-US" altLang="en-US" sz="3088"/>
              <a:t> Feature selection (i.e., </a:t>
            </a:r>
            <a:r>
              <a:rPr lang="en-US" altLang="en-US" sz="3088">
                <a:solidFill>
                  <a:schemeClr val="accent2"/>
                </a:solidFill>
              </a:rPr>
              <a:t>attribute subset selection</a:t>
            </a:r>
            <a:r>
              <a:rPr lang="en-US" altLang="en-US" sz="3088"/>
              <a:t>):</a:t>
            </a:r>
          </a:p>
          <a:p>
            <a:pPr lvl="1" eaLnBrk="1" hangingPunct="1">
              <a:lnSpc>
                <a:spcPct val="90000"/>
              </a:lnSpc>
            </a:pPr>
            <a:r>
              <a:rPr lang="en-US" altLang="en-US" sz="2647"/>
              <a:t>Select a </a:t>
            </a:r>
            <a:r>
              <a:rPr lang="en-US" altLang="en-US" sz="2647">
                <a:solidFill>
                  <a:schemeClr val="accent2"/>
                </a:solidFill>
              </a:rPr>
              <a:t>minimum set of features</a:t>
            </a:r>
            <a:r>
              <a:rPr lang="en-US" altLang="en-US" sz="2647"/>
              <a:t> </a:t>
            </a:r>
            <a:r>
              <a:rPr lang="en-US" altLang="en-US" sz="2647">
                <a:sym typeface="Symbol" panose="05050102010706020507" pitchFamily="18" charset="2"/>
              </a:rPr>
              <a:t>such that the probability distribution of different classes given the values for those features is as close as possible to the original distribution given the values of all features</a:t>
            </a:r>
          </a:p>
          <a:p>
            <a:pPr lvl="1" eaLnBrk="1" hangingPunct="1">
              <a:lnSpc>
                <a:spcPct val="90000"/>
              </a:lnSpc>
            </a:pPr>
            <a:r>
              <a:rPr lang="en-US" altLang="en-US" sz="2647">
                <a:solidFill>
                  <a:schemeClr val="accent2"/>
                </a:solidFill>
                <a:sym typeface="Symbol" panose="05050102010706020507" pitchFamily="18" charset="2"/>
              </a:rPr>
              <a:t>Nice side-effect</a:t>
            </a:r>
            <a:r>
              <a:rPr lang="en-US" altLang="en-US" sz="2647">
                <a:sym typeface="Symbol" panose="05050102010706020507" pitchFamily="18" charset="2"/>
              </a:rPr>
              <a:t>: reduces # of attributes in the discovered patterns (which are now easier to understand)</a:t>
            </a:r>
          </a:p>
          <a:p>
            <a:pPr eaLnBrk="1" hangingPunct="1">
              <a:lnSpc>
                <a:spcPct val="90000"/>
              </a:lnSpc>
            </a:pPr>
            <a:r>
              <a:rPr lang="en-US" altLang="en-US" sz="3088">
                <a:solidFill>
                  <a:srgbClr val="CC3300"/>
                </a:solidFill>
                <a:sym typeface="Symbol" panose="05050102010706020507" pitchFamily="18" charset="2"/>
              </a:rPr>
              <a:t>Solution:</a:t>
            </a:r>
            <a:r>
              <a:rPr lang="en-US" altLang="en-US" sz="3088">
                <a:sym typeface="Symbol" panose="05050102010706020507" pitchFamily="18" charset="2"/>
              </a:rPr>
              <a:t> Heuristic methods (due to exponential # of choices) usually greedy:</a:t>
            </a:r>
          </a:p>
          <a:p>
            <a:pPr lvl="1" eaLnBrk="1" hangingPunct="1">
              <a:lnSpc>
                <a:spcPct val="90000"/>
              </a:lnSpc>
            </a:pPr>
            <a:r>
              <a:rPr lang="en-US" altLang="en-US" sz="2647">
                <a:sym typeface="Symbol" panose="05050102010706020507" pitchFamily="18" charset="2"/>
              </a:rPr>
              <a:t>step-wise forward selection</a:t>
            </a:r>
          </a:p>
          <a:p>
            <a:pPr lvl="1" eaLnBrk="1" hangingPunct="1">
              <a:lnSpc>
                <a:spcPct val="90000"/>
              </a:lnSpc>
            </a:pPr>
            <a:r>
              <a:rPr lang="en-US" altLang="en-US" sz="2647">
                <a:sym typeface="Symbol" panose="05050102010706020507" pitchFamily="18" charset="2"/>
              </a:rPr>
              <a:t>step-wise backward elimination</a:t>
            </a:r>
          </a:p>
          <a:p>
            <a:pPr lvl="1" eaLnBrk="1" hangingPunct="1">
              <a:lnSpc>
                <a:spcPct val="90000"/>
              </a:lnSpc>
            </a:pPr>
            <a:r>
              <a:rPr lang="en-US" altLang="en-US" sz="2647">
                <a:sym typeface="Symbol" panose="05050102010706020507" pitchFamily="18" charset="2"/>
              </a:rPr>
              <a:t>combining forward selection and backward elimination</a:t>
            </a:r>
          </a:p>
          <a:p>
            <a:pPr lvl="1" eaLnBrk="1" hangingPunct="1">
              <a:lnSpc>
                <a:spcPct val="90000"/>
              </a:lnSpc>
            </a:pPr>
            <a:r>
              <a:rPr lang="en-US" altLang="en-US" sz="2647">
                <a:sym typeface="Symbol" panose="05050102010706020507" pitchFamily="18" charset="2"/>
              </a:rPr>
              <a:t>decision-tree induction</a:t>
            </a:r>
          </a:p>
        </p:txBody>
      </p:sp>
    </p:spTree>
  </p:cSld>
  <p:clrMapOvr>
    <a:masterClrMapping/>
  </p:clrMapOvr>
  <p:transition>
    <p:checke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a:extLst>
              <a:ext uri="{FF2B5EF4-FFF2-40B4-BE49-F238E27FC236}">
                <a16:creationId xmlns:a16="http://schemas.microsoft.com/office/drawing/2014/main" id="{C3E0FBF7-4532-4F54-99B1-DC941BF9AE2A}"/>
              </a:ext>
            </a:extLst>
          </p:cNvPr>
          <p:cNvSpPr txBox="1">
            <a:spLocks noChangeArrowheads="1"/>
          </p:cNvSpPr>
          <p:nvPr/>
        </p:nvSpPr>
        <p:spPr bwMode="auto">
          <a:xfrm>
            <a:off x="1481244" y="252095"/>
            <a:ext cx="8487198" cy="703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970" b="1">
                <a:solidFill>
                  <a:schemeClr val="accent2"/>
                </a:solidFill>
              </a:rPr>
              <a:t>Example of Decision Tree Induction</a:t>
            </a:r>
          </a:p>
        </p:txBody>
      </p:sp>
      <p:sp>
        <p:nvSpPr>
          <p:cNvPr id="41987" name="Text Box 3">
            <a:extLst>
              <a:ext uri="{FF2B5EF4-FFF2-40B4-BE49-F238E27FC236}">
                <a16:creationId xmlns:a16="http://schemas.microsoft.com/office/drawing/2014/main" id="{4ACB12A1-CD06-45A2-9CAD-0152B59EA7BF}"/>
              </a:ext>
            </a:extLst>
          </p:cNvPr>
          <p:cNvSpPr txBox="1">
            <a:spLocks noChangeArrowheads="1"/>
          </p:cNvSpPr>
          <p:nvPr/>
        </p:nvSpPr>
        <p:spPr bwMode="auto">
          <a:xfrm>
            <a:off x="6187017" y="2520950"/>
            <a:ext cx="3758721" cy="90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Initial attribute set: </a:t>
            </a:r>
          </a:p>
          <a:p>
            <a:pPr>
              <a:spcBef>
                <a:spcPct val="0"/>
              </a:spcBef>
              <a:buFontTx/>
              <a:buNone/>
            </a:pPr>
            <a:r>
              <a:rPr lang="en-US" altLang="en-US" sz="2647"/>
              <a:t>{A1, A2, A3, A4, A5, A6}</a:t>
            </a:r>
          </a:p>
        </p:txBody>
      </p:sp>
      <p:sp>
        <p:nvSpPr>
          <p:cNvPr id="41988" name="Rectangle 4">
            <a:extLst>
              <a:ext uri="{FF2B5EF4-FFF2-40B4-BE49-F238E27FC236}">
                <a16:creationId xmlns:a16="http://schemas.microsoft.com/office/drawing/2014/main" id="{15842FEC-B26E-4BE5-A0C6-0D5FB3E044C5}"/>
              </a:ext>
            </a:extLst>
          </p:cNvPr>
          <p:cNvSpPr>
            <a:spLocks noChangeArrowheads="1"/>
          </p:cNvSpPr>
          <p:nvPr/>
        </p:nvSpPr>
        <p:spPr bwMode="auto">
          <a:xfrm>
            <a:off x="4585164" y="2865831"/>
            <a:ext cx="954109" cy="5724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1989" name="Text Box 5">
            <a:extLst>
              <a:ext uri="{FF2B5EF4-FFF2-40B4-BE49-F238E27FC236}">
                <a16:creationId xmlns:a16="http://schemas.microsoft.com/office/drawing/2014/main" id="{AB2180FA-FD83-4089-B04A-33EFDCCAB5DD}"/>
              </a:ext>
            </a:extLst>
          </p:cNvPr>
          <p:cNvSpPr txBox="1">
            <a:spLocks noChangeArrowheads="1"/>
          </p:cNvSpPr>
          <p:nvPr/>
        </p:nvSpPr>
        <p:spPr bwMode="auto">
          <a:xfrm>
            <a:off x="4676198" y="2888589"/>
            <a:ext cx="973367"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A4 ?</a:t>
            </a:r>
          </a:p>
        </p:txBody>
      </p:sp>
      <p:sp>
        <p:nvSpPr>
          <p:cNvPr id="41990" name="Rectangle 6">
            <a:extLst>
              <a:ext uri="{FF2B5EF4-FFF2-40B4-BE49-F238E27FC236}">
                <a16:creationId xmlns:a16="http://schemas.microsoft.com/office/drawing/2014/main" id="{6976D261-2BA5-4258-9259-28C7C0E5E36C}"/>
              </a:ext>
            </a:extLst>
          </p:cNvPr>
          <p:cNvSpPr>
            <a:spLocks noChangeArrowheads="1"/>
          </p:cNvSpPr>
          <p:nvPr/>
        </p:nvSpPr>
        <p:spPr bwMode="auto">
          <a:xfrm>
            <a:off x="3020074" y="3988004"/>
            <a:ext cx="857823" cy="5724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1991" name="Rectangle 7">
            <a:extLst>
              <a:ext uri="{FF2B5EF4-FFF2-40B4-BE49-F238E27FC236}">
                <a16:creationId xmlns:a16="http://schemas.microsoft.com/office/drawing/2014/main" id="{6DCC4558-811B-4B97-8AD0-B2B9218A145F}"/>
              </a:ext>
            </a:extLst>
          </p:cNvPr>
          <p:cNvSpPr>
            <a:spLocks noChangeArrowheads="1"/>
          </p:cNvSpPr>
          <p:nvPr/>
        </p:nvSpPr>
        <p:spPr bwMode="auto">
          <a:xfrm>
            <a:off x="6129246" y="3916227"/>
            <a:ext cx="891085" cy="6039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1992" name="Text Box 8">
            <a:extLst>
              <a:ext uri="{FF2B5EF4-FFF2-40B4-BE49-F238E27FC236}">
                <a16:creationId xmlns:a16="http://schemas.microsoft.com/office/drawing/2014/main" id="{B2A24422-413C-43DB-B08E-A2BD1B6DAE39}"/>
              </a:ext>
            </a:extLst>
          </p:cNvPr>
          <p:cNvSpPr txBox="1">
            <a:spLocks noChangeArrowheads="1"/>
          </p:cNvSpPr>
          <p:nvPr/>
        </p:nvSpPr>
        <p:spPr bwMode="auto">
          <a:xfrm>
            <a:off x="3018323" y="4017765"/>
            <a:ext cx="750526"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A1?</a:t>
            </a:r>
          </a:p>
        </p:txBody>
      </p:sp>
      <p:sp>
        <p:nvSpPr>
          <p:cNvPr id="41993" name="Text Box 9">
            <a:extLst>
              <a:ext uri="{FF2B5EF4-FFF2-40B4-BE49-F238E27FC236}">
                <a16:creationId xmlns:a16="http://schemas.microsoft.com/office/drawing/2014/main" id="{90235728-6AF2-4838-AA8F-012E53357180}"/>
              </a:ext>
            </a:extLst>
          </p:cNvPr>
          <p:cNvSpPr txBox="1">
            <a:spLocks noChangeArrowheads="1"/>
          </p:cNvSpPr>
          <p:nvPr/>
        </p:nvSpPr>
        <p:spPr bwMode="auto">
          <a:xfrm>
            <a:off x="6155505" y="3986253"/>
            <a:ext cx="750526"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A6?</a:t>
            </a:r>
          </a:p>
        </p:txBody>
      </p:sp>
      <p:sp>
        <p:nvSpPr>
          <p:cNvPr id="41994" name="Oval 10">
            <a:extLst>
              <a:ext uri="{FF2B5EF4-FFF2-40B4-BE49-F238E27FC236}">
                <a16:creationId xmlns:a16="http://schemas.microsoft.com/office/drawing/2014/main" id="{083376BC-4E82-454D-91FE-072575DC2A65}"/>
              </a:ext>
            </a:extLst>
          </p:cNvPr>
          <p:cNvSpPr>
            <a:spLocks noChangeArrowheads="1"/>
          </p:cNvSpPr>
          <p:nvPr/>
        </p:nvSpPr>
        <p:spPr bwMode="auto">
          <a:xfrm>
            <a:off x="1817370" y="5462059"/>
            <a:ext cx="1256974" cy="668752"/>
          </a:xfrm>
          <a:prstGeom prst="ellipse">
            <a:avLst/>
          </a:prstGeom>
          <a:solidFill>
            <a:schemeClr val="bg1"/>
          </a:soli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1995" name="Text Box 11">
            <a:extLst>
              <a:ext uri="{FF2B5EF4-FFF2-40B4-BE49-F238E27FC236}">
                <a16:creationId xmlns:a16="http://schemas.microsoft.com/office/drawing/2014/main" id="{BE571570-A880-46C7-8DC7-943C05683CAE}"/>
              </a:ext>
            </a:extLst>
          </p:cNvPr>
          <p:cNvSpPr txBox="1">
            <a:spLocks noChangeArrowheads="1"/>
          </p:cNvSpPr>
          <p:nvPr/>
        </p:nvSpPr>
        <p:spPr bwMode="auto">
          <a:xfrm>
            <a:off x="1817371" y="5546091"/>
            <a:ext cx="1173719"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solidFill>
                  <a:srgbClr val="009900"/>
                </a:solidFill>
              </a:rPr>
              <a:t>Class 1</a:t>
            </a:r>
          </a:p>
        </p:txBody>
      </p:sp>
      <p:sp>
        <p:nvSpPr>
          <p:cNvPr id="41996" name="Rectangle 12">
            <a:extLst>
              <a:ext uri="{FF2B5EF4-FFF2-40B4-BE49-F238E27FC236}">
                <a16:creationId xmlns:a16="http://schemas.microsoft.com/office/drawing/2014/main" id="{13E0C925-4E2F-4F03-A1E3-7D5A2BE61CA9}"/>
              </a:ext>
            </a:extLst>
          </p:cNvPr>
          <p:cNvSpPr>
            <a:spLocks noChangeArrowheads="1"/>
          </p:cNvSpPr>
          <p:nvPr/>
        </p:nvSpPr>
        <p:spPr bwMode="auto">
          <a:xfrm>
            <a:off x="3753600" y="5495322"/>
            <a:ext cx="1173719"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solidFill>
                  <a:schemeClr val="accent2"/>
                </a:solidFill>
              </a:rPr>
              <a:t>Class 2</a:t>
            </a:r>
          </a:p>
        </p:txBody>
      </p:sp>
      <p:sp>
        <p:nvSpPr>
          <p:cNvPr id="41997" name="Rectangle 13">
            <a:extLst>
              <a:ext uri="{FF2B5EF4-FFF2-40B4-BE49-F238E27FC236}">
                <a16:creationId xmlns:a16="http://schemas.microsoft.com/office/drawing/2014/main" id="{FFD733D5-B6BB-4BC2-A7DE-EAB033124054}"/>
              </a:ext>
            </a:extLst>
          </p:cNvPr>
          <p:cNvSpPr>
            <a:spLocks noChangeArrowheads="1"/>
          </p:cNvSpPr>
          <p:nvPr/>
        </p:nvSpPr>
        <p:spPr bwMode="auto">
          <a:xfrm>
            <a:off x="5437735" y="5540839"/>
            <a:ext cx="1173719" cy="49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solidFill>
                  <a:srgbClr val="009900"/>
                </a:solidFill>
              </a:rPr>
              <a:t>Class 1</a:t>
            </a:r>
          </a:p>
        </p:txBody>
      </p:sp>
      <p:sp>
        <p:nvSpPr>
          <p:cNvPr id="41998" name="Rectangle 14">
            <a:extLst>
              <a:ext uri="{FF2B5EF4-FFF2-40B4-BE49-F238E27FC236}">
                <a16:creationId xmlns:a16="http://schemas.microsoft.com/office/drawing/2014/main" id="{1AE2A6BE-D596-4731-A949-E0610E07F060}"/>
              </a:ext>
            </a:extLst>
          </p:cNvPr>
          <p:cNvSpPr>
            <a:spLocks noChangeArrowheads="1"/>
          </p:cNvSpPr>
          <p:nvPr/>
        </p:nvSpPr>
        <p:spPr bwMode="auto">
          <a:xfrm>
            <a:off x="6983568" y="5463810"/>
            <a:ext cx="1173719"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solidFill>
                  <a:schemeClr val="accent2"/>
                </a:solidFill>
              </a:rPr>
              <a:t>Class 2</a:t>
            </a:r>
          </a:p>
        </p:txBody>
      </p:sp>
      <p:sp>
        <p:nvSpPr>
          <p:cNvPr id="41999" name="Oval 15">
            <a:extLst>
              <a:ext uri="{FF2B5EF4-FFF2-40B4-BE49-F238E27FC236}">
                <a16:creationId xmlns:a16="http://schemas.microsoft.com/office/drawing/2014/main" id="{34577CCE-B007-4CB9-AE9F-C71870F5DB5A}"/>
              </a:ext>
            </a:extLst>
          </p:cNvPr>
          <p:cNvSpPr>
            <a:spLocks noChangeArrowheads="1"/>
          </p:cNvSpPr>
          <p:nvPr/>
        </p:nvSpPr>
        <p:spPr bwMode="auto">
          <a:xfrm>
            <a:off x="3671320" y="5435800"/>
            <a:ext cx="1256974" cy="668752"/>
          </a:xfrm>
          <a:prstGeom prst="ellipse">
            <a:avLst/>
          </a:prstGeom>
          <a:noFill/>
          <a:ln w="952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2000" name="Oval 16">
            <a:extLst>
              <a:ext uri="{FF2B5EF4-FFF2-40B4-BE49-F238E27FC236}">
                <a16:creationId xmlns:a16="http://schemas.microsoft.com/office/drawing/2014/main" id="{8BCC6BC2-D3A1-4826-935B-FF4BF61638C4}"/>
              </a:ext>
            </a:extLst>
          </p:cNvPr>
          <p:cNvSpPr>
            <a:spLocks noChangeArrowheads="1"/>
          </p:cNvSpPr>
          <p:nvPr/>
        </p:nvSpPr>
        <p:spPr bwMode="auto">
          <a:xfrm>
            <a:off x="5406223" y="5451555"/>
            <a:ext cx="1256974" cy="668752"/>
          </a:xfrm>
          <a:prstGeom prst="ellipse">
            <a:avLst/>
          </a:prstGeom>
          <a:noFill/>
          <a:ln w="9525">
            <a:solidFill>
              <a:srgbClr val="0099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2001" name="Oval 17">
            <a:extLst>
              <a:ext uri="{FF2B5EF4-FFF2-40B4-BE49-F238E27FC236}">
                <a16:creationId xmlns:a16="http://schemas.microsoft.com/office/drawing/2014/main" id="{E47DB1BC-9053-4258-8B6E-67E9F559E81E}"/>
              </a:ext>
            </a:extLst>
          </p:cNvPr>
          <p:cNvSpPr>
            <a:spLocks noChangeArrowheads="1"/>
          </p:cNvSpPr>
          <p:nvPr/>
        </p:nvSpPr>
        <p:spPr bwMode="auto">
          <a:xfrm>
            <a:off x="6869774" y="5402536"/>
            <a:ext cx="1256974" cy="668752"/>
          </a:xfrm>
          <a:prstGeom prst="ellipse">
            <a:avLst/>
          </a:prstGeom>
          <a:noFill/>
          <a:ln w="952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42002" name="Line 18">
            <a:extLst>
              <a:ext uri="{FF2B5EF4-FFF2-40B4-BE49-F238E27FC236}">
                <a16:creationId xmlns:a16="http://schemas.microsoft.com/office/drawing/2014/main" id="{0019433B-4B07-4DEC-A200-4DBE9387D885}"/>
              </a:ext>
            </a:extLst>
          </p:cNvPr>
          <p:cNvSpPr>
            <a:spLocks noChangeShapeType="1"/>
          </p:cNvSpPr>
          <p:nvPr/>
        </p:nvSpPr>
        <p:spPr bwMode="auto">
          <a:xfrm flipH="1">
            <a:off x="3440232" y="3454052"/>
            <a:ext cx="1559837" cy="5251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03" name="Line 19">
            <a:extLst>
              <a:ext uri="{FF2B5EF4-FFF2-40B4-BE49-F238E27FC236}">
                <a16:creationId xmlns:a16="http://schemas.microsoft.com/office/drawing/2014/main" id="{BA71993F-BD54-4E26-96EC-9F2129F3E2D4}"/>
              </a:ext>
            </a:extLst>
          </p:cNvPr>
          <p:cNvSpPr>
            <a:spLocks noChangeShapeType="1"/>
          </p:cNvSpPr>
          <p:nvPr/>
        </p:nvSpPr>
        <p:spPr bwMode="auto">
          <a:xfrm>
            <a:off x="5015827" y="3454053"/>
            <a:ext cx="1495063" cy="4446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04" name="Line 20">
            <a:extLst>
              <a:ext uri="{FF2B5EF4-FFF2-40B4-BE49-F238E27FC236}">
                <a16:creationId xmlns:a16="http://schemas.microsoft.com/office/drawing/2014/main" id="{745BC691-CC70-43F7-87C1-97B801C7942A}"/>
              </a:ext>
            </a:extLst>
          </p:cNvPr>
          <p:cNvSpPr>
            <a:spLocks noChangeShapeType="1"/>
          </p:cNvSpPr>
          <p:nvPr/>
        </p:nvSpPr>
        <p:spPr bwMode="auto">
          <a:xfrm flipH="1">
            <a:off x="2533391" y="4567472"/>
            <a:ext cx="891085" cy="8595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05" name="Line 21">
            <a:extLst>
              <a:ext uri="{FF2B5EF4-FFF2-40B4-BE49-F238E27FC236}">
                <a16:creationId xmlns:a16="http://schemas.microsoft.com/office/drawing/2014/main" id="{00F398FA-2143-4742-90D8-74F5731F84E3}"/>
              </a:ext>
            </a:extLst>
          </p:cNvPr>
          <p:cNvSpPr>
            <a:spLocks noChangeShapeType="1"/>
          </p:cNvSpPr>
          <p:nvPr/>
        </p:nvSpPr>
        <p:spPr bwMode="auto">
          <a:xfrm>
            <a:off x="3424476" y="4567472"/>
            <a:ext cx="842068" cy="8753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06" name="Line 22">
            <a:extLst>
              <a:ext uri="{FF2B5EF4-FFF2-40B4-BE49-F238E27FC236}">
                <a16:creationId xmlns:a16="http://schemas.microsoft.com/office/drawing/2014/main" id="{E9AA3AE2-8EA3-461F-A4A8-B613B1655A28}"/>
              </a:ext>
            </a:extLst>
          </p:cNvPr>
          <p:cNvSpPr>
            <a:spLocks noChangeShapeType="1"/>
          </p:cNvSpPr>
          <p:nvPr/>
        </p:nvSpPr>
        <p:spPr bwMode="auto">
          <a:xfrm flipH="1">
            <a:off x="6017204" y="4535960"/>
            <a:ext cx="556710" cy="92259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07" name="Line 23">
            <a:extLst>
              <a:ext uri="{FF2B5EF4-FFF2-40B4-BE49-F238E27FC236}">
                <a16:creationId xmlns:a16="http://schemas.microsoft.com/office/drawing/2014/main" id="{50A52844-6257-4F73-A4CF-B0550071221B}"/>
              </a:ext>
            </a:extLst>
          </p:cNvPr>
          <p:cNvSpPr>
            <a:spLocks noChangeShapeType="1"/>
          </p:cNvSpPr>
          <p:nvPr/>
        </p:nvSpPr>
        <p:spPr bwMode="auto">
          <a:xfrm>
            <a:off x="6607175" y="4520203"/>
            <a:ext cx="891086" cy="8753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08" name="Text Box 24">
            <a:extLst>
              <a:ext uri="{FF2B5EF4-FFF2-40B4-BE49-F238E27FC236}">
                <a16:creationId xmlns:a16="http://schemas.microsoft.com/office/drawing/2014/main" id="{A284A797-F69A-46B7-A059-4DC743E0CE5C}"/>
              </a:ext>
            </a:extLst>
          </p:cNvPr>
          <p:cNvSpPr txBox="1">
            <a:spLocks noChangeArrowheads="1"/>
          </p:cNvSpPr>
          <p:nvPr/>
        </p:nvSpPr>
        <p:spPr bwMode="auto">
          <a:xfrm>
            <a:off x="1094349" y="6262111"/>
            <a:ext cx="184731"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647"/>
          </a:p>
        </p:txBody>
      </p:sp>
      <p:grpSp>
        <p:nvGrpSpPr>
          <p:cNvPr id="42009" name="Group 25">
            <a:extLst>
              <a:ext uri="{FF2B5EF4-FFF2-40B4-BE49-F238E27FC236}">
                <a16:creationId xmlns:a16="http://schemas.microsoft.com/office/drawing/2014/main" id="{2692B3C7-6D01-4BE0-AED3-B1EBA625B411}"/>
              </a:ext>
            </a:extLst>
          </p:cNvPr>
          <p:cNvGrpSpPr>
            <a:grpSpLocks/>
          </p:cNvGrpSpPr>
          <p:nvPr/>
        </p:nvGrpSpPr>
        <p:grpSpPr bwMode="auto">
          <a:xfrm>
            <a:off x="1164374" y="6407412"/>
            <a:ext cx="703764" cy="397400"/>
            <a:chOff x="491" y="3660"/>
            <a:chExt cx="402" cy="227"/>
          </a:xfrm>
        </p:grpSpPr>
        <p:sp>
          <p:nvSpPr>
            <p:cNvPr id="42012" name="Line 26">
              <a:extLst>
                <a:ext uri="{FF2B5EF4-FFF2-40B4-BE49-F238E27FC236}">
                  <a16:creationId xmlns:a16="http://schemas.microsoft.com/office/drawing/2014/main" id="{835257E3-81A9-4653-A95C-76690DDA5E38}"/>
                </a:ext>
              </a:extLst>
            </p:cNvPr>
            <p:cNvSpPr>
              <a:spLocks noChangeShapeType="1"/>
            </p:cNvSpPr>
            <p:nvPr/>
          </p:nvSpPr>
          <p:spPr bwMode="auto">
            <a:xfrm>
              <a:off x="491" y="3773"/>
              <a:ext cx="27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2013" name="Text Box 27">
              <a:extLst>
                <a:ext uri="{FF2B5EF4-FFF2-40B4-BE49-F238E27FC236}">
                  <a16:creationId xmlns:a16="http://schemas.microsoft.com/office/drawing/2014/main" id="{D4E69CE0-315C-4E11-95BF-44F0BAC4DF8A}"/>
                </a:ext>
              </a:extLst>
            </p:cNvPr>
            <p:cNvSpPr txBox="1">
              <a:spLocks noChangeArrowheads="1"/>
            </p:cNvSpPr>
            <p:nvPr/>
          </p:nvSpPr>
          <p:spPr bwMode="auto">
            <a:xfrm>
              <a:off x="705" y="3660"/>
              <a:ext cx="188"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985"/>
                <a:t>&gt;</a:t>
              </a:r>
              <a:endParaRPr lang="en-US" altLang="en-US" sz="2647"/>
            </a:p>
          </p:txBody>
        </p:sp>
      </p:grpSp>
      <p:sp>
        <p:nvSpPr>
          <p:cNvPr id="42010" name="Text Box 28">
            <a:extLst>
              <a:ext uri="{FF2B5EF4-FFF2-40B4-BE49-F238E27FC236}">
                <a16:creationId xmlns:a16="http://schemas.microsoft.com/office/drawing/2014/main" id="{92653139-AF16-4EC0-B6AA-EB1C4B2E40A3}"/>
              </a:ext>
            </a:extLst>
          </p:cNvPr>
          <p:cNvSpPr txBox="1">
            <a:spLocks noChangeArrowheads="1"/>
          </p:cNvSpPr>
          <p:nvPr/>
        </p:nvSpPr>
        <p:spPr bwMode="auto">
          <a:xfrm>
            <a:off x="1873392" y="6326885"/>
            <a:ext cx="5191871"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Reduced attribute set:  {A1, A4, A6}</a:t>
            </a:r>
          </a:p>
        </p:txBody>
      </p:sp>
      <p:sp>
        <p:nvSpPr>
          <p:cNvPr id="42011" name="Text Box 29">
            <a:extLst>
              <a:ext uri="{FF2B5EF4-FFF2-40B4-BE49-F238E27FC236}">
                <a16:creationId xmlns:a16="http://schemas.microsoft.com/office/drawing/2014/main" id="{901A867A-0FBF-42FC-9465-D4FFE1829C80}"/>
              </a:ext>
            </a:extLst>
          </p:cNvPr>
          <p:cNvSpPr txBox="1">
            <a:spLocks noChangeArrowheads="1"/>
          </p:cNvSpPr>
          <p:nvPr/>
        </p:nvSpPr>
        <p:spPr bwMode="auto">
          <a:xfrm>
            <a:off x="472863" y="1176444"/>
            <a:ext cx="9075420" cy="1314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nonleaf nodes: tests  </a:t>
            </a:r>
          </a:p>
          <a:p>
            <a:pPr eaLnBrk="1" hangingPunct="1">
              <a:spcBef>
                <a:spcPct val="0"/>
              </a:spcBef>
              <a:buFontTx/>
              <a:buNone/>
            </a:pPr>
            <a:r>
              <a:rPr lang="en-US" altLang="en-US" sz="2647"/>
              <a:t>branches:         outcomes of tests  </a:t>
            </a:r>
          </a:p>
          <a:p>
            <a:pPr eaLnBrk="1" hangingPunct="1">
              <a:spcBef>
                <a:spcPct val="0"/>
              </a:spcBef>
              <a:buFontTx/>
              <a:buNone/>
            </a:pPr>
            <a:r>
              <a:rPr lang="en-US" altLang="en-US" sz="2647"/>
              <a:t>leaf nodes:       class prediction</a:t>
            </a:r>
          </a:p>
        </p:txBody>
      </p:sp>
    </p:spTree>
  </p:cSld>
  <p:clrMapOvr>
    <a:masterClrMapping/>
  </p:clrMapOvr>
  <p:transition>
    <p:checker dir="vert"/>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2A44E3E-E4E4-4C79-B737-3510D8789651}"/>
              </a:ext>
            </a:extLst>
          </p:cNvPr>
          <p:cNvSpPr>
            <a:spLocks noGrp="1" noChangeArrowheads="1"/>
          </p:cNvSpPr>
          <p:nvPr>
            <p:ph type="title"/>
          </p:nvPr>
        </p:nvSpPr>
        <p:spPr>
          <a:xfrm>
            <a:off x="640927" y="420159"/>
            <a:ext cx="9411547" cy="492443"/>
          </a:xfrm>
        </p:spPr>
        <p:txBody>
          <a:bodyPr/>
          <a:lstStyle/>
          <a:p>
            <a:pPr eaLnBrk="1" hangingPunct="1"/>
            <a:r>
              <a:rPr lang="en-US" altLang="en-US">
                <a:solidFill>
                  <a:schemeClr val="accent2"/>
                </a:solidFill>
              </a:rPr>
              <a:t>Heuristic Feature Selection Methods</a:t>
            </a:r>
          </a:p>
        </p:txBody>
      </p:sp>
      <p:sp>
        <p:nvSpPr>
          <p:cNvPr id="44035" name="Rectangle 3">
            <a:extLst>
              <a:ext uri="{FF2B5EF4-FFF2-40B4-BE49-F238E27FC236}">
                <a16:creationId xmlns:a16="http://schemas.microsoft.com/office/drawing/2014/main" id="{44C5FF44-371C-4C9A-AE67-3B6EA252756E}"/>
              </a:ext>
            </a:extLst>
          </p:cNvPr>
          <p:cNvSpPr>
            <a:spLocks noGrp="1" noChangeArrowheads="1"/>
          </p:cNvSpPr>
          <p:nvPr>
            <p:ph type="body" idx="1"/>
          </p:nvPr>
        </p:nvSpPr>
        <p:spPr>
          <a:xfrm>
            <a:off x="724959" y="1848697"/>
            <a:ext cx="9243483" cy="4052391"/>
          </a:xfrm>
        </p:spPr>
        <p:txBody>
          <a:bodyPr/>
          <a:lstStyle/>
          <a:p>
            <a:pPr eaLnBrk="1" hangingPunct="1">
              <a:lnSpc>
                <a:spcPct val="90000"/>
              </a:lnSpc>
            </a:pPr>
            <a:r>
              <a:rPr lang="en-US" altLang="en-US" sz="3088" dirty="0">
                <a:latin typeface="+mn-lt"/>
              </a:rPr>
              <a:t>There are </a:t>
            </a:r>
            <a:r>
              <a:rPr lang="en-US" altLang="en-US" sz="3088" i="1" dirty="0">
                <a:latin typeface="+mn-lt"/>
              </a:rPr>
              <a:t>2</a:t>
            </a:r>
            <a:r>
              <a:rPr lang="en-US" altLang="en-US" sz="3088" i="1" baseline="30000" dirty="0">
                <a:latin typeface="+mn-lt"/>
              </a:rPr>
              <a:t>d</a:t>
            </a:r>
            <a:r>
              <a:rPr lang="en-US" altLang="en-US" sz="3088" baseline="30000" dirty="0">
                <a:latin typeface="+mn-lt"/>
              </a:rPr>
              <a:t> </a:t>
            </a:r>
            <a:r>
              <a:rPr lang="en-US" altLang="en-US" sz="3088" dirty="0">
                <a:latin typeface="+mn-lt"/>
              </a:rPr>
              <a:t>possible sub-features of </a:t>
            </a:r>
            <a:r>
              <a:rPr lang="en-US" altLang="en-US" sz="3088" i="1" dirty="0">
                <a:latin typeface="+mn-lt"/>
              </a:rPr>
              <a:t>d</a:t>
            </a:r>
            <a:r>
              <a:rPr lang="en-US" altLang="en-US" sz="3088" dirty="0">
                <a:latin typeface="+mn-lt"/>
              </a:rPr>
              <a:t> features</a:t>
            </a:r>
          </a:p>
          <a:p>
            <a:pPr eaLnBrk="1" hangingPunct="1">
              <a:lnSpc>
                <a:spcPct val="90000"/>
              </a:lnSpc>
            </a:pPr>
            <a:r>
              <a:rPr lang="en-US" altLang="en-US" sz="3088" dirty="0">
                <a:latin typeface="+mn-lt"/>
              </a:rPr>
              <a:t>Several heuristic feature selection methods:</a:t>
            </a:r>
          </a:p>
          <a:p>
            <a:pPr lvl="1" eaLnBrk="1" hangingPunct="1">
              <a:lnSpc>
                <a:spcPct val="90000"/>
              </a:lnSpc>
            </a:pPr>
            <a:r>
              <a:rPr lang="en-US" altLang="en-US" sz="2647" dirty="0">
                <a:solidFill>
                  <a:schemeClr val="accent2"/>
                </a:solidFill>
              </a:rPr>
              <a:t>Best single features under the feature independence assumption</a:t>
            </a:r>
            <a:r>
              <a:rPr lang="en-US" altLang="en-US" sz="2647" dirty="0"/>
              <a:t>: choose by significance tests.</a:t>
            </a:r>
          </a:p>
          <a:p>
            <a:pPr lvl="1" eaLnBrk="1" hangingPunct="1">
              <a:lnSpc>
                <a:spcPct val="90000"/>
              </a:lnSpc>
            </a:pPr>
            <a:r>
              <a:rPr lang="en-US" altLang="en-US" sz="2647" dirty="0">
                <a:solidFill>
                  <a:schemeClr val="accent2"/>
                </a:solidFill>
              </a:rPr>
              <a:t>Step-wise feature selection</a:t>
            </a:r>
            <a:r>
              <a:rPr lang="en-US" altLang="en-US" sz="2647" dirty="0"/>
              <a:t>: </a:t>
            </a:r>
          </a:p>
          <a:p>
            <a:pPr lvl="2" eaLnBrk="1" hangingPunct="1">
              <a:lnSpc>
                <a:spcPct val="90000"/>
              </a:lnSpc>
            </a:pPr>
            <a:r>
              <a:rPr lang="en-US" altLang="en-US" dirty="0"/>
              <a:t>The best single-feature is picked first</a:t>
            </a:r>
          </a:p>
          <a:p>
            <a:pPr lvl="2" eaLnBrk="1" hangingPunct="1">
              <a:lnSpc>
                <a:spcPct val="90000"/>
              </a:lnSpc>
            </a:pPr>
            <a:r>
              <a:rPr lang="en-US" altLang="en-US" dirty="0"/>
              <a:t>Then next best feature condition to the first, ...</a:t>
            </a:r>
          </a:p>
          <a:p>
            <a:pPr lvl="1" eaLnBrk="1" hangingPunct="1">
              <a:lnSpc>
                <a:spcPct val="90000"/>
              </a:lnSpc>
            </a:pPr>
            <a:r>
              <a:rPr lang="en-US" altLang="en-US" sz="2647" dirty="0">
                <a:solidFill>
                  <a:schemeClr val="accent2"/>
                </a:solidFill>
              </a:rPr>
              <a:t>Step-wise feature elimination</a:t>
            </a:r>
            <a:r>
              <a:rPr lang="en-US" altLang="en-US" sz="2647" dirty="0"/>
              <a:t>:</a:t>
            </a:r>
          </a:p>
          <a:p>
            <a:pPr lvl="2" eaLnBrk="1" hangingPunct="1">
              <a:lnSpc>
                <a:spcPct val="90000"/>
              </a:lnSpc>
            </a:pPr>
            <a:r>
              <a:rPr lang="en-US" altLang="en-US" dirty="0"/>
              <a:t>Repeatedly eliminate the worst feature</a:t>
            </a:r>
          </a:p>
          <a:p>
            <a:pPr lvl="1" eaLnBrk="1" hangingPunct="1">
              <a:lnSpc>
                <a:spcPct val="90000"/>
              </a:lnSpc>
            </a:pPr>
            <a:r>
              <a:rPr lang="en-US" altLang="en-US" sz="2647" dirty="0">
                <a:solidFill>
                  <a:schemeClr val="accent2"/>
                </a:solidFill>
              </a:rPr>
              <a:t>Combined feature selection and elimination</a:t>
            </a:r>
            <a:r>
              <a:rPr lang="en-US" altLang="en-US" sz="2647" dirty="0"/>
              <a:t>:</a:t>
            </a:r>
          </a:p>
          <a:p>
            <a:pPr lvl="1" eaLnBrk="1" hangingPunct="1">
              <a:lnSpc>
                <a:spcPct val="90000"/>
              </a:lnSpc>
              <a:buFontTx/>
              <a:buNone/>
            </a:pPr>
            <a:r>
              <a:rPr lang="en-US" altLang="en-US" sz="2647" dirty="0"/>
              <a:t>     Optimal branch and bound:</a:t>
            </a:r>
          </a:p>
          <a:p>
            <a:pPr lvl="2" eaLnBrk="1" hangingPunct="1">
              <a:lnSpc>
                <a:spcPct val="90000"/>
              </a:lnSpc>
            </a:pPr>
            <a:r>
              <a:rPr lang="en-US" altLang="en-US" dirty="0">
                <a:sym typeface="Symbol" panose="05050102010706020507" pitchFamily="18" charset="2"/>
              </a:rPr>
              <a:t>Use feature elimination and backtracking</a:t>
            </a:r>
          </a:p>
        </p:txBody>
      </p:sp>
    </p:spTree>
  </p:cSld>
  <p:clrMapOvr>
    <a:masterClrMapping/>
  </p:clrMapOvr>
  <p:transition>
    <p:checke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98E5410-402E-436B-9214-C1FDE9E071D8}"/>
              </a:ext>
            </a:extLst>
          </p:cNvPr>
          <p:cNvSpPr>
            <a:spLocks noGrp="1" noChangeArrowheads="1"/>
          </p:cNvSpPr>
          <p:nvPr>
            <p:ph type="title"/>
          </p:nvPr>
        </p:nvSpPr>
        <p:spPr>
          <a:xfrm>
            <a:off x="2069465" y="420159"/>
            <a:ext cx="5293995" cy="492443"/>
          </a:xfrm>
        </p:spPr>
        <p:txBody>
          <a:bodyPr/>
          <a:lstStyle/>
          <a:p>
            <a:pPr eaLnBrk="1" hangingPunct="1"/>
            <a:r>
              <a:rPr lang="en-US" altLang="en-US">
                <a:solidFill>
                  <a:schemeClr val="accent2"/>
                </a:solidFill>
              </a:rPr>
              <a:t>Data Compression</a:t>
            </a:r>
          </a:p>
        </p:txBody>
      </p:sp>
      <p:sp>
        <p:nvSpPr>
          <p:cNvPr id="46083" name="Rectangle 3">
            <a:extLst>
              <a:ext uri="{FF2B5EF4-FFF2-40B4-BE49-F238E27FC236}">
                <a16:creationId xmlns:a16="http://schemas.microsoft.com/office/drawing/2014/main" id="{970DB6B0-3CEE-4EB0-9AC3-FAD0CD73AFF1}"/>
              </a:ext>
            </a:extLst>
          </p:cNvPr>
          <p:cNvSpPr>
            <a:spLocks noGrp="1" noChangeArrowheads="1"/>
          </p:cNvSpPr>
          <p:nvPr>
            <p:ph type="body" idx="1"/>
          </p:nvPr>
        </p:nvSpPr>
        <p:spPr>
          <a:xfrm>
            <a:off x="808990" y="1512570"/>
            <a:ext cx="9243483" cy="4277068"/>
          </a:xfrm>
        </p:spPr>
        <p:txBody>
          <a:bodyPr/>
          <a:lstStyle/>
          <a:p>
            <a:pPr eaLnBrk="1" hangingPunct="1"/>
            <a:r>
              <a:rPr lang="en-US" altLang="en-US" sz="3088"/>
              <a:t>String compression</a:t>
            </a:r>
          </a:p>
          <a:p>
            <a:pPr lvl="1" eaLnBrk="1" hangingPunct="1"/>
            <a:r>
              <a:rPr lang="en-US" altLang="en-US" sz="2647"/>
              <a:t>There are extensive theories and well-tuned algorithms</a:t>
            </a:r>
          </a:p>
          <a:p>
            <a:pPr lvl="1" eaLnBrk="1" hangingPunct="1"/>
            <a:r>
              <a:rPr lang="en-US" altLang="en-US" sz="2647"/>
              <a:t>Typically lossless</a:t>
            </a:r>
          </a:p>
          <a:p>
            <a:pPr lvl="1" eaLnBrk="1" hangingPunct="1"/>
            <a:r>
              <a:rPr lang="en-US" altLang="en-US" sz="2647"/>
              <a:t>But only limited manipulation is possible without expansion</a:t>
            </a:r>
            <a:endParaRPr lang="en-US" altLang="en-US" sz="2647">
              <a:sym typeface="Symbol" panose="05050102010706020507" pitchFamily="18" charset="2"/>
            </a:endParaRPr>
          </a:p>
          <a:p>
            <a:pPr eaLnBrk="1" hangingPunct="1"/>
            <a:r>
              <a:rPr lang="en-US" altLang="en-US" sz="3088">
                <a:sym typeface="Symbol" panose="05050102010706020507" pitchFamily="18" charset="2"/>
              </a:rPr>
              <a:t>Audio/video, image compression</a:t>
            </a:r>
          </a:p>
          <a:p>
            <a:pPr lvl="1" eaLnBrk="1" hangingPunct="1"/>
            <a:r>
              <a:rPr lang="en-US" altLang="en-US" sz="2647">
                <a:sym typeface="Symbol" panose="05050102010706020507" pitchFamily="18" charset="2"/>
              </a:rPr>
              <a:t>Typically lossy compression, with progressive refinement</a:t>
            </a:r>
          </a:p>
          <a:p>
            <a:pPr lvl="1" eaLnBrk="1" hangingPunct="1"/>
            <a:r>
              <a:rPr lang="en-US" altLang="en-US" sz="2647">
                <a:sym typeface="Symbol" panose="05050102010706020507" pitchFamily="18" charset="2"/>
              </a:rPr>
              <a:t>Sometimes small fragments of signal can be reconstructed without reconstructing the whole</a:t>
            </a:r>
          </a:p>
          <a:p>
            <a:pPr eaLnBrk="1" hangingPunct="1"/>
            <a:r>
              <a:rPr lang="en-US" altLang="en-US" sz="3088">
                <a:sym typeface="Symbol" panose="05050102010706020507" pitchFamily="18" charset="2"/>
              </a:rPr>
              <a:t>Time sequence is not audio</a:t>
            </a:r>
          </a:p>
          <a:p>
            <a:pPr lvl="1" eaLnBrk="1" hangingPunct="1"/>
            <a:r>
              <a:rPr lang="en-US" altLang="en-US" sz="2647">
                <a:sym typeface="Symbol" panose="05050102010706020507" pitchFamily="18" charset="2"/>
              </a:rPr>
              <a:t>Typically short and vary slowly with time</a:t>
            </a:r>
          </a:p>
        </p:txBody>
      </p:sp>
    </p:spTree>
  </p:cSld>
  <p:clrMapOvr>
    <a:masterClrMapping/>
  </p:clrMapOvr>
  <p:transition>
    <p:checke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75DC1B6-0D79-4F29-98B9-84E1F8FFCB94}"/>
              </a:ext>
            </a:extLst>
          </p:cNvPr>
          <p:cNvSpPr>
            <a:spLocks noGrp="1" noChangeArrowheads="1"/>
          </p:cNvSpPr>
          <p:nvPr>
            <p:ph type="title"/>
          </p:nvPr>
        </p:nvSpPr>
        <p:spPr>
          <a:xfrm>
            <a:off x="1962676" y="420159"/>
            <a:ext cx="5316753" cy="492443"/>
          </a:xfrm>
        </p:spPr>
        <p:txBody>
          <a:bodyPr/>
          <a:lstStyle/>
          <a:p>
            <a:pPr eaLnBrk="1" hangingPunct="1"/>
            <a:r>
              <a:rPr lang="en-US" altLang="en-US">
                <a:solidFill>
                  <a:schemeClr val="accent2"/>
                </a:solidFill>
              </a:rPr>
              <a:t>Data Compression</a:t>
            </a:r>
          </a:p>
        </p:txBody>
      </p:sp>
      <p:sp>
        <p:nvSpPr>
          <p:cNvPr id="48131" name="AutoShape 3">
            <a:extLst>
              <a:ext uri="{FF2B5EF4-FFF2-40B4-BE49-F238E27FC236}">
                <a16:creationId xmlns:a16="http://schemas.microsoft.com/office/drawing/2014/main" id="{1E9DF8C1-C095-49A2-8761-01A81749DE39}"/>
              </a:ext>
            </a:extLst>
          </p:cNvPr>
          <p:cNvSpPr>
            <a:spLocks noChangeArrowheads="1"/>
          </p:cNvSpPr>
          <p:nvPr/>
        </p:nvSpPr>
        <p:spPr bwMode="auto">
          <a:xfrm>
            <a:off x="1229149" y="1792676"/>
            <a:ext cx="3800683" cy="2862329"/>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Original Data</a:t>
            </a:r>
          </a:p>
        </p:txBody>
      </p:sp>
      <p:sp>
        <p:nvSpPr>
          <p:cNvPr id="48132" name="AutoShape 4">
            <a:extLst>
              <a:ext uri="{FF2B5EF4-FFF2-40B4-BE49-F238E27FC236}">
                <a16:creationId xmlns:a16="http://schemas.microsoft.com/office/drawing/2014/main" id="{8971BDE7-531A-462A-AB8C-3E0FEDF08E54}"/>
              </a:ext>
            </a:extLst>
          </p:cNvPr>
          <p:cNvSpPr>
            <a:spLocks noChangeArrowheads="1"/>
          </p:cNvSpPr>
          <p:nvPr/>
        </p:nvSpPr>
        <p:spPr bwMode="auto">
          <a:xfrm>
            <a:off x="7114867" y="2480686"/>
            <a:ext cx="2407158" cy="1773418"/>
          </a:xfrm>
          <a:prstGeom prst="cube">
            <a:avLst>
              <a:gd name="adj" fmla="val 25000"/>
            </a:avLst>
          </a:prstGeom>
          <a:solidFill>
            <a:srgbClr val="F6E6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Compressed </a:t>
            </a:r>
          </a:p>
          <a:p>
            <a:pPr algn="ctr">
              <a:spcBef>
                <a:spcPct val="0"/>
              </a:spcBef>
              <a:buFontTx/>
              <a:buNone/>
            </a:pPr>
            <a:r>
              <a:rPr lang="en-US" altLang="en-US" sz="2647"/>
              <a:t>Data</a:t>
            </a:r>
          </a:p>
        </p:txBody>
      </p:sp>
      <p:sp>
        <p:nvSpPr>
          <p:cNvPr id="48133" name="Line 5">
            <a:extLst>
              <a:ext uri="{FF2B5EF4-FFF2-40B4-BE49-F238E27FC236}">
                <a16:creationId xmlns:a16="http://schemas.microsoft.com/office/drawing/2014/main" id="{3B59D487-0FAC-4279-BE45-1FBC4FCA7EB1}"/>
              </a:ext>
            </a:extLst>
          </p:cNvPr>
          <p:cNvSpPr>
            <a:spLocks noChangeShapeType="1"/>
          </p:cNvSpPr>
          <p:nvPr/>
        </p:nvSpPr>
        <p:spPr bwMode="auto">
          <a:xfrm>
            <a:off x="5068346" y="3313999"/>
            <a:ext cx="202726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8134" name="Line 6">
            <a:extLst>
              <a:ext uri="{FF2B5EF4-FFF2-40B4-BE49-F238E27FC236}">
                <a16:creationId xmlns:a16="http://schemas.microsoft.com/office/drawing/2014/main" id="{293A116A-C73B-4218-BA78-9BDCC0F009E0}"/>
              </a:ext>
            </a:extLst>
          </p:cNvPr>
          <p:cNvSpPr>
            <a:spLocks noChangeShapeType="1"/>
          </p:cNvSpPr>
          <p:nvPr/>
        </p:nvSpPr>
        <p:spPr bwMode="auto">
          <a:xfrm flipH="1">
            <a:off x="5068346" y="3947738"/>
            <a:ext cx="202726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8135" name="Text Box 7">
            <a:extLst>
              <a:ext uri="{FF2B5EF4-FFF2-40B4-BE49-F238E27FC236}">
                <a16:creationId xmlns:a16="http://schemas.microsoft.com/office/drawing/2014/main" id="{428F745A-01BA-4965-9610-410ADD83B0F8}"/>
              </a:ext>
            </a:extLst>
          </p:cNvPr>
          <p:cNvSpPr txBox="1">
            <a:spLocks noChangeArrowheads="1"/>
          </p:cNvSpPr>
          <p:nvPr/>
        </p:nvSpPr>
        <p:spPr bwMode="auto">
          <a:xfrm>
            <a:off x="5418478" y="4042274"/>
            <a:ext cx="1220206"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lossless</a:t>
            </a:r>
          </a:p>
        </p:txBody>
      </p:sp>
      <p:sp>
        <p:nvSpPr>
          <p:cNvPr id="48136" name="AutoShape 8">
            <a:extLst>
              <a:ext uri="{FF2B5EF4-FFF2-40B4-BE49-F238E27FC236}">
                <a16:creationId xmlns:a16="http://schemas.microsoft.com/office/drawing/2014/main" id="{D4455E9E-B977-460A-9EAF-63A67D20DE6B}"/>
              </a:ext>
            </a:extLst>
          </p:cNvPr>
          <p:cNvSpPr>
            <a:spLocks noChangeArrowheads="1"/>
          </p:cNvSpPr>
          <p:nvPr/>
        </p:nvSpPr>
        <p:spPr bwMode="auto">
          <a:xfrm>
            <a:off x="1353446" y="4816065"/>
            <a:ext cx="3623866" cy="2408908"/>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Original Data</a:t>
            </a:r>
          </a:p>
          <a:p>
            <a:pPr algn="ctr">
              <a:spcBef>
                <a:spcPct val="0"/>
              </a:spcBef>
              <a:buFontTx/>
              <a:buNone/>
            </a:pPr>
            <a:r>
              <a:rPr lang="en-US" altLang="en-US" sz="2647"/>
              <a:t>Approximated </a:t>
            </a:r>
          </a:p>
        </p:txBody>
      </p:sp>
      <p:sp>
        <p:nvSpPr>
          <p:cNvPr id="48137" name="Line 9">
            <a:extLst>
              <a:ext uri="{FF2B5EF4-FFF2-40B4-BE49-F238E27FC236}">
                <a16:creationId xmlns:a16="http://schemas.microsoft.com/office/drawing/2014/main" id="{FECECB10-EA6F-4E92-9D24-6800592DC382}"/>
              </a:ext>
            </a:extLst>
          </p:cNvPr>
          <p:cNvSpPr>
            <a:spLocks noChangeShapeType="1"/>
          </p:cNvSpPr>
          <p:nvPr/>
        </p:nvSpPr>
        <p:spPr bwMode="auto">
          <a:xfrm flipH="1">
            <a:off x="4994818" y="4273361"/>
            <a:ext cx="3025140" cy="19922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48138" name="Text Box 10">
            <a:extLst>
              <a:ext uri="{FF2B5EF4-FFF2-40B4-BE49-F238E27FC236}">
                <a16:creationId xmlns:a16="http://schemas.microsoft.com/office/drawing/2014/main" id="{316E51B3-2EDD-4F67-B904-131FEB23583D}"/>
              </a:ext>
            </a:extLst>
          </p:cNvPr>
          <p:cNvSpPr txBox="1">
            <a:spLocks noChangeArrowheads="1"/>
          </p:cNvSpPr>
          <p:nvPr/>
        </p:nvSpPr>
        <p:spPr bwMode="auto">
          <a:xfrm rot="19802972">
            <a:off x="6076030" y="5276989"/>
            <a:ext cx="88197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lossy</a:t>
            </a:r>
          </a:p>
        </p:txBody>
      </p:sp>
    </p:spTree>
  </p:cSld>
  <p:clrMapOvr>
    <a:masterClrMapping/>
  </p:clrMapOvr>
  <p:transition>
    <p:checker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C8A4FB5-802A-4906-8377-C5E87C9E24DE}"/>
              </a:ext>
            </a:extLst>
          </p:cNvPr>
          <p:cNvSpPr>
            <a:spLocks noGrp="1" noChangeArrowheads="1"/>
          </p:cNvSpPr>
          <p:nvPr>
            <p:ph type="body" idx="1"/>
          </p:nvPr>
        </p:nvSpPr>
        <p:spPr>
          <a:xfrm>
            <a:off x="1061085" y="2790825"/>
            <a:ext cx="8571230" cy="3632085"/>
          </a:xfrm>
        </p:spPr>
        <p:txBody>
          <a:bodyPr/>
          <a:lstStyle/>
          <a:p>
            <a:pPr eaLnBrk="1" hangingPunct="1">
              <a:lnSpc>
                <a:spcPct val="110000"/>
              </a:lnSpc>
            </a:pPr>
            <a:r>
              <a:rPr lang="en-US" altLang="en-US" sz="2400" dirty="0"/>
              <a:t>Given </a:t>
            </a:r>
            <a:r>
              <a:rPr lang="en-US" altLang="en-US" sz="2400" i="1" dirty="0"/>
              <a:t>N</a:t>
            </a:r>
            <a:r>
              <a:rPr lang="en-US" altLang="en-US" sz="2400" dirty="0"/>
              <a:t> data vectors from </a:t>
            </a:r>
            <a:r>
              <a:rPr lang="en-US" altLang="en-US" sz="2400" i="1" dirty="0"/>
              <a:t>k</a:t>
            </a:r>
            <a:r>
              <a:rPr lang="en-US" altLang="en-US" sz="2400" dirty="0"/>
              <a:t>-dimensions, find </a:t>
            </a:r>
          </a:p>
          <a:p>
            <a:pPr eaLnBrk="1" hangingPunct="1">
              <a:lnSpc>
                <a:spcPct val="110000"/>
              </a:lnSpc>
              <a:buFontTx/>
              <a:buNone/>
            </a:pPr>
            <a:r>
              <a:rPr lang="en-US" altLang="en-US" sz="2400" i="1" dirty="0"/>
              <a:t>    c &lt;=  k </a:t>
            </a:r>
            <a:r>
              <a:rPr lang="en-US" altLang="en-US" sz="2400" dirty="0"/>
              <a:t> orthogonal vectors that can be best used to represent data </a:t>
            </a:r>
          </a:p>
          <a:p>
            <a:pPr lvl="1" eaLnBrk="1" hangingPunct="1">
              <a:lnSpc>
                <a:spcPct val="110000"/>
              </a:lnSpc>
            </a:pPr>
            <a:r>
              <a:rPr lang="en-US" altLang="en-US" sz="2400" dirty="0">
                <a:sym typeface="Symbol" panose="05050102010706020507" pitchFamily="18" charset="2"/>
              </a:rPr>
              <a:t>The original data set is reduced (projected) to one consisting of N data vectors on c principal components (reduced dimensions) </a:t>
            </a:r>
            <a:endParaRPr lang="en-US" altLang="en-US" sz="2400" dirty="0"/>
          </a:p>
          <a:p>
            <a:pPr eaLnBrk="1" hangingPunct="1">
              <a:lnSpc>
                <a:spcPct val="110000"/>
              </a:lnSpc>
            </a:pPr>
            <a:r>
              <a:rPr lang="en-US" altLang="en-US" sz="2400" dirty="0"/>
              <a:t>Each data vector is a linear combination of the </a:t>
            </a:r>
            <a:r>
              <a:rPr lang="en-US" altLang="en-US" sz="2400" i="1" dirty="0"/>
              <a:t>c</a:t>
            </a:r>
            <a:r>
              <a:rPr lang="en-US" altLang="en-US" sz="2400" dirty="0"/>
              <a:t> principal component vectors</a:t>
            </a:r>
          </a:p>
          <a:p>
            <a:pPr eaLnBrk="1" hangingPunct="1">
              <a:lnSpc>
                <a:spcPct val="110000"/>
              </a:lnSpc>
            </a:pPr>
            <a:r>
              <a:rPr lang="en-US" altLang="en-US" sz="2400" dirty="0"/>
              <a:t>Works for ordered and unordered attributes</a:t>
            </a:r>
          </a:p>
          <a:p>
            <a:pPr eaLnBrk="1" hangingPunct="1">
              <a:lnSpc>
                <a:spcPct val="110000"/>
              </a:lnSpc>
            </a:pPr>
            <a:r>
              <a:rPr lang="en-US" altLang="en-US" sz="2400" dirty="0"/>
              <a:t>Used when the number of dimensions is large</a:t>
            </a:r>
          </a:p>
        </p:txBody>
      </p:sp>
      <p:sp>
        <p:nvSpPr>
          <p:cNvPr id="50179" name="Rectangle 3">
            <a:extLst>
              <a:ext uri="{FF2B5EF4-FFF2-40B4-BE49-F238E27FC236}">
                <a16:creationId xmlns:a16="http://schemas.microsoft.com/office/drawing/2014/main" id="{3D4E9E5D-5C54-494E-B5E0-05D2076763B2}"/>
              </a:ext>
            </a:extLst>
          </p:cNvPr>
          <p:cNvSpPr>
            <a:spLocks noGrp="1" noChangeArrowheads="1"/>
          </p:cNvSpPr>
          <p:nvPr>
            <p:ph type="title"/>
          </p:nvPr>
        </p:nvSpPr>
        <p:spPr>
          <a:xfrm>
            <a:off x="1061085" y="336127"/>
            <a:ext cx="9075420" cy="2036327"/>
          </a:xfrm>
          <a:noFill/>
        </p:spPr>
        <p:txBody>
          <a:bodyPr/>
          <a:lstStyle/>
          <a:p>
            <a:pPr eaLnBrk="1" hangingPunct="1"/>
            <a:r>
              <a:rPr lang="en-US" altLang="en-US" sz="4411" dirty="0">
                <a:solidFill>
                  <a:schemeClr val="accent2"/>
                </a:solidFill>
              </a:rPr>
              <a:t>Principal Component Analysis (PCA)</a:t>
            </a:r>
            <a:br>
              <a:rPr lang="en-US" altLang="en-US" sz="4411" dirty="0">
                <a:solidFill>
                  <a:schemeClr val="accent2"/>
                </a:solidFill>
              </a:rPr>
            </a:br>
            <a:r>
              <a:rPr lang="en-US" altLang="en-US" sz="4411" dirty="0" err="1">
                <a:solidFill>
                  <a:schemeClr val="accent2"/>
                </a:solidFill>
              </a:rPr>
              <a:t>Karhunen-Loeve</a:t>
            </a:r>
            <a:r>
              <a:rPr lang="en-US" altLang="en-US" sz="4411" dirty="0">
                <a:solidFill>
                  <a:schemeClr val="accent2"/>
                </a:solidFill>
              </a:rPr>
              <a:t> (K-L) method</a:t>
            </a:r>
          </a:p>
        </p:txBody>
      </p:sp>
    </p:spTree>
  </p:cSld>
  <p:clrMapOvr>
    <a:masterClrMapping/>
  </p:clrMapOvr>
  <p:transition>
    <p:checker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Line 2">
            <a:extLst>
              <a:ext uri="{FF2B5EF4-FFF2-40B4-BE49-F238E27FC236}">
                <a16:creationId xmlns:a16="http://schemas.microsoft.com/office/drawing/2014/main" id="{A5BF6871-A467-4E5F-8337-E59E6EA3DEC3}"/>
              </a:ext>
            </a:extLst>
          </p:cNvPr>
          <p:cNvSpPr>
            <a:spLocks noChangeShapeType="1"/>
          </p:cNvSpPr>
          <p:nvPr/>
        </p:nvSpPr>
        <p:spPr bwMode="auto">
          <a:xfrm>
            <a:off x="1439227" y="4810813"/>
            <a:ext cx="78359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52227" name="Line 3">
            <a:extLst>
              <a:ext uri="{FF2B5EF4-FFF2-40B4-BE49-F238E27FC236}">
                <a16:creationId xmlns:a16="http://schemas.microsoft.com/office/drawing/2014/main" id="{89C92D06-C432-4FD2-AC56-05566EC9F784}"/>
              </a:ext>
            </a:extLst>
          </p:cNvPr>
          <p:cNvSpPr>
            <a:spLocks noChangeShapeType="1"/>
          </p:cNvSpPr>
          <p:nvPr/>
        </p:nvSpPr>
        <p:spPr bwMode="auto">
          <a:xfrm rot="10800000">
            <a:off x="4968558" y="1785673"/>
            <a:ext cx="0" cy="550407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52228" name="Oval 4">
            <a:extLst>
              <a:ext uri="{FF2B5EF4-FFF2-40B4-BE49-F238E27FC236}">
                <a16:creationId xmlns:a16="http://schemas.microsoft.com/office/drawing/2014/main" id="{FB83EFA3-802B-483B-8587-277FBB578025}"/>
              </a:ext>
            </a:extLst>
          </p:cNvPr>
          <p:cNvSpPr>
            <a:spLocks noChangeArrowheads="1"/>
          </p:cNvSpPr>
          <p:nvPr/>
        </p:nvSpPr>
        <p:spPr bwMode="auto">
          <a:xfrm rot="19731888">
            <a:off x="2909782" y="3676385"/>
            <a:ext cx="4516702" cy="1995752"/>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EFFD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52229" name="Line 5">
            <a:extLst>
              <a:ext uri="{FF2B5EF4-FFF2-40B4-BE49-F238E27FC236}">
                <a16:creationId xmlns:a16="http://schemas.microsoft.com/office/drawing/2014/main" id="{249F0C4A-9689-4364-A01F-ABD8ACD3C9C3}"/>
              </a:ext>
            </a:extLst>
          </p:cNvPr>
          <p:cNvSpPr>
            <a:spLocks noChangeShapeType="1"/>
          </p:cNvSpPr>
          <p:nvPr/>
        </p:nvSpPr>
        <p:spPr bwMode="auto">
          <a:xfrm rot="406919" flipV="1">
            <a:off x="2489623" y="2268855"/>
            <a:ext cx="5651130" cy="4558718"/>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52230" name="Line 6">
            <a:extLst>
              <a:ext uri="{FF2B5EF4-FFF2-40B4-BE49-F238E27FC236}">
                <a16:creationId xmlns:a16="http://schemas.microsoft.com/office/drawing/2014/main" id="{1157E70C-76BB-4940-A47C-D59A7834E77A}"/>
              </a:ext>
            </a:extLst>
          </p:cNvPr>
          <p:cNvSpPr>
            <a:spLocks noChangeShapeType="1"/>
          </p:cNvSpPr>
          <p:nvPr/>
        </p:nvSpPr>
        <p:spPr bwMode="auto">
          <a:xfrm flipH="1" flipV="1">
            <a:off x="3266916" y="3088164"/>
            <a:ext cx="3445298" cy="3466306"/>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52231" name="Text Box 7">
            <a:extLst>
              <a:ext uri="{FF2B5EF4-FFF2-40B4-BE49-F238E27FC236}">
                <a16:creationId xmlns:a16="http://schemas.microsoft.com/office/drawing/2014/main" id="{ADF8405F-5F76-4A80-B10D-CA7BD837DEFC}"/>
              </a:ext>
            </a:extLst>
          </p:cNvPr>
          <p:cNvSpPr txBox="1">
            <a:spLocks noChangeArrowheads="1"/>
          </p:cNvSpPr>
          <p:nvPr/>
        </p:nvSpPr>
        <p:spPr bwMode="auto">
          <a:xfrm>
            <a:off x="9215658" y="4856331"/>
            <a:ext cx="599844"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X1</a:t>
            </a:r>
          </a:p>
        </p:txBody>
      </p:sp>
      <p:sp>
        <p:nvSpPr>
          <p:cNvPr id="52232" name="Text Box 8">
            <a:extLst>
              <a:ext uri="{FF2B5EF4-FFF2-40B4-BE49-F238E27FC236}">
                <a16:creationId xmlns:a16="http://schemas.microsoft.com/office/drawing/2014/main" id="{488E38E9-A70C-4A29-B9F3-41DD839A9F13}"/>
              </a:ext>
            </a:extLst>
          </p:cNvPr>
          <p:cNvSpPr txBox="1">
            <a:spLocks noChangeArrowheads="1"/>
          </p:cNvSpPr>
          <p:nvPr/>
        </p:nvSpPr>
        <p:spPr bwMode="auto">
          <a:xfrm>
            <a:off x="5056090" y="1579096"/>
            <a:ext cx="599844"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X2</a:t>
            </a:r>
          </a:p>
        </p:txBody>
      </p:sp>
      <p:sp>
        <p:nvSpPr>
          <p:cNvPr id="52233" name="Text Box 9">
            <a:extLst>
              <a:ext uri="{FF2B5EF4-FFF2-40B4-BE49-F238E27FC236}">
                <a16:creationId xmlns:a16="http://schemas.microsoft.com/office/drawing/2014/main" id="{9D561F87-6674-4FF3-BC4D-D8FA7955F7DF}"/>
              </a:ext>
            </a:extLst>
          </p:cNvPr>
          <p:cNvSpPr txBox="1">
            <a:spLocks noChangeArrowheads="1"/>
          </p:cNvSpPr>
          <p:nvPr/>
        </p:nvSpPr>
        <p:spPr bwMode="auto">
          <a:xfrm>
            <a:off x="8564412" y="2335381"/>
            <a:ext cx="599844"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solidFill>
                  <a:schemeClr val="tx2"/>
                </a:solidFill>
              </a:rPr>
              <a:t>Y1</a:t>
            </a:r>
          </a:p>
        </p:txBody>
      </p:sp>
      <p:sp>
        <p:nvSpPr>
          <p:cNvPr id="52234" name="Text Box 10">
            <a:extLst>
              <a:ext uri="{FF2B5EF4-FFF2-40B4-BE49-F238E27FC236}">
                <a16:creationId xmlns:a16="http://schemas.microsoft.com/office/drawing/2014/main" id="{7643789F-971D-4C21-816C-6BFE5FB9F64B}"/>
              </a:ext>
            </a:extLst>
          </p:cNvPr>
          <p:cNvSpPr txBox="1">
            <a:spLocks noChangeArrowheads="1"/>
          </p:cNvSpPr>
          <p:nvPr/>
        </p:nvSpPr>
        <p:spPr bwMode="auto">
          <a:xfrm>
            <a:off x="2535141" y="2839571"/>
            <a:ext cx="614482"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solidFill>
                  <a:schemeClr val="tx2"/>
                </a:solidFill>
              </a:rPr>
              <a:t>Y2</a:t>
            </a:r>
          </a:p>
        </p:txBody>
      </p:sp>
      <p:sp>
        <p:nvSpPr>
          <p:cNvPr id="52235" name="Text Box 11">
            <a:extLst>
              <a:ext uri="{FF2B5EF4-FFF2-40B4-BE49-F238E27FC236}">
                <a16:creationId xmlns:a16="http://schemas.microsoft.com/office/drawing/2014/main" id="{B9B94E58-D762-4513-B534-E98E77656C23}"/>
              </a:ext>
            </a:extLst>
          </p:cNvPr>
          <p:cNvSpPr txBox="1">
            <a:spLocks noChangeArrowheads="1"/>
          </p:cNvSpPr>
          <p:nvPr/>
        </p:nvSpPr>
        <p:spPr bwMode="auto">
          <a:xfrm>
            <a:off x="1901402" y="168063"/>
            <a:ext cx="7394787" cy="703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970" b="1">
                <a:solidFill>
                  <a:schemeClr val="accent2"/>
                </a:solidFill>
              </a:rPr>
              <a:t>Principal Component Analysis</a:t>
            </a:r>
            <a:endParaRPr lang="en-US" altLang="en-US" sz="2647">
              <a:solidFill>
                <a:schemeClr val="accent2"/>
              </a:solidFill>
            </a:endParaRPr>
          </a:p>
        </p:txBody>
      </p:sp>
      <p:sp>
        <p:nvSpPr>
          <p:cNvPr id="52236" name="Text Box 12">
            <a:extLst>
              <a:ext uri="{FF2B5EF4-FFF2-40B4-BE49-F238E27FC236}">
                <a16:creationId xmlns:a16="http://schemas.microsoft.com/office/drawing/2014/main" id="{840DA85E-88DC-4237-A870-EFA2F5D81E0A}"/>
              </a:ext>
            </a:extLst>
          </p:cNvPr>
          <p:cNvSpPr txBox="1">
            <a:spLocks noChangeArrowheads="1"/>
          </p:cNvSpPr>
          <p:nvPr/>
        </p:nvSpPr>
        <p:spPr bwMode="auto">
          <a:xfrm>
            <a:off x="304800" y="924349"/>
            <a:ext cx="10083800" cy="1110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pPr>
            <a:r>
              <a:rPr lang="en-US" altLang="en-US" sz="2206"/>
              <a:t>The principal components (new set of axes) give important information about variance.</a:t>
            </a:r>
          </a:p>
          <a:p>
            <a:pPr eaLnBrk="1" hangingPunct="1">
              <a:spcBef>
                <a:spcPct val="0"/>
              </a:spcBef>
            </a:pPr>
            <a:r>
              <a:rPr lang="en-US" altLang="en-US" sz="2206"/>
              <a:t>Using the strongest components one can reconstruct a good approximation of the   original signal.</a:t>
            </a:r>
          </a:p>
        </p:txBody>
      </p:sp>
    </p:spTree>
  </p:cSld>
  <p:clrMapOvr>
    <a:masterClrMapping/>
  </p:clrMapOvr>
  <p:transition>
    <p:checker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1E25704-A52E-422F-BC69-E21B2718FD19}"/>
              </a:ext>
            </a:extLst>
          </p:cNvPr>
          <p:cNvSpPr>
            <a:spLocks noGrp="1" noChangeArrowheads="1"/>
          </p:cNvSpPr>
          <p:nvPr>
            <p:ph type="title"/>
          </p:nvPr>
        </p:nvSpPr>
        <p:spPr>
          <a:xfrm>
            <a:off x="2069465" y="420159"/>
            <a:ext cx="5882217" cy="492443"/>
          </a:xfrm>
        </p:spPr>
        <p:txBody>
          <a:bodyPr/>
          <a:lstStyle/>
          <a:p>
            <a:pPr eaLnBrk="1" hangingPunct="1"/>
            <a:r>
              <a:rPr lang="en-US" altLang="en-US">
                <a:solidFill>
                  <a:schemeClr val="accent2"/>
                </a:solidFill>
              </a:rPr>
              <a:t>Numerosity Reduction</a:t>
            </a:r>
          </a:p>
        </p:txBody>
      </p:sp>
      <p:sp>
        <p:nvSpPr>
          <p:cNvPr id="54275" name="Rectangle 3">
            <a:extLst>
              <a:ext uri="{FF2B5EF4-FFF2-40B4-BE49-F238E27FC236}">
                <a16:creationId xmlns:a16="http://schemas.microsoft.com/office/drawing/2014/main" id="{A2946918-71A2-490B-82BD-0CD1B203CCDD}"/>
              </a:ext>
            </a:extLst>
          </p:cNvPr>
          <p:cNvSpPr>
            <a:spLocks noChangeArrowheads="1"/>
          </p:cNvSpPr>
          <p:nvPr>
            <p:ph type="body" idx="1"/>
          </p:nvPr>
        </p:nvSpPr>
        <p:spPr>
          <a:xfrm>
            <a:off x="893022" y="1869705"/>
            <a:ext cx="8907357" cy="3975384"/>
          </a:xfrm>
        </p:spPr>
        <p:txBody>
          <a:bodyPr/>
          <a:lstStyle/>
          <a:p>
            <a:pPr eaLnBrk="1" hangingPunct="1">
              <a:lnSpc>
                <a:spcPct val="110000"/>
              </a:lnSpc>
            </a:pPr>
            <a:r>
              <a:rPr lang="en-US" altLang="en-US">
                <a:solidFill>
                  <a:srgbClr val="CC3300"/>
                </a:solidFill>
              </a:rPr>
              <a:t>Parametric methods</a:t>
            </a:r>
          </a:p>
          <a:p>
            <a:pPr lvl="1" eaLnBrk="1" hangingPunct="1">
              <a:lnSpc>
                <a:spcPct val="110000"/>
              </a:lnSpc>
            </a:pPr>
            <a:r>
              <a:rPr lang="en-US" altLang="en-US" sz="2647"/>
              <a:t>Assume the data fits some model, estimate model parameters, store only the parameters, and discard the data (except possible outliers)</a:t>
            </a:r>
            <a:endParaRPr lang="en-US" altLang="en-US" sz="2647">
              <a:sym typeface="Symbol" panose="05050102010706020507" pitchFamily="18" charset="2"/>
            </a:endParaRPr>
          </a:p>
          <a:p>
            <a:pPr lvl="1" eaLnBrk="1" hangingPunct="1">
              <a:lnSpc>
                <a:spcPct val="110000"/>
              </a:lnSpc>
            </a:pPr>
            <a:r>
              <a:rPr lang="en-US" altLang="en-US" sz="2647"/>
              <a:t>E.g.: Log-linear models: obtain value at a point in m-D space as the product on appropriate marginal subspaces </a:t>
            </a:r>
          </a:p>
          <a:p>
            <a:pPr eaLnBrk="1" hangingPunct="1">
              <a:lnSpc>
                <a:spcPct val="110000"/>
              </a:lnSpc>
            </a:pPr>
            <a:r>
              <a:rPr lang="en-US" altLang="en-US">
                <a:solidFill>
                  <a:srgbClr val="CC3300"/>
                </a:solidFill>
              </a:rPr>
              <a:t>Non-parametric methods</a:t>
            </a:r>
            <a:r>
              <a:rPr lang="en-US" altLang="en-US" sz="3088">
                <a:sym typeface="Symbol" panose="05050102010706020507" pitchFamily="18" charset="2"/>
              </a:rPr>
              <a:t> </a:t>
            </a:r>
          </a:p>
          <a:p>
            <a:pPr lvl="1" eaLnBrk="1" hangingPunct="1">
              <a:lnSpc>
                <a:spcPct val="110000"/>
              </a:lnSpc>
            </a:pPr>
            <a:r>
              <a:rPr lang="en-US" altLang="en-US" sz="2647">
                <a:sym typeface="Symbol" panose="05050102010706020507" pitchFamily="18" charset="2"/>
              </a:rPr>
              <a:t>Do not assume models</a:t>
            </a:r>
          </a:p>
          <a:p>
            <a:pPr lvl="1" eaLnBrk="1" hangingPunct="1">
              <a:lnSpc>
                <a:spcPct val="110000"/>
              </a:lnSpc>
            </a:pPr>
            <a:r>
              <a:rPr lang="en-US" altLang="en-US" sz="2647">
                <a:sym typeface="Symbol" panose="05050102010706020507" pitchFamily="18" charset="2"/>
              </a:rPr>
              <a:t>Major families: histograms, clustering, sampling </a:t>
            </a:r>
          </a:p>
        </p:txBody>
      </p:sp>
    </p:spTree>
  </p:cSld>
  <p:clrMapOvr>
    <a:masterClrMapping/>
  </p:clrMapOvr>
  <p:transition>
    <p:checker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A031652-93F2-4E39-8E5B-472C3CED81B4}"/>
              </a:ext>
            </a:extLst>
          </p:cNvPr>
          <p:cNvSpPr>
            <a:spLocks noGrp="1" noChangeArrowheads="1"/>
          </p:cNvSpPr>
          <p:nvPr>
            <p:ph type="title"/>
          </p:nvPr>
        </p:nvSpPr>
        <p:spPr>
          <a:xfrm>
            <a:off x="724959" y="252095"/>
            <a:ext cx="9243483" cy="492443"/>
          </a:xfrm>
        </p:spPr>
        <p:txBody>
          <a:bodyPr/>
          <a:lstStyle/>
          <a:p>
            <a:pPr eaLnBrk="1" hangingPunct="1"/>
            <a:r>
              <a:rPr lang="en-US" altLang="en-US">
                <a:solidFill>
                  <a:schemeClr val="accent2"/>
                </a:solidFill>
              </a:rPr>
              <a:t>Regression and Log-Linear Models</a:t>
            </a:r>
          </a:p>
        </p:txBody>
      </p:sp>
      <p:sp>
        <p:nvSpPr>
          <p:cNvPr id="56323" name="Rectangle 3">
            <a:extLst>
              <a:ext uri="{FF2B5EF4-FFF2-40B4-BE49-F238E27FC236}">
                <a16:creationId xmlns:a16="http://schemas.microsoft.com/office/drawing/2014/main" id="{7C265051-7879-42A3-925B-BFE280D31448}"/>
              </a:ext>
            </a:extLst>
          </p:cNvPr>
          <p:cNvSpPr>
            <a:spLocks noChangeArrowheads="1"/>
          </p:cNvSpPr>
          <p:nvPr>
            <p:ph type="body" idx="1"/>
          </p:nvPr>
        </p:nvSpPr>
        <p:spPr>
          <a:xfrm>
            <a:off x="808990" y="1596602"/>
            <a:ext cx="9075420" cy="4803238"/>
          </a:xfrm>
        </p:spPr>
        <p:txBody>
          <a:bodyPr/>
          <a:lstStyle/>
          <a:p>
            <a:pPr eaLnBrk="1" hangingPunct="1">
              <a:lnSpc>
                <a:spcPct val="115000"/>
              </a:lnSpc>
            </a:pPr>
            <a:r>
              <a:rPr lang="en-US" altLang="en-US" sz="3088">
                <a:solidFill>
                  <a:schemeClr val="accent2"/>
                </a:solidFill>
              </a:rPr>
              <a:t>Linear regression</a:t>
            </a:r>
            <a:r>
              <a:rPr lang="en-US" altLang="en-US" sz="3088"/>
              <a:t>: Data are modeled to fit a straight line: </a:t>
            </a:r>
          </a:p>
          <a:p>
            <a:pPr lvl="1" eaLnBrk="1" hangingPunct="1">
              <a:lnSpc>
                <a:spcPct val="115000"/>
              </a:lnSpc>
            </a:pPr>
            <a:r>
              <a:rPr lang="en-US" altLang="en-US" sz="2647"/>
              <a:t>Often uses the least-square method to fit the line</a:t>
            </a:r>
          </a:p>
          <a:p>
            <a:pPr eaLnBrk="1" hangingPunct="1">
              <a:lnSpc>
                <a:spcPct val="115000"/>
              </a:lnSpc>
            </a:pPr>
            <a:r>
              <a:rPr lang="en-US" altLang="en-US" sz="3088">
                <a:solidFill>
                  <a:schemeClr val="accent2"/>
                </a:solidFill>
                <a:sym typeface="Symbol" panose="05050102010706020507" pitchFamily="18" charset="2"/>
              </a:rPr>
              <a:t>Multiple regression</a:t>
            </a:r>
            <a:r>
              <a:rPr lang="en-US" altLang="en-US" sz="3088">
                <a:sym typeface="Symbol" panose="05050102010706020507" pitchFamily="18" charset="2"/>
              </a:rPr>
              <a:t>: allows a response variable y to be modeled as a linear function of multidimensional feature vector (predictor variables)</a:t>
            </a:r>
          </a:p>
          <a:p>
            <a:pPr eaLnBrk="1" hangingPunct="1">
              <a:lnSpc>
                <a:spcPct val="115000"/>
              </a:lnSpc>
            </a:pPr>
            <a:r>
              <a:rPr lang="en-US" altLang="en-US" sz="3088">
                <a:solidFill>
                  <a:schemeClr val="accent2"/>
                </a:solidFill>
                <a:sym typeface="Symbol" panose="05050102010706020507" pitchFamily="18" charset="2"/>
              </a:rPr>
              <a:t>Log-linear model</a:t>
            </a:r>
            <a:r>
              <a:rPr lang="en-US" altLang="en-US" sz="3088">
                <a:sym typeface="Symbol" panose="05050102010706020507" pitchFamily="18" charset="2"/>
              </a:rPr>
              <a:t>: approximates discrete multidimensional joint probability distributions</a:t>
            </a:r>
          </a:p>
        </p:txBody>
      </p:sp>
    </p:spTree>
  </p:cSld>
  <p:clrMapOvr>
    <a:masterClrMapping/>
  </p:clrMapOvr>
  <p:transition>
    <p:checker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886EA81-48DB-41C6-8C7D-5BE1E63936B4}"/>
              </a:ext>
            </a:extLst>
          </p:cNvPr>
          <p:cNvSpPr>
            <a:spLocks noGrp="1" noChangeArrowheads="1"/>
          </p:cNvSpPr>
          <p:nvPr>
            <p:ph type="body" idx="1"/>
          </p:nvPr>
        </p:nvSpPr>
        <p:spPr>
          <a:xfrm>
            <a:off x="893022" y="1680634"/>
            <a:ext cx="9243483" cy="4786956"/>
          </a:xfrm>
          <a:noFill/>
        </p:spPr>
        <p:txBody>
          <a:bodyPr wrap="square" lIns="101538" tIns="50770" rIns="101538" bIns="50770">
            <a:spAutoFit/>
          </a:bodyPr>
          <a:lstStyle/>
          <a:p>
            <a:pPr eaLnBrk="1" hangingPunct="1"/>
            <a:r>
              <a:rPr lang="en-US" altLang="en-US" sz="3088">
                <a:solidFill>
                  <a:schemeClr val="accent2"/>
                </a:solidFill>
              </a:rPr>
              <a:t>Linear regression</a:t>
            </a:r>
            <a:r>
              <a:rPr lang="en-US" altLang="en-US" sz="2647"/>
              <a:t>: </a:t>
            </a:r>
            <a:r>
              <a:rPr lang="en-US" altLang="en-US" sz="2647" i="1"/>
              <a:t>Y = </a:t>
            </a:r>
            <a:r>
              <a:rPr lang="en-US" altLang="en-US" sz="2647" i="1">
                <a:sym typeface="Symbol" panose="05050102010706020507" pitchFamily="18" charset="2"/>
              </a:rPr>
              <a:t> +  X</a:t>
            </a:r>
            <a:endParaRPr lang="en-US" altLang="en-US" sz="2647" i="1"/>
          </a:p>
          <a:p>
            <a:pPr lvl="1" eaLnBrk="1" hangingPunct="1"/>
            <a:r>
              <a:rPr lang="en-US" altLang="en-US" sz="2647"/>
              <a:t>Two parameters , </a:t>
            </a:r>
            <a:r>
              <a:rPr lang="en-US" altLang="en-US" sz="2647">
                <a:sym typeface="Symbol" panose="05050102010706020507" pitchFamily="18" charset="2"/>
              </a:rPr>
              <a:t> and </a:t>
            </a:r>
            <a:r>
              <a:rPr lang="en-US" altLang="en-US" sz="2647"/>
              <a:t> specify the line and are to be estimated by using the data at hand.</a:t>
            </a:r>
          </a:p>
          <a:p>
            <a:pPr lvl="1" eaLnBrk="1" hangingPunct="1"/>
            <a:r>
              <a:rPr lang="en-US" altLang="en-US" sz="2647"/>
              <a:t>using the least squares criterion to the known values of </a:t>
            </a:r>
            <a:r>
              <a:rPr lang="en-US" altLang="en-US" sz="2647" i="1"/>
              <a:t>Y</a:t>
            </a:r>
            <a:r>
              <a:rPr lang="en-US" altLang="en-US" sz="1985" i="1"/>
              <a:t>1</a:t>
            </a:r>
            <a:r>
              <a:rPr lang="en-US" altLang="en-US" sz="2647" i="1"/>
              <a:t>, Y</a:t>
            </a:r>
            <a:r>
              <a:rPr lang="en-US" altLang="en-US" sz="1985" i="1"/>
              <a:t>2</a:t>
            </a:r>
            <a:r>
              <a:rPr lang="en-US" altLang="en-US" sz="2647" i="1"/>
              <a:t>, …, X</a:t>
            </a:r>
            <a:r>
              <a:rPr lang="en-US" altLang="en-US" sz="1985" i="1"/>
              <a:t>1</a:t>
            </a:r>
            <a:r>
              <a:rPr lang="en-US" altLang="en-US" sz="2647" i="1"/>
              <a:t>, X</a:t>
            </a:r>
            <a:r>
              <a:rPr lang="en-US" altLang="en-US" sz="2206" i="1"/>
              <a:t>2</a:t>
            </a:r>
            <a:r>
              <a:rPr lang="en-US" altLang="en-US" sz="2647" i="1"/>
              <a:t>, ….</a:t>
            </a:r>
          </a:p>
          <a:p>
            <a:pPr eaLnBrk="1" hangingPunct="1"/>
            <a:r>
              <a:rPr lang="en-US" altLang="en-US" sz="3088">
                <a:solidFill>
                  <a:schemeClr val="accent2"/>
                </a:solidFill>
              </a:rPr>
              <a:t>Multiple regression</a:t>
            </a:r>
            <a:r>
              <a:rPr lang="en-US" altLang="en-US" sz="2647"/>
              <a:t>: </a:t>
            </a:r>
            <a:r>
              <a:rPr lang="en-US" altLang="en-US" sz="2647" i="1"/>
              <a:t>Y = b0 + b1 X1 + b2 X2.</a:t>
            </a:r>
            <a:endParaRPr lang="en-US" altLang="en-US" sz="3088" i="1"/>
          </a:p>
          <a:p>
            <a:pPr lvl="1" eaLnBrk="1" hangingPunct="1"/>
            <a:r>
              <a:rPr lang="en-US" altLang="en-US" sz="2647"/>
              <a:t>Many nonlinear functions can be transformed into the above.</a:t>
            </a:r>
          </a:p>
          <a:p>
            <a:pPr eaLnBrk="1" hangingPunct="1"/>
            <a:r>
              <a:rPr lang="en-US" altLang="en-US" sz="3088">
                <a:solidFill>
                  <a:schemeClr val="accent2"/>
                </a:solidFill>
              </a:rPr>
              <a:t>Log-linear models</a:t>
            </a:r>
            <a:r>
              <a:rPr lang="en-US" altLang="en-US" sz="2647"/>
              <a:t>:</a:t>
            </a:r>
          </a:p>
          <a:p>
            <a:pPr lvl="1" eaLnBrk="1" hangingPunct="1"/>
            <a:r>
              <a:rPr lang="en-US" altLang="en-US" sz="2647"/>
              <a:t>The multi-way table of joint probabilities is approximated by a product of lower-order tables.</a:t>
            </a:r>
          </a:p>
          <a:p>
            <a:pPr lvl="1" eaLnBrk="1" hangingPunct="1"/>
            <a:r>
              <a:rPr lang="en-US" altLang="en-US" sz="2647"/>
              <a:t>Probability:  </a:t>
            </a:r>
            <a:r>
              <a:rPr lang="en-US" altLang="en-US" sz="2647" i="1"/>
              <a:t>p(a, b, c, d) = </a:t>
            </a:r>
            <a:r>
              <a:rPr lang="en-US" altLang="en-US" i="1">
                <a:sym typeface="Symbol" panose="05050102010706020507" pitchFamily="18" charset="2"/>
              </a:rPr>
              <a:t></a:t>
            </a:r>
            <a:r>
              <a:rPr lang="en-US" altLang="en-US" sz="2206" i="1">
                <a:sym typeface="Symbol" panose="05050102010706020507" pitchFamily="18" charset="2"/>
              </a:rPr>
              <a:t>ab </a:t>
            </a:r>
            <a:r>
              <a:rPr lang="en-US" altLang="en-US" i="1">
                <a:sym typeface="Symbol" panose="05050102010706020507" pitchFamily="18" charset="2"/>
              </a:rPr>
              <a:t></a:t>
            </a:r>
            <a:r>
              <a:rPr lang="en-US" altLang="en-US" sz="2206" i="1">
                <a:sym typeface="Symbol" panose="05050102010706020507" pitchFamily="18" charset="2"/>
              </a:rPr>
              <a:t>ac</a:t>
            </a:r>
            <a:r>
              <a:rPr lang="en-US" altLang="en-US" i="1">
                <a:sym typeface="Symbol" panose="05050102010706020507" pitchFamily="18" charset="2"/>
              </a:rPr>
              <a:t></a:t>
            </a:r>
            <a:r>
              <a:rPr lang="en-US" altLang="en-US" sz="2206" i="1">
                <a:sym typeface="Symbol" panose="05050102010706020507" pitchFamily="18" charset="2"/>
              </a:rPr>
              <a:t>ad</a:t>
            </a:r>
            <a:r>
              <a:rPr lang="en-US" altLang="en-US" i="1">
                <a:sym typeface="Symbol" panose="05050102010706020507" pitchFamily="18" charset="2"/>
              </a:rPr>
              <a:t> </a:t>
            </a:r>
            <a:r>
              <a:rPr lang="en-US" altLang="en-US" sz="2206" i="1">
                <a:sym typeface="Symbol" panose="05050102010706020507" pitchFamily="18" charset="2"/>
              </a:rPr>
              <a:t>bcd</a:t>
            </a:r>
            <a:endParaRPr lang="en-US" altLang="en-US" sz="2206" i="1"/>
          </a:p>
        </p:txBody>
      </p:sp>
      <p:sp>
        <p:nvSpPr>
          <p:cNvPr id="58371" name="Rectangle 3">
            <a:extLst>
              <a:ext uri="{FF2B5EF4-FFF2-40B4-BE49-F238E27FC236}">
                <a16:creationId xmlns:a16="http://schemas.microsoft.com/office/drawing/2014/main" id="{B99DBC47-EA49-421F-84DD-72925D6A4B94}"/>
              </a:ext>
            </a:extLst>
          </p:cNvPr>
          <p:cNvSpPr>
            <a:spLocks noGrp="1" noChangeArrowheads="1"/>
          </p:cNvSpPr>
          <p:nvPr>
            <p:ph type="title"/>
          </p:nvPr>
        </p:nvSpPr>
        <p:spPr>
          <a:xfrm>
            <a:off x="304800" y="252095"/>
            <a:ext cx="10083800" cy="1324405"/>
          </a:xfrm>
          <a:noFill/>
        </p:spPr>
        <p:txBody>
          <a:bodyPr wrap="square" lIns="101538" tIns="50770" rIns="101538" bIns="50770">
            <a:spAutoFit/>
          </a:bodyPr>
          <a:lstStyle/>
          <a:p>
            <a:pPr eaLnBrk="1" hangingPunct="1"/>
            <a:r>
              <a:rPr lang="en-US" altLang="en-US" sz="3970">
                <a:solidFill>
                  <a:schemeClr val="accent2"/>
                </a:solidFill>
              </a:rPr>
              <a:t>Regression Analysis and Log-Linear Models</a:t>
            </a:r>
            <a:endParaRPr lang="en-US" altLang="en-US" sz="2647">
              <a:solidFill>
                <a:schemeClr val="accent2"/>
              </a:solidFill>
            </a:endParaRPr>
          </a:p>
        </p:txBody>
      </p:sp>
    </p:spTree>
  </p:cSld>
  <p:clrMapOvr>
    <a:masterClrMapping/>
  </p:clrMapOvr>
  <p:transition>
    <p:checker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372BBC3-CCAC-485A-896C-28F78C13A05A}"/>
              </a:ext>
            </a:extLst>
          </p:cNvPr>
          <p:cNvSpPr>
            <a:spLocks noGrp="1" noChangeArrowheads="1"/>
          </p:cNvSpPr>
          <p:nvPr>
            <p:ph type="title"/>
          </p:nvPr>
        </p:nvSpPr>
        <p:spPr>
          <a:xfrm>
            <a:off x="1313180" y="420159"/>
            <a:ext cx="8151072" cy="492443"/>
          </a:xfrm>
        </p:spPr>
        <p:txBody>
          <a:bodyPr/>
          <a:lstStyle/>
          <a:p>
            <a:pPr eaLnBrk="1" hangingPunct="1"/>
            <a:r>
              <a:rPr lang="en-US" altLang="en-US">
                <a:solidFill>
                  <a:schemeClr val="accent2"/>
                </a:solidFill>
              </a:rPr>
              <a:t>Histograms</a:t>
            </a:r>
          </a:p>
        </p:txBody>
      </p:sp>
      <p:sp>
        <p:nvSpPr>
          <p:cNvPr id="60419" name="Rectangle 3">
            <a:extLst>
              <a:ext uri="{FF2B5EF4-FFF2-40B4-BE49-F238E27FC236}">
                <a16:creationId xmlns:a16="http://schemas.microsoft.com/office/drawing/2014/main" id="{F797B278-B406-401B-80F9-1E620CF0B64A}"/>
              </a:ext>
            </a:extLst>
          </p:cNvPr>
          <p:cNvSpPr>
            <a:spLocks noChangeArrowheads="1"/>
          </p:cNvSpPr>
          <p:nvPr>
            <p:ph type="body" idx="1"/>
          </p:nvPr>
        </p:nvSpPr>
        <p:spPr>
          <a:xfrm>
            <a:off x="304800" y="1680633"/>
            <a:ext cx="4369647" cy="4766305"/>
          </a:xfrm>
        </p:spPr>
        <p:txBody>
          <a:bodyPr/>
          <a:lstStyle/>
          <a:p>
            <a:pPr eaLnBrk="1" hangingPunct="1">
              <a:lnSpc>
                <a:spcPct val="90000"/>
              </a:lnSpc>
            </a:pPr>
            <a:r>
              <a:rPr lang="en-US" altLang="en-US" sz="2647"/>
              <a:t>Approximate data distributions</a:t>
            </a:r>
          </a:p>
          <a:p>
            <a:pPr eaLnBrk="1" hangingPunct="1">
              <a:lnSpc>
                <a:spcPct val="90000"/>
              </a:lnSpc>
            </a:pPr>
            <a:r>
              <a:rPr lang="en-US" altLang="en-US" sz="2647"/>
              <a:t>Divide data into buckets and store average (sum) for each bucket</a:t>
            </a:r>
          </a:p>
          <a:p>
            <a:pPr eaLnBrk="1" hangingPunct="1">
              <a:lnSpc>
                <a:spcPct val="90000"/>
              </a:lnSpc>
            </a:pPr>
            <a:r>
              <a:rPr lang="en-US" altLang="en-US" sz="2647"/>
              <a:t>A bucket represents an attribute-value/frequency pair</a:t>
            </a:r>
          </a:p>
          <a:p>
            <a:pPr eaLnBrk="1" hangingPunct="1">
              <a:lnSpc>
                <a:spcPct val="90000"/>
              </a:lnSpc>
            </a:pPr>
            <a:r>
              <a:rPr lang="en-US" altLang="en-US" sz="2647"/>
              <a:t>Can be constructed optimally in one dimension using dynamic programming</a:t>
            </a:r>
            <a:endParaRPr lang="en-US" altLang="en-US" sz="3088"/>
          </a:p>
          <a:p>
            <a:pPr eaLnBrk="1" hangingPunct="1">
              <a:lnSpc>
                <a:spcPct val="90000"/>
              </a:lnSpc>
            </a:pPr>
            <a:r>
              <a:rPr lang="en-US" altLang="en-US" sz="2647"/>
              <a:t>Related to quantization problems.</a:t>
            </a:r>
          </a:p>
        </p:txBody>
      </p:sp>
      <p:graphicFrame>
        <p:nvGraphicFramePr>
          <p:cNvPr id="60420" name="Object 4">
            <a:extLst>
              <a:ext uri="{FF2B5EF4-FFF2-40B4-BE49-F238E27FC236}">
                <a16:creationId xmlns:a16="http://schemas.microsoft.com/office/drawing/2014/main" id="{E553AA99-633C-4207-BC51-9B4216D61489}"/>
              </a:ext>
            </a:extLst>
          </p:cNvPr>
          <p:cNvGraphicFramePr>
            <a:graphicFrameLocks/>
          </p:cNvGraphicFramePr>
          <p:nvPr/>
        </p:nvGraphicFramePr>
        <p:xfrm>
          <a:off x="4590415" y="1596602"/>
          <a:ext cx="5798185" cy="5714153"/>
        </p:xfrm>
        <a:graphic>
          <a:graphicData uri="http://schemas.openxmlformats.org/presentationml/2006/ole">
            <mc:AlternateContent xmlns:mc="http://schemas.openxmlformats.org/markup-compatibility/2006">
              <mc:Choice xmlns:v="urn:schemas-microsoft-com:vml" Requires="v">
                <p:oleObj spid="_x0000_s3077" name="Chart" r:id="rId4" imgW="7915327" imgH="3848303" progId="MSGraph.Chart.8">
                  <p:embed followColorScheme="full"/>
                </p:oleObj>
              </mc:Choice>
              <mc:Fallback>
                <p:oleObj name="Chart" r:id="rId4" imgW="7915327" imgH="3848303" progId="MSGraph.Chart.8">
                  <p:embed followColorScheme="full"/>
                  <p:pic>
                    <p:nvPicPr>
                      <p:cNvPr id="60420" name="Object 4">
                        <a:extLst>
                          <a:ext uri="{FF2B5EF4-FFF2-40B4-BE49-F238E27FC236}">
                            <a16:creationId xmlns:a16="http://schemas.microsoft.com/office/drawing/2014/main" id="{E553AA99-633C-4207-BC51-9B4216D61489}"/>
                          </a:ext>
                        </a:extLst>
                      </p:cNvPr>
                      <p:cNvPicPr>
                        <a:picLocks noChangeArrowheads="1"/>
                      </p:cNvPicPr>
                      <p:nvPr/>
                    </p:nvPicPr>
                    <p:blipFill>
                      <a:blip r:embed="rId5"/>
                      <a:srcRect l="4546" t="4225" r="15909" b="4225"/>
                      <a:stretch>
                        <a:fillRect/>
                      </a:stretch>
                    </p:blipFill>
                    <p:spPr bwMode="auto">
                      <a:xfrm>
                        <a:off x="4590415" y="1596602"/>
                        <a:ext cx="5798185" cy="5714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checker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A1E8CEB-0456-4399-8B64-31FA64FE0504}"/>
              </a:ext>
            </a:extLst>
          </p:cNvPr>
          <p:cNvSpPr>
            <a:spLocks noGrp="1" noChangeArrowheads="1"/>
          </p:cNvSpPr>
          <p:nvPr>
            <p:ph type="title"/>
          </p:nvPr>
        </p:nvSpPr>
        <p:spPr>
          <a:xfrm>
            <a:off x="3245909" y="252095"/>
            <a:ext cx="3949488" cy="492443"/>
          </a:xfrm>
        </p:spPr>
        <p:txBody>
          <a:bodyPr/>
          <a:lstStyle/>
          <a:p>
            <a:pPr eaLnBrk="1" hangingPunct="1"/>
            <a:r>
              <a:rPr lang="en-US" altLang="en-US">
                <a:solidFill>
                  <a:schemeClr val="accent2"/>
                </a:solidFill>
              </a:rPr>
              <a:t>Clustering</a:t>
            </a:r>
          </a:p>
        </p:txBody>
      </p:sp>
      <p:sp>
        <p:nvSpPr>
          <p:cNvPr id="62467" name="Rectangle 3">
            <a:extLst>
              <a:ext uri="{FF2B5EF4-FFF2-40B4-BE49-F238E27FC236}">
                <a16:creationId xmlns:a16="http://schemas.microsoft.com/office/drawing/2014/main" id="{325D5AA0-DED1-4DBF-A60A-83A4EE432595}"/>
              </a:ext>
            </a:extLst>
          </p:cNvPr>
          <p:cNvSpPr>
            <a:spLocks noChangeArrowheads="1"/>
          </p:cNvSpPr>
          <p:nvPr>
            <p:ph type="body" idx="1"/>
          </p:nvPr>
        </p:nvSpPr>
        <p:spPr>
          <a:xfrm>
            <a:off x="556895" y="1596602"/>
            <a:ext cx="9831705" cy="5040162"/>
          </a:xfrm>
        </p:spPr>
        <p:txBody>
          <a:bodyPr/>
          <a:lstStyle/>
          <a:p>
            <a:pPr eaLnBrk="1" hangingPunct="1">
              <a:lnSpc>
                <a:spcPct val="125000"/>
              </a:lnSpc>
            </a:pPr>
            <a:r>
              <a:rPr lang="en-US" altLang="en-US" sz="2400" dirty="0"/>
              <a:t>Partition data set into clusters, and store cluster representation only</a:t>
            </a:r>
          </a:p>
          <a:p>
            <a:pPr eaLnBrk="1" hangingPunct="1">
              <a:lnSpc>
                <a:spcPct val="125000"/>
              </a:lnSpc>
            </a:pPr>
            <a:r>
              <a:rPr lang="en-US" altLang="en-US" sz="2400" dirty="0">
                <a:solidFill>
                  <a:schemeClr val="accent2"/>
                </a:solidFill>
              </a:rPr>
              <a:t>Quality of clusters</a:t>
            </a:r>
            <a:r>
              <a:rPr lang="en-US" altLang="en-US" sz="2400" dirty="0"/>
              <a:t> measured by their </a:t>
            </a:r>
            <a:r>
              <a:rPr lang="en-US" altLang="en-US" sz="2400" dirty="0">
                <a:solidFill>
                  <a:schemeClr val="accent2"/>
                </a:solidFill>
              </a:rPr>
              <a:t>diameter</a:t>
            </a:r>
            <a:r>
              <a:rPr lang="en-US" altLang="en-US" sz="2400" dirty="0"/>
              <a:t> (max distance between any two objects in the cluster) or </a:t>
            </a:r>
            <a:r>
              <a:rPr lang="en-US" altLang="en-US" sz="2400" dirty="0">
                <a:solidFill>
                  <a:schemeClr val="accent2"/>
                </a:solidFill>
              </a:rPr>
              <a:t>centroid distance</a:t>
            </a:r>
            <a:r>
              <a:rPr lang="en-US" altLang="en-US" sz="2400" dirty="0"/>
              <a:t> (avg. distance of each cluster object from its centroid)</a:t>
            </a:r>
          </a:p>
          <a:p>
            <a:pPr eaLnBrk="1" hangingPunct="1">
              <a:lnSpc>
                <a:spcPct val="125000"/>
              </a:lnSpc>
            </a:pPr>
            <a:r>
              <a:rPr lang="en-US" altLang="en-US" sz="2400" dirty="0"/>
              <a:t>Can be very effective if data is clustered but not if data is “smeared”</a:t>
            </a:r>
          </a:p>
          <a:p>
            <a:pPr eaLnBrk="1" hangingPunct="1">
              <a:lnSpc>
                <a:spcPct val="125000"/>
              </a:lnSpc>
            </a:pPr>
            <a:r>
              <a:rPr lang="en-US" altLang="en-US" sz="2400" dirty="0"/>
              <a:t>Can have hierarchical clustering (possibly stored in multi-dimensional index tree structures (B+-tree, R-tree, quad-tree, </a:t>
            </a:r>
            <a:r>
              <a:rPr lang="en-US" altLang="en-US" sz="2400" dirty="0" err="1"/>
              <a:t>etc</a:t>
            </a:r>
            <a:r>
              <a:rPr lang="en-US" altLang="en-US" sz="2400" dirty="0"/>
              <a:t>))</a:t>
            </a:r>
          </a:p>
          <a:p>
            <a:pPr eaLnBrk="1" hangingPunct="1">
              <a:lnSpc>
                <a:spcPct val="125000"/>
              </a:lnSpc>
            </a:pPr>
            <a:r>
              <a:rPr lang="en-US" altLang="en-US" sz="2400" dirty="0"/>
              <a:t>There are many choices of clustering definitions and clustering algorithms (further details later)</a:t>
            </a:r>
            <a:endParaRPr lang="en-US" altLang="en-US" sz="2400" dirty="0">
              <a:sym typeface="Symbol" panose="05050102010706020507" pitchFamily="18" charset="2"/>
            </a:endParaRPr>
          </a:p>
        </p:txBody>
      </p:sp>
    </p:spTree>
  </p:cSld>
  <p:clrMapOvr>
    <a:masterClrMapping/>
  </p:clrMapOvr>
  <p:transition>
    <p:checker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4E221AEF-B082-482C-981B-906BB36B644D}"/>
              </a:ext>
            </a:extLst>
          </p:cNvPr>
          <p:cNvSpPr>
            <a:spLocks noGrp="1" noChangeArrowheads="1"/>
          </p:cNvSpPr>
          <p:nvPr>
            <p:ph type="title"/>
          </p:nvPr>
        </p:nvSpPr>
        <p:spPr>
          <a:xfrm>
            <a:off x="1145117" y="252095"/>
            <a:ext cx="8235103" cy="492443"/>
          </a:xfrm>
        </p:spPr>
        <p:txBody>
          <a:bodyPr/>
          <a:lstStyle/>
          <a:p>
            <a:pPr eaLnBrk="1" hangingPunct="1"/>
            <a:r>
              <a:rPr lang="en-US" altLang="en-US">
                <a:solidFill>
                  <a:schemeClr val="accent2"/>
                </a:solidFill>
              </a:rPr>
              <a:t>Sampling</a:t>
            </a:r>
          </a:p>
        </p:txBody>
      </p:sp>
      <p:sp>
        <p:nvSpPr>
          <p:cNvPr id="64515" name="Rectangle 3">
            <a:extLst>
              <a:ext uri="{FF2B5EF4-FFF2-40B4-BE49-F238E27FC236}">
                <a16:creationId xmlns:a16="http://schemas.microsoft.com/office/drawing/2014/main" id="{5BA92833-FBCA-4BB5-9500-93036865B1DC}"/>
              </a:ext>
            </a:extLst>
          </p:cNvPr>
          <p:cNvSpPr>
            <a:spLocks noChangeArrowheads="1"/>
          </p:cNvSpPr>
          <p:nvPr>
            <p:ph type="body" idx="1"/>
          </p:nvPr>
        </p:nvSpPr>
        <p:spPr>
          <a:xfrm>
            <a:off x="808990" y="1176444"/>
            <a:ext cx="9243483" cy="5132944"/>
          </a:xfrm>
        </p:spPr>
        <p:txBody>
          <a:bodyPr/>
          <a:lstStyle/>
          <a:p>
            <a:pPr eaLnBrk="1" hangingPunct="1">
              <a:lnSpc>
                <a:spcPct val="90000"/>
              </a:lnSpc>
            </a:pPr>
            <a:r>
              <a:rPr lang="en-US" altLang="en-US" sz="2647"/>
              <a:t>Allow a mining algorithm to run in complexity that is potentially sub-linear to the size of the data</a:t>
            </a:r>
          </a:p>
          <a:p>
            <a:pPr eaLnBrk="1" hangingPunct="1">
              <a:lnSpc>
                <a:spcPct val="90000"/>
              </a:lnSpc>
            </a:pPr>
            <a:r>
              <a:rPr lang="en-US" altLang="en-US" sz="2647"/>
              <a:t>Cost of sampling: proportional to the size of the sample, increases linearly with the number of dimensions</a:t>
            </a:r>
          </a:p>
          <a:p>
            <a:pPr eaLnBrk="1" hangingPunct="1">
              <a:lnSpc>
                <a:spcPct val="90000"/>
              </a:lnSpc>
            </a:pPr>
            <a:r>
              <a:rPr lang="en-US" altLang="en-US" sz="2647"/>
              <a:t>Choose a </a:t>
            </a:r>
            <a:r>
              <a:rPr lang="en-US" altLang="en-US" sz="2647">
                <a:solidFill>
                  <a:schemeClr val="accent2"/>
                </a:solidFill>
              </a:rPr>
              <a:t>representative</a:t>
            </a:r>
            <a:r>
              <a:rPr lang="en-US" altLang="en-US" sz="2647"/>
              <a:t> subset of the data</a:t>
            </a:r>
          </a:p>
          <a:p>
            <a:pPr lvl="1" eaLnBrk="1" hangingPunct="1">
              <a:lnSpc>
                <a:spcPct val="90000"/>
              </a:lnSpc>
            </a:pPr>
            <a:r>
              <a:rPr lang="en-US" altLang="en-US" sz="2206"/>
              <a:t>Simple random sampling may have very poor performance in the presence of skew</a:t>
            </a:r>
          </a:p>
          <a:p>
            <a:pPr eaLnBrk="1" hangingPunct="1">
              <a:lnSpc>
                <a:spcPct val="90000"/>
              </a:lnSpc>
            </a:pPr>
            <a:r>
              <a:rPr lang="en-US" altLang="en-US" sz="2647"/>
              <a:t>Develop adaptive sampling methods</a:t>
            </a:r>
          </a:p>
          <a:p>
            <a:pPr lvl="1" eaLnBrk="1" hangingPunct="1">
              <a:lnSpc>
                <a:spcPct val="90000"/>
              </a:lnSpc>
            </a:pPr>
            <a:r>
              <a:rPr lang="en-US" altLang="en-US" sz="2206"/>
              <a:t>Stratified sampling: </a:t>
            </a:r>
          </a:p>
          <a:p>
            <a:pPr lvl="2" eaLnBrk="1" hangingPunct="1">
              <a:lnSpc>
                <a:spcPct val="90000"/>
              </a:lnSpc>
            </a:pPr>
            <a:r>
              <a:rPr lang="en-US" altLang="en-US" sz="2206"/>
              <a:t>Approximate the percentage of each class (or subpopulation of interest) in the overall database </a:t>
            </a:r>
          </a:p>
          <a:p>
            <a:pPr lvl="2" eaLnBrk="1" hangingPunct="1">
              <a:lnSpc>
                <a:spcPct val="90000"/>
              </a:lnSpc>
            </a:pPr>
            <a:r>
              <a:rPr lang="en-US" altLang="en-US" sz="2206"/>
              <a:t>Used in conjunction with skewed data</a:t>
            </a:r>
          </a:p>
          <a:p>
            <a:pPr eaLnBrk="1" hangingPunct="1">
              <a:lnSpc>
                <a:spcPct val="90000"/>
              </a:lnSpc>
            </a:pPr>
            <a:r>
              <a:rPr lang="en-US" altLang="en-US" sz="2647"/>
              <a:t>Sampling may not reduce database I/Os (page at a time).</a:t>
            </a:r>
          </a:p>
          <a:p>
            <a:pPr eaLnBrk="1" hangingPunct="1">
              <a:lnSpc>
                <a:spcPct val="90000"/>
              </a:lnSpc>
            </a:pPr>
            <a:r>
              <a:rPr lang="en-US" altLang="en-US" sz="2647"/>
              <a:t>Sampling: natural choice for progressive refinement of a reduced data set.</a:t>
            </a:r>
          </a:p>
        </p:txBody>
      </p:sp>
    </p:spTree>
  </p:cSld>
  <p:clrMapOvr>
    <a:masterClrMapping/>
  </p:clrMapOvr>
  <p:transition>
    <p:checker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a:extLst>
              <a:ext uri="{FF2B5EF4-FFF2-40B4-BE49-F238E27FC236}">
                <a16:creationId xmlns:a16="http://schemas.microsoft.com/office/drawing/2014/main" id="{1C59779D-B2CC-4E8B-AD8B-37D109F79EB4}"/>
              </a:ext>
            </a:extLst>
          </p:cNvPr>
          <p:cNvSpPr txBox="1">
            <a:spLocks noChangeArrowheads="1"/>
          </p:cNvSpPr>
          <p:nvPr/>
        </p:nvSpPr>
        <p:spPr bwMode="auto">
          <a:xfrm>
            <a:off x="3834130" y="420159"/>
            <a:ext cx="2941108" cy="906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5293">
                <a:solidFill>
                  <a:schemeClr val="accent2"/>
                </a:solidFill>
              </a:rPr>
              <a:t>Sampling</a:t>
            </a:r>
          </a:p>
        </p:txBody>
      </p:sp>
      <p:sp>
        <p:nvSpPr>
          <p:cNvPr id="66563" name="Text Box 3">
            <a:extLst>
              <a:ext uri="{FF2B5EF4-FFF2-40B4-BE49-F238E27FC236}">
                <a16:creationId xmlns:a16="http://schemas.microsoft.com/office/drawing/2014/main" id="{3ECC77AE-C3C0-47E0-B76F-AFE988C899E0}"/>
              </a:ext>
            </a:extLst>
          </p:cNvPr>
          <p:cNvSpPr txBox="1">
            <a:spLocks noChangeArrowheads="1"/>
          </p:cNvSpPr>
          <p:nvPr/>
        </p:nvSpPr>
        <p:spPr bwMode="auto">
          <a:xfrm rot="20586437">
            <a:off x="4418139" y="3104368"/>
            <a:ext cx="2440092" cy="1721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SRSWOR</a:t>
            </a:r>
          </a:p>
          <a:p>
            <a:pPr>
              <a:spcBef>
                <a:spcPct val="0"/>
              </a:spcBef>
              <a:buFontTx/>
              <a:buNone/>
            </a:pPr>
            <a:r>
              <a:rPr lang="en-US" altLang="en-US" sz="2647"/>
              <a:t>(simple random</a:t>
            </a:r>
          </a:p>
          <a:p>
            <a:pPr>
              <a:spcBef>
                <a:spcPct val="0"/>
              </a:spcBef>
              <a:buFontTx/>
              <a:buNone/>
            </a:pPr>
            <a:r>
              <a:rPr lang="en-US" altLang="en-US" sz="2647"/>
              <a:t> sample without </a:t>
            </a:r>
          </a:p>
          <a:p>
            <a:pPr>
              <a:spcBef>
                <a:spcPct val="0"/>
              </a:spcBef>
              <a:buFontTx/>
              <a:buNone/>
            </a:pPr>
            <a:r>
              <a:rPr lang="en-US" altLang="en-US" sz="2647"/>
              <a:t>replacement)</a:t>
            </a:r>
          </a:p>
        </p:txBody>
      </p:sp>
      <p:grpSp>
        <p:nvGrpSpPr>
          <p:cNvPr id="66564" name="Group 4">
            <a:extLst>
              <a:ext uri="{FF2B5EF4-FFF2-40B4-BE49-F238E27FC236}">
                <a16:creationId xmlns:a16="http://schemas.microsoft.com/office/drawing/2014/main" id="{BD96F1F4-AD15-4FB9-AEB4-834319C1BC60}"/>
              </a:ext>
            </a:extLst>
          </p:cNvPr>
          <p:cNvGrpSpPr>
            <a:grpSpLocks/>
          </p:cNvGrpSpPr>
          <p:nvPr/>
        </p:nvGrpSpPr>
        <p:grpSpPr bwMode="auto">
          <a:xfrm>
            <a:off x="6586167" y="1953736"/>
            <a:ext cx="2689013" cy="1848697"/>
            <a:chOff x="3588" y="1116"/>
            <a:chExt cx="1536" cy="1056"/>
          </a:xfrm>
        </p:grpSpPr>
        <p:sp>
          <p:nvSpPr>
            <p:cNvPr id="66585" name="AutoShape 5">
              <a:extLst>
                <a:ext uri="{FF2B5EF4-FFF2-40B4-BE49-F238E27FC236}">
                  <a16:creationId xmlns:a16="http://schemas.microsoft.com/office/drawing/2014/main" id="{A50D88FD-BB00-4751-9AC5-14D61F39C970}"/>
                </a:ext>
              </a:extLst>
            </p:cNvPr>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6" name="Oval 6">
              <a:extLst>
                <a:ext uri="{FF2B5EF4-FFF2-40B4-BE49-F238E27FC236}">
                  <a16:creationId xmlns:a16="http://schemas.microsoft.com/office/drawing/2014/main" id="{D773C975-5931-47D9-A469-B8DDE9E4EDAC}"/>
                </a:ext>
              </a:extLst>
            </p:cNvPr>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7" name="Oval 7">
              <a:extLst>
                <a:ext uri="{FF2B5EF4-FFF2-40B4-BE49-F238E27FC236}">
                  <a16:creationId xmlns:a16="http://schemas.microsoft.com/office/drawing/2014/main" id="{7E8D935B-C210-4F86-A3CC-F69DF3E4827F}"/>
                </a:ext>
              </a:extLst>
            </p:cNvPr>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8" name="Oval 8">
              <a:extLst>
                <a:ext uri="{FF2B5EF4-FFF2-40B4-BE49-F238E27FC236}">
                  <a16:creationId xmlns:a16="http://schemas.microsoft.com/office/drawing/2014/main" id="{3FE5B317-49B1-4954-87EC-539E6E872E7E}"/>
                </a:ext>
              </a:extLst>
            </p:cNvPr>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grpSp>
      <p:sp>
        <p:nvSpPr>
          <p:cNvPr id="66565" name="Text Box 9">
            <a:extLst>
              <a:ext uri="{FF2B5EF4-FFF2-40B4-BE49-F238E27FC236}">
                <a16:creationId xmlns:a16="http://schemas.microsoft.com/office/drawing/2014/main" id="{DE9E543E-F25D-4150-A1A6-5A90F24A134C}"/>
              </a:ext>
            </a:extLst>
          </p:cNvPr>
          <p:cNvSpPr txBox="1">
            <a:spLocks noChangeArrowheads="1"/>
          </p:cNvSpPr>
          <p:nvPr/>
        </p:nvSpPr>
        <p:spPr bwMode="auto">
          <a:xfrm rot="848056">
            <a:off x="4678014" y="5632373"/>
            <a:ext cx="1335622"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SRSWR</a:t>
            </a:r>
          </a:p>
        </p:txBody>
      </p:sp>
      <p:grpSp>
        <p:nvGrpSpPr>
          <p:cNvPr id="66566" name="Group 10">
            <a:extLst>
              <a:ext uri="{FF2B5EF4-FFF2-40B4-BE49-F238E27FC236}">
                <a16:creationId xmlns:a16="http://schemas.microsoft.com/office/drawing/2014/main" id="{D11C23A5-1A69-49D8-AF2A-042688780643}"/>
              </a:ext>
            </a:extLst>
          </p:cNvPr>
          <p:cNvGrpSpPr>
            <a:grpSpLocks/>
          </p:cNvGrpSpPr>
          <p:nvPr/>
        </p:nvGrpSpPr>
        <p:grpSpPr bwMode="auto">
          <a:xfrm>
            <a:off x="6670199" y="4915852"/>
            <a:ext cx="2689013" cy="1848697"/>
            <a:chOff x="3636" y="2808"/>
            <a:chExt cx="1536" cy="1056"/>
          </a:xfrm>
        </p:grpSpPr>
        <p:sp>
          <p:nvSpPr>
            <p:cNvPr id="66581" name="AutoShape 11">
              <a:extLst>
                <a:ext uri="{FF2B5EF4-FFF2-40B4-BE49-F238E27FC236}">
                  <a16:creationId xmlns:a16="http://schemas.microsoft.com/office/drawing/2014/main" id="{BE58D184-6067-45EB-98CB-86B698684CA5}"/>
                </a:ext>
              </a:extLst>
            </p:cNvPr>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2" name="Oval 12">
              <a:extLst>
                <a:ext uri="{FF2B5EF4-FFF2-40B4-BE49-F238E27FC236}">
                  <a16:creationId xmlns:a16="http://schemas.microsoft.com/office/drawing/2014/main" id="{24023CD8-5AF8-42D5-A18A-6A3AB89F3809}"/>
                </a:ext>
              </a:extLst>
            </p:cNvPr>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3" name="Oval 13">
              <a:extLst>
                <a:ext uri="{FF2B5EF4-FFF2-40B4-BE49-F238E27FC236}">
                  <a16:creationId xmlns:a16="http://schemas.microsoft.com/office/drawing/2014/main" id="{012F1728-7C5B-49E8-8A7E-7EE24F1E8C6D}"/>
                </a:ext>
              </a:extLst>
            </p:cNvPr>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4" name="Oval 14">
              <a:extLst>
                <a:ext uri="{FF2B5EF4-FFF2-40B4-BE49-F238E27FC236}">
                  <a16:creationId xmlns:a16="http://schemas.microsoft.com/office/drawing/2014/main" id="{CF27F074-9439-4A94-9FBD-94E7AFB7C606}"/>
                </a:ext>
              </a:extLst>
            </p:cNvPr>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grpSp>
      <p:grpSp>
        <p:nvGrpSpPr>
          <p:cNvPr id="66567" name="Group 15">
            <a:extLst>
              <a:ext uri="{FF2B5EF4-FFF2-40B4-BE49-F238E27FC236}">
                <a16:creationId xmlns:a16="http://schemas.microsoft.com/office/drawing/2014/main" id="{1E4419FB-C33A-4FAB-9FAD-E363824C2811}"/>
              </a:ext>
            </a:extLst>
          </p:cNvPr>
          <p:cNvGrpSpPr>
            <a:grpSpLocks/>
          </p:cNvGrpSpPr>
          <p:nvPr/>
        </p:nvGrpSpPr>
        <p:grpSpPr bwMode="auto">
          <a:xfrm>
            <a:off x="1271164" y="2100792"/>
            <a:ext cx="3004132" cy="5019142"/>
            <a:chOff x="564" y="1284"/>
            <a:chExt cx="1716" cy="2867"/>
          </a:xfrm>
        </p:grpSpPr>
        <p:sp>
          <p:nvSpPr>
            <p:cNvPr id="66570" name="AutoShape 16">
              <a:extLst>
                <a:ext uri="{FF2B5EF4-FFF2-40B4-BE49-F238E27FC236}">
                  <a16:creationId xmlns:a16="http://schemas.microsoft.com/office/drawing/2014/main" id="{915B8A49-10DB-40A6-B18C-BE6BEACB445A}"/>
                </a:ext>
              </a:extLst>
            </p:cNvPr>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1" name="Oval 17">
              <a:extLst>
                <a:ext uri="{FF2B5EF4-FFF2-40B4-BE49-F238E27FC236}">
                  <a16:creationId xmlns:a16="http://schemas.microsoft.com/office/drawing/2014/main" id="{1B07CD1C-A76F-4B7C-971F-EC1C79B0CA41}"/>
                </a:ext>
              </a:extLst>
            </p:cNvPr>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2" name="Oval 18">
              <a:extLst>
                <a:ext uri="{FF2B5EF4-FFF2-40B4-BE49-F238E27FC236}">
                  <a16:creationId xmlns:a16="http://schemas.microsoft.com/office/drawing/2014/main" id="{4BE48DF6-8AD5-4122-B8F6-0B0420D691EE}"/>
                </a:ext>
              </a:extLst>
            </p:cNvPr>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3" name="Oval 19">
              <a:extLst>
                <a:ext uri="{FF2B5EF4-FFF2-40B4-BE49-F238E27FC236}">
                  <a16:creationId xmlns:a16="http://schemas.microsoft.com/office/drawing/2014/main" id="{B6595E70-7EAA-42E9-ADB2-E1EA8F9041AB}"/>
                </a:ext>
              </a:extLst>
            </p:cNvPr>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4" name="Oval 20">
              <a:extLst>
                <a:ext uri="{FF2B5EF4-FFF2-40B4-BE49-F238E27FC236}">
                  <a16:creationId xmlns:a16="http://schemas.microsoft.com/office/drawing/2014/main" id="{4EB248FD-0818-4D02-B125-E37463B3FCA2}"/>
                </a:ext>
              </a:extLst>
            </p:cNvPr>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5" name="Oval 21">
              <a:extLst>
                <a:ext uri="{FF2B5EF4-FFF2-40B4-BE49-F238E27FC236}">
                  <a16:creationId xmlns:a16="http://schemas.microsoft.com/office/drawing/2014/main" id="{BBE2E967-ADEF-4511-B2BD-1B3F5F9BE5F2}"/>
                </a:ext>
              </a:extLst>
            </p:cNvPr>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6" name="Oval 22">
              <a:extLst>
                <a:ext uri="{FF2B5EF4-FFF2-40B4-BE49-F238E27FC236}">
                  <a16:creationId xmlns:a16="http://schemas.microsoft.com/office/drawing/2014/main" id="{0248FF7C-7C27-4E2E-B4B6-013C9F95C776}"/>
                </a:ext>
              </a:extLst>
            </p:cNvPr>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7" name="Oval 23">
              <a:extLst>
                <a:ext uri="{FF2B5EF4-FFF2-40B4-BE49-F238E27FC236}">
                  <a16:creationId xmlns:a16="http://schemas.microsoft.com/office/drawing/2014/main" id="{B686BAD5-25C8-4827-884F-D724F496BE69}"/>
                </a:ext>
              </a:extLst>
            </p:cNvPr>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8" name="Oval 24">
              <a:extLst>
                <a:ext uri="{FF2B5EF4-FFF2-40B4-BE49-F238E27FC236}">
                  <a16:creationId xmlns:a16="http://schemas.microsoft.com/office/drawing/2014/main" id="{E4145842-F66C-407C-828D-EA41EED51A11}"/>
                </a:ext>
              </a:extLst>
            </p:cNvPr>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79" name="Oval 25">
              <a:extLst>
                <a:ext uri="{FF2B5EF4-FFF2-40B4-BE49-F238E27FC236}">
                  <a16:creationId xmlns:a16="http://schemas.microsoft.com/office/drawing/2014/main" id="{FE97C9F0-C68E-48ED-BD81-CBBC68809B02}"/>
                </a:ext>
              </a:extLst>
            </p:cNvPr>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6580" name="Text Box 26">
              <a:extLst>
                <a:ext uri="{FF2B5EF4-FFF2-40B4-BE49-F238E27FC236}">
                  <a16:creationId xmlns:a16="http://schemas.microsoft.com/office/drawing/2014/main" id="{B53CC64F-F4ED-4D06-9A26-90A0D8F35252}"/>
                </a:ext>
              </a:extLst>
            </p:cNvPr>
            <p:cNvSpPr txBox="1">
              <a:spLocks noChangeArrowheads="1"/>
            </p:cNvSpPr>
            <p:nvPr/>
          </p:nvSpPr>
          <p:spPr bwMode="auto">
            <a:xfrm>
              <a:off x="974" y="3866"/>
              <a:ext cx="876"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Raw Data</a:t>
              </a:r>
            </a:p>
          </p:txBody>
        </p:sp>
      </p:grpSp>
      <p:sp>
        <p:nvSpPr>
          <p:cNvPr id="66568" name="Line 27">
            <a:extLst>
              <a:ext uri="{FF2B5EF4-FFF2-40B4-BE49-F238E27FC236}">
                <a16:creationId xmlns:a16="http://schemas.microsoft.com/office/drawing/2014/main" id="{69A79CF1-BE89-40E5-90AC-88206FDBCB4B}"/>
              </a:ext>
            </a:extLst>
          </p:cNvPr>
          <p:cNvSpPr>
            <a:spLocks noChangeShapeType="1"/>
          </p:cNvSpPr>
          <p:nvPr/>
        </p:nvSpPr>
        <p:spPr bwMode="auto">
          <a:xfrm flipV="1">
            <a:off x="4506383" y="3277235"/>
            <a:ext cx="1827689" cy="60923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66569" name="Line 28">
            <a:extLst>
              <a:ext uri="{FF2B5EF4-FFF2-40B4-BE49-F238E27FC236}">
                <a16:creationId xmlns:a16="http://schemas.microsoft.com/office/drawing/2014/main" id="{B9C6BAD7-0FE0-4A99-8FD7-DB4D3691F809}"/>
              </a:ext>
            </a:extLst>
          </p:cNvPr>
          <p:cNvSpPr>
            <a:spLocks noChangeShapeType="1"/>
          </p:cNvSpPr>
          <p:nvPr/>
        </p:nvSpPr>
        <p:spPr bwMode="auto">
          <a:xfrm>
            <a:off x="4527391" y="5399035"/>
            <a:ext cx="1974744" cy="54620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Tree>
  </p:cSld>
  <p:clrMapOvr>
    <a:masterClrMapping/>
  </p:clrMapOvr>
  <p:transition>
    <p:checker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E3EAA09-8028-46E8-B13C-86B85A6DBD89}"/>
              </a:ext>
            </a:extLst>
          </p:cNvPr>
          <p:cNvSpPr>
            <a:spLocks noGrp="1" noChangeArrowheads="1"/>
          </p:cNvSpPr>
          <p:nvPr>
            <p:ph type="title"/>
          </p:nvPr>
        </p:nvSpPr>
        <p:spPr>
          <a:xfrm>
            <a:off x="2955851" y="1039752"/>
            <a:ext cx="6490339" cy="814518"/>
          </a:xfrm>
        </p:spPr>
        <p:txBody>
          <a:bodyPr/>
          <a:lstStyle/>
          <a:p>
            <a:pPr eaLnBrk="1" hangingPunct="1"/>
            <a:r>
              <a:rPr lang="en-US" altLang="en-US" sz="5293">
                <a:solidFill>
                  <a:schemeClr val="accent2"/>
                </a:solidFill>
              </a:rPr>
              <a:t>Sampling</a:t>
            </a:r>
          </a:p>
        </p:txBody>
      </p:sp>
      <p:grpSp>
        <p:nvGrpSpPr>
          <p:cNvPr id="68611" name="Group 3">
            <a:extLst>
              <a:ext uri="{FF2B5EF4-FFF2-40B4-BE49-F238E27FC236}">
                <a16:creationId xmlns:a16="http://schemas.microsoft.com/office/drawing/2014/main" id="{FCD417F6-E21C-4B6D-8F83-80F163386264}"/>
              </a:ext>
            </a:extLst>
          </p:cNvPr>
          <p:cNvGrpSpPr>
            <a:grpSpLocks/>
          </p:cNvGrpSpPr>
          <p:nvPr/>
        </p:nvGrpSpPr>
        <p:grpSpPr bwMode="auto">
          <a:xfrm>
            <a:off x="879017" y="2976121"/>
            <a:ext cx="4136809" cy="3692142"/>
            <a:chOff x="274" y="1418"/>
            <a:chExt cx="2363" cy="2109"/>
          </a:xfrm>
        </p:grpSpPr>
        <p:sp>
          <p:nvSpPr>
            <p:cNvPr id="68632" name="Rectangle 4">
              <a:extLst>
                <a:ext uri="{FF2B5EF4-FFF2-40B4-BE49-F238E27FC236}">
                  <a16:creationId xmlns:a16="http://schemas.microsoft.com/office/drawing/2014/main" id="{20E383A9-4499-4A44-B817-9F328FD2568B}"/>
                </a:ext>
              </a:extLst>
            </p:cNvPr>
            <p:cNvSpPr>
              <a:spLocks noChangeArrowheads="1"/>
            </p:cNvSpPr>
            <p:nvPr/>
          </p:nvSpPr>
          <p:spPr bwMode="auto">
            <a:xfrm>
              <a:off x="274" y="1418"/>
              <a:ext cx="2363" cy="21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3" name="AutoShape 5">
              <a:extLst>
                <a:ext uri="{FF2B5EF4-FFF2-40B4-BE49-F238E27FC236}">
                  <a16:creationId xmlns:a16="http://schemas.microsoft.com/office/drawing/2014/main" id="{04AD455D-7ECA-4F9D-865B-4BC34BC6BDAE}"/>
                </a:ext>
              </a:extLst>
            </p:cNvPr>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4" name="AutoShape 6">
              <a:extLst>
                <a:ext uri="{FF2B5EF4-FFF2-40B4-BE49-F238E27FC236}">
                  <a16:creationId xmlns:a16="http://schemas.microsoft.com/office/drawing/2014/main" id="{27B88992-30B0-410F-A4AD-0B20C4D10958}"/>
                </a:ext>
              </a:extLst>
            </p:cNvPr>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5" name="AutoShape 7">
              <a:extLst>
                <a:ext uri="{FF2B5EF4-FFF2-40B4-BE49-F238E27FC236}">
                  <a16:creationId xmlns:a16="http://schemas.microsoft.com/office/drawing/2014/main" id="{632BC532-2E1D-438C-AEE0-50230DB341D4}"/>
                </a:ext>
              </a:extLst>
            </p:cNvPr>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6" name="AutoShape 8">
              <a:extLst>
                <a:ext uri="{FF2B5EF4-FFF2-40B4-BE49-F238E27FC236}">
                  <a16:creationId xmlns:a16="http://schemas.microsoft.com/office/drawing/2014/main" id="{6515AE3C-7DA6-44F7-BC80-2D8FF380895D}"/>
                </a:ext>
              </a:extLst>
            </p:cNvPr>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7" name="AutoShape 9">
              <a:extLst>
                <a:ext uri="{FF2B5EF4-FFF2-40B4-BE49-F238E27FC236}">
                  <a16:creationId xmlns:a16="http://schemas.microsoft.com/office/drawing/2014/main" id="{502473AB-2D13-4CCF-A14A-BC8E7E088C3B}"/>
                </a:ext>
              </a:extLst>
            </p:cNvPr>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8" name="AutoShape 10">
              <a:extLst>
                <a:ext uri="{FF2B5EF4-FFF2-40B4-BE49-F238E27FC236}">
                  <a16:creationId xmlns:a16="http://schemas.microsoft.com/office/drawing/2014/main" id="{0DC73287-5A63-4143-A5E1-EEEBB4B1E4B0}"/>
                </a:ext>
              </a:extLst>
            </p:cNvPr>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39" name="AutoShape 11">
              <a:extLst>
                <a:ext uri="{FF2B5EF4-FFF2-40B4-BE49-F238E27FC236}">
                  <a16:creationId xmlns:a16="http://schemas.microsoft.com/office/drawing/2014/main" id="{343F3689-A8C3-4533-BB32-39A69834A75F}"/>
                </a:ext>
              </a:extLst>
            </p:cNvPr>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0" name="AutoShape 12">
              <a:extLst>
                <a:ext uri="{FF2B5EF4-FFF2-40B4-BE49-F238E27FC236}">
                  <a16:creationId xmlns:a16="http://schemas.microsoft.com/office/drawing/2014/main" id="{C65D5103-910E-4C32-B593-3B93092D0124}"/>
                </a:ext>
              </a:extLst>
            </p:cNvPr>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1" name="Freeform 13">
              <a:extLst>
                <a:ext uri="{FF2B5EF4-FFF2-40B4-BE49-F238E27FC236}">
                  <a16:creationId xmlns:a16="http://schemas.microsoft.com/office/drawing/2014/main" id="{5E70EBDA-6AC6-44F5-887B-47FD860A8165}"/>
                </a:ext>
              </a:extLst>
            </p:cNvPr>
            <p:cNvSpPr>
              <a:spLocks/>
            </p:cNvSpPr>
            <p:nvPr/>
          </p:nvSpPr>
          <p:spPr bwMode="auto">
            <a:xfrm>
              <a:off x="1376" y="1763"/>
              <a:ext cx="686" cy="877"/>
            </a:xfrm>
            <a:custGeom>
              <a:avLst/>
              <a:gdLst>
                <a:gd name="T0" fmla="*/ 404 w 1101"/>
                <a:gd name="T1" fmla="*/ 195 h 1077"/>
                <a:gd name="T2" fmla="*/ 418 w 1101"/>
                <a:gd name="T3" fmla="*/ 322 h 1077"/>
                <a:gd name="T4" fmla="*/ 393 w 1101"/>
                <a:gd name="T5" fmla="*/ 616 h 1077"/>
                <a:gd name="T6" fmla="*/ 369 w 1101"/>
                <a:gd name="T7" fmla="*/ 690 h 1077"/>
                <a:gd name="T8" fmla="*/ 330 w 1101"/>
                <a:gd name="T9" fmla="*/ 713 h 1077"/>
                <a:gd name="T10" fmla="*/ 231 w 1101"/>
                <a:gd name="T11" fmla="*/ 690 h 1077"/>
                <a:gd name="T12" fmla="*/ 189 w 1101"/>
                <a:gd name="T13" fmla="*/ 659 h 1077"/>
                <a:gd name="T14" fmla="*/ 178 w 1101"/>
                <a:gd name="T15" fmla="*/ 653 h 1077"/>
                <a:gd name="T16" fmla="*/ 125 w 1101"/>
                <a:gd name="T17" fmla="*/ 581 h 1077"/>
                <a:gd name="T18" fmla="*/ 90 w 1101"/>
                <a:gd name="T19" fmla="*/ 533 h 1077"/>
                <a:gd name="T20" fmla="*/ 40 w 1101"/>
                <a:gd name="T21" fmla="*/ 454 h 1077"/>
                <a:gd name="T22" fmla="*/ 1 w 1101"/>
                <a:gd name="T23" fmla="*/ 298 h 1077"/>
                <a:gd name="T24" fmla="*/ 5 w 1101"/>
                <a:gd name="T25" fmla="*/ 86 h 1077"/>
                <a:gd name="T26" fmla="*/ 72 w 1101"/>
                <a:gd name="T27" fmla="*/ 14 h 1077"/>
                <a:gd name="T28" fmla="*/ 86 w 1101"/>
                <a:gd name="T29" fmla="*/ 8 h 1077"/>
                <a:gd name="T30" fmla="*/ 164 w 1101"/>
                <a:gd name="T31" fmla="*/ 20 h 1077"/>
                <a:gd name="T32" fmla="*/ 224 w 1101"/>
                <a:gd name="T33" fmla="*/ 68 h 1077"/>
                <a:gd name="T34" fmla="*/ 270 w 1101"/>
                <a:gd name="T35" fmla="*/ 116 h 1077"/>
                <a:gd name="T36" fmla="*/ 298 w 1101"/>
                <a:gd name="T37" fmla="*/ 134 h 1077"/>
                <a:gd name="T38" fmla="*/ 404 w 1101"/>
                <a:gd name="T39" fmla="*/ 195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68642" name="AutoShape 14">
              <a:extLst>
                <a:ext uri="{FF2B5EF4-FFF2-40B4-BE49-F238E27FC236}">
                  <a16:creationId xmlns:a16="http://schemas.microsoft.com/office/drawing/2014/main" id="{89EAEB9B-DE1F-4966-A092-D9443D3804B0}"/>
                </a:ext>
              </a:extLst>
            </p:cNvPr>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3" name="AutoShape 15">
              <a:extLst>
                <a:ext uri="{FF2B5EF4-FFF2-40B4-BE49-F238E27FC236}">
                  <a16:creationId xmlns:a16="http://schemas.microsoft.com/office/drawing/2014/main" id="{8AFC467C-4A11-408E-81D7-DCE9F880231B}"/>
                </a:ext>
              </a:extLst>
            </p:cNvPr>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4" name="AutoShape 16">
              <a:extLst>
                <a:ext uri="{FF2B5EF4-FFF2-40B4-BE49-F238E27FC236}">
                  <a16:creationId xmlns:a16="http://schemas.microsoft.com/office/drawing/2014/main" id="{6C557FB7-9EF6-4705-8D13-6C472E2A5FD1}"/>
                </a:ext>
              </a:extLst>
            </p:cNvPr>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5" name="AutoShape 17">
              <a:extLst>
                <a:ext uri="{FF2B5EF4-FFF2-40B4-BE49-F238E27FC236}">
                  <a16:creationId xmlns:a16="http://schemas.microsoft.com/office/drawing/2014/main" id="{6F3E643C-D287-404B-A39B-0A45673896E8}"/>
                </a:ext>
              </a:extLst>
            </p:cNvPr>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6" name="AutoShape 18">
              <a:extLst>
                <a:ext uri="{FF2B5EF4-FFF2-40B4-BE49-F238E27FC236}">
                  <a16:creationId xmlns:a16="http://schemas.microsoft.com/office/drawing/2014/main" id="{9F23C82E-E78A-4668-8984-FCC675FEA0F8}"/>
                </a:ext>
              </a:extLst>
            </p:cNvPr>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7" name="AutoShape 19">
              <a:extLst>
                <a:ext uri="{FF2B5EF4-FFF2-40B4-BE49-F238E27FC236}">
                  <a16:creationId xmlns:a16="http://schemas.microsoft.com/office/drawing/2014/main" id="{52296530-9F47-4DE9-A67A-BAD368B43222}"/>
                </a:ext>
              </a:extLst>
            </p:cNvPr>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8" name="AutoShape 20">
              <a:extLst>
                <a:ext uri="{FF2B5EF4-FFF2-40B4-BE49-F238E27FC236}">
                  <a16:creationId xmlns:a16="http://schemas.microsoft.com/office/drawing/2014/main" id="{B2D0D026-4064-42BA-9C4F-3C45D14DB0C4}"/>
                </a:ext>
              </a:extLst>
            </p:cNvPr>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49" name="AutoShape 21">
              <a:extLst>
                <a:ext uri="{FF2B5EF4-FFF2-40B4-BE49-F238E27FC236}">
                  <a16:creationId xmlns:a16="http://schemas.microsoft.com/office/drawing/2014/main" id="{F567D87E-1E98-4E64-96C4-A81BE7079498}"/>
                </a:ext>
              </a:extLst>
            </p:cNvPr>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0" name="AutoShape 22">
              <a:extLst>
                <a:ext uri="{FF2B5EF4-FFF2-40B4-BE49-F238E27FC236}">
                  <a16:creationId xmlns:a16="http://schemas.microsoft.com/office/drawing/2014/main" id="{55F09619-B5DC-44B6-8A0E-2F10E0431C71}"/>
                </a:ext>
              </a:extLst>
            </p:cNvPr>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1" name="Freeform 23">
              <a:extLst>
                <a:ext uri="{FF2B5EF4-FFF2-40B4-BE49-F238E27FC236}">
                  <a16:creationId xmlns:a16="http://schemas.microsoft.com/office/drawing/2014/main" id="{A681BE3E-D999-4CA6-B672-1E024AB5C5A3}"/>
                </a:ext>
              </a:extLst>
            </p:cNvPr>
            <p:cNvSpPr>
              <a:spLocks/>
            </p:cNvSpPr>
            <p:nvPr/>
          </p:nvSpPr>
          <p:spPr bwMode="auto">
            <a:xfrm>
              <a:off x="1061" y="2373"/>
              <a:ext cx="573" cy="785"/>
            </a:xfrm>
            <a:custGeom>
              <a:avLst/>
              <a:gdLst>
                <a:gd name="T0" fmla="*/ 89 w 918"/>
                <a:gd name="T1" fmla="*/ 541 h 965"/>
                <a:gd name="T2" fmla="*/ 74 w 918"/>
                <a:gd name="T3" fmla="*/ 517 h 965"/>
                <a:gd name="T4" fmla="*/ 46 w 918"/>
                <a:gd name="T5" fmla="*/ 488 h 965"/>
                <a:gd name="T6" fmla="*/ 32 w 918"/>
                <a:gd name="T7" fmla="*/ 463 h 965"/>
                <a:gd name="T8" fmla="*/ 17 w 918"/>
                <a:gd name="T9" fmla="*/ 428 h 965"/>
                <a:gd name="T10" fmla="*/ 0 w 918"/>
                <a:gd name="T11" fmla="*/ 307 h 965"/>
                <a:gd name="T12" fmla="*/ 4 w 918"/>
                <a:gd name="T13" fmla="*/ 133 h 965"/>
                <a:gd name="T14" fmla="*/ 32 w 918"/>
                <a:gd name="T15" fmla="*/ 90 h 965"/>
                <a:gd name="T16" fmla="*/ 114 w 918"/>
                <a:gd name="T17" fmla="*/ 0 h 965"/>
                <a:gd name="T18" fmla="*/ 152 w 918"/>
                <a:gd name="T19" fmla="*/ 12 h 965"/>
                <a:gd name="T20" fmla="*/ 191 w 918"/>
                <a:gd name="T21" fmla="*/ 37 h 965"/>
                <a:gd name="T22" fmla="*/ 269 w 918"/>
                <a:gd name="T23" fmla="*/ 108 h 965"/>
                <a:gd name="T24" fmla="*/ 280 w 918"/>
                <a:gd name="T25" fmla="*/ 144 h 965"/>
                <a:gd name="T26" fmla="*/ 290 w 918"/>
                <a:gd name="T27" fmla="*/ 163 h 965"/>
                <a:gd name="T28" fmla="*/ 315 w 918"/>
                <a:gd name="T29" fmla="*/ 229 h 965"/>
                <a:gd name="T30" fmla="*/ 329 w 918"/>
                <a:gd name="T31" fmla="*/ 282 h 965"/>
                <a:gd name="T32" fmla="*/ 336 w 918"/>
                <a:gd name="T33" fmla="*/ 342 h 965"/>
                <a:gd name="T34" fmla="*/ 347 w 918"/>
                <a:gd name="T35" fmla="*/ 403 h 965"/>
                <a:gd name="T36" fmla="*/ 358 w 918"/>
                <a:gd name="T37" fmla="*/ 512 h 965"/>
                <a:gd name="T38" fmla="*/ 322 w 918"/>
                <a:gd name="T39" fmla="*/ 613 h 965"/>
                <a:gd name="T40" fmla="*/ 294 w 918"/>
                <a:gd name="T41" fmla="*/ 626 h 965"/>
                <a:gd name="T42" fmla="*/ 280 w 918"/>
                <a:gd name="T43" fmla="*/ 632 h 965"/>
                <a:gd name="T44" fmla="*/ 138 w 918"/>
                <a:gd name="T45" fmla="*/ 620 h 965"/>
                <a:gd name="T46" fmla="*/ 96 w 918"/>
                <a:gd name="T47" fmla="*/ 572 h 965"/>
                <a:gd name="T48" fmla="*/ 89 w 918"/>
                <a:gd name="T49" fmla="*/ 541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nvGrpSpPr>
            <p:cNvPr id="68652" name="Group 24">
              <a:extLst>
                <a:ext uri="{FF2B5EF4-FFF2-40B4-BE49-F238E27FC236}">
                  <a16:creationId xmlns:a16="http://schemas.microsoft.com/office/drawing/2014/main" id="{FDE14412-8CA9-4333-9F42-CA9C3700457A}"/>
                </a:ext>
              </a:extLst>
            </p:cNvPr>
            <p:cNvGrpSpPr>
              <a:grpSpLocks/>
            </p:cNvGrpSpPr>
            <p:nvPr/>
          </p:nvGrpSpPr>
          <p:grpSpPr bwMode="auto">
            <a:xfrm>
              <a:off x="551" y="1796"/>
              <a:ext cx="542" cy="954"/>
              <a:chOff x="551" y="1796"/>
              <a:chExt cx="542" cy="954"/>
            </a:xfrm>
          </p:grpSpPr>
          <p:sp>
            <p:nvSpPr>
              <p:cNvPr id="68653" name="AutoShape 25">
                <a:extLst>
                  <a:ext uri="{FF2B5EF4-FFF2-40B4-BE49-F238E27FC236}">
                    <a16:creationId xmlns:a16="http://schemas.microsoft.com/office/drawing/2014/main" id="{4F143E68-E789-49E3-A530-521A2FC2EA2A}"/>
                  </a:ext>
                </a:extLst>
              </p:cNvPr>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4" name="AutoShape 26">
                <a:extLst>
                  <a:ext uri="{FF2B5EF4-FFF2-40B4-BE49-F238E27FC236}">
                    <a16:creationId xmlns:a16="http://schemas.microsoft.com/office/drawing/2014/main" id="{D4A54BD4-44BB-4C34-8886-17D560DAC38F}"/>
                  </a:ext>
                </a:extLst>
              </p:cNvPr>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5" name="AutoShape 27">
                <a:extLst>
                  <a:ext uri="{FF2B5EF4-FFF2-40B4-BE49-F238E27FC236}">
                    <a16:creationId xmlns:a16="http://schemas.microsoft.com/office/drawing/2014/main" id="{82F0F5AB-B704-4E79-864C-75EF6856E2B3}"/>
                  </a:ext>
                </a:extLst>
              </p:cNvPr>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6" name="AutoShape 28">
                <a:extLst>
                  <a:ext uri="{FF2B5EF4-FFF2-40B4-BE49-F238E27FC236}">
                    <a16:creationId xmlns:a16="http://schemas.microsoft.com/office/drawing/2014/main" id="{93DD624C-5FF9-4DEF-A2BE-9348AEAFAB14}"/>
                  </a:ext>
                </a:extLst>
              </p:cNvPr>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7" name="AutoShape 29">
                <a:extLst>
                  <a:ext uri="{FF2B5EF4-FFF2-40B4-BE49-F238E27FC236}">
                    <a16:creationId xmlns:a16="http://schemas.microsoft.com/office/drawing/2014/main" id="{312FCEFF-7374-4CE6-970E-601851D0509F}"/>
                  </a:ext>
                </a:extLst>
              </p:cNvPr>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8" name="AutoShape 30">
                <a:extLst>
                  <a:ext uri="{FF2B5EF4-FFF2-40B4-BE49-F238E27FC236}">
                    <a16:creationId xmlns:a16="http://schemas.microsoft.com/office/drawing/2014/main" id="{198822A7-B9B7-4617-8E4F-BAB3C1DBCCD6}"/>
                  </a:ext>
                </a:extLst>
              </p:cNvPr>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59" name="AutoShape 31">
                <a:extLst>
                  <a:ext uri="{FF2B5EF4-FFF2-40B4-BE49-F238E27FC236}">
                    <a16:creationId xmlns:a16="http://schemas.microsoft.com/office/drawing/2014/main" id="{A991ADA1-53B4-4FA8-B241-82EA710C9B01}"/>
                  </a:ext>
                </a:extLst>
              </p:cNvPr>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60" name="AutoShape 32">
                <a:extLst>
                  <a:ext uri="{FF2B5EF4-FFF2-40B4-BE49-F238E27FC236}">
                    <a16:creationId xmlns:a16="http://schemas.microsoft.com/office/drawing/2014/main" id="{91256618-E4D4-4FCF-9246-2E116BABC824}"/>
                  </a:ext>
                </a:extLst>
              </p:cNvPr>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61" name="AutoShape 33">
                <a:extLst>
                  <a:ext uri="{FF2B5EF4-FFF2-40B4-BE49-F238E27FC236}">
                    <a16:creationId xmlns:a16="http://schemas.microsoft.com/office/drawing/2014/main" id="{431DB6B7-788F-4742-8E5D-52E2ACF58616}"/>
                  </a:ext>
                </a:extLst>
              </p:cNvPr>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62" name="AutoShape 34">
                <a:extLst>
                  <a:ext uri="{FF2B5EF4-FFF2-40B4-BE49-F238E27FC236}">
                    <a16:creationId xmlns:a16="http://schemas.microsoft.com/office/drawing/2014/main" id="{CD347DF2-83F6-44E5-8809-058B828AF6E1}"/>
                  </a:ext>
                </a:extLst>
              </p:cNvPr>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63" name="Freeform 35">
                <a:extLst>
                  <a:ext uri="{FF2B5EF4-FFF2-40B4-BE49-F238E27FC236}">
                    <a16:creationId xmlns:a16="http://schemas.microsoft.com/office/drawing/2014/main" id="{224A2564-7659-4B22-941A-1F40B75261FE}"/>
                  </a:ext>
                </a:extLst>
              </p:cNvPr>
              <p:cNvSpPr>
                <a:spLocks/>
              </p:cNvSpPr>
              <p:nvPr/>
            </p:nvSpPr>
            <p:spPr bwMode="auto">
              <a:xfrm>
                <a:off x="551" y="1796"/>
                <a:ext cx="542" cy="954"/>
              </a:xfrm>
              <a:custGeom>
                <a:avLst/>
                <a:gdLst>
                  <a:gd name="T0" fmla="*/ 293 w 869"/>
                  <a:gd name="T1" fmla="*/ 523 h 1173"/>
                  <a:gd name="T2" fmla="*/ 272 w 869"/>
                  <a:gd name="T3" fmla="*/ 625 h 1173"/>
                  <a:gd name="T4" fmla="*/ 254 w 869"/>
                  <a:gd name="T5" fmla="*/ 716 h 1173"/>
                  <a:gd name="T6" fmla="*/ 248 w 869"/>
                  <a:gd name="T7" fmla="*/ 751 h 1173"/>
                  <a:gd name="T8" fmla="*/ 240 w 869"/>
                  <a:gd name="T9" fmla="*/ 764 h 1173"/>
                  <a:gd name="T10" fmla="*/ 219 w 869"/>
                  <a:gd name="T11" fmla="*/ 776 h 1173"/>
                  <a:gd name="T12" fmla="*/ 113 w 869"/>
                  <a:gd name="T13" fmla="*/ 757 h 1173"/>
                  <a:gd name="T14" fmla="*/ 49 w 869"/>
                  <a:gd name="T15" fmla="*/ 710 h 1173"/>
                  <a:gd name="T16" fmla="*/ 14 w 869"/>
                  <a:gd name="T17" fmla="*/ 668 h 1173"/>
                  <a:gd name="T18" fmla="*/ 0 w 869"/>
                  <a:gd name="T19" fmla="*/ 632 h 1173"/>
                  <a:gd name="T20" fmla="*/ 32 w 869"/>
                  <a:gd name="T21" fmla="*/ 331 h 1173"/>
                  <a:gd name="T22" fmla="*/ 42 w 869"/>
                  <a:gd name="T23" fmla="*/ 156 h 1173"/>
                  <a:gd name="T24" fmla="*/ 60 w 869"/>
                  <a:gd name="T25" fmla="*/ 108 h 1173"/>
                  <a:gd name="T26" fmla="*/ 78 w 869"/>
                  <a:gd name="T27" fmla="*/ 90 h 1173"/>
                  <a:gd name="T28" fmla="*/ 120 w 869"/>
                  <a:gd name="T29" fmla="*/ 48 h 1173"/>
                  <a:gd name="T30" fmla="*/ 138 w 869"/>
                  <a:gd name="T31" fmla="*/ 30 h 1173"/>
                  <a:gd name="T32" fmla="*/ 166 w 869"/>
                  <a:gd name="T33" fmla="*/ 0 h 1173"/>
                  <a:gd name="T34" fmla="*/ 276 w 869"/>
                  <a:gd name="T35" fmla="*/ 54 h 1173"/>
                  <a:gd name="T36" fmla="*/ 315 w 869"/>
                  <a:gd name="T37" fmla="*/ 133 h 1173"/>
                  <a:gd name="T38" fmla="*/ 329 w 869"/>
                  <a:gd name="T39" fmla="*/ 168 h 1173"/>
                  <a:gd name="T40" fmla="*/ 336 w 869"/>
                  <a:gd name="T41" fmla="*/ 204 h 1173"/>
                  <a:gd name="T42" fmla="*/ 307 w 869"/>
                  <a:gd name="T43" fmla="*/ 469 h 1173"/>
                  <a:gd name="T44" fmla="*/ 293 w 869"/>
                  <a:gd name="T45" fmla="*/ 5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grpSp>
      <p:sp>
        <p:nvSpPr>
          <p:cNvPr id="68612" name="Rectangle 36">
            <a:extLst>
              <a:ext uri="{FF2B5EF4-FFF2-40B4-BE49-F238E27FC236}">
                <a16:creationId xmlns:a16="http://schemas.microsoft.com/office/drawing/2014/main" id="{4F846434-91E6-41CC-A0E3-EE8A857C68E8}"/>
              </a:ext>
            </a:extLst>
          </p:cNvPr>
          <p:cNvSpPr>
            <a:spLocks noChangeArrowheads="1"/>
          </p:cNvSpPr>
          <p:nvPr/>
        </p:nvSpPr>
        <p:spPr bwMode="auto">
          <a:xfrm>
            <a:off x="5600546" y="2953364"/>
            <a:ext cx="4136808" cy="369214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grpSp>
        <p:nvGrpSpPr>
          <p:cNvPr id="68613" name="Group 37">
            <a:extLst>
              <a:ext uri="{FF2B5EF4-FFF2-40B4-BE49-F238E27FC236}">
                <a16:creationId xmlns:a16="http://schemas.microsoft.com/office/drawing/2014/main" id="{8B6585B2-3788-4EE7-9A37-75D2E7B7FA3F}"/>
              </a:ext>
            </a:extLst>
          </p:cNvPr>
          <p:cNvGrpSpPr>
            <a:grpSpLocks/>
          </p:cNvGrpSpPr>
          <p:nvPr/>
        </p:nvGrpSpPr>
        <p:grpSpPr bwMode="auto">
          <a:xfrm>
            <a:off x="6085479" y="3557341"/>
            <a:ext cx="2645247" cy="2442171"/>
            <a:chOff x="3302" y="2032"/>
            <a:chExt cx="1511" cy="1395"/>
          </a:xfrm>
        </p:grpSpPr>
        <p:sp>
          <p:nvSpPr>
            <p:cNvPr id="68616" name="AutoShape 38">
              <a:extLst>
                <a:ext uri="{FF2B5EF4-FFF2-40B4-BE49-F238E27FC236}">
                  <a16:creationId xmlns:a16="http://schemas.microsoft.com/office/drawing/2014/main" id="{3990E20D-B795-47A6-8159-4FC34E1E9081}"/>
                </a:ext>
              </a:extLst>
            </p:cNvPr>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17" name="AutoShape 39">
              <a:extLst>
                <a:ext uri="{FF2B5EF4-FFF2-40B4-BE49-F238E27FC236}">
                  <a16:creationId xmlns:a16="http://schemas.microsoft.com/office/drawing/2014/main" id="{02A2A160-CCE4-4D41-889A-7F4E9D26F111}"/>
                </a:ext>
              </a:extLst>
            </p:cNvPr>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18" name="AutoShape 40">
              <a:extLst>
                <a:ext uri="{FF2B5EF4-FFF2-40B4-BE49-F238E27FC236}">
                  <a16:creationId xmlns:a16="http://schemas.microsoft.com/office/drawing/2014/main" id="{AB8D6F1A-96DA-4672-A02F-9DE2D93D48B6}"/>
                </a:ext>
              </a:extLst>
            </p:cNvPr>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19" name="AutoShape 41">
              <a:extLst>
                <a:ext uri="{FF2B5EF4-FFF2-40B4-BE49-F238E27FC236}">
                  <a16:creationId xmlns:a16="http://schemas.microsoft.com/office/drawing/2014/main" id="{716EBF9B-075B-4576-96AD-1320E684DBA8}"/>
                </a:ext>
              </a:extLst>
            </p:cNvPr>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0" name="AutoShape 42">
              <a:extLst>
                <a:ext uri="{FF2B5EF4-FFF2-40B4-BE49-F238E27FC236}">
                  <a16:creationId xmlns:a16="http://schemas.microsoft.com/office/drawing/2014/main" id="{A06C558A-4D15-4F6B-BCBA-B1022B3938EE}"/>
                </a:ext>
              </a:extLst>
            </p:cNvPr>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1" name="AutoShape 43">
              <a:extLst>
                <a:ext uri="{FF2B5EF4-FFF2-40B4-BE49-F238E27FC236}">
                  <a16:creationId xmlns:a16="http://schemas.microsoft.com/office/drawing/2014/main" id="{7C0CF02B-0AC6-4E1E-8007-29EAAA1880F6}"/>
                </a:ext>
              </a:extLst>
            </p:cNvPr>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2" name="AutoShape 44">
              <a:extLst>
                <a:ext uri="{FF2B5EF4-FFF2-40B4-BE49-F238E27FC236}">
                  <a16:creationId xmlns:a16="http://schemas.microsoft.com/office/drawing/2014/main" id="{1584B8D1-F053-4EB3-A9A8-25A885BB2315}"/>
                </a:ext>
              </a:extLst>
            </p:cNvPr>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3" name="AutoShape 45">
              <a:extLst>
                <a:ext uri="{FF2B5EF4-FFF2-40B4-BE49-F238E27FC236}">
                  <a16:creationId xmlns:a16="http://schemas.microsoft.com/office/drawing/2014/main" id="{C6A82DFF-F3A6-4F6F-9E40-C625FDADD08F}"/>
                </a:ext>
              </a:extLst>
            </p:cNvPr>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4" name="AutoShape 46">
              <a:extLst>
                <a:ext uri="{FF2B5EF4-FFF2-40B4-BE49-F238E27FC236}">
                  <a16:creationId xmlns:a16="http://schemas.microsoft.com/office/drawing/2014/main" id="{8138EDBD-2ABE-47B3-9D45-7833DCE3928F}"/>
                </a:ext>
              </a:extLst>
            </p:cNvPr>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5" name="AutoShape 47">
              <a:extLst>
                <a:ext uri="{FF2B5EF4-FFF2-40B4-BE49-F238E27FC236}">
                  <a16:creationId xmlns:a16="http://schemas.microsoft.com/office/drawing/2014/main" id="{102C5903-3566-4700-BDDF-22C5E7280610}"/>
                </a:ext>
              </a:extLst>
            </p:cNvPr>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6" name="AutoShape 48">
              <a:extLst>
                <a:ext uri="{FF2B5EF4-FFF2-40B4-BE49-F238E27FC236}">
                  <a16:creationId xmlns:a16="http://schemas.microsoft.com/office/drawing/2014/main" id="{60C3F0C1-EE92-4E27-90CD-91EB31AE2BE7}"/>
                </a:ext>
              </a:extLst>
            </p:cNvPr>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7" name="AutoShape 49">
              <a:extLst>
                <a:ext uri="{FF2B5EF4-FFF2-40B4-BE49-F238E27FC236}">
                  <a16:creationId xmlns:a16="http://schemas.microsoft.com/office/drawing/2014/main" id="{1B86516E-BBB1-4901-B310-731969CE2809}"/>
                </a:ext>
              </a:extLst>
            </p:cNvPr>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8" name="AutoShape 50">
              <a:extLst>
                <a:ext uri="{FF2B5EF4-FFF2-40B4-BE49-F238E27FC236}">
                  <a16:creationId xmlns:a16="http://schemas.microsoft.com/office/drawing/2014/main" id="{19ADF7B3-33CF-4879-B906-649577A58D30}"/>
                </a:ext>
              </a:extLst>
            </p:cNvPr>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68629" name="Freeform 51">
              <a:extLst>
                <a:ext uri="{FF2B5EF4-FFF2-40B4-BE49-F238E27FC236}">
                  <a16:creationId xmlns:a16="http://schemas.microsoft.com/office/drawing/2014/main" id="{D76FF2C5-0FFC-4422-9026-74B379E99A5C}"/>
                </a:ext>
              </a:extLst>
            </p:cNvPr>
            <p:cNvSpPr>
              <a:spLocks/>
            </p:cNvSpPr>
            <p:nvPr/>
          </p:nvSpPr>
          <p:spPr bwMode="auto">
            <a:xfrm>
              <a:off x="4127" y="2032"/>
              <a:ext cx="686" cy="877"/>
            </a:xfrm>
            <a:custGeom>
              <a:avLst/>
              <a:gdLst>
                <a:gd name="T0" fmla="*/ 404 w 1101"/>
                <a:gd name="T1" fmla="*/ 195 h 1077"/>
                <a:gd name="T2" fmla="*/ 418 w 1101"/>
                <a:gd name="T3" fmla="*/ 322 h 1077"/>
                <a:gd name="T4" fmla="*/ 393 w 1101"/>
                <a:gd name="T5" fmla="*/ 616 h 1077"/>
                <a:gd name="T6" fmla="*/ 369 w 1101"/>
                <a:gd name="T7" fmla="*/ 690 h 1077"/>
                <a:gd name="T8" fmla="*/ 330 w 1101"/>
                <a:gd name="T9" fmla="*/ 713 h 1077"/>
                <a:gd name="T10" fmla="*/ 231 w 1101"/>
                <a:gd name="T11" fmla="*/ 690 h 1077"/>
                <a:gd name="T12" fmla="*/ 189 w 1101"/>
                <a:gd name="T13" fmla="*/ 659 h 1077"/>
                <a:gd name="T14" fmla="*/ 178 w 1101"/>
                <a:gd name="T15" fmla="*/ 653 h 1077"/>
                <a:gd name="T16" fmla="*/ 125 w 1101"/>
                <a:gd name="T17" fmla="*/ 581 h 1077"/>
                <a:gd name="T18" fmla="*/ 90 w 1101"/>
                <a:gd name="T19" fmla="*/ 533 h 1077"/>
                <a:gd name="T20" fmla="*/ 40 w 1101"/>
                <a:gd name="T21" fmla="*/ 454 h 1077"/>
                <a:gd name="T22" fmla="*/ 1 w 1101"/>
                <a:gd name="T23" fmla="*/ 298 h 1077"/>
                <a:gd name="T24" fmla="*/ 5 w 1101"/>
                <a:gd name="T25" fmla="*/ 86 h 1077"/>
                <a:gd name="T26" fmla="*/ 72 w 1101"/>
                <a:gd name="T27" fmla="*/ 14 h 1077"/>
                <a:gd name="T28" fmla="*/ 86 w 1101"/>
                <a:gd name="T29" fmla="*/ 8 h 1077"/>
                <a:gd name="T30" fmla="*/ 164 w 1101"/>
                <a:gd name="T31" fmla="*/ 20 h 1077"/>
                <a:gd name="T32" fmla="*/ 224 w 1101"/>
                <a:gd name="T33" fmla="*/ 68 h 1077"/>
                <a:gd name="T34" fmla="*/ 270 w 1101"/>
                <a:gd name="T35" fmla="*/ 116 h 1077"/>
                <a:gd name="T36" fmla="*/ 298 w 1101"/>
                <a:gd name="T37" fmla="*/ 134 h 1077"/>
                <a:gd name="T38" fmla="*/ 404 w 1101"/>
                <a:gd name="T39" fmla="*/ 195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68630" name="Freeform 52">
              <a:extLst>
                <a:ext uri="{FF2B5EF4-FFF2-40B4-BE49-F238E27FC236}">
                  <a16:creationId xmlns:a16="http://schemas.microsoft.com/office/drawing/2014/main" id="{9B607A55-4614-4CBB-AA77-DED82BD3BD2F}"/>
                </a:ext>
              </a:extLst>
            </p:cNvPr>
            <p:cNvSpPr>
              <a:spLocks/>
            </p:cNvSpPr>
            <p:nvPr/>
          </p:nvSpPr>
          <p:spPr bwMode="auto">
            <a:xfrm>
              <a:off x="3812" y="2642"/>
              <a:ext cx="573" cy="785"/>
            </a:xfrm>
            <a:custGeom>
              <a:avLst/>
              <a:gdLst>
                <a:gd name="T0" fmla="*/ 89 w 918"/>
                <a:gd name="T1" fmla="*/ 541 h 965"/>
                <a:gd name="T2" fmla="*/ 74 w 918"/>
                <a:gd name="T3" fmla="*/ 517 h 965"/>
                <a:gd name="T4" fmla="*/ 46 w 918"/>
                <a:gd name="T5" fmla="*/ 488 h 965"/>
                <a:gd name="T6" fmla="*/ 32 w 918"/>
                <a:gd name="T7" fmla="*/ 463 h 965"/>
                <a:gd name="T8" fmla="*/ 17 w 918"/>
                <a:gd name="T9" fmla="*/ 428 h 965"/>
                <a:gd name="T10" fmla="*/ 0 w 918"/>
                <a:gd name="T11" fmla="*/ 307 h 965"/>
                <a:gd name="T12" fmla="*/ 4 w 918"/>
                <a:gd name="T13" fmla="*/ 133 h 965"/>
                <a:gd name="T14" fmla="*/ 32 w 918"/>
                <a:gd name="T15" fmla="*/ 90 h 965"/>
                <a:gd name="T16" fmla="*/ 114 w 918"/>
                <a:gd name="T17" fmla="*/ 0 h 965"/>
                <a:gd name="T18" fmla="*/ 152 w 918"/>
                <a:gd name="T19" fmla="*/ 12 h 965"/>
                <a:gd name="T20" fmla="*/ 191 w 918"/>
                <a:gd name="T21" fmla="*/ 37 h 965"/>
                <a:gd name="T22" fmla="*/ 269 w 918"/>
                <a:gd name="T23" fmla="*/ 108 h 965"/>
                <a:gd name="T24" fmla="*/ 280 w 918"/>
                <a:gd name="T25" fmla="*/ 144 h 965"/>
                <a:gd name="T26" fmla="*/ 290 w 918"/>
                <a:gd name="T27" fmla="*/ 163 h 965"/>
                <a:gd name="T28" fmla="*/ 315 w 918"/>
                <a:gd name="T29" fmla="*/ 229 h 965"/>
                <a:gd name="T30" fmla="*/ 329 w 918"/>
                <a:gd name="T31" fmla="*/ 282 h 965"/>
                <a:gd name="T32" fmla="*/ 336 w 918"/>
                <a:gd name="T33" fmla="*/ 342 h 965"/>
                <a:gd name="T34" fmla="*/ 347 w 918"/>
                <a:gd name="T35" fmla="*/ 403 h 965"/>
                <a:gd name="T36" fmla="*/ 358 w 918"/>
                <a:gd name="T37" fmla="*/ 512 h 965"/>
                <a:gd name="T38" fmla="*/ 322 w 918"/>
                <a:gd name="T39" fmla="*/ 613 h 965"/>
                <a:gd name="T40" fmla="*/ 294 w 918"/>
                <a:gd name="T41" fmla="*/ 626 h 965"/>
                <a:gd name="T42" fmla="*/ 280 w 918"/>
                <a:gd name="T43" fmla="*/ 632 h 965"/>
                <a:gd name="T44" fmla="*/ 138 w 918"/>
                <a:gd name="T45" fmla="*/ 620 h 965"/>
                <a:gd name="T46" fmla="*/ 96 w 918"/>
                <a:gd name="T47" fmla="*/ 572 h 965"/>
                <a:gd name="T48" fmla="*/ 89 w 918"/>
                <a:gd name="T49" fmla="*/ 541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68631" name="Freeform 53">
              <a:extLst>
                <a:ext uri="{FF2B5EF4-FFF2-40B4-BE49-F238E27FC236}">
                  <a16:creationId xmlns:a16="http://schemas.microsoft.com/office/drawing/2014/main" id="{A13D9E66-3129-44B0-B3B0-9F653581125E}"/>
                </a:ext>
              </a:extLst>
            </p:cNvPr>
            <p:cNvSpPr>
              <a:spLocks/>
            </p:cNvSpPr>
            <p:nvPr/>
          </p:nvSpPr>
          <p:spPr bwMode="auto">
            <a:xfrm>
              <a:off x="3302" y="2065"/>
              <a:ext cx="542" cy="954"/>
            </a:xfrm>
            <a:custGeom>
              <a:avLst/>
              <a:gdLst>
                <a:gd name="T0" fmla="*/ 293 w 869"/>
                <a:gd name="T1" fmla="*/ 523 h 1173"/>
                <a:gd name="T2" fmla="*/ 272 w 869"/>
                <a:gd name="T3" fmla="*/ 625 h 1173"/>
                <a:gd name="T4" fmla="*/ 254 w 869"/>
                <a:gd name="T5" fmla="*/ 716 h 1173"/>
                <a:gd name="T6" fmla="*/ 248 w 869"/>
                <a:gd name="T7" fmla="*/ 751 h 1173"/>
                <a:gd name="T8" fmla="*/ 240 w 869"/>
                <a:gd name="T9" fmla="*/ 764 h 1173"/>
                <a:gd name="T10" fmla="*/ 219 w 869"/>
                <a:gd name="T11" fmla="*/ 776 h 1173"/>
                <a:gd name="T12" fmla="*/ 113 w 869"/>
                <a:gd name="T13" fmla="*/ 757 h 1173"/>
                <a:gd name="T14" fmla="*/ 49 w 869"/>
                <a:gd name="T15" fmla="*/ 710 h 1173"/>
                <a:gd name="T16" fmla="*/ 14 w 869"/>
                <a:gd name="T17" fmla="*/ 668 h 1173"/>
                <a:gd name="T18" fmla="*/ 0 w 869"/>
                <a:gd name="T19" fmla="*/ 632 h 1173"/>
                <a:gd name="T20" fmla="*/ 32 w 869"/>
                <a:gd name="T21" fmla="*/ 331 h 1173"/>
                <a:gd name="T22" fmla="*/ 42 w 869"/>
                <a:gd name="T23" fmla="*/ 156 h 1173"/>
                <a:gd name="T24" fmla="*/ 60 w 869"/>
                <a:gd name="T25" fmla="*/ 108 h 1173"/>
                <a:gd name="T26" fmla="*/ 78 w 869"/>
                <a:gd name="T27" fmla="*/ 90 h 1173"/>
                <a:gd name="T28" fmla="*/ 120 w 869"/>
                <a:gd name="T29" fmla="*/ 48 h 1173"/>
                <a:gd name="T30" fmla="*/ 138 w 869"/>
                <a:gd name="T31" fmla="*/ 30 h 1173"/>
                <a:gd name="T32" fmla="*/ 166 w 869"/>
                <a:gd name="T33" fmla="*/ 0 h 1173"/>
                <a:gd name="T34" fmla="*/ 276 w 869"/>
                <a:gd name="T35" fmla="*/ 54 h 1173"/>
                <a:gd name="T36" fmla="*/ 315 w 869"/>
                <a:gd name="T37" fmla="*/ 133 h 1173"/>
                <a:gd name="T38" fmla="*/ 329 w 869"/>
                <a:gd name="T39" fmla="*/ 168 h 1173"/>
                <a:gd name="T40" fmla="*/ 336 w 869"/>
                <a:gd name="T41" fmla="*/ 204 h 1173"/>
                <a:gd name="T42" fmla="*/ 307 w 869"/>
                <a:gd name="T43" fmla="*/ 469 h 1173"/>
                <a:gd name="T44" fmla="*/ 293 w 869"/>
                <a:gd name="T45" fmla="*/ 5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sp>
        <p:nvSpPr>
          <p:cNvPr id="68614" name="Text Box 54">
            <a:extLst>
              <a:ext uri="{FF2B5EF4-FFF2-40B4-BE49-F238E27FC236}">
                <a16:creationId xmlns:a16="http://schemas.microsoft.com/office/drawing/2014/main" id="{46B6D6F9-EBE8-4691-ABBC-4CC96B53F391}"/>
              </a:ext>
            </a:extLst>
          </p:cNvPr>
          <p:cNvSpPr txBox="1">
            <a:spLocks noChangeArrowheads="1"/>
          </p:cNvSpPr>
          <p:nvPr/>
        </p:nvSpPr>
        <p:spPr bwMode="auto">
          <a:xfrm>
            <a:off x="1918909" y="2092039"/>
            <a:ext cx="1617751"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Raw Data </a:t>
            </a:r>
          </a:p>
        </p:txBody>
      </p:sp>
      <p:sp>
        <p:nvSpPr>
          <p:cNvPr id="68615" name="Text Box 55">
            <a:extLst>
              <a:ext uri="{FF2B5EF4-FFF2-40B4-BE49-F238E27FC236}">
                <a16:creationId xmlns:a16="http://schemas.microsoft.com/office/drawing/2014/main" id="{2EF39AFF-E4CD-4F9D-905A-D91B5992D00E}"/>
              </a:ext>
            </a:extLst>
          </p:cNvPr>
          <p:cNvSpPr txBox="1">
            <a:spLocks noChangeArrowheads="1"/>
          </p:cNvSpPr>
          <p:nvPr/>
        </p:nvSpPr>
        <p:spPr bwMode="auto">
          <a:xfrm>
            <a:off x="5866646" y="2029016"/>
            <a:ext cx="3631122"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47"/>
              <a:t>Cluster/Stratified Sample</a:t>
            </a:r>
          </a:p>
        </p:txBody>
      </p:sp>
    </p:spTree>
  </p:cSld>
  <p:clrMapOvr>
    <a:masterClrMapping/>
  </p:clrMapOvr>
  <p:transition>
    <p:checker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6D4F46A-B2BA-4828-A5C2-22D43B256C13}"/>
              </a:ext>
            </a:extLst>
          </p:cNvPr>
          <p:cNvSpPr>
            <a:spLocks noGrp="1" noChangeArrowheads="1"/>
          </p:cNvSpPr>
          <p:nvPr>
            <p:ph type="title"/>
          </p:nvPr>
        </p:nvSpPr>
        <p:spPr>
          <a:xfrm>
            <a:off x="1985433" y="420158"/>
            <a:ext cx="8067040" cy="814518"/>
          </a:xfrm>
        </p:spPr>
        <p:txBody>
          <a:bodyPr/>
          <a:lstStyle/>
          <a:p>
            <a:pPr eaLnBrk="1" hangingPunct="1"/>
            <a:r>
              <a:rPr lang="en-US" altLang="en-US" sz="5293">
                <a:solidFill>
                  <a:schemeClr val="accent2"/>
                </a:solidFill>
              </a:rPr>
              <a:t>Hierarchical Reduction</a:t>
            </a:r>
          </a:p>
        </p:txBody>
      </p:sp>
      <p:sp>
        <p:nvSpPr>
          <p:cNvPr id="70659" name="Rectangle 3">
            <a:extLst>
              <a:ext uri="{FF2B5EF4-FFF2-40B4-BE49-F238E27FC236}">
                <a16:creationId xmlns:a16="http://schemas.microsoft.com/office/drawing/2014/main" id="{6F61EE6B-5A8A-4DDC-9472-71BBCA887F67}"/>
              </a:ext>
            </a:extLst>
          </p:cNvPr>
          <p:cNvSpPr>
            <a:spLocks noChangeArrowheads="1"/>
          </p:cNvSpPr>
          <p:nvPr>
            <p:ph type="body" idx="1"/>
          </p:nvPr>
        </p:nvSpPr>
        <p:spPr>
          <a:xfrm>
            <a:off x="724958" y="1764665"/>
            <a:ext cx="9327515" cy="5254644"/>
          </a:xfrm>
        </p:spPr>
        <p:txBody>
          <a:bodyPr/>
          <a:lstStyle/>
          <a:p>
            <a:pPr eaLnBrk="1" hangingPunct="1">
              <a:lnSpc>
                <a:spcPct val="90000"/>
              </a:lnSpc>
            </a:pPr>
            <a:r>
              <a:rPr lang="en-US" altLang="en-US" sz="3088"/>
              <a:t>Use multi-resolution structure with different degrees of reduction</a:t>
            </a:r>
          </a:p>
          <a:p>
            <a:pPr eaLnBrk="1" hangingPunct="1">
              <a:lnSpc>
                <a:spcPct val="90000"/>
              </a:lnSpc>
            </a:pPr>
            <a:r>
              <a:rPr lang="en-US" altLang="en-US" sz="3088"/>
              <a:t>Hierarchical clustering is often performed but tends to define partitions of data sets rather than “clusters”</a:t>
            </a:r>
          </a:p>
          <a:p>
            <a:pPr eaLnBrk="1" hangingPunct="1">
              <a:lnSpc>
                <a:spcPct val="90000"/>
              </a:lnSpc>
            </a:pPr>
            <a:r>
              <a:rPr lang="en-US" altLang="en-US" sz="3088"/>
              <a:t>Parametric methods are usually not amenable to hierarchical representation</a:t>
            </a:r>
          </a:p>
          <a:p>
            <a:pPr eaLnBrk="1" hangingPunct="1">
              <a:lnSpc>
                <a:spcPct val="90000"/>
              </a:lnSpc>
            </a:pPr>
            <a:r>
              <a:rPr lang="en-US" altLang="en-US" sz="3088"/>
              <a:t>Hierarchical aggregation </a:t>
            </a:r>
          </a:p>
          <a:p>
            <a:pPr lvl="1" eaLnBrk="1" hangingPunct="1">
              <a:lnSpc>
                <a:spcPct val="90000"/>
              </a:lnSpc>
            </a:pPr>
            <a:r>
              <a:rPr lang="en-US" altLang="en-US" sz="2647"/>
              <a:t>An index tree hierarchically divides a data set into partitions by value range of some attributes</a:t>
            </a:r>
          </a:p>
          <a:p>
            <a:pPr lvl="1" eaLnBrk="1" hangingPunct="1">
              <a:lnSpc>
                <a:spcPct val="90000"/>
              </a:lnSpc>
            </a:pPr>
            <a:r>
              <a:rPr lang="en-US" altLang="en-US" sz="2647"/>
              <a:t>Each partition can be considered as a bucket</a:t>
            </a:r>
          </a:p>
          <a:p>
            <a:pPr lvl="1" eaLnBrk="1" hangingPunct="1">
              <a:lnSpc>
                <a:spcPct val="90000"/>
              </a:lnSpc>
            </a:pPr>
            <a:r>
              <a:rPr lang="en-US" altLang="en-US" sz="2647"/>
              <a:t>Thus an index tree with aggregates stored at each node is a hierarchical histogram</a:t>
            </a:r>
          </a:p>
        </p:txBody>
      </p:sp>
    </p:spTree>
  </p:cSld>
  <p:clrMapOvr>
    <a:masterClrMapping/>
  </p:clrMapOvr>
  <p:transition>
    <p:checke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EDD9322-B430-43DD-988C-DFAF97B05121}"/>
              </a:ext>
            </a:extLst>
          </p:cNvPr>
          <p:cNvSpPr>
            <a:spLocks noGrp="1" noChangeArrowheads="1"/>
          </p:cNvSpPr>
          <p:nvPr>
            <p:ph type="title"/>
          </p:nvPr>
        </p:nvSpPr>
        <p:spPr>
          <a:xfrm>
            <a:off x="1061085" y="336127"/>
            <a:ext cx="8571230" cy="492443"/>
          </a:xfrm>
        </p:spPr>
        <p:txBody>
          <a:bodyPr/>
          <a:lstStyle/>
          <a:p>
            <a:pPr eaLnBrk="1" hangingPunct="1"/>
            <a:r>
              <a:rPr lang="en-US" altLang="en-US">
                <a:solidFill>
                  <a:schemeClr val="accent2"/>
                </a:solidFill>
              </a:rPr>
              <a:t>Discretization/Quantization</a:t>
            </a:r>
          </a:p>
        </p:txBody>
      </p:sp>
      <p:sp>
        <p:nvSpPr>
          <p:cNvPr id="72707" name="Rectangle 3">
            <a:extLst>
              <a:ext uri="{FF2B5EF4-FFF2-40B4-BE49-F238E27FC236}">
                <a16:creationId xmlns:a16="http://schemas.microsoft.com/office/drawing/2014/main" id="{F0409896-FAFC-428B-A044-804958B6451A}"/>
              </a:ext>
            </a:extLst>
          </p:cNvPr>
          <p:cNvSpPr>
            <a:spLocks noGrp="1" noChangeArrowheads="1"/>
          </p:cNvSpPr>
          <p:nvPr>
            <p:ph type="body" idx="1"/>
          </p:nvPr>
        </p:nvSpPr>
        <p:spPr>
          <a:xfrm>
            <a:off x="893022" y="1260475"/>
            <a:ext cx="9012396" cy="5621667"/>
          </a:xfrm>
        </p:spPr>
        <p:txBody>
          <a:bodyPr/>
          <a:lstStyle/>
          <a:p>
            <a:pPr eaLnBrk="1" hangingPunct="1">
              <a:lnSpc>
                <a:spcPct val="90000"/>
              </a:lnSpc>
            </a:pPr>
            <a:r>
              <a:rPr lang="en-US" altLang="en-US" sz="3088" dirty="0">
                <a:solidFill>
                  <a:srgbClr val="CC3300"/>
                </a:solidFill>
              </a:rPr>
              <a:t>Three types of attributes:</a:t>
            </a:r>
          </a:p>
          <a:p>
            <a:pPr lvl="1" eaLnBrk="1" hangingPunct="1">
              <a:lnSpc>
                <a:spcPct val="90000"/>
              </a:lnSpc>
            </a:pPr>
            <a:r>
              <a:rPr lang="en-US" altLang="en-US" sz="2647" dirty="0"/>
              <a:t>Nominal </a:t>
            </a:r>
            <a:r>
              <a:rPr lang="en-US" altLang="en-US" sz="2647" dirty="0">
                <a:cs typeface="Tahoma" panose="020B0604030504040204" pitchFamily="34" charset="0"/>
              </a:rPr>
              <a:t>— </a:t>
            </a:r>
            <a:r>
              <a:rPr lang="en-US" altLang="en-US" sz="2647" dirty="0"/>
              <a:t>values from an unordered set</a:t>
            </a:r>
          </a:p>
          <a:p>
            <a:pPr lvl="1" eaLnBrk="1" hangingPunct="1">
              <a:lnSpc>
                <a:spcPct val="90000"/>
              </a:lnSpc>
            </a:pPr>
            <a:r>
              <a:rPr lang="en-US" altLang="en-US" sz="2647" dirty="0"/>
              <a:t>Ordinal </a:t>
            </a:r>
            <a:r>
              <a:rPr lang="en-US" altLang="en-US" sz="2647" dirty="0">
                <a:cs typeface="Tahoma" panose="020B0604030504040204" pitchFamily="34" charset="0"/>
              </a:rPr>
              <a:t>—</a:t>
            </a:r>
            <a:r>
              <a:rPr lang="en-US" altLang="en-US" sz="2647" dirty="0"/>
              <a:t> values from an ordered set</a:t>
            </a:r>
          </a:p>
          <a:p>
            <a:pPr lvl="1" eaLnBrk="1" hangingPunct="1">
              <a:lnSpc>
                <a:spcPct val="90000"/>
              </a:lnSpc>
            </a:pPr>
            <a:r>
              <a:rPr lang="en-US" altLang="en-US" sz="2647" dirty="0"/>
              <a:t>Continuous </a:t>
            </a:r>
            <a:r>
              <a:rPr lang="en-US" altLang="en-US" sz="2647" dirty="0">
                <a:cs typeface="Tahoma" panose="020B0604030504040204" pitchFamily="34" charset="0"/>
              </a:rPr>
              <a:t>—</a:t>
            </a:r>
            <a:r>
              <a:rPr lang="en-US" altLang="en-US" sz="2647" dirty="0"/>
              <a:t> real numbers</a:t>
            </a:r>
          </a:p>
          <a:p>
            <a:pPr eaLnBrk="1" hangingPunct="1">
              <a:lnSpc>
                <a:spcPct val="90000"/>
              </a:lnSpc>
            </a:pPr>
            <a:r>
              <a:rPr lang="en-US" altLang="en-US" sz="3088" dirty="0">
                <a:solidFill>
                  <a:srgbClr val="CC3300"/>
                </a:solidFill>
              </a:rPr>
              <a:t>Discretization/Quantization:</a:t>
            </a:r>
            <a:r>
              <a:rPr lang="en-US" altLang="en-US" sz="3088" dirty="0"/>
              <a:t> </a:t>
            </a:r>
          </a:p>
          <a:p>
            <a:pPr lvl="1" eaLnBrk="1" hangingPunct="1">
              <a:lnSpc>
                <a:spcPct val="90000"/>
              </a:lnSpc>
              <a:buFont typeface="Monotype Sorts" pitchFamily="2" charset="2"/>
              <a:buChar char="*"/>
            </a:pPr>
            <a:r>
              <a:rPr lang="en-US" altLang="en-US" sz="2647" dirty="0"/>
              <a:t>divide the range of a continuous attribute into intervals</a:t>
            </a:r>
          </a:p>
          <a:p>
            <a:pPr lvl="1" eaLnBrk="1" hangingPunct="1">
              <a:lnSpc>
                <a:spcPct val="90000"/>
              </a:lnSpc>
              <a:buFont typeface="Monotype Sorts" pitchFamily="2" charset="2"/>
              <a:buNone/>
            </a:pPr>
            <a:endParaRPr lang="en-US" altLang="en-US" sz="2647" dirty="0"/>
          </a:p>
          <a:p>
            <a:pPr lvl="1" eaLnBrk="1" hangingPunct="1">
              <a:lnSpc>
                <a:spcPct val="90000"/>
              </a:lnSpc>
              <a:buFont typeface="Monotype Sorts" pitchFamily="2" charset="2"/>
              <a:buNone/>
            </a:pPr>
            <a:endParaRPr lang="en-US" altLang="en-US" sz="2647" dirty="0"/>
          </a:p>
          <a:p>
            <a:pPr lvl="1" eaLnBrk="1" hangingPunct="1">
              <a:lnSpc>
                <a:spcPct val="90000"/>
              </a:lnSpc>
              <a:buFont typeface="Monotype Sorts" pitchFamily="2" charset="2"/>
              <a:buNone/>
            </a:pPr>
            <a:endParaRPr lang="en-US" altLang="en-US" sz="2647" dirty="0"/>
          </a:p>
          <a:p>
            <a:pPr lvl="1" eaLnBrk="1" hangingPunct="1">
              <a:lnSpc>
                <a:spcPct val="90000"/>
              </a:lnSpc>
            </a:pPr>
            <a:endParaRPr lang="en-US" altLang="en-US" sz="2647" dirty="0"/>
          </a:p>
          <a:p>
            <a:pPr lvl="1" eaLnBrk="1" hangingPunct="1">
              <a:lnSpc>
                <a:spcPct val="90000"/>
              </a:lnSpc>
            </a:pPr>
            <a:endParaRPr lang="en-US" altLang="en-US" sz="2647" dirty="0"/>
          </a:p>
          <a:p>
            <a:pPr lvl="1" eaLnBrk="1" hangingPunct="1">
              <a:lnSpc>
                <a:spcPct val="90000"/>
              </a:lnSpc>
            </a:pPr>
            <a:r>
              <a:rPr lang="en-US" altLang="en-US" sz="2647" dirty="0"/>
              <a:t>Some classification algorithms only accept categorical attributes.</a:t>
            </a:r>
          </a:p>
          <a:p>
            <a:pPr lvl="1" eaLnBrk="1" hangingPunct="1">
              <a:lnSpc>
                <a:spcPct val="90000"/>
              </a:lnSpc>
            </a:pPr>
            <a:r>
              <a:rPr lang="en-US" altLang="en-US" sz="2647" dirty="0"/>
              <a:t>Reduce data size by discretization</a:t>
            </a:r>
          </a:p>
          <a:p>
            <a:pPr lvl="1" eaLnBrk="1" hangingPunct="1">
              <a:lnSpc>
                <a:spcPct val="90000"/>
              </a:lnSpc>
            </a:pPr>
            <a:r>
              <a:rPr lang="en-US" altLang="en-US" sz="2647" dirty="0"/>
              <a:t>Prepare for further analysis</a:t>
            </a:r>
          </a:p>
        </p:txBody>
      </p:sp>
      <p:sp>
        <p:nvSpPr>
          <p:cNvPr id="72708" name="Line 5">
            <a:extLst>
              <a:ext uri="{FF2B5EF4-FFF2-40B4-BE49-F238E27FC236}">
                <a16:creationId xmlns:a16="http://schemas.microsoft.com/office/drawing/2014/main" id="{36B4935F-B84B-49E3-8A68-7692CEDEB6C9}"/>
              </a:ext>
            </a:extLst>
          </p:cNvPr>
          <p:cNvSpPr>
            <a:spLocks noChangeShapeType="1"/>
          </p:cNvSpPr>
          <p:nvPr/>
        </p:nvSpPr>
        <p:spPr bwMode="auto">
          <a:xfrm>
            <a:off x="2069465" y="4621742"/>
            <a:ext cx="672253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72709" name="Line 6">
            <a:extLst>
              <a:ext uri="{FF2B5EF4-FFF2-40B4-BE49-F238E27FC236}">
                <a16:creationId xmlns:a16="http://schemas.microsoft.com/office/drawing/2014/main" id="{6919C956-D3BE-40D4-819F-ECFCA4756C34}"/>
              </a:ext>
            </a:extLst>
          </p:cNvPr>
          <p:cNvSpPr>
            <a:spLocks noChangeShapeType="1"/>
          </p:cNvSpPr>
          <p:nvPr/>
        </p:nvSpPr>
        <p:spPr bwMode="auto">
          <a:xfrm>
            <a:off x="2909782" y="4537710"/>
            <a:ext cx="0" cy="16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72710" name="Line 8">
            <a:extLst>
              <a:ext uri="{FF2B5EF4-FFF2-40B4-BE49-F238E27FC236}">
                <a16:creationId xmlns:a16="http://schemas.microsoft.com/office/drawing/2014/main" id="{79C71BC8-F2CB-4522-BF33-0F31A0E18DD4}"/>
              </a:ext>
            </a:extLst>
          </p:cNvPr>
          <p:cNvSpPr>
            <a:spLocks noChangeShapeType="1"/>
          </p:cNvSpPr>
          <p:nvPr/>
        </p:nvSpPr>
        <p:spPr bwMode="auto">
          <a:xfrm>
            <a:off x="4170257" y="4537710"/>
            <a:ext cx="0" cy="16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72711" name="Line 10">
            <a:extLst>
              <a:ext uri="{FF2B5EF4-FFF2-40B4-BE49-F238E27FC236}">
                <a16:creationId xmlns:a16="http://schemas.microsoft.com/office/drawing/2014/main" id="{B63A2E0D-AE7D-4070-AE58-372B2106F11B}"/>
              </a:ext>
            </a:extLst>
          </p:cNvPr>
          <p:cNvSpPr>
            <a:spLocks noChangeShapeType="1"/>
          </p:cNvSpPr>
          <p:nvPr/>
        </p:nvSpPr>
        <p:spPr bwMode="auto">
          <a:xfrm>
            <a:off x="5094605" y="4537710"/>
            <a:ext cx="0" cy="16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72712" name="Line 11">
            <a:extLst>
              <a:ext uri="{FF2B5EF4-FFF2-40B4-BE49-F238E27FC236}">
                <a16:creationId xmlns:a16="http://schemas.microsoft.com/office/drawing/2014/main" id="{3554EF80-0227-4042-8596-990CB9E37EA0}"/>
              </a:ext>
            </a:extLst>
          </p:cNvPr>
          <p:cNvSpPr>
            <a:spLocks noChangeShapeType="1"/>
          </p:cNvSpPr>
          <p:nvPr/>
        </p:nvSpPr>
        <p:spPr bwMode="auto">
          <a:xfrm>
            <a:off x="6523143" y="4537710"/>
            <a:ext cx="0" cy="16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72713" name="Line 12">
            <a:extLst>
              <a:ext uri="{FF2B5EF4-FFF2-40B4-BE49-F238E27FC236}">
                <a16:creationId xmlns:a16="http://schemas.microsoft.com/office/drawing/2014/main" id="{C0F6D02F-03E5-4720-8036-4392489798FB}"/>
              </a:ext>
            </a:extLst>
          </p:cNvPr>
          <p:cNvSpPr>
            <a:spLocks noChangeShapeType="1"/>
          </p:cNvSpPr>
          <p:nvPr/>
        </p:nvSpPr>
        <p:spPr bwMode="auto">
          <a:xfrm>
            <a:off x="7447492" y="4537710"/>
            <a:ext cx="0" cy="16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72714" name="AutoShape 13">
            <a:extLst>
              <a:ext uri="{FF2B5EF4-FFF2-40B4-BE49-F238E27FC236}">
                <a16:creationId xmlns:a16="http://schemas.microsoft.com/office/drawing/2014/main" id="{7AA77541-A170-45F4-B37B-25CB55C04E8B}"/>
              </a:ext>
            </a:extLst>
          </p:cNvPr>
          <p:cNvSpPr>
            <a:spLocks noChangeArrowheads="1"/>
          </p:cNvSpPr>
          <p:nvPr/>
        </p:nvSpPr>
        <p:spPr bwMode="auto">
          <a:xfrm>
            <a:off x="2321560" y="4621742"/>
            <a:ext cx="168063" cy="168063"/>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72715" name="AutoShape 14">
            <a:extLst>
              <a:ext uri="{FF2B5EF4-FFF2-40B4-BE49-F238E27FC236}">
                <a16:creationId xmlns:a16="http://schemas.microsoft.com/office/drawing/2014/main" id="{2B49259A-135D-4941-BCCE-FC05BC32082F}"/>
              </a:ext>
            </a:extLst>
          </p:cNvPr>
          <p:cNvSpPr>
            <a:spLocks noChangeArrowheads="1"/>
          </p:cNvSpPr>
          <p:nvPr/>
        </p:nvSpPr>
        <p:spPr bwMode="auto">
          <a:xfrm>
            <a:off x="3498004" y="4621742"/>
            <a:ext cx="168063" cy="168063"/>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72716" name="AutoShape 16">
            <a:extLst>
              <a:ext uri="{FF2B5EF4-FFF2-40B4-BE49-F238E27FC236}">
                <a16:creationId xmlns:a16="http://schemas.microsoft.com/office/drawing/2014/main" id="{A7A2EE9A-9B69-4D84-922C-F7A96B413524}"/>
              </a:ext>
            </a:extLst>
          </p:cNvPr>
          <p:cNvSpPr>
            <a:spLocks noChangeArrowheads="1"/>
          </p:cNvSpPr>
          <p:nvPr/>
        </p:nvSpPr>
        <p:spPr bwMode="auto">
          <a:xfrm>
            <a:off x="5766859" y="4621742"/>
            <a:ext cx="168063" cy="168063"/>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72717" name="AutoShape 17">
            <a:extLst>
              <a:ext uri="{FF2B5EF4-FFF2-40B4-BE49-F238E27FC236}">
                <a16:creationId xmlns:a16="http://schemas.microsoft.com/office/drawing/2014/main" id="{6DB5F30A-789D-40CD-9D1D-112654735115}"/>
              </a:ext>
            </a:extLst>
          </p:cNvPr>
          <p:cNvSpPr>
            <a:spLocks noChangeArrowheads="1"/>
          </p:cNvSpPr>
          <p:nvPr/>
        </p:nvSpPr>
        <p:spPr bwMode="auto">
          <a:xfrm>
            <a:off x="6859270" y="4621742"/>
            <a:ext cx="168063" cy="168063"/>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72718" name="AutoShape 18">
            <a:extLst>
              <a:ext uri="{FF2B5EF4-FFF2-40B4-BE49-F238E27FC236}">
                <a16:creationId xmlns:a16="http://schemas.microsoft.com/office/drawing/2014/main" id="{5B422724-78D8-46F8-8BDA-E5EA6A6BB026}"/>
              </a:ext>
            </a:extLst>
          </p:cNvPr>
          <p:cNvSpPr>
            <a:spLocks noChangeArrowheads="1"/>
          </p:cNvSpPr>
          <p:nvPr/>
        </p:nvSpPr>
        <p:spPr bwMode="auto">
          <a:xfrm>
            <a:off x="8035714" y="4621742"/>
            <a:ext cx="168063" cy="168063"/>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72719" name="AutoShape 19">
            <a:extLst>
              <a:ext uri="{FF2B5EF4-FFF2-40B4-BE49-F238E27FC236}">
                <a16:creationId xmlns:a16="http://schemas.microsoft.com/office/drawing/2014/main" id="{9437F604-7D81-4480-A818-1C41432D028B}"/>
              </a:ext>
            </a:extLst>
          </p:cNvPr>
          <p:cNvSpPr>
            <a:spLocks noChangeArrowheads="1"/>
          </p:cNvSpPr>
          <p:nvPr/>
        </p:nvSpPr>
        <p:spPr bwMode="auto">
          <a:xfrm>
            <a:off x="4506384" y="4621742"/>
            <a:ext cx="168063" cy="168063"/>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647"/>
          </a:p>
        </p:txBody>
      </p:sp>
      <p:sp>
        <p:nvSpPr>
          <p:cNvPr id="72720" name="Text Box 20">
            <a:extLst>
              <a:ext uri="{FF2B5EF4-FFF2-40B4-BE49-F238E27FC236}">
                <a16:creationId xmlns:a16="http://schemas.microsoft.com/office/drawing/2014/main" id="{38338BAC-30E7-450C-93FF-297F3208FB5B}"/>
              </a:ext>
            </a:extLst>
          </p:cNvPr>
          <p:cNvSpPr txBox="1">
            <a:spLocks noChangeArrowheads="1"/>
          </p:cNvSpPr>
          <p:nvPr/>
        </p:nvSpPr>
        <p:spPr bwMode="auto">
          <a:xfrm>
            <a:off x="2724212" y="3995006"/>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x1</a:t>
            </a:r>
          </a:p>
        </p:txBody>
      </p:sp>
      <p:sp>
        <p:nvSpPr>
          <p:cNvPr id="72721" name="Text Box 21">
            <a:extLst>
              <a:ext uri="{FF2B5EF4-FFF2-40B4-BE49-F238E27FC236}">
                <a16:creationId xmlns:a16="http://schemas.microsoft.com/office/drawing/2014/main" id="{E6433E69-208D-4551-A1A9-9B8566228AF2}"/>
              </a:ext>
            </a:extLst>
          </p:cNvPr>
          <p:cNvSpPr txBox="1">
            <a:spLocks noChangeArrowheads="1"/>
          </p:cNvSpPr>
          <p:nvPr/>
        </p:nvSpPr>
        <p:spPr bwMode="auto">
          <a:xfrm>
            <a:off x="3900656" y="3995006"/>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x2</a:t>
            </a:r>
          </a:p>
        </p:txBody>
      </p:sp>
      <p:sp>
        <p:nvSpPr>
          <p:cNvPr id="72722" name="Text Box 22">
            <a:extLst>
              <a:ext uri="{FF2B5EF4-FFF2-40B4-BE49-F238E27FC236}">
                <a16:creationId xmlns:a16="http://schemas.microsoft.com/office/drawing/2014/main" id="{053472CA-CEF1-4DCA-AE4E-67991300BD65}"/>
              </a:ext>
            </a:extLst>
          </p:cNvPr>
          <p:cNvSpPr txBox="1">
            <a:spLocks noChangeArrowheads="1"/>
          </p:cNvSpPr>
          <p:nvPr/>
        </p:nvSpPr>
        <p:spPr bwMode="auto">
          <a:xfrm>
            <a:off x="4825004" y="3995006"/>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x3</a:t>
            </a:r>
          </a:p>
        </p:txBody>
      </p:sp>
      <p:sp>
        <p:nvSpPr>
          <p:cNvPr id="72723" name="Text Box 23">
            <a:extLst>
              <a:ext uri="{FF2B5EF4-FFF2-40B4-BE49-F238E27FC236}">
                <a16:creationId xmlns:a16="http://schemas.microsoft.com/office/drawing/2014/main" id="{7328B2F7-6D06-4F8D-89D7-6F73D3204A73}"/>
              </a:ext>
            </a:extLst>
          </p:cNvPr>
          <p:cNvSpPr txBox="1">
            <a:spLocks noChangeArrowheads="1"/>
          </p:cNvSpPr>
          <p:nvPr/>
        </p:nvSpPr>
        <p:spPr bwMode="auto">
          <a:xfrm>
            <a:off x="6253542" y="3995006"/>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x4</a:t>
            </a:r>
          </a:p>
        </p:txBody>
      </p:sp>
      <p:sp>
        <p:nvSpPr>
          <p:cNvPr id="72724" name="Text Box 24">
            <a:extLst>
              <a:ext uri="{FF2B5EF4-FFF2-40B4-BE49-F238E27FC236}">
                <a16:creationId xmlns:a16="http://schemas.microsoft.com/office/drawing/2014/main" id="{24ED82AC-FBE1-44F6-864E-C9382F9367B6}"/>
              </a:ext>
            </a:extLst>
          </p:cNvPr>
          <p:cNvSpPr txBox="1">
            <a:spLocks noChangeArrowheads="1"/>
          </p:cNvSpPr>
          <p:nvPr/>
        </p:nvSpPr>
        <p:spPr bwMode="auto">
          <a:xfrm>
            <a:off x="7261922" y="3995006"/>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x5</a:t>
            </a:r>
          </a:p>
        </p:txBody>
      </p:sp>
      <p:sp>
        <p:nvSpPr>
          <p:cNvPr id="72725" name="Text Box 25">
            <a:extLst>
              <a:ext uri="{FF2B5EF4-FFF2-40B4-BE49-F238E27FC236}">
                <a16:creationId xmlns:a16="http://schemas.microsoft.com/office/drawing/2014/main" id="{857D8ED3-46EC-4092-A81F-3111335F7074}"/>
              </a:ext>
            </a:extLst>
          </p:cNvPr>
          <p:cNvSpPr txBox="1">
            <a:spLocks noChangeArrowheads="1"/>
          </p:cNvSpPr>
          <p:nvPr/>
        </p:nvSpPr>
        <p:spPr bwMode="auto">
          <a:xfrm>
            <a:off x="2135991" y="4751291"/>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y1</a:t>
            </a:r>
          </a:p>
        </p:txBody>
      </p:sp>
      <p:sp>
        <p:nvSpPr>
          <p:cNvPr id="72726" name="Text Box 26">
            <a:extLst>
              <a:ext uri="{FF2B5EF4-FFF2-40B4-BE49-F238E27FC236}">
                <a16:creationId xmlns:a16="http://schemas.microsoft.com/office/drawing/2014/main" id="{B13C5E65-1C70-4883-B30B-79F88CDB54B4}"/>
              </a:ext>
            </a:extLst>
          </p:cNvPr>
          <p:cNvSpPr txBox="1">
            <a:spLocks noChangeArrowheads="1"/>
          </p:cNvSpPr>
          <p:nvPr/>
        </p:nvSpPr>
        <p:spPr bwMode="auto">
          <a:xfrm>
            <a:off x="3312434" y="4751291"/>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y2</a:t>
            </a:r>
          </a:p>
        </p:txBody>
      </p:sp>
      <p:sp>
        <p:nvSpPr>
          <p:cNvPr id="72727" name="Text Box 28">
            <a:extLst>
              <a:ext uri="{FF2B5EF4-FFF2-40B4-BE49-F238E27FC236}">
                <a16:creationId xmlns:a16="http://schemas.microsoft.com/office/drawing/2014/main" id="{98D4D20D-86C8-47EE-996D-04AEA2037EE2}"/>
              </a:ext>
            </a:extLst>
          </p:cNvPr>
          <p:cNvSpPr txBox="1">
            <a:spLocks noChangeArrowheads="1"/>
          </p:cNvSpPr>
          <p:nvPr/>
        </p:nvSpPr>
        <p:spPr bwMode="auto">
          <a:xfrm>
            <a:off x="4320814" y="4751291"/>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y3</a:t>
            </a:r>
          </a:p>
        </p:txBody>
      </p:sp>
      <p:sp>
        <p:nvSpPr>
          <p:cNvPr id="72728" name="Text Box 29">
            <a:extLst>
              <a:ext uri="{FF2B5EF4-FFF2-40B4-BE49-F238E27FC236}">
                <a16:creationId xmlns:a16="http://schemas.microsoft.com/office/drawing/2014/main" id="{03CCB9EE-729E-45BB-B21A-DBFC8A1CCC4D}"/>
              </a:ext>
            </a:extLst>
          </p:cNvPr>
          <p:cNvSpPr txBox="1">
            <a:spLocks noChangeArrowheads="1"/>
          </p:cNvSpPr>
          <p:nvPr/>
        </p:nvSpPr>
        <p:spPr bwMode="auto">
          <a:xfrm>
            <a:off x="5665321" y="4751291"/>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y4</a:t>
            </a:r>
          </a:p>
        </p:txBody>
      </p:sp>
      <p:sp>
        <p:nvSpPr>
          <p:cNvPr id="72729" name="Text Box 30">
            <a:extLst>
              <a:ext uri="{FF2B5EF4-FFF2-40B4-BE49-F238E27FC236}">
                <a16:creationId xmlns:a16="http://schemas.microsoft.com/office/drawing/2014/main" id="{F53B61CD-DB6A-417D-B94B-B9928BEB05B8}"/>
              </a:ext>
            </a:extLst>
          </p:cNvPr>
          <p:cNvSpPr txBox="1">
            <a:spLocks noChangeArrowheads="1"/>
          </p:cNvSpPr>
          <p:nvPr/>
        </p:nvSpPr>
        <p:spPr bwMode="auto">
          <a:xfrm>
            <a:off x="6757732" y="4751291"/>
            <a:ext cx="5245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y5</a:t>
            </a:r>
          </a:p>
        </p:txBody>
      </p:sp>
      <p:sp>
        <p:nvSpPr>
          <p:cNvPr id="72730" name="Text Box 31">
            <a:extLst>
              <a:ext uri="{FF2B5EF4-FFF2-40B4-BE49-F238E27FC236}">
                <a16:creationId xmlns:a16="http://schemas.microsoft.com/office/drawing/2014/main" id="{84BA374B-AD44-4863-A13F-768C2260DACF}"/>
              </a:ext>
            </a:extLst>
          </p:cNvPr>
          <p:cNvSpPr txBox="1">
            <a:spLocks noChangeArrowheads="1"/>
          </p:cNvSpPr>
          <p:nvPr/>
        </p:nvSpPr>
        <p:spPr bwMode="auto">
          <a:xfrm>
            <a:off x="7951682" y="4705774"/>
            <a:ext cx="539203"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47"/>
              <a:t>y6</a:t>
            </a:r>
          </a:p>
        </p:txBody>
      </p:sp>
    </p:spTree>
  </p:cSld>
  <p:clrMapOvr>
    <a:masterClrMapping/>
  </p:clrMapOvr>
  <p:transition>
    <p:checker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3D989477-93BF-4BE2-AAA3-C06A87FE4A82}"/>
              </a:ext>
            </a:extLst>
          </p:cNvPr>
          <p:cNvSpPr>
            <a:spLocks noGrp="1" noChangeArrowheads="1"/>
          </p:cNvSpPr>
          <p:nvPr>
            <p:ph type="title"/>
          </p:nvPr>
        </p:nvSpPr>
        <p:spPr>
          <a:xfrm>
            <a:off x="1061085" y="672254"/>
            <a:ext cx="9075420" cy="1357551"/>
          </a:xfrm>
        </p:spPr>
        <p:txBody>
          <a:bodyPr/>
          <a:lstStyle/>
          <a:p>
            <a:pPr eaLnBrk="1" hangingPunct="1"/>
            <a:r>
              <a:rPr lang="en-US" altLang="en-US" sz="4411">
                <a:solidFill>
                  <a:schemeClr val="accent2"/>
                </a:solidFill>
              </a:rPr>
              <a:t>Discretization and Concept Hierarchy</a:t>
            </a:r>
          </a:p>
        </p:txBody>
      </p:sp>
      <p:sp>
        <p:nvSpPr>
          <p:cNvPr id="74755" name="Rectangle 3">
            <a:extLst>
              <a:ext uri="{FF2B5EF4-FFF2-40B4-BE49-F238E27FC236}">
                <a16:creationId xmlns:a16="http://schemas.microsoft.com/office/drawing/2014/main" id="{0DD80904-CF12-4164-B6A9-AB1253A12CDE}"/>
              </a:ext>
            </a:extLst>
          </p:cNvPr>
          <p:cNvSpPr>
            <a:spLocks noGrp="1" noChangeArrowheads="1"/>
          </p:cNvSpPr>
          <p:nvPr>
            <p:ph type="body" idx="1"/>
          </p:nvPr>
        </p:nvSpPr>
        <p:spPr>
          <a:xfrm>
            <a:off x="1061085" y="2100792"/>
            <a:ext cx="8907357" cy="3711465"/>
          </a:xfrm>
        </p:spPr>
        <p:txBody>
          <a:bodyPr/>
          <a:lstStyle/>
          <a:p>
            <a:pPr eaLnBrk="1" hangingPunct="1">
              <a:lnSpc>
                <a:spcPct val="110000"/>
              </a:lnSpc>
            </a:pPr>
            <a:r>
              <a:rPr lang="en-US" altLang="en-US" sz="3088">
                <a:solidFill>
                  <a:schemeClr val="tx2"/>
                </a:solidFill>
              </a:rPr>
              <a:t>Discretization</a:t>
            </a:r>
            <a:r>
              <a:rPr lang="en-US" altLang="en-US" sz="3088"/>
              <a:t> </a:t>
            </a:r>
          </a:p>
          <a:p>
            <a:pPr lvl="1" eaLnBrk="1" hangingPunct="1">
              <a:lnSpc>
                <a:spcPct val="110000"/>
              </a:lnSpc>
            </a:pPr>
            <a:r>
              <a:rPr lang="en-US" altLang="en-US" sz="2647">
                <a:solidFill>
                  <a:schemeClr val="accent2"/>
                </a:solidFill>
              </a:rPr>
              <a:t>reduce the number of values</a:t>
            </a:r>
            <a:r>
              <a:rPr lang="en-US" altLang="en-US" sz="2647"/>
              <a:t> for a given continuous attribute by dividing the range of the attribute into intervals. Interval labels can then be used to replace actual data values.</a:t>
            </a:r>
          </a:p>
          <a:p>
            <a:pPr eaLnBrk="1" hangingPunct="1">
              <a:lnSpc>
                <a:spcPct val="110000"/>
              </a:lnSpc>
            </a:pPr>
            <a:r>
              <a:rPr lang="en-US" altLang="en-US" sz="3088">
                <a:solidFill>
                  <a:schemeClr val="tx2"/>
                </a:solidFill>
              </a:rPr>
              <a:t>Concept Hierarchies</a:t>
            </a:r>
            <a:r>
              <a:rPr lang="en-US" altLang="en-US" sz="3088"/>
              <a:t> </a:t>
            </a:r>
          </a:p>
          <a:p>
            <a:pPr lvl="1" eaLnBrk="1" hangingPunct="1">
              <a:lnSpc>
                <a:spcPct val="110000"/>
              </a:lnSpc>
            </a:pPr>
            <a:r>
              <a:rPr lang="en-US" altLang="en-US" sz="2647"/>
              <a:t>reduce the data by collecting and </a:t>
            </a:r>
            <a:r>
              <a:rPr lang="en-US" altLang="en-US" sz="2647">
                <a:solidFill>
                  <a:schemeClr val="accent2"/>
                </a:solidFill>
              </a:rPr>
              <a:t>replacing low level</a:t>
            </a:r>
            <a:r>
              <a:rPr lang="en-US" altLang="en-US" sz="2647"/>
              <a:t> </a:t>
            </a:r>
            <a:r>
              <a:rPr lang="en-US" altLang="en-US" sz="2647">
                <a:solidFill>
                  <a:schemeClr val="accent2"/>
                </a:solidFill>
              </a:rPr>
              <a:t>concepts </a:t>
            </a:r>
            <a:r>
              <a:rPr lang="en-US" altLang="en-US" sz="2647"/>
              <a:t>(such as numeric values for the attribute age) </a:t>
            </a:r>
            <a:r>
              <a:rPr lang="en-US" altLang="en-US" sz="2647">
                <a:solidFill>
                  <a:schemeClr val="accent2"/>
                </a:solidFill>
              </a:rPr>
              <a:t>by</a:t>
            </a:r>
            <a:r>
              <a:rPr lang="en-US" altLang="en-US" sz="2647"/>
              <a:t> </a:t>
            </a:r>
            <a:r>
              <a:rPr lang="en-US" altLang="en-US" sz="2647">
                <a:solidFill>
                  <a:schemeClr val="accent2"/>
                </a:solidFill>
              </a:rPr>
              <a:t>higher level concepts</a:t>
            </a:r>
            <a:r>
              <a:rPr lang="en-US" altLang="en-US" sz="2647"/>
              <a:t> (such as young, middle-aged, or senior).</a:t>
            </a:r>
          </a:p>
        </p:txBody>
      </p:sp>
    </p:spTree>
  </p:cSld>
  <p:clrMapOvr>
    <a:masterClrMapping/>
  </p:clrMapOvr>
  <p:transition>
    <p:checker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F57BD5D-E6EC-48E0-A984-CE4C9B3E0056}"/>
              </a:ext>
            </a:extLst>
          </p:cNvPr>
          <p:cNvSpPr>
            <a:spLocks noGrp="1" noChangeArrowheads="1"/>
          </p:cNvSpPr>
          <p:nvPr>
            <p:ph type="title"/>
          </p:nvPr>
        </p:nvSpPr>
        <p:spPr>
          <a:xfrm>
            <a:off x="774700" y="428625"/>
            <a:ext cx="9067800" cy="2715102"/>
          </a:xfrm>
        </p:spPr>
        <p:txBody>
          <a:bodyPr/>
          <a:lstStyle/>
          <a:p>
            <a:pPr eaLnBrk="1" hangingPunct="1"/>
            <a:r>
              <a:rPr lang="en-US" altLang="en-US" sz="4411" dirty="0">
                <a:solidFill>
                  <a:schemeClr val="accent2"/>
                </a:solidFill>
              </a:rPr>
              <a:t>Discretization and concept hierarchy generation for numeric data</a:t>
            </a:r>
          </a:p>
        </p:txBody>
      </p:sp>
      <p:sp>
        <p:nvSpPr>
          <p:cNvPr id="76803" name="Rectangle 3">
            <a:extLst>
              <a:ext uri="{FF2B5EF4-FFF2-40B4-BE49-F238E27FC236}">
                <a16:creationId xmlns:a16="http://schemas.microsoft.com/office/drawing/2014/main" id="{A5B77106-B335-4F07-96BA-223BDFAE0208}"/>
              </a:ext>
            </a:extLst>
          </p:cNvPr>
          <p:cNvSpPr>
            <a:spLocks noGrp="1" noChangeArrowheads="1"/>
          </p:cNvSpPr>
          <p:nvPr>
            <p:ph type="body" idx="1"/>
          </p:nvPr>
        </p:nvSpPr>
        <p:spPr>
          <a:xfrm>
            <a:off x="1061085" y="2714625"/>
            <a:ext cx="8571230" cy="3072892"/>
          </a:xfrm>
        </p:spPr>
        <p:txBody>
          <a:bodyPr/>
          <a:lstStyle/>
          <a:p>
            <a:pPr eaLnBrk="1" hangingPunct="1">
              <a:lnSpc>
                <a:spcPct val="170000"/>
              </a:lnSpc>
            </a:pPr>
            <a:r>
              <a:rPr lang="en-US" altLang="en-US" dirty="0"/>
              <a:t>Hierarchical and recursive decomposition using:</a:t>
            </a:r>
          </a:p>
          <a:p>
            <a:pPr lvl="1" eaLnBrk="1" hangingPunct="1">
              <a:lnSpc>
                <a:spcPct val="170000"/>
              </a:lnSpc>
            </a:pPr>
            <a:r>
              <a:rPr lang="en-US" altLang="en-US" sz="2000" dirty="0"/>
              <a:t>Binning (data smoothing)</a:t>
            </a:r>
          </a:p>
          <a:p>
            <a:pPr lvl="1" eaLnBrk="1" hangingPunct="1">
              <a:lnSpc>
                <a:spcPct val="170000"/>
              </a:lnSpc>
            </a:pPr>
            <a:r>
              <a:rPr lang="en-US" altLang="en-US" sz="2000" dirty="0"/>
              <a:t>Histogram analysis (numerosity reduction) </a:t>
            </a:r>
          </a:p>
          <a:p>
            <a:pPr lvl="1" eaLnBrk="1" hangingPunct="1">
              <a:lnSpc>
                <a:spcPct val="170000"/>
              </a:lnSpc>
            </a:pPr>
            <a:r>
              <a:rPr lang="en-US" altLang="en-US" sz="2000" dirty="0"/>
              <a:t>Clustering analysis (numerosity reduction)</a:t>
            </a:r>
          </a:p>
          <a:p>
            <a:pPr eaLnBrk="1" hangingPunct="1">
              <a:lnSpc>
                <a:spcPct val="170000"/>
              </a:lnSpc>
            </a:pPr>
            <a:r>
              <a:rPr lang="en-US" altLang="en-US" dirty="0">
                <a:solidFill>
                  <a:schemeClr val="accent2"/>
                </a:solidFill>
              </a:rPr>
              <a:t>Entropy-based discretization</a:t>
            </a:r>
          </a:p>
          <a:p>
            <a:pPr eaLnBrk="1" hangingPunct="1">
              <a:lnSpc>
                <a:spcPct val="170000"/>
              </a:lnSpc>
            </a:pPr>
            <a:r>
              <a:rPr lang="en-US" altLang="en-US" dirty="0">
                <a:solidFill>
                  <a:schemeClr val="accent2"/>
                </a:solidFill>
              </a:rPr>
              <a:t>Segmentation by natural partitioning</a:t>
            </a:r>
          </a:p>
        </p:txBody>
      </p:sp>
    </p:spTree>
  </p:cSld>
  <p:clrMapOvr>
    <a:masterClrMapping/>
  </p:clrMapOvr>
  <p:transition>
    <p:checke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8E571E9-644B-4D7E-8B58-DA0153455F4D}"/>
              </a:ext>
            </a:extLst>
          </p:cNvPr>
          <p:cNvSpPr>
            <a:spLocks noGrp="1" noChangeArrowheads="1"/>
          </p:cNvSpPr>
          <p:nvPr>
            <p:ph type="title"/>
          </p:nvPr>
        </p:nvSpPr>
        <p:spPr>
          <a:xfrm>
            <a:off x="1061085" y="252096"/>
            <a:ext cx="8571230" cy="1357551"/>
          </a:xfrm>
        </p:spPr>
        <p:txBody>
          <a:bodyPr/>
          <a:lstStyle/>
          <a:p>
            <a:pPr eaLnBrk="1" hangingPunct="1"/>
            <a:r>
              <a:rPr lang="en-US" altLang="en-US" sz="4411">
                <a:solidFill>
                  <a:schemeClr val="accent2"/>
                </a:solidFill>
              </a:rPr>
              <a:t>Segmentation by natural partitioning</a:t>
            </a:r>
          </a:p>
        </p:txBody>
      </p:sp>
      <p:sp>
        <p:nvSpPr>
          <p:cNvPr id="78851" name="Rectangle 3">
            <a:extLst>
              <a:ext uri="{FF2B5EF4-FFF2-40B4-BE49-F238E27FC236}">
                <a16:creationId xmlns:a16="http://schemas.microsoft.com/office/drawing/2014/main" id="{7EF3EDF7-B62F-4D9C-AB35-E4B12C5DA04F}"/>
              </a:ext>
            </a:extLst>
          </p:cNvPr>
          <p:cNvSpPr>
            <a:spLocks noGrp="1" noChangeArrowheads="1"/>
          </p:cNvSpPr>
          <p:nvPr>
            <p:ph type="body" idx="1"/>
          </p:nvPr>
        </p:nvSpPr>
        <p:spPr>
          <a:xfrm>
            <a:off x="556895" y="1876425"/>
            <a:ext cx="9579610" cy="4841646"/>
          </a:xfrm>
        </p:spPr>
        <p:txBody>
          <a:bodyPr/>
          <a:lstStyle/>
          <a:p>
            <a:pPr eaLnBrk="1" hangingPunct="1">
              <a:lnSpc>
                <a:spcPct val="120000"/>
              </a:lnSpc>
            </a:pPr>
            <a:r>
              <a:rPr lang="en-US" altLang="en-US" sz="2400" dirty="0">
                <a:solidFill>
                  <a:schemeClr val="tx2"/>
                </a:solidFill>
              </a:rPr>
              <a:t>3-4-5 rule can be used to segment numeric data into relatively uniform, “natural” intervals. </a:t>
            </a:r>
          </a:p>
          <a:p>
            <a:pPr eaLnBrk="1" hangingPunct="1">
              <a:lnSpc>
                <a:spcPct val="120000"/>
              </a:lnSpc>
            </a:pPr>
            <a:r>
              <a:rPr lang="en-US" altLang="en-US" sz="2400" dirty="0">
                <a:solidFill>
                  <a:schemeClr val="tx2"/>
                </a:solidFill>
              </a:rPr>
              <a:t>It </a:t>
            </a:r>
            <a:r>
              <a:rPr lang="en-US" altLang="en-US" sz="2400" dirty="0">
                <a:solidFill>
                  <a:schemeClr val="accent2"/>
                </a:solidFill>
              </a:rPr>
              <a:t>partitions</a:t>
            </a:r>
            <a:r>
              <a:rPr lang="en-US" altLang="en-US" sz="2400" dirty="0">
                <a:solidFill>
                  <a:schemeClr val="tx2"/>
                </a:solidFill>
              </a:rPr>
              <a:t> a given range </a:t>
            </a:r>
            <a:r>
              <a:rPr lang="en-US" altLang="en-US" sz="2400" dirty="0">
                <a:solidFill>
                  <a:schemeClr val="accent2"/>
                </a:solidFill>
              </a:rPr>
              <a:t>into 3,4, or 5 </a:t>
            </a:r>
            <a:r>
              <a:rPr lang="en-US" altLang="en-US" sz="2400" dirty="0" err="1">
                <a:solidFill>
                  <a:schemeClr val="accent2"/>
                </a:solidFill>
              </a:rPr>
              <a:t>equiwidth</a:t>
            </a:r>
            <a:r>
              <a:rPr lang="en-US" altLang="en-US" sz="2400" dirty="0">
                <a:solidFill>
                  <a:schemeClr val="accent2"/>
                </a:solidFill>
              </a:rPr>
              <a:t> intervals recursively</a:t>
            </a:r>
            <a:r>
              <a:rPr lang="en-US" altLang="en-US" sz="2400" dirty="0">
                <a:solidFill>
                  <a:schemeClr val="tx2"/>
                </a:solidFill>
              </a:rPr>
              <a:t> level-by-level based on the value range of the most significant digit.</a:t>
            </a:r>
          </a:p>
          <a:p>
            <a:pPr eaLnBrk="1" hangingPunct="1">
              <a:lnSpc>
                <a:spcPct val="120000"/>
              </a:lnSpc>
              <a:buFontTx/>
              <a:buNone/>
            </a:pPr>
            <a:r>
              <a:rPr lang="en-US" altLang="en-US" sz="2400" dirty="0"/>
              <a:t>* If an interval covers 3, 6, 7 or 9 distinct values at the most significant digit, partition the range into 3 </a:t>
            </a:r>
            <a:r>
              <a:rPr lang="en-US" altLang="en-US" sz="2400" dirty="0" err="1"/>
              <a:t>equi</a:t>
            </a:r>
            <a:r>
              <a:rPr lang="en-US" altLang="en-US" sz="2400" dirty="0"/>
              <a:t>-width intervals</a:t>
            </a:r>
          </a:p>
          <a:p>
            <a:pPr eaLnBrk="1" hangingPunct="1">
              <a:lnSpc>
                <a:spcPct val="120000"/>
              </a:lnSpc>
              <a:buFontTx/>
              <a:buNone/>
            </a:pPr>
            <a:r>
              <a:rPr lang="en-US" altLang="en-US" sz="2400" dirty="0"/>
              <a:t>* If it covers 2, 4, or 8 distinct values at the most significant digit, partition the range into 4 intervals</a:t>
            </a:r>
          </a:p>
          <a:p>
            <a:pPr eaLnBrk="1" hangingPunct="1">
              <a:lnSpc>
                <a:spcPct val="120000"/>
              </a:lnSpc>
              <a:buFontTx/>
              <a:buNone/>
            </a:pPr>
            <a:r>
              <a:rPr lang="en-US" altLang="en-US" sz="2400" dirty="0"/>
              <a:t>* If it covers 1, 5, or 10 distinct values at the most significant digit, partition the range into 5 intervals</a:t>
            </a:r>
          </a:p>
        </p:txBody>
      </p:sp>
    </p:spTree>
  </p:cSld>
  <p:clrMapOvr>
    <a:masterClrMapping/>
  </p:clrMapOvr>
  <p:transition>
    <p:checker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2F09C7D-5A4F-4B0A-89BB-1F2FD438D1EE}"/>
              </a:ext>
            </a:extLst>
          </p:cNvPr>
          <p:cNvSpPr>
            <a:spLocks noGrp="1" noChangeArrowheads="1"/>
          </p:cNvSpPr>
          <p:nvPr>
            <p:ph type="title"/>
          </p:nvPr>
        </p:nvSpPr>
        <p:spPr>
          <a:xfrm>
            <a:off x="977053" y="252095"/>
            <a:ext cx="8571230" cy="492443"/>
          </a:xfrm>
        </p:spPr>
        <p:txBody>
          <a:bodyPr/>
          <a:lstStyle/>
          <a:p>
            <a:pPr eaLnBrk="1" hangingPunct="1"/>
            <a:r>
              <a:rPr lang="en-US" altLang="en-US">
                <a:solidFill>
                  <a:schemeClr val="accent2"/>
                </a:solidFill>
              </a:rPr>
              <a:t>Example of 3-4-5 rule</a:t>
            </a:r>
          </a:p>
        </p:txBody>
      </p:sp>
      <p:sp>
        <p:nvSpPr>
          <p:cNvPr id="80899" name="Text Box 3">
            <a:extLst>
              <a:ext uri="{FF2B5EF4-FFF2-40B4-BE49-F238E27FC236}">
                <a16:creationId xmlns:a16="http://schemas.microsoft.com/office/drawing/2014/main" id="{F1371C31-672A-44CD-BE01-BB15ECD8A23A}"/>
              </a:ext>
            </a:extLst>
          </p:cNvPr>
          <p:cNvSpPr txBox="1">
            <a:spLocks noChangeArrowheads="1"/>
          </p:cNvSpPr>
          <p:nvPr/>
        </p:nvSpPr>
        <p:spPr bwMode="auto">
          <a:xfrm>
            <a:off x="2860764" y="3347262"/>
            <a:ext cx="184731" cy="26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103"/>
          </a:p>
        </p:txBody>
      </p:sp>
      <p:sp>
        <p:nvSpPr>
          <p:cNvPr id="80900" name="Text Box 4">
            <a:extLst>
              <a:ext uri="{FF2B5EF4-FFF2-40B4-BE49-F238E27FC236}">
                <a16:creationId xmlns:a16="http://schemas.microsoft.com/office/drawing/2014/main" id="{DC8DE6D8-E850-47C3-B137-1C3DD5620F24}"/>
              </a:ext>
            </a:extLst>
          </p:cNvPr>
          <p:cNvSpPr txBox="1">
            <a:spLocks noChangeArrowheads="1"/>
          </p:cNvSpPr>
          <p:nvPr/>
        </p:nvSpPr>
        <p:spPr bwMode="auto">
          <a:xfrm>
            <a:off x="4165005" y="4318879"/>
            <a:ext cx="1146468" cy="26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(-$4000 -$5,000)</a:t>
            </a:r>
          </a:p>
        </p:txBody>
      </p:sp>
      <p:sp>
        <p:nvSpPr>
          <p:cNvPr id="80901" name="Line 5">
            <a:extLst>
              <a:ext uri="{FF2B5EF4-FFF2-40B4-BE49-F238E27FC236}">
                <a16:creationId xmlns:a16="http://schemas.microsoft.com/office/drawing/2014/main" id="{909F6BFA-A708-4772-8FF2-C3DDE77F8E8B}"/>
              </a:ext>
            </a:extLst>
          </p:cNvPr>
          <p:cNvSpPr>
            <a:spLocks noChangeShapeType="1"/>
          </p:cNvSpPr>
          <p:nvPr/>
        </p:nvSpPr>
        <p:spPr bwMode="auto">
          <a:xfrm flipH="1">
            <a:off x="2041455" y="4567472"/>
            <a:ext cx="2689013" cy="350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02" name="Line 6">
            <a:extLst>
              <a:ext uri="{FF2B5EF4-FFF2-40B4-BE49-F238E27FC236}">
                <a16:creationId xmlns:a16="http://schemas.microsoft.com/office/drawing/2014/main" id="{DEEE1976-2BFD-4BB1-8F3D-260A2F8FC0FF}"/>
              </a:ext>
            </a:extLst>
          </p:cNvPr>
          <p:cNvSpPr>
            <a:spLocks noChangeShapeType="1"/>
          </p:cNvSpPr>
          <p:nvPr/>
        </p:nvSpPr>
        <p:spPr bwMode="auto">
          <a:xfrm>
            <a:off x="4712961" y="4567472"/>
            <a:ext cx="2816812" cy="2871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03" name="Line 7">
            <a:extLst>
              <a:ext uri="{FF2B5EF4-FFF2-40B4-BE49-F238E27FC236}">
                <a16:creationId xmlns:a16="http://schemas.microsoft.com/office/drawing/2014/main" id="{4D03DA6B-4CCE-4023-9E22-BA86EA5024D1}"/>
              </a:ext>
            </a:extLst>
          </p:cNvPr>
          <p:cNvSpPr>
            <a:spLocks noChangeShapeType="1"/>
          </p:cNvSpPr>
          <p:nvPr/>
        </p:nvSpPr>
        <p:spPr bwMode="auto">
          <a:xfrm flipH="1">
            <a:off x="3519012" y="4583227"/>
            <a:ext cx="1209706" cy="399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04" name="Line 8">
            <a:extLst>
              <a:ext uri="{FF2B5EF4-FFF2-40B4-BE49-F238E27FC236}">
                <a16:creationId xmlns:a16="http://schemas.microsoft.com/office/drawing/2014/main" id="{6A1CC25E-5954-4BA5-89D3-1AA188609099}"/>
              </a:ext>
            </a:extLst>
          </p:cNvPr>
          <p:cNvSpPr>
            <a:spLocks noChangeShapeType="1"/>
          </p:cNvSpPr>
          <p:nvPr/>
        </p:nvSpPr>
        <p:spPr bwMode="auto">
          <a:xfrm>
            <a:off x="4744473" y="4567472"/>
            <a:ext cx="1304242" cy="430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nvGrpSpPr>
          <p:cNvPr id="80905" name="Group 9">
            <a:extLst>
              <a:ext uri="{FF2B5EF4-FFF2-40B4-BE49-F238E27FC236}">
                <a16:creationId xmlns:a16="http://schemas.microsoft.com/office/drawing/2014/main" id="{9F9B7B45-67B9-4AF4-A5BA-30AC70641A6C}"/>
              </a:ext>
            </a:extLst>
          </p:cNvPr>
          <p:cNvGrpSpPr>
            <a:grpSpLocks/>
          </p:cNvGrpSpPr>
          <p:nvPr/>
        </p:nvGrpSpPr>
        <p:grpSpPr bwMode="auto">
          <a:xfrm>
            <a:off x="950794" y="5003385"/>
            <a:ext cx="1556337" cy="2405407"/>
            <a:chOff x="369" y="2858"/>
            <a:chExt cx="889" cy="1374"/>
          </a:xfrm>
        </p:grpSpPr>
        <p:sp>
          <p:nvSpPr>
            <p:cNvPr id="80962" name="Text Box 10">
              <a:extLst>
                <a:ext uri="{FF2B5EF4-FFF2-40B4-BE49-F238E27FC236}">
                  <a16:creationId xmlns:a16="http://schemas.microsoft.com/office/drawing/2014/main" id="{D5EA497C-2747-48EB-9C2B-A692CE39F39C}"/>
                </a:ext>
              </a:extLst>
            </p:cNvPr>
            <p:cNvSpPr txBox="1">
              <a:spLocks noChangeArrowheads="1"/>
            </p:cNvSpPr>
            <p:nvPr/>
          </p:nvSpPr>
          <p:spPr bwMode="auto">
            <a:xfrm>
              <a:off x="805" y="2858"/>
              <a:ext cx="453"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(-$400 - 0)</a:t>
              </a:r>
              <a:endParaRPr lang="en-US" altLang="en-US" sz="2647"/>
            </a:p>
          </p:txBody>
        </p:sp>
        <p:sp>
          <p:nvSpPr>
            <p:cNvPr id="80963" name="Line 11">
              <a:extLst>
                <a:ext uri="{FF2B5EF4-FFF2-40B4-BE49-F238E27FC236}">
                  <a16:creationId xmlns:a16="http://schemas.microsoft.com/office/drawing/2014/main" id="{4253E678-15D3-4E6B-8714-1FAE97C7AB1C}"/>
                </a:ext>
              </a:extLst>
            </p:cNvPr>
            <p:cNvSpPr>
              <a:spLocks noChangeShapeType="1"/>
            </p:cNvSpPr>
            <p:nvPr/>
          </p:nvSpPr>
          <p:spPr bwMode="auto">
            <a:xfrm flipH="1">
              <a:off x="691" y="3009"/>
              <a:ext cx="291"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64" name="Line 12">
              <a:extLst>
                <a:ext uri="{FF2B5EF4-FFF2-40B4-BE49-F238E27FC236}">
                  <a16:creationId xmlns:a16="http://schemas.microsoft.com/office/drawing/2014/main" id="{4609C43C-EDE8-4D56-AB49-89113472618D}"/>
                </a:ext>
              </a:extLst>
            </p:cNvPr>
            <p:cNvSpPr>
              <a:spLocks noChangeShapeType="1"/>
            </p:cNvSpPr>
            <p:nvPr/>
          </p:nvSpPr>
          <p:spPr bwMode="auto">
            <a:xfrm flipH="1">
              <a:off x="727" y="3000"/>
              <a:ext cx="264" cy="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65" name="Text Box 13">
              <a:extLst>
                <a:ext uri="{FF2B5EF4-FFF2-40B4-BE49-F238E27FC236}">
                  <a16:creationId xmlns:a16="http://schemas.microsoft.com/office/drawing/2014/main" id="{3BA35F80-C601-408B-BE87-EF6436A334F5}"/>
                </a:ext>
              </a:extLst>
            </p:cNvPr>
            <p:cNvSpPr txBox="1">
              <a:spLocks noChangeArrowheads="1"/>
            </p:cNvSpPr>
            <p:nvPr/>
          </p:nvSpPr>
          <p:spPr bwMode="auto">
            <a:xfrm>
              <a:off x="369" y="3103"/>
              <a:ext cx="36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(-$400 -</a:t>
              </a:r>
            </a:p>
            <a:p>
              <a:pPr>
                <a:spcBef>
                  <a:spcPct val="0"/>
                </a:spcBef>
                <a:buFontTx/>
                <a:buNone/>
              </a:pPr>
              <a:r>
                <a:rPr lang="en-US" altLang="en-US" sz="1103"/>
                <a:t> -$300)</a:t>
              </a:r>
              <a:endParaRPr lang="en-US" altLang="en-US" sz="2647"/>
            </a:p>
          </p:txBody>
        </p:sp>
        <p:sp>
          <p:nvSpPr>
            <p:cNvPr id="80966" name="Text Box 14">
              <a:extLst>
                <a:ext uri="{FF2B5EF4-FFF2-40B4-BE49-F238E27FC236}">
                  <a16:creationId xmlns:a16="http://schemas.microsoft.com/office/drawing/2014/main" id="{0896947A-1A95-45E6-9204-7DF83F4E1BA6}"/>
                </a:ext>
              </a:extLst>
            </p:cNvPr>
            <p:cNvSpPr txBox="1">
              <a:spLocks noChangeArrowheads="1"/>
            </p:cNvSpPr>
            <p:nvPr/>
          </p:nvSpPr>
          <p:spPr bwMode="auto">
            <a:xfrm>
              <a:off x="378" y="3404"/>
              <a:ext cx="38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(-$300 - </a:t>
              </a:r>
            </a:p>
            <a:p>
              <a:pPr>
                <a:spcBef>
                  <a:spcPct val="0"/>
                </a:spcBef>
                <a:buFontTx/>
                <a:buNone/>
              </a:pPr>
              <a:r>
                <a:rPr lang="en-US" altLang="en-US" sz="1103"/>
                <a:t> -$200)</a:t>
              </a:r>
              <a:endParaRPr lang="en-US" altLang="en-US" sz="2647"/>
            </a:p>
          </p:txBody>
        </p:sp>
        <p:sp>
          <p:nvSpPr>
            <p:cNvPr id="80967" name="Line 15">
              <a:extLst>
                <a:ext uri="{FF2B5EF4-FFF2-40B4-BE49-F238E27FC236}">
                  <a16:creationId xmlns:a16="http://schemas.microsoft.com/office/drawing/2014/main" id="{8408A8E5-8E5C-4DFD-B5FB-D2685854B5ED}"/>
                </a:ext>
              </a:extLst>
            </p:cNvPr>
            <p:cNvSpPr>
              <a:spLocks noChangeShapeType="1"/>
            </p:cNvSpPr>
            <p:nvPr/>
          </p:nvSpPr>
          <p:spPr bwMode="auto">
            <a:xfrm flipH="1">
              <a:off x="745" y="3000"/>
              <a:ext cx="237" cy="6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68" name="Text Box 16">
              <a:extLst>
                <a:ext uri="{FF2B5EF4-FFF2-40B4-BE49-F238E27FC236}">
                  <a16:creationId xmlns:a16="http://schemas.microsoft.com/office/drawing/2014/main" id="{2B291E52-7BCD-4687-99E2-B02FA013F4D6}"/>
                </a:ext>
              </a:extLst>
            </p:cNvPr>
            <p:cNvSpPr txBox="1">
              <a:spLocks noChangeArrowheads="1"/>
            </p:cNvSpPr>
            <p:nvPr/>
          </p:nvSpPr>
          <p:spPr bwMode="auto">
            <a:xfrm>
              <a:off x="377" y="3676"/>
              <a:ext cx="36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(-$200 -</a:t>
              </a:r>
            </a:p>
            <a:p>
              <a:pPr>
                <a:spcBef>
                  <a:spcPct val="0"/>
                </a:spcBef>
                <a:buFontTx/>
                <a:buNone/>
              </a:pPr>
              <a:r>
                <a:rPr lang="en-US" altLang="en-US" sz="1103"/>
                <a:t> -$100)</a:t>
              </a:r>
            </a:p>
          </p:txBody>
        </p:sp>
        <p:sp>
          <p:nvSpPr>
            <p:cNvPr id="80969" name="Line 17">
              <a:extLst>
                <a:ext uri="{FF2B5EF4-FFF2-40B4-BE49-F238E27FC236}">
                  <a16:creationId xmlns:a16="http://schemas.microsoft.com/office/drawing/2014/main" id="{5709E0A4-613C-4799-8A21-282DA219D919}"/>
                </a:ext>
              </a:extLst>
            </p:cNvPr>
            <p:cNvSpPr>
              <a:spLocks noChangeShapeType="1"/>
            </p:cNvSpPr>
            <p:nvPr/>
          </p:nvSpPr>
          <p:spPr bwMode="auto">
            <a:xfrm flipH="1">
              <a:off x="791" y="3009"/>
              <a:ext cx="191" cy="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70" name="Text Box 18">
              <a:extLst>
                <a:ext uri="{FF2B5EF4-FFF2-40B4-BE49-F238E27FC236}">
                  <a16:creationId xmlns:a16="http://schemas.microsoft.com/office/drawing/2014/main" id="{841BCF1D-EAA2-42CD-ADBE-361A3663FE15}"/>
                </a:ext>
              </a:extLst>
            </p:cNvPr>
            <p:cNvSpPr txBox="1">
              <a:spLocks noChangeArrowheads="1"/>
            </p:cNvSpPr>
            <p:nvPr/>
          </p:nvSpPr>
          <p:spPr bwMode="auto">
            <a:xfrm>
              <a:off x="415" y="3985"/>
              <a:ext cx="36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(-$100 -</a:t>
              </a:r>
            </a:p>
            <a:p>
              <a:pPr>
                <a:spcBef>
                  <a:spcPct val="0"/>
                </a:spcBef>
                <a:buFontTx/>
                <a:buNone/>
              </a:pPr>
              <a:r>
                <a:rPr lang="en-US" altLang="en-US" sz="1103"/>
                <a:t>  0)</a:t>
              </a:r>
            </a:p>
          </p:txBody>
        </p:sp>
      </p:grpSp>
      <p:sp>
        <p:nvSpPr>
          <p:cNvPr id="80906" name="Line 19">
            <a:extLst>
              <a:ext uri="{FF2B5EF4-FFF2-40B4-BE49-F238E27FC236}">
                <a16:creationId xmlns:a16="http://schemas.microsoft.com/office/drawing/2014/main" id="{E73D49CD-0254-49F0-8A8B-2E89FB8E2308}"/>
              </a:ext>
            </a:extLst>
          </p:cNvPr>
          <p:cNvSpPr>
            <a:spLocks noChangeShapeType="1"/>
          </p:cNvSpPr>
          <p:nvPr/>
        </p:nvSpPr>
        <p:spPr bwMode="auto">
          <a:xfrm flipH="1">
            <a:off x="3027077" y="5220467"/>
            <a:ext cx="444668" cy="12779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nvGrpSpPr>
          <p:cNvPr id="80907" name="Group 20">
            <a:extLst>
              <a:ext uri="{FF2B5EF4-FFF2-40B4-BE49-F238E27FC236}">
                <a16:creationId xmlns:a16="http://schemas.microsoft.com/office/drawing/2014/main" id="{568A7981-5C7C-406F-B9F9-7CAF65241723}"/>
              </a:ext>
            </a:extLst>
          </p:cNvPr>
          <p:cNvGrpSpPr>
            <a:grpSpLocks/>
          </p:cNvGrpSpPr>
          <p:nvPr/>
        </p:nvGrpSpPr>
        <p:grpSpPr bwMode="auto">
          <a:xfrm>
            <a:off x="2510632" y="5003387"/>
            <a:ext cx="1673632" cy="2235593"/>
            <a:chOff x="1260" y="2858"/>
            <a:chExt cx="956" cy="1277"/>
          </a:xfrm>
        </p:grpSpPr>
        <p:sp>
          <p:nvSpPr>
            <p:cNvPr id="80952" name="Text Box 21">
              <a:extLst>
                <a:ext uri="{FF2B5EF4-FFF2-40B4-BE49-F238E27FC236}">
                  <a16:creationId xmlns:a16="http://schemas.microsoft.com/office/drawing/2014/main" id="{9995EE67-E6CC-44A7-95D2-06D20C42175E}"/>
                </a:ext>
              </a:extLst>
            </p:cNvPr>
            <p:cNvSpPr txBox="1">
              <a:spLocks noChangeArrowheads="1"/>
            </p:cNvSpPr>
            <p:nvPr/>
          </p:nvSpPr>
          <p:spPr bwMode="auto">
            <a:xfrm>
              <a:off x="1615" y="2858"/>
              <a:ext cx="487"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(0 - $1,000)</a:t>
              </a:r>
              <a:endParaRPr lang="en-US" altLang="en-US" sz="2647"/>
            </a:p>
          </p:txBody>
        </p:sp>
        <p:sp>
          <p:nvSpPr>
            <p:cNvPr id="80953" name="Line 22">
              <a:extLst>
                <a:ext uri="{FF2B5EF4-FFF2-40B4-BE49-F238E27FC236}">
                  <a16:creationId xmlns:a16="http://schemas.microsoft.com/office/drawing/2014/main" id="{812B536F-F144-47BF-B1F0-793D99529C04}"/>
                </a:ext>
              </a:extLst>
            </p:cNvPr>
            <p:cNvSpPr>
              <a:spLocks noChangeShapeType="1"/>
            </p:cNvSpPr>
            <p:nvPr/>
          </p:nvSpPr>
          <p:spPr bwMode="auto">
            <a:xfrm flipH="1">
              <a:off x="1745" y="2982"/>
              <a:ext cx="73" cy="8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54" name="Text Box 23">
              <a:extLst>
                <a:ext uri="{FF2B5EF4-FFF2-40B4-BE49-F238E27FC236}">
                  <a16:creationId xmlns:a16="http://schemas.microsoft.com/office/drawing/2014/main" id="{9DAF75A2-022C-420C-9A5E-DAA527E0E01B}"/>
                </a:ext>
              </a:extLst>
            </p:cNvPr>
            <p:cNvSpPr txBox="1">
              <a:spLocks noChangeArrowheads="1"/>
            </p:cNvSpPr>
            <p:nvPr/>
          </p:nvSpPr>
          <p:spPr bwMode="auto">
            <a:xfrm>
              <a:off x="1260" y="2994"/>
              <a:ext cx="323"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(0 - </a:t>
              </a:r>
            </a:p>
            <a:p>
              <a:pPr>
                <a:spcBef>
                  <a:spcPct val="0"/>
                </a:spcBef>
                <a:buFontTx/>
                <a:buNone/>
              </a:pPr>
              <a:r>
                <a:rPr lang="en-US" altLang="en-US" sz="1103"/>
                <a:t> $200)</a:t>
              </a:r>
              <a:endParaRPr lang="en-US" altLang="en-US" sz="2647"/>
            </a:p>
          </p:txBody>
        </p:sp>
        <p:sp>
          <p:nvSpPr>
            <p:cNvPr id="80955" name="Text Box 24">
              <a:extLst>
                <a:ext uri="{FF2B5EF4-FFF2-40B4-BE49-F238E27FC236}">
                  <a16:creationId xmlns:a16="http://schemas.microsoft.com/office/drawing/2014/main" id="{4B665D4E-EF89-4425-9E1C-A04D3D956D91}"/>
                </a:ext>
              </a:extLst>
            </p:cNvPr>
            <p:cNvSpPr txBox="1">
              <a:spLocks noChangeArrowheads="1"/>
            </p:cNvSpPr>
            <p:nvPr/>
          </p:nvSpPr>
          <p:spPr bwMode="auto">
            <a:xfrm>
              <a:off x="1297" y="3249"/>
              <a:ext cx="34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($200 -</a:t>
              </a:r>
            </a:p>
            <a:p>
              <a:pPr>
                <a:spcBef>
                  <a:spcPct val="0"/>
                </a:spcBef>
                <a:buFontTx/>
                <a:buNone/>
              </a:pPr>
              <a:r>
                <a:rPr lang="en-US" altLang="en-US" sz="1103"/>
                <a:t> $400)</a:t>
              </a:r>
            </a:p>
          </p:txBody>
        </p:sp>
        <p:sp>
          <p:nvSpPr>
            <p:cNvPr id="80956" name="Rectangle 25">
              <a:extLst>
                <a:ext uri="{FF2B5EF4-FFF2-40B4-BE49-F238E27FC236}">
                  <a16:creationId xmlns:a16="http://schemas.microsoft.com/office/drawing/2014/main" id="{4C61046D-5B17-47A8-B20D-A07816444006}"/>
                </a:ext>
              </a:extLst>
            </p:cNvPr>
            <p:cNvSpPr>
              <a:spLocks noChangeArrowheads="1"/>
            </p:cNvSpPr>
            <p:nvPr/>
          </p:nvSpPr>
          <p:spPr bwMode="auto">
            <a:xfrm>
              <a:off x="1278" y="3564"/>
              <a:ext cx="34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($400 -</a:t>
              </a:r>
            </a:p>
            <a:p>
              <a:pPr>
                <a:spcBef>
                  <a:spcPct val="0"/>
                </a:spcBef>
                <a:buFontTx/>
                <a:buNone/>
              </a:pPr>
              <a:r>
                <a:rPr lang="en-US" altLang="en-US" sz="1103"/>
                <a:t> $600)</a:t>
              </a:r>
            </a:p>
          </p:txBody>
        </p:sp>
        <p:sp>
          <p:nvSpPr>
            <p:cNvPr id="80957" name="Rectangle 26">
              <a:extLst>
                <a:ext uri="{FF2B5EF4-FFF2-40B4-BE49-F238E27FC236}">
                  <a16:creationId xmlns:a16="http://schemas.microsoft.com/office/drawing/2014/main" id="{D200E0EC-5524-4882-81EC-1D44FDBD3C1F}"/>
                </a:ext>
              </a:extLst>
            </p:cNvPr>
            <p:cNvSpPr>
              <a:spLocks noChangeArrowheads="1"/>
            </p:cNvSpPr>
            <p:nvPr/>
          </p:nvSpPr>
          <p:spPr bwMode="auto">
            <a:xfrm>
              <a:off x="1442" y="3792"/>
              <a:ext cx="34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($600 -</a:t>
              </a:r>
            </a:p>
            <a:p>
              <a:pPr>
                <a:spcBef>
                  <a:spcPct val="0"/>
                </a:spcBef>
                <a:buFontTx/>
                <a:buNone/>
              </a:pPr>
              <a:r>
                <a:rPr lang="en-US" altLang="en-US" sz="1103"/>
                <a:t> $800)</a:t>
              </a:r>
            </a:p>
          </p:txBody>
        </p:sp>
        <p:sp>
          <p:nvSpPr>
            <p:cNvPr id="80958" name="Rectangle 27">
              <a:extLst>
                <a:ext uri="{FF2B5EF4-FFF2-40B4-BE49-F238E27FC236}">
                  <a16:creationId xmlns:a16="http://schemas.microsoft.com/office/drawing/2014/main" id="{0D81AE4D-C209-449D-A5C4-DC6C0D1A78B6}"/>
                </a:ext>
              </a:extLst>
            </p:cNvPr>
            <p:cNvSpPr>
              <a:spLocks noChangeArrowheads="1"/>
            </p:cNvSpPr>
            <p:nvPr/>
          </p:nvSpPr>
          <p:spPr bwMode="auto">
            <a:xfrm>
              <a:off x="1842" y="3888"/>
              <a:ext cx="374"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($800 -</a:t>
              </a:r>
            </a:p>
            <a:p>
              <a:pPr>
                <a:spcBef>
                  <a:spcPct val="0"/>
                </a:spcBef>
                <a:buFontTx/>
                <a:buNone/>
              </a:pPr>
              <a:r>
                <a:rPr lang="en-US" altLang="en-US" sz="1103"/>
                <a:t> $1,000)</a:t>
              </a:r>
            </a:p>
          </p:txBody>
        </p:sp>
        <p:sp>
          <p:nvSpPr>
            <p:cNvPr id="80959" name="Line 28">
              <a:extLst>
                <a:ext uri="{FF2B5EF4-FFF2-40B4-BE49-F238E27FC236}">
                  <a16:creationId xmlns:a16="http://schemas.microsoft.com/office/drawing/2014/main" id="{240711D6-D3A5-4874-8630-BA502C54C8D3}"/>
                </a:ext>
              </a:extLst>
            </p:cNvPr>
            <p:cNvSpPr>
              <a:spLocks noChangeShapeType="1"/>
            </p:cNvSpPr>
            <p:nvPr/>
          </p:nvSpPr>
          <p:spPr bwMode="auto">
            <a:xfrm flipH="1">
              <a:off x="1591" y="2982"/>
              <a:ext cx="209" cy="3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60" name="Line 29">
              <a:extLst>
                <a:ext uri="{FF2B5EF4-FFF2-40B4-BE49-F238E27FC236}">
                  <a16:creationId xmlns:a16="http://schemas.microsoft.com/office/drawing/2014/main" id="{0AB2B7C3-62DF-4BCE-81BA-86A7EFEE17CF}"/>
                </a:ext>
              </a:extLst>
            </p:cNvPr>
            <p:cNvSpPr>
              <a:spLocks noChangeShapeType="1"/>
            </p:cNvSpPr>
            <p:nvPr/>
          </p:nvSpPr>
          <p:spPr bwMode="auto">
            <a:xfrm flipH="1">
              <a:off x="1618" y="2982"/>
              <a:ext cx="191" cy="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61" name="Line 30">
              <a:extLst>
                <a:ext uri="{FF2B5EF4-FFF2-40B4-BE49-F238E27FC236}">
                  <a16:creationId xmlns:a16="http://schemas.microsoft.com/office/drawing/2014/main" id="{375FA791-71BB-4B0C-8167-1759DE0EDB42}"/>
                </a:ext>
              </a:extLst>
            </p:cNvPr>
            <p:cNvSpPr>
              <a:spLocks noChangeShapeType="1"/>
            </p:cNvSpPr>
            <p:nvPr/>
          </p:nvSpPr>
          <p:spPr bwMode="auto">
            <a:xfrm>
              <a:off x="1818" y="2991"/>
              <a:ext cx="182" cy="8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grpSp>
        <p:nvGrpSpPr>
          <p:cNvPr id="80908" name="Group 31">
            <a:extLst>
              <a:ext uri="{FF2B5EF4-FFF2-40B4-BE49-F238E27FC236}">
                <a16:creationId xmlns:a16="http://schemas.microsoft.com/office/drawing/2014/main" id="{43F39587-CECF-41F0-8526-198D140A796E}"/>
              </a:ext>
            </a:extLst>
          </p:cNvPr>
          <p:cNvGrpSpPr>
            <a:grpSpLocks/>
          </p:cNvGrpSpPr>
          <p:nvPr/>
        </p:nvGrpSpPr>
        <p:grpSpPr bwMode="auto">
          <a:xfrm>
            <a:off x="6997575" y="4891344"/>
            <a:ext cx="1572093" cy="1990501"/>
            <a:chOff x="3823" y="2794"/>
            <a:chExt cx="898" cy="1137"/>
          </a:xfrm>
        </p:grpSpPr>
        <p:sp>
          <p:nvSpPr>
            <p:cNvPr id="80945" name="Text Box 32">
              <a:extLst>
                <a:ext uri="{FF2B5EF4-FFF2-40B4-BE49-F238E27FC236}">
                  <a16:creationId xmlns:a16="http://schemas.microsoft.com/office/drawing/2014/main" id="{EB1D4BF3-F6E7-4607-9DA2-8C3835C5AEB0}"/>
                </a:ext>
              </a:extLst>
            </p:cNvPr>
            <p:cNvSpPr txBox="1">
              <a:spLocks noChangeArrowheads="1"/>
            </p:cNvSpPr>
            <p:nvPr/>
          </p:nvSpPr>
          <p:spPr bwMode="auto">
            <a:xfrm>
              <a:off x="4032" y="2794"/>
              <a:ext cx="689"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($2,000 - $5, 000)</a:t>
              </a:r>
            </a:p>
          </p:txBody>
        </p:sp>
        <p:sp>
          <p:nvSpPr>
            <p:cNvPr id="80946" name="Line 33">
              <a:extLst>
                <a:ext uri="{FF2B5EF4-FFF2-40B4-BE49-F238E27FC236}">
                  <a16:creationId xmlns:a16="http://schemas.microsoft.com/office/drawing/2014/main" id="{FCFB157D-FB0E-4417-A524-1D643C763D1C}"/>
                </a:ext>
              </a:extLst>
            </p:cNvPr>
            <p:cNvSpPr>
              <a:spLocks noChangeShapeType="1"/>
            </p:cNvSpPr>
            <p:nvPr/>
          </p:nvSpPr>
          <p:spPr bwMode="auto">
            <a:xfrm flipH="1">
              <a:off x="4145" y="2937"/>
              <a:ext cx="255" cy="1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47" name="Text Box 34">
              <a:extLst>
                <a:ext uri="{FF2B5EF4-FFF2-40B4-BE49-F238E27FC236}">
                  <a16:creationId xmlns:a16="http://schemas.microsoft.com/office/drawing/2014/main" id="{7288AA19-BF01-40F4-8DD4-2CFFED86BE73}"/>
                </a:ext>
              </a:extLst>
            </p:cNvPr>
            <p:cNvSpPr txBox="1">
              <a:spLocks noChangeArrowheads="1"/>
            </p:cNvSpPr>
            <p:nvPr/>
          </p:nvSpPr>
          <p:spPr bwMode="auto">
            <a:xfrm>
              <a:off x="3823" y="3131"/>
              <a:ext cx="4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($2,000 -</a:t>
              </a:r>
            </a:p>
            <a:p>
              <a:pPr>
                <a:spcBef>
                  <a:spcPct val="0"/>
                </a:spcBef>
                <a:buFontTx/>
                <a:buNone/>
              </a:pPr>
              <a:r>
                <a:rPr lang="en-US" altLang="en-US" sz="1103"/>
                <a:t> $3,000)</a:t>
              </a:r>
            </a:p>
          </p:txBody>
        </p:sp>
        <p:sp>
          <p:nvSpPr>
            <p:cNvPr id="80948" name="Text Box 35">
              <a:extLst>
                <a:ext uri="{FF2B5EF4-FFF2-40B4-BE49-F238E27FC236}">
                  <a16:creationId xmlns:a16="http://schemas.microsoft.com/office/drawing/2014/main" id="{CB14A6C3-D10E-4D31-87E1-F7D7060A01B4}"/>
                </a:ext>
              </a:extLst>
            </p:cNvPr>
            <p:cNvSpPr txBox="1">
              <a:spLocks noChangeArrowheads="1"/>
            </p:cNvSpPr>
            <p:nvPr/>
          </p:nvSpPr>
          <p:spPr bwMode="auto">
            <a:xfrm>
              <a:off x="3861" y="3458"/>
              <a:ext cx="4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($3,000 -</a:t>
              </a:r>
            </a:p>
            <a:p>
              <a:pPr>
                <a:spcBef>
                  <a:spcPct val="0"/>
                </a:spcBef>
                <a:buFontTx/>
                <a:buNone/>
              </a:pPr>
              <a:r>
                <a:rPr lang="en-US" altLang="en-US" sz="1103"/>
                <a:t> $4,000)</a:t>
              </a:r>
            </a:p>
          </p:txBody>
        </p:sp>
        <p:sp>
          <p:nvSpPr>
            <p:cNvPr id="80949" name="Rectangle 36">
              <a:extLst>
                <a:ext uri="{FF2B5EF4-FFF2-40B4-BE49-F238E27FC236}">
                  <a16:creationId xmlns:a16="http://schemas.microsoft.com/office/drawing/2014/main" id="{28993EBA-69A2-4C7E-B73C-D7365B902499}"/>
                </a:ext>
              </a:extLst>
            </p:cNvPr>
            <p:cNvSpPr>
              <a:spLocks noChangeArrowheads="1"/>
            </p:cNvSpPr>
            <p:nvPr/>
          </p:nvSpPr>
          <p:spPr bwMode="auto">
            <a:xfrm>
              <a:off x="4224" y="3684"/>
              <a:ext cx="428"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($4,000 -</a:t>
              </a:r>
            </a:p>
            <a:p>
              <a:pPr>
                <a:spcBef>
                  <a:spcPct val="0"/>
                </a:spcBef>
                <a:buFontTx/>
                <a:buNone/>
              </a:pPr>
              <a:r>
                <a:rPr lang="en-US" altLang="en-US" sz="1103"/>
                <a:t> $5,000)</a:t>
              </a:r>
            </a:p>
          </p:txBody>
        </p:sp>
        <p:sp>
          <p:nvSpPr>
            <p:cNvPr id="80950" name="Line 37">
              <a:extLst>
                <a:ext uri="{FF2B5EF4-FFF2-40B4-BE49-F238E27FC236}">
                  <a16:creationId xmlns:a16="http://schemas.microsoft.com/office/drawing/2014/main" id="{F32FAD42-8027-487C-A6EE-D395C1C8E52E}"/>
                </a:ext>
              </a:extLst>
            </p:cNvPr>
            <p:cNvSpPr>
              <a:spLocks noChangeShapeType="1"/>
            </p:cNvSpPr>
            <p:nvPr/>
          </p:nvSpPr>
          <p:spPr bwMode="auto">
            <a:xfrm flipH="1">
              <a:off x="4254" y="2937"/>
              <a:ext cx="136" cy="5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51" name="Line 38">
              <a:extLst>
                <a:ext uri="{FF2B5EF4-FFF2-40B4-BE49-F238E27FC236}">
                  <a16:creationId xmlns:a16="http://schemas.microsoft.com/office/drawing/2014/main" id="{75A642EC-23C9-47DC-AFCE-7443A1C71176}"/>
                </a:ext>
              </a:extLst>
            </p:cNvPr>
            <p:cNvSpPr>
              <a:spLocks noChangeShapeType="1"/>
            </p:cNvSpPr>
            <p:nvPr/>
          </p:nvSpPr>
          <p:spPr bwMode="auto">
            <a:xfrm>
              <a:off x="4400" y="2927"/>
              <a:ext cx="0" cy="7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grpSp>
        <p:nvGrpSpPr>
          <p:cNvPr id="80909" name="Group 39">
            <a:extLst>
              <a:ext uri="{FF2B5EF4-FFF2-40B4-BE49-F238E27FC236}">
                <a16:creationId xmlns:a16="http://schemas.microsoft.com/office/drawing/2014/main" id="{C946A477-3F4E-44A3-A752-D2F4A02CED02}"/>
              </a:ext>
            </a:extLst>
          </p:cNvPr>
          <p:cNvGrpSpPr>
            <a:grpSpLocks/>
          </p:cNvGrpSpPr>
          <p:nvPr/>
        </p:nvGrpSpPr>
        <p:grpSpPr bwMode="auto">
          <a:xfrm>
            <a:off x="4882780" y="4971874"/>
            <a:ext cx="1841695" cy="2211084"/>
            <a:chOff x="2615" y="2840"/>
            <a:chExt cx="1052" cy="1263"/>
          </a:xfrm>
        </p:grpSpPr>
        <p:sp>
          <p:nvSpPr>
            <p:cNvPr id="80934" name="Text Box 40">
              <a:extLst>
                <a:ext uri="{FF2B5EF4-FFF2-40B4-BE49-F238E27FC236}">
                  <a16:creationId xmlns:a16="http://schemas.microsoft.com/office/drawing/2014/main" id="{416B7282-EAC4-4E6F-B917-4C7E9EEADA34}"/>
                </a:ext>
              </a:extLst>
            </p:cNvPr>
            <p:cNvSpPr txBox="1">
              <a:spLocks noChangeArrowheads="1"/>
            </p:cNvSpPr>
            <p:nvPr/>
          </p:nvSpPr>
          <p:spPr bwMode="auto">
            <a:xfrm>
              <a:off x="2978" y="2840"/>
              <a:ext cx="689"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($1,000 - $2, 000)</a:t>
              </a:r>
              <a:endParaRPr lang="en-US" altLang="en-US" sz="2647"/>
            </a:p>
          </p:txBody>
        </p:sp>
        <p:sp>
          <p:nvSpPr>
            <p:cNvPr id="80935" name="Line 41">
              <a:extLst>
                <a:ext uri="{FF2B5EF4-FFF2-40B4-BE49-F238E27FC236}">
                  <a16:creationId xmlns:a16="http://schemas.microsoft.com/office/drawing/2014/main" id="{ECEF5FC8-A0F4-419E-A356-181E82CFF274}"/>
                </a:ext>
              </a:extLst>
            </p:cNvPr>
            <p:cNvSpPr>
              <a:spLocks noChangeShapeType="1"/>
            </p:cNvSpPr>
            <p:nvPr/>
          </p:nvSpPr>
          <p:spPr bwMode="auto">
            <a:xfrm flipH="1">
              <a:off x="2991" y="2955"/>
              <a:ext cx="290" cy="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36" name="Text Box 42">
              <a:extLst>
                <a:ext uri="{FF2B5EF4-FFF2-40B4-BE49-F238E27FC236}">
                  <a16:creationId xmlns:a16="http://schemas.microsoft.com/office/drawing/2014/main" id="{BC691B38-19A9-40D5-9474-419B726F94A8}"/>
                </a:ext>
              </a:extLst>
            </p:cNvPr>
            <p:cNvSpPr txBox="1">
              <a:spLocks noChangeArrowheads="1"/>
            </p:cNvSpPr>
            <p:nvPr/>
          </p:nvSpPr>
          <p:spPr bwMode="auto">
            <a:xfrm>
              <a:off x="2615" y="3040"/>
              <a:ext cx="41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($1,000 -</a:t>
              </a:r>
            </a:p>
            <a:p>
              <a:pPr>
                <a:spcBef>
                  <a:spcPct val="0"/>
                </a:spcBef>
                <a:buFontTx/>
                <a:buNone/>
              </a:pPr>
              <a:r>
                <a:rPr lang="en-US" altLang="en-US" sz="1103"/>
                <a:t> $1,200)</a:t>
              </a:r>
            </a:p>
          </p:txBody>
        </p:sp>
        <p:sp>
          <p:nvSpPr>
            <p:cNvPr id="80937" name="Line 43">
              <a:extLst>
                <a:ext uri="{FF2B5EF4-FFF2-40B4-BE49-F238E27FC236}">
                  <a16:creationId xmlns:a16="http://schemas.microsoft.com/office/drawing/2014/main" id="{DC3FE379-974A-48FF-BEA3-0D0E4061BEB1}"/>
                </a:ext>
              </a:extLst>
            </p:cNvPr>
            <p:cNvSpPr>
              <a:spLocks noChangeShapeType="1"/>
            </p:cNvSpPr>
            <p:nvPr/>
          </p:nvSpPr>
          <p:spPr bwMode="auto">
            <a:xfrm flipH="1">
              <a:off x="3054" y="2955"/>
              <a:ext cx="227" cy="3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38" name="Text Box 44">
              <a:extLst>
                <a:ext uri="{FF2B5EF4-FFF2-40B4-BE49-F238E27FC236}">
                  <a16:creationId xmlns:a16="http://schemas.microsoft.com/office/drawing/2014/main" id="{BF68CACE-0C44-460A-B0DB-D313CB8897CB}"/>
                </a:ext>
              </a:extLst>
            </p:cNvPr>
            <p:cNvSpPr txBox="1">
              <a:spLocks noChangeArrowheads="1"/>
            </p:cNvSpPr>
            <p:nvPr/>
          </p:nvSpPr>
          <p:spPr bwMode="auto">
            <a:xfrm>
              <a:off x="2641" y="3296"/>
              <a:ext cx="4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($1,200 -</a:t>
              </a:r>
            </a:p>
            <a:p>
              <a:pPr>
                <a:spcBef>
                  <a:spcPct val="0"/>
                </a:spcBef>
                <a:buFontTx/>
                <a:buNone/>
              </a:pPr>
              <a:r>
                <a:rPr lang="en-US" altLang="en-US" sz="1103"/>
                <a:t> $1,400)</a:t>
              </a:r>
            </a:p>
          </p:txBody>
        </p:sp>
        <p:sp>
          <p:nvSpPr>
            <p:cNvPr id="80939" name="Rectangle 45">
              <a:extLst>
                <a:ext uri="{FF2B5EF4-FFF2-40B4-BE49-F238E27FC236}">
                  <a16:creationId xmlns:a16="http://schemas.microsoft.com/office/drawing/2014/main" id="{FFA97DC9-6A97-497D-9074-C618745A0657}"/>
                </a:ext>
              </a:extLst>
            </p:cNvPr>
            <p:cNvSpPr>
              <a:spLocks noChangeArrowheads="1"/>
            </p:cNvSpPr>
            <p:nvPr/>
          </p:nvSpPr>
          <p:spPr bwMode="auto">
            <a:xfrm>
              <a:off x="2715" y="3555"/>
              <a:ext cx="4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($1,400 -</a:t>
              </a:r>
            </a:p>
            <a:p>
              <a:pPr>
                <a:spcBef>
                  <a:spcPct val="0"/>
                </a:spcBef>
                <a:buFontTx/>
                <a:buNone/>
              </a:pPr>
              <a:r>
                <a:rPr lang="en-US" altLang="en-US" sz="1103"/>
                <a:t> $1,600)</a:t>
              </a:r>
            </a:p>
          </p:txBody>
        </p:sp>
        <p:sp>
          <p:nvSpPr>
            <p:cNvPr id="80940" name="Rectangle 46">
              <a:extLst>
                <a:ext uri="{FF2B5EF4-FFF2-40B4-BE49-F238E27FC236}">
                  <a16:creationId xmlns:a16="http://schemas.microsoft.com/office/drawing/2014/main" id="{FD185FB7-351A-4D8D-80FE-765466BBDDAC}"/>
                </a:ext>
              </a:extLst>
            </p:cNvPr>
            <p:cNvSpPr>
              <a:spLocks noChangeArrowheads="1"/>
            </p:cNvSpPr>
            <p:nvPr/>
          </p:nvSpPr>
          <p:spPr bwMode="auto">
            <a:xfrm>
              <a:off x="2888" y="3801"/>
              <a:ext cx="4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($1,600 -</a:t>
              </a:r>
            </a:p>
            <a:p>
              <a:pPr>
                <a:spcBef>
                  <a:spcPct val="0"/>
                </a:spcBef>
                <a:buFontTx/>
                <a:buNone/>
              </a:pPr>
              <a:r>
                <a:rPr lang="en-US" altLang="en-US" sz="1103"/>
                <a:t> $1,800)</a:t>
              </a:r>
            </a:p>
          </p:txBody>
        </p:sp>
        <p:sp>
          <p:nvSpPr>
            <p:cNvPr id="80941" name="Line 47">
              <a:extLst>
                <a:ext uri="{FF2B5EF4-FFF2-40B4-BE49-F238E27FC236}">
                  <a16:creationId xmlns:a16="http://schemas.microsoft.com/office/drawing/2014/main" id="{5B935AD8-2E73-48BF-AE7C-B8E3ACB128F8}"/>
                </a:ext>
              </a:extLst>
            </p:cNvPr>
            <p:cNvSpPr>
              <a:spLocks noChangeShapeType="1"/>
            </p:cNvSpPr>
            <p:nvPr/>
          </p:nvSpPr>
          <p:spPr bwMode="auto">
            <a:xfrm flipH="1">
              <a:off x="3118" y="2964"/>
              <a:ext cx="173" cy="6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42" name="Line 48">
              <a:extLst>
                <a:ext uri="{FF2B5EF4-FFF2-40B4-BE49-F238E27FC236}">
                  <a16:creationId xmlns:a16="http://schemas.microsoft.com/office/drawing/2014/main" id="{4605EC3E-0C50-400F-BF38-5A93BB79A847}"/>
                </a:ext>
              </a:extLst>
            </p:cNvPr>
            <p:cNvSpPr>
              <a:spLocks noChangeShapeType="1"/>
            </p:cNvSpPr>
            <p:nvPr/>
          </p:nvSpPr>
          <p:spPr bwMode="auto">
            <a:xfrm flipH="1">
              <a:off x="3236" y="2955"/>
              <a:ext cx="55" cy="8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43" name="Line 49">
              <a:extLst>
                <a:ext uri="{FF2B5EF4-FFF2-40B4-BE49-F238E27FC236}">
                  <a16:creationId xmlns:a16="http://schemas.microsoft.com/office/drawing/2014/main" id="{AEB4F006-4BDB-41C1-855D-EB5EB4B7EEA9}"/>
                </a:ext>
              </a:extLst>
            </p:cNvPr>
            <p:cNvSpPr>
              <a:spLocks noChangeShapeType="1"/>
            </p:cNvSpPr>
            <p:nvPr/>
          </p:nvSpPr>
          <p:spPr bwMode="auto">
            <a:xfrm>
              <a:off x="3291" y="2964"/>
              <a:ext cx="118" cy="8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44" name="Rectangle 50">
              <a:extLst>
                <a:ext uri="{FF2B5EF4-FFF2-40B4-BE49-F238E27FC236}">
                  <a16:creationId xmlns:a16="http://schemas.microsoft.com/office/drawing/2014/main" id="{CB46E14E-8A6B-4BA5-8B28-A6C9F3C4005C}"/>
                </a:ext>
              </a:extLst>
            </p:cNvPr>
            <p:cNvSpPr>
              <a:spLocks noChangeArrowheads="1"/>
            </p:cNvSpPr>
            <p:nvPr/>
          </p:nvSpPr>
          <p:spPr bwMode="auto">
            <a:xfrm>
              <a:off x="3260" y="3856"/>
              <a:ext cx="40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($1,800 -</a:t>
              </a:r>
            </a:p>
            <a:p>
              <a:pPr>
                <a:spcBef>
                  <a:spcPct val="0"/>
                </a:spcBef>
                <a:buFontTx/>
                <a:buNone/>
              </a:pPr>
              <a:r>
                <a:rPr lang="en-US" altLang="en-US" sz="1103"/>
                <a:t> $2,000)</a:t>
              </a:r>
            </a:p>
          </p:txBody>
        </p:sp>
      </p:grpSp>
      <p:grpSp>
        <p:nvGrpSpPr>
          <p:cNvPr id="80910" name="Group 51">
            <a:extLst>
              <a:ext uri="{FF2B5EF4-FFF2-40B4-BE49-F238E27FC236}">
                <a16:creationId xmlns:a16="http://schemas.microsoft.com/office/drawing/2014/main" id="{A0679BB5-F905-447A-8B71-EF81302CC41D}"/>
              </a:ext>
            </a:extLst>
          </p:cNvPr>
          <p:cNvGrpSpPr>
            <a:grpSpLocks/>
          </p:cNvGrpSpPr>
          <p:nvPr/>
        </p:nvGrpSpPr>
        <p:grpSpPr bwMode="auto">
          <a:xfrm>
            <a:off x="791484" y="3088170"/>
            <a:ext cx="5013889" cy="267852"/>
            <a:chOff x="278" y="1764"/>
            <a:chExt cx="2864" cy="153"/>
          </a:xfrm>
        </p:grpSpPr>
        <p:sp>
          <p:nvSpPr>
            <p:cNvPr id="80932" name="Text Box 52">
              <a:extLst>
                <a:ext uri="{FF2B5EF4-FFF2-40B4-BE49-F238E27FC236}">
                  <a16:creationId xmlns:a16="http://schemas.microsoft.com/office/drawing/2014/main" id="{6E7BF38A-1AF5-4709-8935-7E01B170AF00}"/>
                </a:ext>
              </a:extLst>
            </p:cNvPr>
            <p:cNvSpPr txBox="1">
              <a:spLocks noChangeArrowheads="1"/>
            </p:cNvSpPr>
            <p:nvPr/>
          </p:nvSpPr>
          <p:spPr bwMode="auto">
            <a:xfrm>
              <a:off x="487" y="1767"/>
              <a:ext cx="2655"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                        msd=1,000	Low=-$1,000	High=$2,000</a:t>
              </a:r>
              <a:endParaRPr lang="en-US" altLang="en-US" sz="2647"/>
            </a:p>
          </p:txBody>
        </p:sp>
        <p:sp>
          <p:nvSpPr>
            <p:cNvPr id="80933" name="Rectangle 53">
              <a:extLst>
                <a:ext uri="{FF2B5EF4-FFF2-40B4-BE49-F238E27FC236}">
                  <a16:creationId xmlns:a16="http://schemas.microsoft.com/office/drawing/2014/main" id="{4641AF3A-1A2E-4DA5-B7C5-4E31A62D6EF6}"/>
                </a:ext>
              </a:extLst>
            </p:cNvPr>
            <p:cNvSpPr>
              <a:spLocks noChangeArrowheads="1"/>
            </p:cNvSpPr>
            <p:nvPr/>
          </p:nvSpPr>
          <p:spPr bwMode="auto">
            <a:xfrm>
              <a:off x="278" y="1764"/>
              <a:ext cx="333"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Step 2:</a:t>
              </a:r>
            </a:p>
          </p:txBody>
        </p:sp>
      </p:grpSp>
      <p:sp>
        <p:nvSpPr>
          <p:cNvPr id="80911" name="Rectangle 54">
            <a:extLst>
              <a:ext uri="{FF2B5EF4-FFF2-40B4-BE49-F238E27FC236}">
                <a16:creationId xmlns:a16="http://schemas.microsoft.com/office/drawing/2014/main" id="{65AEC54B-5538-46E2-BCA6-20EC7A3B0137}"/>
              </a:ext>
            </a:extLst>
          </p:cNvPr>
          <p:cNvSpPr>
            <a:spLocks noChangeArrowheads="1"/>
          </p:cNvSpPr>
          <p:nvPr/>
        </p:nvSpPr>
        <p:spPr bwMode="auto">
          <a:xfrm>
            <a:off x="822995" y="4425668"/>
            <a:ext cx="595224" cy="26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Step 4:</a:t>
            </a:r>
          </a:p>
        </p:txBody>
      </p:sp>
      <p:grpSp>
        <p:nvGrpSpPr>
          <p:cNvPr id="80912" name="Group 55">
            <a:extLst>
              <a:ext uri="{FF2B5EF4-FFF2-40B4-BE49-F238E27FC236}">
                <a16:creationId xmlns:a16="http://schemas.microsoft.com/office/drawing/2014/main" id="{19E53928-45B4-4DE6-B0D6-B44C46B194A6}"/>
              </a:ext>
            </a:extLst>
          </p:cNvPr>
          <p:cNvGrpSpPr>
            <a:grpSpLocks/>
          </p:cNvGrpSpPr>
          <p:nvPr/>
        </p:nvGrpSpPr>
        <p:grpSpPr bwMode="auto">
          <a:xfrm>
            <a:off x="791484" y="1008380"/>
            <a:ext cx="9260990" cy="2039622"/>
            <a:chOff x="278" y="867"/>
            <a:chExt cx="5021" cy="887"/>
          </a:xfrm>
        </p:grpSpPr>
        <p:sp>
          <p:nvSpPr>
            <p:cNvPr id="80922" name="Text Box 56">
              <a:extLst>
                <a:ext uri="{FF2B5EF4-FFF2-40B4-BE49-F238E27FC236}">
                  <a16:creationId xmlns:a16="http://schemas.microsoft.com/office/drawing/2014/main" id="{7D21A8B6-E0E3-4879-AEE1-A553BF2F09A8}"/>
                </a:ext>
              </a:extLst>
            </p:cNvPr>
            <p:cNvSpPr txBox="1">
              <a:spLocks noChangeArrowheads="1"/>
            </p:cNvSpPr>
            <p:nvPr/>
          </p:nvSpPr>
          <p:spPr bwMode="auto">
            <a:xfrm>
              <a:off x="278" y="1494"/>
              <a:ext cx="358" cy="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Step 1:</a:t>
              </a:r>
            </a:p>
          </p:txBody>
        </p:sp>
        <p:grpSp>
          <p:nvGrpSpPr>
            <p:cNvPr id="80923" name="Group 57">
              <a:extLst>
                <a:ext uri="{FF2B5EF4-FFF2-40B4-BE49-F238E27FC236}">
                  <a16:creationId xmlns:a16="http://schemas.microsoft.com/office/drawing/2014/main" id="{2BF64354-54EF-4B85-92F5-7CA6B889D65A}"/>
                </a:ext>
              </a:extLst>
            </p:cNvPr>
            <p:cNvGrpSpPr>
              <a:grpSpLocks/>
            </p:cNvGrpSpPr>
            <p:nvPr/>
          </p:nvGrpSpPr>
          <p:grpSpPr bwMode="auto">
            <a:xfrm>
              <a:off x="509" y="867"/>
              <a:ext cx="4790" cy="887"/>
              <a:chOff x="509" y="867"/>
              <a:chExt cx="4790" cy="887"/>
            </a:xfrm>
          </p:grpSpPr>
          <p:sp>
            <p:nvSpPr>
              <p:cNvPr id="80924" name="Freeform 58">
                <a:extLst>
                  <a:ext uri="{FF2B5EF4-FFF2-40B4-BE49-F238E27FC236}">
                    <a16:creationId xmlns:a16="http://schemas.microsoft.com/office/drawing/2014/main" id="{494716AA-60DD-4491-BC02-E41FCFFBA8A0}"/>
                  </a:ext>
                </a:extLst>
              </p:cNvPr>
              <p:cNvSpPr>
                <a:spLocks/>
              </p:cNvSpPr>
              <p:nvPr/>
            </p:nvSpPr>
            <p:spPr bwMode="auto">
              <a:xfrm>
                <a:off x="1182" y="955"/>
                <a:ext cx="2818" cy="463"/>
              </a:xfrm>
              <a:custGeom>
                <a:avLst/>
                <a:gdLst>
                  <a:gd name="T0" fmla="*/ 0 w 2818"/>
                  <a:gd name="T1" fmla="*/ 463 h 463"/>
                  <a:gd name="T2" fmla="*/ 127 w 2818"/>
                  <a:gd name="T3" fmla="*/ 427 h 463"/>
                  <a:gd name="T4" fmla="*/ 209 w 2818"/>
                  <a:gd name="T5" fmla="*/ 372 h 463"/>
                  <a:gd name="T6" fmla="*/ 281 w 2818"/>
                  <a:gd name="T7" fmla="*/ 336 h 463"/>
                  <a:gd name="T8" fmla="*/ 309 w 2818"/>
                  <a:gd name="T9" fmla="*/ 309 h 463"/>
                  <a:gd name="T10" fmla="*/ 381 w 2818"/>
                  <a:gd name="T11" fmla="*/ 272 h 463"/>
                  <a:gd name="T12" fmla="*/ 436 w 2818"/>
                  <a:gd name="T13" fmla="*/ 236 h 463"/>
                  <a:gd name="T14" fmla="*/ 509 w 2818"/>
                  <a:gd name="T15" fmla="*/ 200 h 463"/>
                  <a:gd name="T16" fmla="*/ 672 w 2818"/>
                  <a:gd name="T17" fmla="*/ 136 h 463"/>
                  <a:gd name="T18" fmla="*/ 781 w 2818"/>
                  <a:gd name="T19" fmla="*/ 72 h 463"/>
                  <a:gd name="T20" fmla="*/ 909 w 2818"/>
                  <a:gd name="T21" fmla="*/ 0 h 463"/>
                  <a:gd name="T22" fmla="*/ 1145 w 2818"/>
                  <a:gd name="T23" fmla="*/ 36 h 463"/>
                  <a:gd name="T24" fmla="*/ 1518 w 2818"/>
                  <a:gd name="T25" fmla="*/ 0 h 463"/>
                  <a:gd name="T26" fmla="*/ 1781 w 2818"/>
                  <a:gd name="T27" fmla="*/ 9 h 463"/>
                  <a:gd name="T28" fmla="*/ 1945 w 2818"/>
                  <a:gd name="T29" fmla="*/ 45 h 463"/>
                  <a:gd name="T30" fmla="*/ 2099 w 2818"/>
                  <a:gd name="T31" fmla="*/ 191 h 463"/>
                  <a:gd name="T32" fmla="*/ 2299 w 2818"/>
                  <a:gd name="T33" fmla="*/ 281 h 463"/>
                  <a:gd name="T34" fmla="*/ 2409 w 2818"/>
                  <a:gd name="T35" fmla="*/ 318 h 463"/>
                  <a:gd name="T36" fmla="*/ 2509 w 2818"/>
                  <a:gd name="T37" fmla="*/ 372 h 463"/>
                  <a:gd name="T38" fmla="*/ 2636 w 2818"/>
                  <a:gd name="T39" fmla="*/ 418 h 463"/>
                  <a:gd name="T40" fmla="*/ 2754 w 2818"/>
                  <a:gd name="T41" fmla="*/ 454 h 463"/>
                  <a:gd name="T42" fmla="*/ 2818 w 2818"/>
                  <a:gd name="T43" fmla="*/ 463 h 46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818" h="463">
                    <a:moveTo>
                      <a:pt x="0" y="463"/>
                    </a:moveTo>
                    <a:cubicBezTo>
                      <a:pt x="42" y="456"/>
                      <a:pt x="89" y="448"/>
                      <a:pt x="127" y="427"/>
                    </a:cubicBezTo>
                    <a:cubicBezTo>
                      <a:pt x="156" y="411"/>
                      <a:pt x="178" y="382"/>
                      <a:pt x="209" y="372"/>
                    </a:cubicBezTo>
                    <a:cubicBezTo>
                      <a:pt x="243" y="361"/>
                      <a:pt x="246" y="362"/>
                      <a:pt x="281" y="336"/>
                    </a:cubicBezTo>
                    <a:cubicBezTo>
                      <a:pt x="291" y="328"/>
                      <a:pt x="298" y="316"/>
                      <a:pt x="309" y="309"/>
                    </a:cubicBezTo>
                    <a:cubicBezTo>
                      <a:pt x="332" y="294"/>
                      <a:pt x="358" y="287"/>
                      <a:pt x="381" y="272"/>
                    </a:cubicBezTo>
                    <a:cubicBezTo>
                      <a:pt x="399" y="260"/>
                      <a:pt x="418" y="248"/>
                      <a:pt x="436" y="236"/>
                    </a:cubicBezTo>
                    <a:cubicBezTo>
                      <a:pt x="459" y="221"/>
                      <a:pt x="509" y="200"/>
                      <a:pt x="509" y="200"/>
                    </a:cubicBezTo>
                    <a:cubicBezTo>
                      <a:pt x="551" y="156"/>
                      <a:pt x="618" y="159"/>
                      <a:pt x="672" y="136"/>
                    </a:cubicBezTo>
                    <a:cubicBezTo>
                      <a:pt x="713" y="119"/>
                      <a:pt x="740" y="86"/>
                      <a:pt x="781" y="72"/>
                    </a:cubicBezTo>
                    <a:cubicBezTo>
                      <a:pt x="817" y="38"/>
                      <a:pt x="861" y="12"/>
                      <a:pt x="909" y="0"/>
                    </a:cubicBezTo>
                    <a:cubicBezTo>
                      <a:pt x="988" y="13"/>
                      <a:pt x="1065" y="27"/>
                      <a:pt x="1145" y="36"/>
                    </a:cubicBezTo>
                    <a:cubicBezTo>
                      <a:pt x="1284" y="31"/>
                      <a:pt x="1390" y="31"/>
                      <a:pt x="1518" y="0"/>
                    </a:cubicBezTo>
                    <a:cubicBezTo>
                      <a:pt x="1606" y="3"/>
                      <a:pt x="1693" y="4"/>
                      <a:pt x="1781" y="9"/>
                    </a:cubicBezTo>
                    <a:cubicBezTo>
                      <a:pt x="1834" y="12"/>
                      <a:pt x="1892" y="36"/>
                      <a:pt x="1945" y="45"/>
                    </a:cubicBezTo>
                    <a:cubicBezTo>
                      <a:pt x="2013" y="68"/>
                      <a:pt x="2040" y="152"/>
                      <a:pt x="2099" y="191"/>
                    </a:cubicBezTo>
                    <a:cubicBezTo>
                      <a:pt x="2167" y="236"/>
                      <a:pt x="2217" y="267"/>
                      <a:pt x="2299" y="281"/>
                    </a:cubicBezTo>
                    <a:cubicBezTo>
                      <a:pt x="2336" y="294"/>
                      <a:pt x="2372" y="306"/>
                      <a:pt x="2409" y="318"/>
                    </a:cubicBezTo>
                    <a:cubicBezTo>
                      <a:pt x="2441" y="328"/>
                      <a:pt x="2478" y="357"/>
                      <a:pt x="2509" y="372"/>
                    </a:cubicBezTo>
                    <a:cubicBezTo>
                      <a:pt x="2548" y="391"/>
                      <a:pt x="2594" y="406"/>
                      <a:pt x="2636" y="418"/>
                    </a:cubicBezTo>
                    <a:cubicBezTo>
                      <a:pt x="2675" y="430"/>
                      <a:pt x="2714" y="447"/>
                      <a:pt x="2754" y="454"/>
                    </a:cubicBezTo>
                    <a:cubicBezTo>
                      <a:pt x="2775" y="458"/>
                      <a:pt x="2818" y="463"/>
                      <a:pt x="2818" y="46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25" name="Line 59">
                <a:extLst>
                  <a:ext uri="{FF2B5EF4-FFF2-40B4-BE49-F238E27FC236}">
                    <a16:creationId xmlns:a16="http://schemas.microsoft.com/office/drawing/2014/main" id="{35975396-19A7-4106-8612-F2040525EFA3}"/>
                  </a:ext>
                </a:extLst>
              </p:cNvPr>
              <p:cNvSpPr>
                <a:spLocks noChangeShapeType="1"/>
              </p:cNvSpPr>
              <p:nvPr/>
            </p:nvSpPr>
            <p:spPr bwMode="auto">
              <a:xfrm>
                <a:off x="509" y="1427"/>
                <a:ext cx="479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26" name="Line 60">
                <a:extLst>
                  <a:ext uri="{FF2B5EF4-FFF2-40B4-BE49-F238E27FC236}">
                    <a16:creationId xmlns:a16="http://schemas.microsoft.com/office/drawing/2014/main" id="{205CFC72-FC2B-4090-AE4E-67B13138AC9B}"/>
                  </a:ext>
                </a:extLst>
              </p:cNvPr>
              <p:cNvSpPr>
                <a:spLocks noChangeShapeType="1"/>
              </p:cNvSpPr>
              <p:nvPr/>
            </p:nvSpPr>
            <p:spPr bwMode="auto">
              <a:xfrm flipV="1">
                <a:off x="1900" y="936"/>
                <a:ext cx="0" cy="5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27" name="Text Box 61">
                <a:extLst>
                  <a:ext uri="{FF2B5EF4-FFF2-40B4-BE49-F238E27FC236}">
                    <a16:creationId xmlns:a16="http://schemas.microsoft.com/office/drawing/2014/main" id="{B1F44215-DF99-46A1-B923-51546C4933E2}"/>
                  </a:ext>
                </a:extLst>
              </p:cNvPr>
              <p:cNvSpPr txBox="1">
                <a:spLocks noChangeArrowheads="1"/>
              </p:cNvSpPr>
              <p:nvPr/>
            </p:nvSpPr>
            <p:spPr bwMode="auto">
              <a:xfrm>
                <a:off x="787" y="1488"/>
                <a:ext cx="4228" cy="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         -$351	-$159		profit	             $1,838	         $4,700	</a:t>
                </a:r>
                <a:endParaRPr lang="en-US" altLang="en-US" sz="2647"/>
              </a:p>
            </p:txBody>
          </p:sp>
          <p:sp>
            <p:nvSpPr>
              <p:cNvPr id="80928" name="Text Box 62">
                <a:extLst>
                  <a:ext uri="{FF2B5EF4-FFF2-40B4-BE49-F238E27FC236}">
                    <a16:creationId xmlns:a16="http://schemas.microsoft.com/office/drawing/2014/main" id="{AED30EA8-0205-4031-B126-1E96FAD7E139}"/>
                  </a:ext>
                </a:extLst>
              </p:cNvPr>
              <p:cNvSpPr txBox="1">
                <a:spLocks noChangeArrowheads="1"/>
              </p:cNvSpPr>
              <p:nvPr/>
            </p:nvSpPr>
            <p:spPr bwMode="auto">
              <a:xfrm>
                <a:off x="832" y="1640"/>
                <a:ext cx="4094" cy="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       Min             Low (i.e, 5%-tile)		                           High(i.e, 95%-0 tile)        Max</a:t>
                </a:r>
                <a:endParaRPr lang="en-US" altLang="en-US" sz="2647"/>
              </a:p>
            </p:txBody>
          </p:sp>
          <p:sp>
            <p:nvSpPr>
              <p:cNvPr id="80929" name="Text Box 63">
                <a:extLst>
                  <a:ext uri="{FF2B5EF4-FFF2-40B4-BE49-F238E27FC236}">
                    <a16:creationId xmlns:a16="http://schemas.microsoft.com/office/drawing/2014/main" id="{60681B77-7564-4C0B-99CB-C683F44C8316}"/>
                  </a:ext>
                </a:extLst>
              </p:cNvPr>
              <p:cNvSpPr txBox="1">
                <a:spLocks noChangeArrowheads="1"/>
              </p:cNvSpPr>
              <p:nvPr/>
            </p:nvSpPr>
            <p:spPr bwMode="auto">
              <a:xfrm>
                <a:off x="1624" y="867"/>
                <a:ext cx="270" cy="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count</a:t>
                </a:r>
              </a:p>
            </p:txBody>
          </p:sp>
          <p:sp>
            <p:nvSpPr>
              <p:cNvPr id="80930" name="Line 64">
                <a:extLst>
                  <a:ext uri="{FF2B5EF4-FFF2-40B4-BE49-F238E27FC236}">
                    <a16:creationId xmlns:a16="http://schemas.microsoft.com/office/drawing/2014/main" id="{DE146F05-FD65-4F2B-AE1A-DB035255A90D}"/>
                  </a:ext>
                </a:extLst>
              </p:cNvPr>
              <p:cNvSpPr>
                <a:spLocks noChangeShapeType="1"/>
              </p:cNvSpPr>
              <p:nvPr/>
            </p:nvSpPr>
            <p:spPr bwMode="auto">
              <a:xfrm>
                <a:off x="1509" y="1082"/>
                <a:ext cx="0" cy="3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31" name="Line 65">
                <a:extLst>
                  <a:ext uri="{FF2B5EF4-FFF2-40B4-BE49-F238E27FC236}">
                    <a16:creationId xmlns:a16="http://schemas.microsoft.com/office/drawing/2014/main" id="{CE1E4C0F-A55A-49C7-A5B9-881D4D9B5C15}"/>
                  </a:ext>
                </a:extLst>
              </p:cNvPr>
              <p:cNvSpPr>
                <a:spLocks noChangeShapeType="1"/>
              </p:cNvSpPr>
              <p:nvPr/>
            </p:nvSpPr>
            <p:spPr bwMode="auto">
              <a:xfrm>
                <a:off x="3523" y="1069"/>
                <a:ext cx="0" cy="3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grpSp>
      </p:grpSp>
      <p:grpSp>
        <p:nvGrpSpPr>
          <p:cNvPr id="80913" name="Group 66">
            <a:extLst>
              <a:ext uri="{FF2B5EF4-FFF2-40B4-BE49-F238E27FC236}">
                <a16:creationId xmlns:a16="http://schemas.microsoft.com/office/drawing/2014/main" id="{A2359B07-1FC7-4DF8-8B74-161E08393E8D}"/>
              </a:ext>
            </a:extLst>
          </p:cNvPr>
          <p:cNvGrpSpPr>
            <a:grpSpLocks/>
          </p:cNvGrpSpPr>
          <p:nvPr/>
        </p:nvGrpSpPr>
        <p:grpSpPr bwMode="auto">
          <a:xfrm>
            <a:off x="807241" y="3277237"/>
            <a:ext cx="6060058" cy="750120"/>
            <a:chOff x="287" y="1940"/>
            <a:chExt cx="3291" cy="365"/>
          </a:xfrm>
        </p:grpSpPr>
        <p:sp>
          <p:nvSpPr>
            <p:cNvPr id="80914" name="Rectangle 67">
              <a:extLst>
                <a:ext uri="{FF2B5EF4-FFF2-40B4-BE49-F238E27FC236}">
                  <a16:creationId xmlns:a16="http://schemas.microsoft.com/office/drawing/2014/main" id="{9CFFD4C4-8379-41BC-8970-4914594189B2}"/>
                </a:ext>
              </a:extLst>
            </p:cNvPr>
            <p:cNvSpPr>
              <a:spLocks noChangeArrowheads="1"/>
            </p:cNvSpPr>
            <p:nvPr/>
          </p:nvSpPr>
          <p:spPr bwMode="auto">
            <a:xfrm>
              <a:off x="2142" y="1940"/>
              <a:ext cx="680"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(-$1,000  - $2,000)</a:t>
              </a:r>
            </a:p>
          </p:txBody>
        </p:sp>
        <p:sp>
          <p:nvSpPr>
            <p:cNvPr id="80915" name="Line 68">
              <a:extLst>
                <a:ext uri="{FF2B5EF4-FFF2-40B4-BE49-F238E27FC236}">
                  <a16:creationId xmlns:a16="http://schemas.microsoft.com/office/drawing/2014/main" id="{29A8B3D3-6340-44A0-9874-C74D8C3B574B}"/>
                </a:ext>
              </a:extLst>
            </p:cNvPr>
            <p:cNvSpPr>
              <a:spLocks noChangeShapeType="1"/>
            </p:cNvSpPr>
            <p:nvPr/>
          </p:nvSpPr>
          <p:spPr bwMode="auto">
            <a:xfrm flipH="1">
              <a:off x="1973" y="2064"/>
              <a:ext cx="545" cy="1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16" name="Line 69">
              <a:extLst>
                <a:ext uri="{FF2B5EF4-FFF2-40B4-BE49-F238E27FC236}">
                  <a16:creationId xmlns:a16="http://schemas.microsoft.com/office/drawing/2014/main" id="{53114398-8855-4FD0-BD14-056B91139D2F}"/>
                </a:ext>
              </a:extLst>
            </p:cNvPr>
            <p:cNvSpPr>
              <a:spLocks noChangeShapeType="1"/>
            </p:cNvSpPr>
            <p:nvPr/>
          </p:nvSpPr>
          <p:spPr bwMode="auto">
            <a:xfrm>
              <a:off x="2545" y="2064"/>
              <a:ext cx="609"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17" name="Line 70">
              <a:extLst>
                <a:ext uri="{FF2B5EF4-FFF2-40B4-BE49-F238E27FC236}">
                  <a16:creationId xmlns:a16="http://schemas.microsoft.com/office/drawing/2014/main" id="{73BB101D-6A5B-413D-A422-ABB60EC80A25}"/>
                </a:ext>
              </a:extLst>
            </p:cNvPr>
            <p:cNvSpPr>
              <a:spLocks noChangeShapeType="1"/>
            </p:cNvSpPr>
            <p:nvPr/>
          </p:nvSpPr>
          <p:spPr bwMode="auto">
            <a:xfrm>
              <a:off x="2536" y="2064"/>
              <a:ext cx="0"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985"/>
            </a:p>
          </p:txBody>
        </p:sp>
        <p:sp>
          <p:nvSpPr>
            <p:cNvPr id="80918" name="Text Box 71">
              <a:extLst>
                <a:ext uri="{FF2B5EF4-FFF2-40B4-BE49-F238E27FC236}">
                  <a16:creationId xmlns:a16="http://schemas.microsoft.com/office/drawing/2014/main" id="{FE95D70C-1B4A-4A65-AE4E-E9D295B77099}"/>
                </a:ext>
              </a:extLst>
            </p:cNvPr>
            <p:cNvSpPr txBox="1">
              <a:spLocks noChangeArrowheads="1"/>
            </p:cNvSpPr>
            <p:nvPr/>
          </p:nvSpPr>
          <p:spPr bwMode="auto">
            <a:xfrm>
              <a:off x="1633" y="2167"/>
              <a:ext cx="557"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(-$1,000 - 0)</a:t>
              </a:r>
              <a:endParaRPr lang="en-US" altLang="en-US" sz="2647"/>
            </a:p>
          </p:txBody>
        </p:sp>
        <p:sp>
          <p:nvSpPr>
            <p:cNvPr id="80919" name="Text Box 72">
              <a:extLst>
                <a:ext uri="{FF2B5EF4-FFF2-40B4-BE49-F238E27FC236}">
                  <a16:creationId xmlns:a16="http://schemas.microsoft.com/office/drawing/2014/main" id="{7DCBBD9E-DC43-4240-9BC6-87B03B958E08}"/>
                </a:ext>
              </a:extLst>
            </p:cNvPr>
            <p:cNvSpPr txBox="1">
              <a:spLocks noChangeArrowheads="1"/>
            </p:cNvSpPr>
            <p:nvPr/>
          </p:nvSpPr>
          <p:spPr bwMode="auto">
            <a:xfrm>
              <a:off x="2322" y="2177"/>
              <a:ext cx="502"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(0 -$ 1,000)</a:t>
              </a:r>
              <a:endParaRPr lang="en-US" altLang="en-US" sz="2647"/>
            </a:p>
          </p:txBody>
        </p:sp>
        <p:sp>
          <p:nvSpPr>
            <p:cNvPr id="80920" name="Rectangle 73">
              <a:extLst>
                <a:ext uri="{FF2B5EF4-FFF2-40B4-BE49-F238E27FC236}">
                  <a16:creationId xmlns:a16="http://schemas.microsoft.com/office/drawing/2014/main" id="{C932F9AF-7673-4DCF-B543-23B438BEECD3}"/>
                </a:ext>
              </a:extLst>
            </p:cNvPr>
            <p:cNvSpPr>
              <a:spLocks noChangeArrowheads="1"/>
            </p:cNvSpPr>
            <p:nvPr/>
          </p:nvSpPr>
          <p:spPr bwMode="auto">
            <a:xfrm>
              <a:off x="287" y="1991"/>
              <a:ext cx="316"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Step 3:</a:t>
              </a:r>
            </a:p>
          </p:txBody>
        </p:sp>
        <p:sp>
          <p:nvSpPr>
            <p:cNvPr id="80921" name="Text Box 74">
              <a:extLst>
                <a:ext uri="{FF2B5EF4-FFF2-40B4-BE49-F238E27FC236}">
                  <a16:creationId xmlns:a16="http://schemas.microsoft.com/office/drawing/2014/main" id="{CFE2793F-F6EF-4013-8BCD-513A9D922DEC}"/>
                </a:ext>
              </a:extLst>
            </p:cNvPr>
            <p:cNvSpPr txBox="1">
              <a:spLocks noChangeArrowheads="1"/>
            </p:cNvSpPr>
            <p:nvPr/>
          </p:nvSpPr>
          <p:spPr bwMode="auto">
            <a:xfrm>
              <a:off x="2942" y="2176"/>
              <a:ext cx="636"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103"/>
                <a:t>($1,000 - $2,000)</a:t>
              </a:r>
            </a:p>
          </p:txBody>
        </p:sp>
      </p:grpSp>
    </p:spTree>
  </p:cSld>
  <p:clrMapOvr>
    <a:masterClrMapping/>
  </p:clrMapOvr>
  <p:transition>
    <p:checker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9C20DC9-9843-4798-AE0B-5CA7F4CBCF59}"/>
              </a:ext>
            </a:extLst>
          </p:cNvPr>
          <p:cNvSpPr>
            <a:spLocks noGrp="1" noChangeArrowheads="1"/>
          </p:cNvSpPr>
          <p:nvPr>
            <p:ph type="title"/>
          </p:nvPr>
        </p:nvSpPr>
        <p:spPr>
          <a:xfrm>
            <a:off x="2403976" y="942848"/>
            <a:ext cx="5885446" cy="984885"/>
          </a:xfrm>
        </p:spPr>
        <p:txBody>
          <a:bodyPr/>
          <a:lstStyle/>
          <a:p>
            <a:pPr eaLnBrk="1" hangingPunct="1"/>
            <a:r>
              <a:rPr lang="en-US" altLang="en-US">
                <a:solidFill>
                  <a:schemeClr val="accent2"/>
                </a:solidFill>
              </a:rPr>
              <a:t>Concept hierarchy generation for categorical data</a:t>
            </a:r>
          </a:p>
        </p:txBody>
      </p:sp>
      <p:sp>
        <p:nvSpPr>
          <p:cNvPr id="82947" name="Rectangle 3">
            <a:extLst>
              <a:ext uri="{FF2B5EF4-FFF2-40B4-BE49-F238E27FC236}">
                <a16:creationId xmlns:a16="http://schemas.microsoft.com/office/drawing/2014/main" id="{D0D44DF0-2F11-4670-9152-E0A017E2AF81}"/>
              </a:ext>
            </a:extLst>
          </p:cNvPr>
          <p:cNvSpPr>
            <a:spLocks noGrp="1" noChangeArrowheads="1"/>
          </p:cNvSpPr>
          <p:nvPr>
            <p:ph type="body" idx="1"/>
          </p:nvPr>
        </p:nvSpPr>
        <p:spPr>
          <a:xfrm>
            <a:off x="1061085" y="2184824"/>
            <a:ext cx="8571230" cy="5552161"/>
          </a:xfrm>
        </p:spPr>
        <p:txBody>
          <a:bodyPr/>
          <a:lstStyle/>
          <a:p>
            <a:pPr eaLnBrk="1" hangingPunct="1"/>
            <a:r>
              <a:rPr lang="en-US" altLang="en-US" sz="3088"/>
              <a:t>Categorical data: no ordering among values</a:t>
            </a:r>
          </a:p>
          <a:p>
            <a:pPr eaLnBrk="1" hangingPunct="1"/>
            <a:r>
              <a:rPr lang="en-US" altLang="en-US" sz="3088"/>
              <a:t>Specification of a partial ordering of attributes explicitly at the schema level by users or experts</a:t>
            </a:r>
          </a:p>
          <a:p>
            <a:pPr eaLnBrk="1" hangingPunct="1">
              <a:lnSpc>
                <a:spcPct val="130000"/>
              </a:lnSpc>
            </a:pPr>
            <a:r>
              <a:rPr lang="en-US" altLang="en-US" sz="3088"/>
              <a:t>Specification of a portion of a hierarchy by explicit data grouping</a:t>
            </a:r>
          </a:p>
          <a:p>
            <a:pPr eaLnBrk="1" hangingPunct="1">
              <a:lnSpc>
                <a:spcPct val="130000"/>
              </a:lnSpc>
            </a:pPr>
            <a:r>
              <a:rPr lang="en-US" altLang="en-US" sz="3088"/>
              <a:t>Specification of a set of attributes, but not of their partial ordering</a:t>
            </a:r>
          </a:p>
          <a:p>
            <a:pPr eaLnBrk="1" hangingPunct="1">
              <a:lnSpc>
                <a:spcPct val="130000"/>
              </a:lnSpc>
            </a:pPr>
            <a:r>
              <a:rPr lang="en-US" altLang="en-US" sz="3088"/>
              <a:t>Specification of only a partial set of attributes</a:t>
            </a:r>
            <a:endParaRPr lang="en-US" altLang="en-US"/>
          </a:p>
        </p:txBody>
      </p:sp>
    </p:spTree>
  </p:cSld>
  <p:clrMapOvr>
    <a:masterClrMapping/>
  </p:clrMapOvr>
  <p:transition>
    <p:checker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5DB0396-7FC7-4790-8637-090534AB6BC0}"/>
              </a:ext>
            </a:extLst>
          </p:cNvPr>
          <p:cNvSpPr>
            <a:spLocks noGrp="1" noChangeArrowheads="1"/>
          </p:cNvSpPr>
          <p:nvPr>
            <p:ph type="title"/>
          </p:nvPr>
        </p:nvSpPr>
        <p:spPr>
          <a:xfrm>
            <a:off x="472863" y="504190"/>
            <a:ext cx="9915737" cy="2443746"/>
          </a:xfrm>
        </p:spPr>
        <p:txBody>
          <a:bodyPr/>
          <a:lstStyle/>
          <a:p>
            <a:pPr eaLnBrk="1" hangingPunct="1"/>
            <a:r>
              <a:rPr lang="en-US" altLang="en-US" sz="3970">
                <a:solidFill>
                  <a:schemeClr val="accent2"/>
                </a:solidFill>
              </a:rPr>
              <a:t>Concept hierarchy generation w/o data semantics - Specification of a set of attributes</a:t>
            </a:r>
            <a:br>
              <a:rPr lang="en-US" altLang="en-US" sz="3970">
                <a:solidFill>
                  <a:schemeClr val="accent2"/>
                </a:solidFill>
              </a:rPr>
            </a:br>
            <a:endParaRPr lang="en-US" altLang="en-US" sz="3970">
              <a:solidFill>
                <a:schemeClr val="accent2"/>
              </a:solidFill>
            </a:endParaRPr>
          </a:p>
        </p:txBody>
      </p:sp>
      <p:sp>
        <p:nvSpPr>
          <p:cNvPr id="84995" name="Rectangle 3">
            <a:extLst>
              <a:ext uri="{FF2B5EF4-FFF2-40B4-BE49-F238E27FC236}">
                <a16:creationId xmlns:a16="http://schemas.microsoft.com/office/drawing/2014/main" id="{F41FA64E-5ADD-41F4-B503-21F97EFF8B3D}"/>
              </a:ext>
            </a:extLst>
          </p:cNvPr>
          <p:cNvSpPr>
            <a:spLocks noGrp="1" noChangeArrowheads="1"/>
          </p:cNvSpPr>
          <p:nvPr>
            <p:ph type="body" idx="1"/>
          </p:nvPr>
        </p:nvSpPr>
        <p:spPr>
          <a:xfrm>
            <a:off x="1061085" y="2486025"/>
            <a:ext cx="8655262" cy="386636"/>
          </a:xfrm>
        </p:spPr>
        <p:txBody>
          <a:bodyPr/>
          <a:lstStyle/>
          <a:p>
            <a:pPr eaLnBrk="1" hangingPunct="1">
              <a:lnSpc>
                <a:spcPct val="90000"/>
              </a:lnSpc>
              <a:buFontTx/>
              <a:buNone/>
            </a:pPr>
            <a:r>
              <a:rPr lang="en-US" altLang="en-US" dirty="0"/>
              <a:t>Concept hierarchy can be automatically generated based on the number of distinct values per attribute in the given attribute set. The attribute with the most distinct values is placed at the lowest level of the hierarchy (</a:t>
            </a:r>
            <a:r>
              <a:rPr lang="en-US" altLang="en-US" dirty="0">
                <a:solidFill>
                  <a:srgbClr val="CC3300"/>
                </a:solidFill>
              </a:rPr>
              <a:t>limitations?)</a:t>
            </a:r>
          </a:p>
        </p:txBody>
      </p:sp>
      <p:sp>
        <p:nvSpPr>
          <p:cNvPr id="84996" name="Oval 4">
            <a:extLst>
              <a:ext uri="{FF2B5EF4-FFF2-40B4-BE49-F238E27FC236}">
                <a16:creationId xmlns:a16="http://schemas.microsoft.com/office/drawing/2014/main" id="{66E7E387-CC46-4918-99AC-8EACEE430C56}"/>
              </a:ext>
            </a:extLst>
          </p:cNvPr>
          <p:cNvSpPr>
            <a:spLocks noChangeArrowheads="1"/>
          </p:cNvSpPr>
          <p:nvPr/>
        </p:nvSpPr>
        <p:spPr bwMode="auto">
          <a:xfrm>
            <a:off x="1481244" y="4369646"/>
            <a:ext cx="3949488" cy="378143"/>
          </a:xfrm>
          <a:prstGeom prst="ellipse">
            <a:avLst/>
          </a:prstGeom>
          <a:solidFill>
            <a:schemeClr val="accent2"/>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solidFill>
                  <a:srgbClr val="F6E6EA"/>
                </a:solidFill>
              </a:rPr>
              <a:t>country</a:t>
            </a:r>
          </a:p>
        </p:txBody>
      </p:sp>
      <p:sp>
        <p:nvSpPr>
          <p:cNvPr id="84997" name="Oval 5">
            <a:extLst>
              <a:ext uri="{FF2B5EF4-FFF2-40B4-BE49-F238E27FC236}">
                <a16:creationId xmlns:a16="http://schemas.microsoft.com/office/drawing/2014/main" id="{2A364993-AC1A-440B-915B-1823AEC7B7CF}"/>
              </a:ext>
            </a:extLst>
          </p:cNvPr>
          <p:cNvSpPr>
            <a:spLocks noChangeArrowheads="1"/>
          </p:cNvSpPr>
          <p:nvPr/>
        </p:nvSpPr>
        <p:spPr bwMode="auto">
          <a:xfrm>
            <a:off x="1544267" y="5167947"/>
            <a:ext cx="3949488" cy="378143"/>
          </a:xfrm>
          <a:prstGeom prst="ellipse">
            <a:avLst/>
          </a:prstGeom>
          <a:solidFill>
            <a:schemeClr val="accent2"/>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solidFill>
                  <a:srgbClr val="FAE2F6"/>
                </a:solidFill>
              </a:rPr>
              <a:t>province_or_ state</a:t>
            </a:r>
          </a:p>
        </p:txBody>
      </p:sp>
      <p:sp>
        <p:nvSpPr>
          <p:cNvPr id="84998" name="Oval 6">
            <a:extLst>
              <a:ext uri="{FF2B5EF4-FFF2-40B4-BE49-F238E27FC236}">
                <a16:creationId xmlns:a16="http://schemas.microsoft.com/office/drawing/2014/main" id="{EFA61280-234F-45BD-BA9A-C2403F809A21}"/>
              </a:ext>
            </a:extLst>
          </p:cNvPr>
          <p:cNvSpPr>
            <a:spLocks noChangeArrowheads="1"/>
          </p:cNvSpPr>
          <p:nvPr/>
        </p:nvSpPr>
        <p:spPr bwMode="auto">
          <a:xfrm>
            <a:off x="1628299" y="6050280"/>
            <a:ext cx="3949488" cy="378143"/>
          </a:xfrm>
          <a:prstGeom prst="ellipse">
            <a:avLst/>
          </a:prstGeom>
          <a:solidFill>
            <a:schemeClr val="accent2"/>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solidFill>
                  <a:srgbClr val="FAE2F6"/>
                </a:solidFill>
              </a:rPr>
              <a:t>city</a:t>
            </a:r>
          </a:p>
        </p:txBody>
      </p:sp>
      <p:sp>
        <p:nvSpPr>
          <p:cNvPr id="84999" name="Oval 7">
            <a:extLst>
              <a:ext uri="{FF2B5EF4-FFF2-40B4-BE49-F238E27FC236}">
                <a16:creationId xmlns:a16="http://schemas.microsoft.com/office/drawing/2014/main" id="{A2DB7F04-A3E7-4BAC-A6D5-CCA8078F77E3}"/>
              </a:ext>
            </a:extLst>
          </p:cNvPr>
          <p:cNvSpPr>
            <a:spLocks noChangeArrowheads="1"/>
          </p:cNvSpPr>
          <p:nvPr/>
        </p:nvSpPr>
        <p:spPr bwMode="auto">
          <a:xfrm>
            <a:off x="1607291" y="6890596"/>
            <a:ext cx="3949488" cy="378143"/>
          </a:xfrm>
          <a:prstGeom prst="ellipse">
            <a:avLst/>
          </a:prstGeom>
          <a:solidFill>
            <a:schemeClr val="accent2"/>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solidFill>
                  <a:srgbClr val="FAE2F6"/>
                </a:solidFill>
              </a:rPr>
              <a:t>street</a:t>
            </a:r>
          </a:p>
        </p:txBody>
      </p:sp>
      <p:sp>
        <p:nvSpPr>
          <p:cNvPr id="85000" name="Line 8">
            <a:extLst>
              <a:ext uri="{FF2B5EF4-FFF2-40B4-BE49-F238E27FC236}">
                <a16:creationId xmlns:a16="http://schemas.microsoft.com/office/drawing/2014/main" id="{C1233256-C8E9-458F-8141-07143E2A274C}"/>
              </a:ext>
            </a:extLst>
          </p:cNvPr>
          <p:cNvSpPr>
            <a:spLocks noChangeShapeType="1"/>
          </p:cNvSpPr>
          <p:nvPr/>
        </p:nvSpPr>
        <p:spPr bwMode="auto">
          <a:xfrm flipH="1">
            <a:off x="3519011" y="4789805"/>
            <a:ext cx="0" cy="420158"/>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85001" name="Line 9">
            <a:extLst>
              <a:ext uri="{FF2B5EF4-FFF2-40B4-BE49-F238E27FC236}">
                <a16:creationId xmlns:a16="http://schemas.microsoft.com/office/drawing/2014/main" id="{BFCB0880-3236-488E-A54C-27FEB9226E70}"/>
              </a:ext>
            </a:extLst>
          </p:cNvPr>
          <p:cNvSpPr>
            <a:spLocks noChangeShapeType="1"/>
          </p:cNvSpPr>
          <p:nvPr/>
        </p:nvSpPr>
        <p:spPr bwMode="auto">
          <a:xfrm>
            <a:off x="3519011" y="5420042"/>
            <a:ext cx="0" cy="588222"/>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85002" name="Line 10">
            <a:extLst>
              <a:ext uri="{FF2B5EF4-FFF2-40B4-BE49-F238E27FC236}">
                <a16:creationId xmlns:a16="http://schemas.microsoft.com/office/drawing/2014/main" id="{C71E655C-0FCA-48F7-B15C-98C54563C801}"/>
              </a:ext>
            </a:extLst>
          </p:cNvPr>
          <p:cNvSpPr>
            <a:spLocks noChangeShapeType="1"/>
          </p:cNvSpPr>
          <p:nvPr/>
        </p:nvSpPr>
        <p:spPr bwMode="auto">
          <a:xfrm>
            <a:off x="3519011" y="6323383"/>
            <a:ext cx="0" cy="60923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985"/>
          </a:p>
        </p:txBody>
      </p:sp>
      <p:sp>
        <p:nvSpPr>
          <p:cNvPr id="85003" name="Text Box 11">
            <a:extLst>
              <a:ext uri="{FF2B5EF4-FFF2-40B4-BE49-F238E27FC236}">
                <a16:creationId xmlns:a16="http://schemas.microsoft.com/office/drawing/2014/main" id="{CD943FCD-1CF9-4EE9-B345-E78E1435C288}"/>
              </a:ext>
            </a:extLst>
          </p:cNvPr>
          <p:cNvSpPr txBox="1">
            <a:spLocks noChangeArrowheads="1"/>
          </p:cNvSpPr>
          <p:nvPr/>
        </p:nvSpPr>
        <p:spPr bwMode="auto">
          <a:xfrm>
            <a:off x="6500908" y="4268109"/>
            <a:ext cx="2561920"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15 distinct values</a:t>
            </a:r>
          </a:p>
        </p:txBody>
      </p:sp>
      <p:sp>
        <p:nvSpPr>
          <p:cNvPr id="85004" name="Text Box 12">
            <a:extLst>
              <a:ext uri="{FF2B5EF4-FFF2-40B4-BE49-F238E27FC236}">
                <a16:creationId xmlns:a16="http://schemas.microsoft.com/office/drawing/2014/main" id="{65A775C5-754B-4785-A247-5E8A85446D39}"/>
              </a:ext>
            </a:extLst>
          </p:cNvPr>
          <p:cNvSpPr txBox="1">
            <a:spLocks noChangeArrowheads="1"/>
          </p:cNvSpPr>
          <p:nvPr/>
        </p:nvSpPr>
        <p:spPr bwMode="auto">
          <a:xfrm>
            <a:off x="6631685" y="5150441"/>
            <a:ext cx="2552462"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65 distinct values</a:t>
            </a:r>
          </a:p>
        </p:txBody>
      </p:sp>
      <p:sp>
        <p:nvSpPr>
          <p:cNvPr id="85005" name="Text Box 13">
            <a:extLst>
              <a:ext uri="{FF2B5EF4-FFF2-40B4-BE49-F238E27FC236}">
                <a16:creationId xmlns:a16="http://schemas.microsoft.com/office/drawing/2014/main" id="{DA2A7401-34A8-4CC3-BEED-090E4B0F946B}"/>
              </a:ext>
            </a:extLst>
          </p:cNvPr>
          <p:cNvSpPr txBox="1">
            <a:spLocks noChangeArrowheads="1"/>
          </p:cNvSpPr>
          <p:nvPr/>
        </p:nvSpPr>
        <p:spPr bwMode="auto">
          <a:xfrm>
            <a:off x="6373006" y="5969750"/>
            <a:ext cx="2901756"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3567 distinct values</a:t>
            </a:r>
          </a:p>
        </p:txBody>
      </p:sp>
      <p:sp>
        <p:nvSpPr>
          <p:cNvPr id="85006" name="Text Box 14">
            <a:extLst>
              <a:ext uri="{FF2B5EF4-FFF2-40B4-BE49-F238E27FC236}">
                <a16:creationId xmlns:a16="http://schemas.microsoft.com/office/drawing/2014/main" id="{AD755B8F-0B35-44CF-95E1-DCB904052BF8}"/>
              </a:ext>
            </a:extLst>
          </p:cNvPr>
          <p:cNvSpPr txBox="1">
            <a:spLocks noChangeArrowheads="1"/>
          </p:cNvSpPr>
          <p:nvPr/>
        </p:nvSpPr>
        <p:spPr bwMode="auto">
          <a:xfrm>
            <a:off x="6055568" y="6768051"/>
            <a:ext cx="3326552"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47"/>
              <a:t>674,339 distinct values</a:t>
            </a:r>
          </a:p>
        </p:txBody>
      </p:sp>
    </p:spTree>
  </p:cSld>
  <p:clrMapOvr>
    <a:masterClrMapping/>
  </p:clrMapOvr>
  <p:transition>
    <p:checker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8790F81-4D2B-424C-924D-BE05F5DBC763}"/>
              </a:ext>
            </a:extLst>
          </p:cNvPr>
          <p:cNvSpPr>
            <a:spLocks noGrp="1" noChangeArrowheads="1"/>
          </p:cNvSpPr>
          <p:nvPr>
            <p:ph type="title"/>
          </p:nvPr>
        </p:nvSpPr>
        <p:spPr>
          <a:xfrm>
            <a:off x="2237528" y="504190"/>
            <a:ext cx="5316754" cy="492443"/>
          </a:xfrm>
        </p:spPr>
        <p:txBody>
          <a:bodyPr/>
          <a:lstStyle/>
          <a:p>
            <a:pPr eaLnBrk="1" hangingPunct="1"/>
            <a:r>
              <a:rPr lang="en-US" altLang="en-US">
                <a:solidFill>
                  <a:schemeClr val="accent2"/>
                </a:solidFill>
              </a:rPr>
              <a:t>Summary</a:t>
            </a:r>
          </a:p>
        </p:txBody>
      </p:sp>
      <p:sp>
        <p:nvSpPr>
          <p:cNvPr id="87043" name="Rectangle 3">
            <a:extLst>
              <a:ext uri="{FF2B5EF4-FFF2-40B4-BE49-F238E27FC236}">
                <a16:creationId xmlns:a16="http://schemas.microsoft.com/office/drawing/2014/main" id="{08B3E27F-BD9B-445F-BA8A-1F4D55BEE4D5}"/>
              </a:ext>
            </a:extLst>
          </p:cNvPr>
          <p:cNvSpPr>
            <a:spLocks noGrp="1" noChangeArrowheads="1"/>
          </p:cNvSpPr>
          <p:nvPr>
            <p:ph type="body" idx="1"/>
          </p:nvPr>
        </p:nvSpPr>
        <p:spPr>
          <a:xfrm>
            <a:off x="893022" y="1344507"/>
            <a:ext cx="8907357" cy="4970207"/>
          </a:xfrm>
        </p:spPr>
        <p:txBody>
          <a:bodyPr/>
          <a:lstStyle/>
          <a:p>
            <a:pPr eaLnBrk="1" hangingPunct="1">
              <a:lnSpc>
                <a:spcPct val="140000"/>
              </a:lnSpc>
            </a:pPr>
            <a:r>
              <a:rPr lang="en-US" altLang="en-US" sz="3088"/>
              <a:t>Data  preparation is a big issue for both warehousing and mining</a:t>
            </a:r>
          </a:p>
          <a:p>
            <a:pPr eaLnBrk="1" hangingPunct="1">
              <a:lnSpc>
                <a:spcPct val="140000"/>
              </a:lnSpc>
            </a:pPr>
            <a:r>
              <a:rPr lang="en-US" altLang="en-US" sz="3088"/>
              <a:t>Data preparation includes</a:t>
            </a:r>
          </a:p>
          <a:p>
            <a:pPr lvl="1" eaLnBrk="1" hangingPunct="1">
              <a:lnSpc>
                <a:spcPct val="140000"/>
              </a:lnSpc>
            </a:pPr>
            <a:r>
              <a:rPr lang="en-US" altLang="en-US" sz="2647"/>
              <a:t>Data cleaning and data integration</a:t>
            </a:r>
          </a:p>
          <a:p>
            <a:pPr lvl="1" eaLnBrk="1" hangingPunct="1">
              <a:lnSpc>
                <a:spcPct val="140000"/>
              </a:lnSpc>
            </a:pPr>
            <a:r>
              <a:rPr lang="en-US" altLang="en-US" sz="2647"/>
              <a:t>Data reduction and feature selection</a:t>
            </a:r>
            <a:endParaRPr lang="en-US" altLang="en-US" sz="2647">
              <a:solidFill>
                <a:schemeClr val="hlink"/>
              </a:solidFill>
            </a:endParaRPr>
          </a:p>
          <a:p>
            <a:pPr lvl="1" eaLnBrk="1" hangingPunct="1">
              <a:lnSpc>
                <a:spcPct val="140000"/>
              </a:lnSpc>
            </a:pPr>
            <a:r>
              <a:rPr lang="en-US" altLang="en-US" sz="2647"/>
              <a:t>Discretization</a:t>
            </a:r>
          </a:p>
          <a:p>
            <a:pPr eaLnBrk="1" hangingPunct="1">
              <a:lnSpc>
                <a:spcPct val="140000"/>
              </a:lnSpc>
            </a:pPr>
            <a:r>
              <a:rPr lang="en-US" altLang="en-US" sz="3088"/>
              <a:t>A lot a methods have been developed but still an active area of research</a:t>
            </a:r>
          </a:p>
        </p:txBody>
      </p:sp>
    </p:spTree>
  </p:cSld>
  <p:clrMapOvr>
    <a:masterClrMapping/>
  </p:clrMapOvr>
  <p:transition>
    <p:checke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1199</TotalTime>
  <Words>4268</Words>
  <Application>Microsoft Office PowerPoint</Application>
  <PresentationFormat>Custom</PresentationFormat>
  <Paragraphs>732</Paragraphs>
  <Slides>70</Slides>
  <Notes>35</Notes>
  <HiddenSlides>1</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70</vt:i4>
      </vt:variant>
    </vt:vector>
  </HeadingPairs>
  <TitlesOfParts>
    <vt:vector size="81" baseType="lpstr">
      <vt:lpstr>Arial Black</vt:lpstr>
      <vt:lpstr>Calibri</vt:lpstr>
      <vt:lpstr>Comic Sans MS</vt:lpstr>
      <vt:lpstr>Monotype Sorts</vt:lpstr>
      <vt:lpstr>Symbol</vt:lpstr>
      <vt:lpstr>Tahoma</vt:lpstr>
      <vt:lpstr>Times New Roman</vt:lpstr>
      <vt:lpstr>Wingdings</vt:lpstr>
      <vt:lpstr>Office Theme</vt:lpstr>
      <vt:lpstr>Microsoft Equation 3.0</vt:lpstr>
      <vt:lpstr>Microsoft Graph 2000 Chart</vt:lpstr>
      <vt:lpstr>Data Pre-processing</vt:lpstr>
      <vt:lpstr>Data Pre-processing</vt:lpstr>
      <vt:lpstr>Why Data Preprocessing?</vt:lpstr>
      <vt:lpstr>Why Prepare Data?</vt:lpstr>
      <vt:lpstr>Why Prepare Data?</vt:lpstr>
      <vt:lpstr>Why Prepare Data?</vt:lpstr>
      <vt:lpstr>Major Tasks in Data Preparation</vt:lpstr>
      <vt:lpstr>Forms of data preprocessing </vt:lpstr>
      <vt:lpstr>Data Preparation as a step in the  Knowledge Discovery Process</vt:lpstr>
      <vt:lpstr>TYPES OF DATA</vt:lpstr>
      <vt:lpstr>Types of Measurements</vt:lpstr>
      <vt:lpstr>Types of Measurements: Examples</vt:lpstr>
      <vt:lpstr>Data Conversion</vt:lpstr>
      <vt:lpstr>Conversion: Nominal, Many Values</vt:lpstr>
      <vt:lpstr>OUTLIERS</vt:lpstr>
      <vt:lpstr>Outliers</vt:lpstr>
      <vt:lpstr>Outlier detection</vt:lpstr>
      <vt:lpstr>PowerPoint Presentation</vt:lpstr>
      <vt:lpstr>Outlier detection</vt:lpstr>
      <vt:lpstr>PowerPoint Presentation</vt:lpstr>
      <vt:lpstr>Outlier detection</vt:lpstr>
      <vt:lpstr>Outlier detection</vt:lpstr>
      <vt:lpstr>PowerPoint Presentation</vt:lpstr>
      <vt:lpstr>Recommended reading</vt:lpstr>
      <vt:lpstr>DATA TRANSFORMATION</vt:lpstr>
      <vt:lpstr>Normalization</vt:lpstr>
      <vt:lpstr>Normalization</vt:lpstr>
      <vt:lpstr>PowerPoint Presentation</vt:lpstr>
      <vt:lpstr>MISSING DATA</vt:lpstr>
      <vt:lpstr>Missing Data</vt:lpstr>
      <vt:lpstr>Missing Values</vt:lpstr>
      <vt:lpstr>How to Handle Missing Data?</vt:lpstr>
      <vt:lpstr>How to Handle Missing Data?</vt:lpstr>
      <vt:lpstr>How to Handle Missing Data?</vt:lpstr>
      <vt:lpstr>Nearest-Neighbour</vt:lpstr>
      <vt:lpstr>How to Handle Missing Data?</vt:lpstr>
      <vt:lpstr>Summary</vt:lpstr>
      <vt:lpstr>Noisy Data</vt:lpstr>
      <vt:lpstr>How to Handle Noisy Data?</vt:lpstr>
      <vt:lpstr>Simple Discretization Methods: Binning</vt:lpstr>
      <vt:lpstr>Binning Methods for Data Smoothing</vt:lpstr>
      <vt:lpstr>How to Handle Inconsistent Data?</vt:lpstr>
      <vt:lpstr>Data Integration</vt:lpstr>
      <vt:lpstr>Handling Redundant Data in Data Integration</vt:lpstr>
      <vt:lpstr>Data Reduction</vt:lpstr>
      <vt:lpstr>PowerPoint Presentation</vt:lpstr>
      <vt:lpstr>Dimensionality Reduction</vt:lpstr>
      <vt:lpstr>PowerPoint Presentation</vt:lpstr>
      <vt:lpstr>Heuristic Feature Selection Methods</vt:lpstr>
      <vt:lpstr>Data Compression</vt:lpstr>
      <vt:lpstr>Data Compression</vt:lpstr>
      <vt:lpstr>Principal Component Analysis (PCA) Karhunen-Loeve (K-L) method</vt:lpstr>
      <vt:lpstr>PowerPoint Presentation</vt:lpstr>
      <vt:lpstr>Numerosity Reduction</vt:lpstr>
      <vt:lpstr>Regression and Log-Linear Models</vt:lpstr>
      <vt:lpstr>Regression Analysis and Log-Linear Models</vt:lpstr>
      <vt:lpstr>Histograms</vt:lpstr>
      <vt:lpstr>Clustering</vt:lpstr>
      <vt:lpstr>Sampling</vt:lpstr>
      <vt:lpstr>PowerPoint Presentation</vt:lpstr>
      <vt:lpstr>Sampling</vt:lpstr>
      <vt:lpstr>Hierarchical Reduction</vt:lpstr>
      <vt:lpstr>Discretization/Quantization</vt:lpstr>
      <vt:lpstr>Discretization and Concept Hierarchy</vt:lpstr>
      <vt:lpstr>Discretization and concept hierarchy generation for numeric data</vt:lpstr>
      <vt:lpstr>Segmentation by natural partitioning</vt:lpstr>
      <vt:lpstr>Example of 3-4-5 rule</vt:lpstr>
      <vt:lpstr>Concept hierarchy generation for categorical data</vt:lpstr>
      <vt:lpstr>Concept hierarchy generation w/o data semantics - Specification of a set of attributes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week_03_Data_Preparation.ppt [Compatibility Mode]</dc:title>
  <dc:creator>jlborges</dc:creator>
  <cp:lastModifiedBy>harisup</cp:lastModifiedBy>
  <cp:revision>7</cp:revision>
  <dcterms:created xsi:type="dcterms:W3CDTF">2019-02-25T11:33:28Z</dcterms:created>
  <dcterms:modified xsi:type="dcterms:W3CDTF">2022-02-15T03:25:33Z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2011-10-13T00:00:00Z</vt:filetime>
  </property>
  <property fmtid="{D5CDD505-2E9C-101B-9397-08002B2CF9AE}" pid="3" name="Creator">
    <vt:lpwstr>PScript5.dll Version 5.2.2</vt:lpwstr>
  </property>
  <property fmtid="{D5CDD505-2E9C-101B-9397-08002B2CF9AE}" pid="4" name="LastSaved">
    <vt:filetime>2019-02-25T00:00:00Z</vt:filetime>
  </property>
</Properties>
</file>